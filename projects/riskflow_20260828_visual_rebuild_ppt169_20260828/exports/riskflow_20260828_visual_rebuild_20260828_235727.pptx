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次汇报围绕变径盾构站隧一体化建造风险评估及安全控制技术研究展开，重点介绍风险智能识别与评估系统的总体设计、阶段成果和下一步计划。课题由中铁建华南建设有限公司承担，汇报内容对应中国铁建股份有限公司地下空间利用领域科研计划项目二零二四杠 W 零八。</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内容按照课题总体情况、项目研发进展、经费使用情况和下一步工作计划四个部分展开。本次重点说明子课题一的系统研发进展，包括总体思路、一体化架构、智能识别与评估流程、演示原型以及正式验证所需条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第一部分是课题总体情况，主要回顾课题概况以及团队组成和分工，为后续说明项目研发进展提供背景。</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第二部分进入项目研发进展。相关工作包括组织管理、目标计划分解、年度任务完成情况、各子课题工作进展和年度成果，下面重点汇报子课题一的风险智能识别与评估系统。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项研究的目标，是把站隧一体化施工风险识别与评估需求落到一套可以运行、可以迭代的软件系统中。研发路线从需求分析和对象建模开始，依次完成架构、接口和原型设计，再通过测试验证进入迭代交付。当前已经明确系统应用场景、输入资料范围、风险识别输出和管理系统衔接方式，梳理了工程资料、工序信息、机理知识与风险记录之间的关系，并形成数据接入、知识建模、智能推理、结果入库和系统管理的整体框架。现阶段已具备开展样例资料接入、接口联调、结果复核和原型迭代的基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变径盾构采用新装备和新工法，同类型案例较少，历史风险清单难以直接套用；同时，规则选择会受到工法、地层和工程阶段影响，分散资料也增加了人工排查和复核的难度。系统因此把资料接入、智能识别、智能评估、动态预警和处置反馈连成一个业务闭环，反馈结果形成知识更新或校准建议，经审核后再发布新版本。风险识别按工序节点检索机理和证据，生成标准化风险记录；风险评估依据适用规则计算发生可能性和后果严重性分值，再映射版本化风险矩阵；预警与处置则围绕触发指标提出建议并持续跟踪实际效果。</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沿数据接入、知识建模、智能推理和应用输出四层组织。数据接入层汇集风险事件、监测量测、地质勘察、装备设计、专项施工方案和工程资料，并完成标准化及适用性元数据绑定；知识建模层统一管理施工工序模型、风险机理库、检索证据库、评估标准、指标量化标准和措施库。智能推理层同时承载混合检索、机理驱动推理、结构化校验、规则适配、确定性评分、矩阵映射以及预警和处置约束校验，应用输出层形成标准化风险记录、工序风险关联图谱、风险评估记录、预警信息、处置建议和偏差记录。四层之间通过统一编号贯通工程对象、风险要素与证据，机理知识和来源可检索、可追溯；发生可能性与后果严重性评分、矩阵映射、阈值判断和业务入库由确定性模块完成，异常场景显式暂停并进入人工复核。</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系统只在需要语义判断、证据取舍或受限工具行动的环节设置 Agent，包括数据清洗与部分可用判断、非结构化知识编制、识别检索审阅与有界补搜、处置建议组合排序，以及偏差超限后的校准建议候选。字段格式和完整性、规则一致性和适用性、发生可能性与后果严重性评分、风险矩阵映射、阈值判断、业务入库和审计均由确定性模块收口；规则冲突裁决、知识与校准版本发布、处置采纳和执行仍由人决定。每个 Agent 任务使用统一契约，固定发起者、工程、输入版本、模型与提示模板、工具白名单、资源预算、结构化增量、校验结果和终态，并完整记录输入、工具行动与正式结果，不展示模型内部思维链。</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险智能识别对应识别专利第一步至第六步，从资料接入、格式转换和合规校验开始，构建站隧一体化施工工序模型与风险机理库，再通过混合检索、关系检索和机理驱动推理形成候选结果，经过结构化与完整性检查后生成标准化风险记录。风险智能评估与预警对应评估专利第一步至第七步，保存适用性元数据快照，完成规则一致性和适用性校验，按指标实际取值确定性计算发生可能性与后果严重性分值，并依据版本化风险矩阵形成风险评估记录、预警、处置和反馈。两条流程通过标准化风险记录衔接，工序模型、风险机理和检索证据约束识别，适用规则集、权重和风险矩阵约束评估；监测与处置反馈会形成新的评估输入，偏差超限只生成校准建议，审核通过后才能形成新版本。</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技术实现分为流程编排、模型与检索、应用与领域工具三个部分。LangGraph 统一组织识别和评估流程，支持检查点、重试、暂停和人工复核；开源模型与 LoRA 用于工程文本抽取和受约束推理，向量检索与 BM 二十五保持独立打分后再融合；React、ECharts 和受限领域工具接口承载业务闭环，并限制 Agent 只能执行按任务授权的操作。工程侧通过规格驱动、配置版本化、全链路审计和结果重放保证系统可核对：能力变更先形成规格，指标、权重、矩阵和阈值不写死，来源与审核过程可追溯，并能依据输入快照和配置版本复现计算结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部署建议按照施工现场、项目内网和用户侧分区。现场侧接入工程资料、专项施工方案、监测仪器和数据采集工作站；项目内网承载数据接入与应用服务、流程编排与检查点、本地模型推理、业务数据与审计存储，以及知识库、图谱、索引和版本化配置；用户通过风险管理终端、监控大屏和移动终端访问结果。工程资料和监测数据原则上保留在项目内网，外部通知在结果可靠入库后执行，各类服务保持清晰职责边界。模型规模、算力配置、主备和备份方案在实施阶段依据数据量、并发需求和现场条件确定，不在当前设计中固定具体型号。</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险态势总览按当前版本汇集风险评估记录、预警信息和监测摘要，集中呈现风险数量、等级分布、监测趋势和待处置事项。管理人员可以按项目和工程阶段筛选，定位风险集中的工序与越限指标，再进入风险评估记录、预警信息或证据详情。该页面用于日常巡检和汇报，不替代具体风险记录的审核，当前画面也仅为演示原型。</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智能 Agent 工作台接收工程问题、关联项目和资料版本，输出有证据支持的评估结论、发生可能性与后果严重性分值以及触发指标。智能识别中心按工序节点呈现检索、推理和确定性校验状态，模型输出经过字段与完整性校验后形成标准化风险记录，并计算综合置信度。低置信度、证据不足或字段不完整的结果不会静默通过，而是明确进入人工复核路由；本页界面为演示原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险评估页面保存适用性元数据快照、指标评分明细、发生可能性与后果严重性分值、风险等级和所用规则及矩阵版本。风险等级超过风险可接受阈值，或者监测数值、趋势和联合规则越限时，系统生成预警信息并记录触发类型、触发指标、证据和通知状态。处置建议只能在候选措施集中组合排序，通过触发指标一致性、规范合规性和现场可执行性三项校验后提交人员采纳。资料段、工序、机理、评估、预警和处置保持连续关联，确保结果可以追溯；本页展示的是演示原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当前成果主要分为设计基线和演示原型。设计基线已经统一领域术语和字段契约，对应两项专利的方法步骤，并明确 Agent、确定性计算和人工审核边界；演示原型覆盖风险态势与监测趋势、智能 Agent 与智能识别，以及风险评估、预警处置和证据追溯。下一阶段进入样例验证，依次完成多源资料结构化转换、检索与评分结果核对和预警处置闭环联调，验证路径从样例资料到位开始，经过结构化与检索核对、发生可能性与后果严重性分值和矩阵结果核对，最终完成闭环联调。正式验证必须使用甲方提供或审核的配置与脱敏样例，当前演示数据不作为正式评估结果。</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下面进入第四部分，说明下一阶段的研究顺序以及推进正式验证所需的关键条件。</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一阶段首先固化架构基线，确定流程编排的语言版本、检查点持久化和部署形态；随后实现文本、表格、图纸标注和监测数据的多源资料解析，再完成模型选型、检索排序和识别结果复核，最后接入现场数据开展评估、预警和处置闭环联调。正式验证需要甲方提供或审核风险源清单、指标体系、量化标准和风险矩阵，并准备设计资料、专项方案、施工日志和监测数据等脱敏工程样例。多来源风险记录的判重、合并和综合置信度规则，以及准确性、完整性、可解释性和可追溯性评价方法，也需要与专家复核机制同步确定。</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以上是变径盾构站隧一体化建造风险评估及安全控制技术研究的本次汇报。感谢各位领导和专家的指导，请批评指正。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riskflow_20260828_visual_rebuild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riskflow_20260828_visual_rebuild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188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c008c80813987a9.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b5107ef3d63a26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fe383e7fd5d06d2.png"/>
  <Relationship Id="rId3" Type="http://schemas.openxmlformats.org/officeDocument/2006/relationships/image" Target="../media/image_00d6fc50e80729bb.pn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a28c0ef64cd443d.png"/>
  <Relationship Id="rId3" Type="http://schemas.openxmlformats.org/officeDocument/2006/relationships/image" Target="../media/image_29c9a3404c71b91e.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c008c80813987a9.png"/>
  <Relationship Id="rId3"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247650" cy="6858000"/>
          </a:xfrm>
          <a:prstGeom prst="rect">
            <a:avLst/>
          </a:prstGeom>
          <a:solidFill>
            <a:schemeClr val="accent1"/>
          </a:solidFill>
          <a:ln>
            <a:noFill/>
          </a:ln>
        </p:spPr>
      </p:sp>
      <p:sp>
        <p:nvSpPr>
          <p:cNvPr id="3" name="Rectangle 3"/>
          <p:cNvSpPr/>
          <p:nvPr/>
        </p:nvSpPr>
        <p:spPr>
          <a:xfrm>
            <a:off x="247650" y="0"/>
            <a:ext cx="1695450" cy="95250"/>
          </a:xfrm>
          <a:prstGeom prst="rect">
            <a:avLst/>
          </a:prstGeom>
          <a:solidFill>
            <a:schemeClr val="accent2"/>
          </a:solidFill>
          <a:ln>
            <a:noFill/>
          </a:ln>
        </p:spPr>
      </p:sp>
      <p:grpSp>
        <p:nvGrpSpPr>
          <p:cNvPr id="7" name="Group 7"/>
          <p:cNvGrpSpPr/>
          <p:nvPr/>
        </p:nvGrpSpPr>
        <p:grpSpPr>
          <a:xfrm>
            <a:off x="661797" y="513874"/>
            <a:ext cx="10868406" cy="314801"/>
            <a:chOff x="661797" y="513874"/>
            <a:chExt cx="10868406" cy="314801"/>
          </a:xfrm>
        </p:grpSpPr>
        <p:sp>
          <p:nvSpPr>
            <p:cNvPr id="4" name="TextBox 4"/>
            <p:cNvSpPr txBox="1"/>
            <p:nvPr/>
          </p:nvSpPr>
          <p:spPr>
            <a:xfrm>
              <a:off x="661797" y="513874"/>
              <a:ext cx="3176168"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中国铁建股份有限公司地下空间利用领域科研计划项目</a:t>
              </a:r>
            </a:p>
          </p:txBody>
        </p:sp>
        <p:sp>
          <p:nvSpPr>
            <p:cNvPr id="5" name="TextBox 5"/>
            <p:cNvSpPr txBox="1"/>
            <p:nvPr/>
          </p:nvSpPr>
          <p:spPr>
            <a:xfrm>
              <a:off x="10182103" y="513874"/>
              <a:ext cx="1348100" cy="190690"/>
            </a:xfrm>
            <a:prstGeom prst="rect">
              <a:avLst/>
            </a:prstGeom>
            <a:noFill/>
            <a:ln>
              <a:noFill/>
            </a:ln>
          </p:spPr>
          <p:txBody>
            <a:bodyPr wrap="none" lIns="0" tIns="0" rIns="0" bIns="0" anchor="t" anchorCtr="0">
              <a:spAutoFit/>
            </a:bodyPr>
            <a:lstStyle/>
            <a:p>
              <a:pPr algn="r"/>
              <a:r>
                <a:rPr lang="zh-CN" sz="980" dirty="0">
                  <a:solidFill>
                    <a:srgbClr val="4A5568"/>
                  </a:solidFill>
                  <a:latin typeface="+mn-lt"/>
                  <a:ea typeface="+mn-ea"/>
                  <a:cs typeface="+mn-cs"/>
                </a:rPr>
                <a:t>合同编号：2024-W08</a:t>
              </a:r>
            </a:p>
          </p:txBody>
        </p:sp>
        <p:sp>
          <p:nvSpPr>
            <p:cNvPr id="6" name="Line 6"/>
            <p:cNvSpPr/>
            <p:nvPr/>
          </p:nvSpPr>
          <p:spPr>
            <a:xfrm>
              <a:off x="666750" y="819150"/>
              <a:ext cx="10858500" cy="9525"/>
            </a:xfrm>
            <a:custGeom>
              <a:avLst/>
              <a:gdLst/>
              <a:ahLst/>
              <a:cxnLst/>
              <a:rect l="l" t="t" r="r" b="b"/>
              <a:pathLst>
                <a:path w="10858500" h="9525">
                  <a:moveTo>
                    <a:pt x="0" y="0"/>
                  </a:moveTo>
                  <a:lnTo>
                    <a:pt x="10858500" y="0"/>
                  </a:lnTo>
                </a:path>
              </a:pathLst>
            </a:custGeom>
            <a:noFill/>
            <a:ln w="9525">
              <a:solidFill>
                <a:schemeClr val="accent5"/>
              </a:solidFill>
            </a:ln>
          </p:spPr>
        </p:sp>
      </p:grpSp>
      <p:grpSp>
        <p:nvGrpSpPr>
          <p:cNvPr id="9" name="Group 9"/>
          <p:cNvGrpSpPr/>
          <p:nvPr/>
        </p:nvGrpSpPr>
        <p:grpSpPr>
          <a:xfrm>
            <a:off x="9826950" y="1322070"/>
            <a:ext cx="1717350" cy="1047750"/>
            <a:chOff x="9826950" y="1322070"/>
            <a:chExt cx="1717350" cy="1047750"/>
          </a:xfrm>
        </p:grpSpPr>
        <p:sp>
          <p:nvSpPr>
            <p:cNvPr id="8" name="TextBox 8"/>
            <p:cNvSpPr txBox="1"/>
            <p:nvPr/>
          </p:nvSpPr>
          <p:spPr>
            <a:xfrm>
              <a:off x="9826950" y="1322070"/>
              <a:ext cx="1717350" cy="1047750"/>
            </a:xfrm>
            <a:prstGeom prst="rect">
              <a:avLst/>
            </a:prstGeom>
            <a:noFill/>
            <a:ln>
              <a:noFill/>
            </a:ln>
          </p:spPr>
          <p:txBody>
            <a:bodyPr wrap="none" lIns="0" tIns="0" rIns="0" bIns="0" anchor="t" anchorCtr="0">
              <a:spAutoFit/>
            </a:bodyPr>
            <a:lstStyle/>
            <a:p>
              <a:pPr algn="r"/>
              <a:r>
                <a:rPr lang="zh-CN" sz="5400" b="1" dirty="0">
                  <a:solidFill>
                    <a:schemeClr val="accent1">
                      <a:alphaMod val="7000"/>
                    </a:schemeClr>
                  </a:solidFill>
                  <a:latin typeface="+mn-lt"/>
                  <a:ea typeface="+mn-ea"/>
                  <a:cs typeface="+mn-cs"/>
                </a:rPr>
                <a:t>2026</a:t>
              </a:r>
            </a:p>
          </p:txBody>
        </p:sp>
      </p:grpSp>
      <p:grpSp>
        <p:nvGrpSpPr>
          <p:cNvPr id="12" name="Group 12"/>
          <p:cNvGrpSpPr/>
          <p:nvPr/>
        </p:nvGrpSpPr>
        <p:grpSpPr>
          <a:xfrm>
            <a:off x="666750" y="1200150"/>
            <a:ext cx="2225753" cy="362998"/>
            <a:chOff x="666750" y="1200150"/>
            <a:chExt cx="2225753" cy="362998"/>
          </a:xfrm>
        </p:grpSpPr>
        <p:sp>
          <p:nvSpPr>
            <p:cNvPr id="10" name="Rectangle 10"/>
            <p:cNvSpPr/>
            <p:nvPr/>
          </p:nvSpPr>
          <p:spPr>
            <a:xfrm>
              <a:off x="666750" y="1200150"/>
              <a:ext cx="76200" cy="323850"/>
            </a:xfrm>
            <a:prstGeom prst="rect">
              <a:avLst/>
            </a:prstGeom>
            <a:solidFill>
              <a:schemeClr val="accent2"/>
            </a:solidFill>
            <a:ln>
              <a:noFill/>
            </a:ln>
          </p:spPr>
        </p:sp>
        <p:sp>
          <p:nvSpPr>
            <p:cNvPr id="11" name="TextBox 11"/>
            <p:cNvSpPr txBox="1"/>
            <p:nvPr/>
          </p:nvSpPr>
          <p:spPr>
            <a:xfrm>
              <a:off x="907161" y="1284446"/>
              <a:ext cx="1985342"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2026年度执行情况汇报</a:t>
              </a:r>
            </a:p>
          </p:txBody>
        </p:sp>
      </p:grpSp>
      <p:grpSp>
        <p:nvGrpSpPr>
          <p:cNvPr id="14" name="Group 14"/>
          <p:cNvGrpSpPr/>
          <p:nvPr/>
        </p:nvGrpSpPr>
        <p:grpSpPr>
          <a:xfrm>
            <a:off x="656463" y="1895951"/>
            <a:ext cx="4638294" cy="815150"/>
            <a:chOff x="656463" y="1895951"/>
            <a:chExt cx="4638294" cy="815150"/>
          </a:xfrm>
        </p:grpSpPr>
        <p:sp>
          <p:nvSpPr>
            <p:cNvPr id="13" name="TextBox 13"/>
            <p:cNvSpPr txBox="1"/>
            <p:nvPr/>
          </p:nvSpPr>
          <p:spPr>
            <a:xfrm>
              <a:off x="656463" y="1895951"/>
              <a:ext cx="4638294" cy="815150"/>
            </a:xfrm>
            <a:prstGeom prst="rect">
              <a:avLst/>
            </a:prstGeom>
            <a:noFill/>
            <a:ln>
              <a:noFill/>
            </a:ln>
          </p:spPr>
          <p:txBody>
            <a:bodyPr wrap="none" lIns="0" tIns="0" rIns="0" bIns="0" anchor="t" anchorCtr="0">
              <a:spAutoFit/>
            </a:bodyPr>
            <a:lstStyle/>
            <a:p>
              <a:pPr algn="l">
                <a:lnSpc>
                  <a:spcPts val="3300"/>
                </a:lnSpc>
              </a:pPr>
              <a:r>
                <a:rPr lang="zh-CN" sz="2020" b="1" dirty="0">
                  <a:solidFill>
                    <a:schemeClr val="accent1"/>
                  </a:solidFill>
                  <a:latin typeface="+mn-lt"/>
                  <a:ea typeface="+mn-ea"/>
                  <a:cs typeface="+mn-cs"/>
                </a:rPr>
                <a:t>变径盾构站隧一体化建造风险风险评估及</a:t>
              </a:r>
              <a:br/>
              <a:r>
                <a:rPr lang="zh-CN" sz="2020" b="1" dirty="0">
                  <a:solidFill>
                    <a:schemeClr val="dk1"/>
                  </a:solidFill>
                  <a:latin typeface="+mn-lt"/>
                  <a:ea typeface="+mn-ea"/>
                  <a:cs typeface="+mn-cs"/>
                </a:rPr>
                <a:t>安全控制技术研究</a:t>
              </a:r>
            </a:p>
          </p:txBody>
        </p:sp>
      </p:grpSp>
      <p:grpSp>
        <p:nvGrpSpPr>
          <p:cNvPr id="19" name="Group 19"/>
          <p:cNvGrpSpPr/>
          <p:nvPr/>
        </p:nvGrpSpPr>
        <p:grpSpPr>
          <a:xfrm>
            <a:off x="659511" y="4120991"/>
            <a:ext cx="2117242" cy="1071182"/>
            <a:chOff x="659511" y="4120991"/>
            <a:chExt cx="2117242" cy="1071182"/>
          </a:xfrm>
        </p:grpSpPr>
        <p:sp>
          <p:nvSpPr>
            <p:cNvPr id="15" name="TextBox 15"/>
            <p:cNvSpPr txBox="1"/>
            <p:nvPr/>
          </p:nvSpPr>
          <p:spPr>
            <a:xfrm>
              <a:off x="661988" y="4120991"/>
              <a:ext cx="671855" cy="161925"/>
            </a:xfrm>
            <a:prstGeom prst="rect">
              <a:avLst/>
            </a:prstGeom>
            <a:noFill/>
            <a:ln>
              <a:noFill/>
            </a:ln>
          </p:spPr>
          <p:txBody>
            <a:bodyPr wrap="none" lIns="0" tIns="0" rIns="0" bIns="0" anchor="t" anchorCtr="0">
              <a:spAutoFit/>
            </a:bodyPr>
            <a:lstStyle/>
            <a:p>
              <a:pPr algn="l"/>
              <a:r>
                <a:rPr lang="zh-CN" sz="820" b="1" dirty="0">
                  <a:solidFill>
                    <a:srgbClr val="4A5568"/>
                  </a:solidFill>
                  <a:latin typeface="+mn-lt"/>
                  <a:ea typeface="+mn-ea"/>
                  <a:cs typeface="+mn-cs"/>
                </a:rPr>
                <a:t>课题参研单位</a:t>
              </a:r>
            </a:p>
          </p:txBody>
        </p:sp>
        <p:sp>
          <p:nvSpPr>
            <p:cNvPr id="16" name="TextBox 16"/>
            <p:cNvSpPr txBox="1"/>
            <p:nvPr/>
          </p:nvSpPr>
          <p:spPr>
            <a:xfrm>
              <a:off x="659511" y="4322921"/>
              <a:ext cx="2117242"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中铁建华南建设有限公司</a:t>
              </a:r>
            </a:p>
          </p:txBody>
        </p:sp>
        <p:sp>
          <p:nvSpPr>
            <p:cNvPr id="17" name="TextBox 17"/>
            <p:cNvSpPr txBox="1"/>
            <p:nvPr/>
          </p:nvSpPr>
          <p:spPr>
            <a:xfrm>
              <a:off x="661988" y="4730591"/>
              <a:ext cx="671855" cy="161925"/>
            </a:xfrm>
            <a:prstGeom prst="rect">
              <a:avLst/>
            </a:prstGeom>
            <a:noFill/>
            <a:ln>
              <a:noFill/>
            </a:ln>
          </p:spPr>
          <p:txBody>
            <a:bodyPr wrap="none" lIns="0" tIns="0" rIns="0" bIns="0" anchor="t" anchorCtr="0">
              <a:spAutoFit/>
            </a:bodyPr>
            <a:lstStyle/>
            <a:p>
              <a:pPr algn="l"/>
              <a:r>
                <a:rPr lang="zh-CN" sz="820" b="1" dirty="0">
                  <a:solidFill>
                    <a:srgbClr val="4A5568"/>
                  </a:solidFill>
                  <a:latin typeface="+mn-lt"/>
                  <a:ea typeface="+mn-ea"/>
                  <a:cs typeface="+mn-cs"/>
                </a:rPr>
                <a:t>子课题负责人</a:t>
              </a:r>
            </a:p>
          </p:txBody>
        </p:sp>
        <p:sp>
          <p:nvSpPr>
            <p:cNvPr id="18" name="TextBox 18"/>
            <p:cNvSpPr txBox="1"/>
            <p:nvPr/>
          </p:nvSpPr>
          <p:spPr>
            <a:xfrm>
              <a:off x="659511" y="4913471"/>
              <a:ext cx="648175" cy="278702"/>
            </a:xfrm>
            <a:prstGeom prst="rect">
              <a:avLst/>
            </a:prstGeom>
            <a:noFill/>
            <a:ln>
              <a:noFill/>
            </a:ln>
          </p:spPr>
          <p:txBody>
            <a:bodyPr wrap="none" lIns="0" tIns="0" rIns="0" bIns="0" anchor="t" anchorCtr="0">
              <a:spAutoFit/>
            </a:bodyPr>
            <a:lstStyle/>
            <a:p>
              <a:pPr algn="l"/>
              <a:r>
                <a:rPr lang="zh-CN" sz="1420" b="1" dirty="0">
                  <a:solidFill>
                    <a:schemeClr val="dk1"/>
                  </a:solidFill>
                  <a:latin typeface="+mn-lt"/>
                  <a:ea typeface="+mn-ea"/>
                  <a:cs typeface="+mn-cs"/>
                </a:rPr>
                <a:t>： 姜军</a:t>
              </a:r>
            </a:p>
          </p:txBody>
        </p:sp>
      </p:grpSp>
      <p:grpSp>
        <p:nvGrpSpPr>
          <p:cNvPr id="22" name="Group 22"/>
          <p:cNvGrpSpPr/>
          <p:nvPr/>
        </p:nvGrpSpPr>
        <p:grpSpPr>
          <a:xfrm>
            <a:off x="8420100" y="4095750"/>
            <a:ext cx="3105150" cy="857250"/>
            <a:chOff x="8420100" y="4095750"/>
            <a:chExt cx="3105150" cy="857250"/>
          </a:xfrm>
        </p:grpSpPr>
        <p:sp>
          <p:nvSpPr>
            <p:cNvPr id="20" name="Rectangle 20"/>
            <p:cNvSpPr/>
            <p:nvPr/>
          </p:nvSpPr>
          <p:spPr>
            <a:xfrm>
              <a:off x="8420100" y="4095750"/>
              <a:ext cx="3105150" cy="857250"/>
            </a:xfrm>
            <a:prstGeom prst="roundRect">
              <a:avLst>
                <a:gd name="adj" fmla="val 13333"/>
              </a:avLst>
            </a:prstGeom>
            <a:solidFill>
              <a:schemeClr val="lt1"/>
            </a:solidFill>
            <a:ln w="9525">
              <a:solidFill>
                <a:schemeClr val="accent5"/>
              </a:solidFill>
            </a:ln>
          </p:spPr>
        </p:sp>
        <p:pic>
          <p:nvPicPr>
            <p:cNvPr id="21" name="Image 21"/>
            <p:cNvPicPr>
              <a:picLocks noChangeAspect="1"/>
            </p:cNvPicPr>
            <p:nvPr/>
          </p:nvPicPr>
          <p:blipFill>
            <a:blip r:embed="rId2"/>
            <a:stretch>
              <a:fillRect/>
            </a:stretch>
          </p:blipFill>
          <p:spPr>
            <a:xfrm>
              <a:off x="9653349" y="4267200"/>
              <a:ext cx="638651" cy="514350"/>
            </a:xfrm>
            <a:prstGeom prst="rect">
              <a:avLst/>
            </a:prstGeom>
          </p:spPr>
        </p:pic>
      </p:grpSp>
      <p:grpSp>
        <p:nvGrpSpPr>
          <p:cNvPr id="26" name="Group 26"/>
          <p:cNvGrpSpPr/>
          <p:nvPr/>
        </p:nvGrpSpPr>
        <p:grpSpPr>
          <a:xfrm>
            <a:off x="661416" y="5867400"/>
            <a:ext cx="10868596" cy="377761"/>
            <a:chOff x="661416" y="5867400"/>
            <a:chExt cx="10868596" cy="377761"/>
          </a:xfrm>
        </p:grpSpPr>
        <p:sp>
          <p:nvSpPr>
            <p:cNvPr id="23" name="Line 23"/>
            <p:cNvSpPr/>
            <p:nvPr/>
          </p:nvSpPr>
          <p:spPr>
            <a:xfrm>
              <a:off x="666750" y="5867400"/>
              <a:ext cx="10858500" cy="9525"/>
            </a:xfrm>
            <a:custGeom>
              <a:avLst/>
              <a:gdLst/>
              <a:ahLst/>
              <a:cxnLst/>
              <a:rect l="l" t="t" r="r" b="b"/>
              <a:pathLst>
                <a:path w="10858500" h="9525">
                  <a:moveTo>
                    <a:pt x="0" y="0"/>
                  </a:moveTo>
                  <a:lnTo>
                    <a:pt x="10858500" y="0"/>
                  </a:lnTo>
                </a:path>
              </a:pathLst>
            </a:custGeom>
            <a:noFill/>
            <a:ln w="9525">
              <a:solidFill>
                <a:schemeClr val="accent5"/>
              </a:solidFill>
            </a:ln>
          </p:spPr>
        </p:sp>
        <p:sp>
          <p:nvSpPr>
            <p:cNvPr id="24" name="TextBox 24"/>
            <p:cNvSpPr txBox="1"/>
            <p:nvPr/>
          </p:nvSpPr>
          <p:spPr>
            <a:xfrm>
              <a:off x="661416" y="6039802"/>
              <a:ext cx="646748"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2026年 月</a:t>
              </a:r>
            </a:p>
          </p:txBody>
        </p:sp>
        <p:sp>
          <p:nvSpPr>
            <p:cNvPr id="25" name="TextBox 25"/>
            <p:cNvSpPr txBox="1"/>
            <p:nvPr/>
          </p:nvSpPr>
          <p:spPr>
            <a:xfrm>
              <a:off x="10637380" y="6064091"/>
              <a:ext cx="89263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年度执行情况汇报</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3162300" cy="6858000"/>
          </a:xfrm>
          <a:prstGeom prst="rect">
            <a:avLst/>
          </a:prstGeom>
          <a:solidFill>
            <a:schemeClr val="accent1"/>
          </a:solidFill>
          <a:ln>
            <a:noFill/>
          </a:ln>
        </p:spPr>
      </p:sp>
      <p:grpSp>
        <p:nvGrpSpPr>
          <p:cNvPr id="6" name="Group 6"/>
          <p:cNvGrpSpPr/>
          <p:nvPr/>
        </p:nvGrpSpPr>
        <p:grpSpPr>
          <a:xfrm>
            <a:off x="523113" y="905351"/>
            <a:ext cx="1172337" cy="894874"/>
            <a:chOff x="523113" y="905351"/>
            <a:chExt cx="1172337" cy="894874"/>
          </a:xfrm>
        </p:grpSpPr>
        <p:sp>
          <p:nvSpPr>
            <p:cNvPr id="3" name="TextBox 3"/>
            <p:cNvSpPr txBox="1"/>
            <p:nvPr/>
          </p:nvSpPr>
          <p:spPr>
            <a:xfrm>
              <a:off x="523113" y="905351"/>
              <a:ext cx="564439"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n-lt"/>
                  <a:ea typeface="+mn-ea"/>
                  <a:cs typeface="+mn-cs"/>
                </a:rPr>
                <a:t>目录</a:t>
              </a:r>
            </a:p>
          </p:txBody>
        </p:sp>
        <p:sp>
          <p:nvSpPr>
            <p:cNvPr id="4" name="TextBox 4"/>
            <p:cNvSpPr txBox="1"/>
            <p:nvPr/>
          </p:nvSpPr>
          <p:spPr>
            <a:xfrm>
              <a:off x="526161" y="1351121"/>
              <a:ext cx="1053669" cy="278702"/>
            </a:xfrm>
            <a:prstGeom prst="rect">
              <a:avLst/>
            </a:prstGeom>
            <a:noFill/>
            <a:ln>
              <a:noFill/>
            </a:ln>
          </p:spPr>
          <p:txBody>
            <a:bodyPr wrap="none" lIns="0" tIns="0" rIns="0" bIns="0" anchor="t" anchorCtr="0">
              <a:spAutoFit/>
            </a:bodyPr>
            <a:lstStyle/>
            <a:p>
              <a:pPr algn="l"/>
              <a:r>
                <a:rPr lang="zh-CN" sz="1420" b="1" dirty="0">
                  <a:solidFill>
                    <a:srgbClr val="8FCDBE"/>
                  </a:solidFill>
                  <a:latin typeface="+mn-lt"/>
                  <a:ea typeface="+mn-ea"/>
                  <a:cs typeface="+mn-cs"/>
                </a:rPr>
                <a:t>CONTE NTS</a:t>
              </a:r>
            </a:p>
          </p:txBody>
        </p:sp>
        <p:sp>
          <p:nvSpPr>
            <p:cNvPr id="5" name="Line 5"/>
            <p:cNvSpPr/>
            <p:nvPr/>
          </p:nvSpPr>
          <p:spPr>
            <a:xfrm>
              <a:off x="533400" y="1790700"/>
              <a:ext cx="1162050" cy="9525"/>
            </a:xfrm>
            <a:custGeom>
              <a:avLst/>
              <a:gdLst/>
              <a:ahLst/>
              <a:cxnLst/>
              <a:rect l="l" t="t" r="r" b="b"/>
              <a:pathLst>
                <a:path w="1162050" h="9525">
                  <a:moveTo>
                    <a:pt x="0" y="0"/>
                  </a:moveTo>
                  <a:lnTo>
                    <a:pt x="1162050" y="0"/>
                  </a:lnTo>
                </a:path>
              </a:pathLst>
            </a:custGeom>
            <a:noFill/>
            <a:ln w="47625">
              <a:solidFill>
                <a:schemeClr val="accent3"/>
              </a:solidFill>
            </a:ln>
          </p:spPr>
        </p:sp>
      </p:grpSp>
      <p:grpSp>
        <p:nvGrpSpPr>
          <p:cNvPr id="9" name="Group 9"/>
          <p:cNvGrpSpPr/>
          <p:nvPr/>
        </p:nvGrpSpPr>
        <p:grpSpPr>
          <a:xfrm>
            <a:off x="528066" y="2687002"/>
            <a:ext cx="1477518" cy="922687"/>
            <a:chOff x="528066" y="2687002"/>
            <a:chExt cx="1477518" cy="922687"/>
          </a:xfrm>
        </p:grpSpPr>
        <p:sp>
          <p:nvSpPr>
            <p:cNvPr id="7" name="TextBox 7"/>
            <p:cNvSpPr txBox="1"/>
            <p:nvPr/>
          </p:nvSpPr>
          <p:spPr>
            <a:xfrm>
              <a:off x="528066" y="2687002"/>
              <a:ext cx="1477518" cy="433959"/>
            </a:xfrm>
            <a:prstGeom prst="rect">
              <a:avLst/>
            </a:prstGeom>
            <a:noFill/>
            <a:ln>
              <a:noFill/>
            </a:ln>
          </p:spPr>
          <p:txBody>
            <a:bodyPr wrap="none" lIns="0" tIns="0" rIns="0" bIns="0" anchor="t" anchorCtr="0">
              <a:spAutoFit/>
            </a:bodyPr>
            <a:lstStyle/>
            <a:p>
              <a:pPr algn="l">
                <a:lnSpc>
                  <a:spcPts val="1800"/>
                </a:lnSpc>
              </a:pPr>
              <a:r>
                <a:rPr lang="zh-CN" sz="1050" dirty="0">
                  <a:solidFill>
                    <a:srgbClr val="FFFFFF"/>
                  </a:solidFill>
                  <a:latin typeface="+mn-lt"/>
                  <a:ea typeface="+mn-ea"/>
                  <a:cs typeface="+mn-cs"/>
                </a:rPr>
                <a:t>基于变径盾构的轨道交通</a:t>
              </a:r>
              <a:br/>
              <a:r>
                <a:rPr lang="zh-CN" sz="1050" dirty="0">
                  <a:solidFill>
                    <a:srgbClr val="FFFFFF"/>
                  </a:solidFill>
                  <a:latin typeface="+mn-lt"/>
                  <a:ea typeface="+mn-ea"/>
                  <a:cs typeface="+mn-cs"/>
                </a:rPr>
                <a:t>隧站一体化建造技术研究</a:t>
              </a:r>
            </a:p>
          </p:txBody>
        </p:sp>
        <p:sp>
          <p:nvSpPr>
            <p:cNvPr id="8" name="TextBox 8"/>
            <p:cNvSpPr txBox="1"/>
            <p:nvPr/>
          </p:nvSpPr>
          <p:spPr>
            <a:xfrm>
              <a:off x="528447" y="3418999"/>
              <a:ext cx="1355568" cy="190690"/>
            </a:xfrm>
            <a:prstGeom prst="rect">
              <a:avLst/>
            </a:prstGeom>
            <a:noFill/>
            <a:ln>
              <a:noFill/>
            </a:ln>
          </p:spPr>
          <p:txBody>
            <a:bodyPr wrap="none" lIns="0" tIns="0" rIns="0" bIns="0" anchor="t" anchorCtr="0">
              <a:spAutoFit/>
            </a:bodyPr>
            <a:lstStyle/>
            <a:p>
              <a:pPr algn="l"/>
              <a:r>
                <a:rPr lang="zh-CN" sz="980" dirty="0">
                  <a:solidFill>
                    <a:srgbClr val="D5DCE4"/>
                  </a:solidFill>
                  <a:latin typeface="+mn-lt"/>
                  <a:ea typeface="+mn-ea"/>
                  <a:cs typeface="+mn-cs"/>
                </a:rPr>
                <a:t>2025年度执行情况汇报</a:t>
              </a:r>
            </a:p>
          </p:txBody>
        </p:sp>
      </p:grpSp>
      <p:grpSp>
        <p:nvGrpSpPr>
          <p:cNvPr id="14" name="Group 14"/>
          <p:cNvGrpSpPr/>
          <p:nvPr/>
        </p:nvGrpSpPr>
        <p:grpSpPr>
          <a:xfrm>
            <a:off x="3714750" y="990600"/>
            <a:ext cx="7810500" cy="990600"/>
            <a:chOff x="3714750" y="990600"/>
            <a:chExt cx="7810500" cy="990600"/>
          </a:xfrm>
        </p:grpSpPr>
        <p:sp>
          <p:nvSpPr>
            <p:cNvPr id="10" name="Rectangle 10"/>
            <p:cNvSpPr/>
            <p:nvPr/>
          </p:nvSpPr>
          <p:spPr>
            <a:xfrm>
              <a:off x="3714750" y="990600"/>
              <a:ext cx="7810500" cy="990600"/>
            </a:xfrm>
            <a:prstGeom prst="roundRect">
              <a:avLst>
                <a:gd name="adj" fmla="val 9615"/>
              </a:avLst>
            </a:prstGeom>
            <a:solidFill>
              <a:schemeClr val="lt2"/>
            </a:solidFill>
            <a:ln>
              <a:noFill/>
            </a:ln>
          </p:spPr>
        </p:sp>
        <p:sp>
          <p:nvSpPr>
            <p:cNvPr id="11" name="TextBox 11"/>
            <p:cNvSpPr txBox="1"/>
            <p:nvPr/>
          </p:nvSpPr>
          <p:spPr>
            <a:xfrm>
              <a:off x="4028313" y="1381601"/>
              <a:ext cx="292506" cy="396050"/>
            </a:xfrm>
            <a:prstGeom prst="rect">
              <a:avLst/>
            </a:prstGeom>
            <a:noFill/>
            <a:ln>
              <a:noFill/>
            </a:ln>
          </p:spPr>
          <p:txBody>
            <a:bodyPr wrap="none" lIns="0" tIns="0" rIns="0" bIns="0" anchor="t" anchorCtr="0">
              <a:spAutoFit/>
            </a:bodyPr>
            <a:lstStyle/>
            <a:p>
              <a:pPr algn="l"/>
              <a:r>
                <a:rPr lang="zh-CN" sz="2020" b="1" dirty="0">
                  <a:solidFill>
                    <a:schemeClr val="accent2"/>
                  </a:solidFill>
                  <a:latin typeface="+mn-lt"/>
                  <a:ea typeface="+mn-ea"/>
                  <a:cs typeface="+mn-cs"/>
                </a:rPr>
                <a:t>一</a:t>
              </a:r>
            </a:p>
          </p:txBody>
        </p:sp>
        <p:sp>
          <p:nvSpPr>
            <p:cNvPr id="12" name="Line 12"/>
            <p:cNvSpPr/>
            <p:nvPr/>
          </p:nvSpPr>
          <p:spPr>
            <a:xfrm>
              <a:off x="4686300" y="1238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13" name="TextBox 13"/>
            <p:cNvSpPr txBox="1"/>
            <p:nvPr/>
          </p:nvSpPr>
          <p:spPr>
            <a:xfrm>
              <a:off x="5060061" y="1408271"/>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课题总体情况</a:t>
              </a:r>
            </a:p>
          </p:txBody>
        </p:sp>
      </p:grpSp>
      <p:grpSp>
        <p:nvGrpSpPr>
          <p:cNvPr id="19" name="Group 19"/>
          <p:cNvGrpSpPr/>
          <p:nvPr/>
        </p:nvGrpSpPr>
        <p:grpSpPr>
          <a:xfrm>
            <a:off x="3714750" y="2133600"/>
            <a:ext cx="7810500" cy="990600"/>
            <a:chOff x="3714750" y="2133600"/>
            <a:chExt cx="7810500" cy="990600"/>
          </a:xfrm>
        </p:grpSpPr>
        <p:sp>
          <p:nvSpPr>
            <p:cNvPr id="15" name="Rectangle 15"/>
            <p:cNvSpPr/>
            <p:nvPr/>
          </p:nvSpPr>
          <p:spPr>
            <a:xfrm>
              <a:off x="3714750" y="2133600"/>
              <a:ext cx="7810500" cy="990600"/>
            </a:xfrm>
            <a:prstGeom prst="roundRect">
              <a:avLst>
                <a:gd name="adj" fmla="val 9615"/>
              </a:avLst>
            </a:prstGeom>
            <a:solidFill>
              <a:schemeClr val="lt1"/>
            </a:solidFill>
            <a:ln w="9525">
              <a:solidFill>
                <a:schemeClr val="accent5"/>
              </a:solidFill>
            </a:ln>
          </p:spPr>
        </p:sp>
        <p:sp>
          <p:nvSpPr>
            <p:cNvPr id="16" name="TextBox 16"/>
            <p:cNvSpPr txBox="1"/>
            <p:nvPr/>
          </p:nvSpPr>
          <p:spPr>
            <a:xfrm>
              <a:off x="4028313" y="2524601"/>
              <a:ext cx="292506" cy="396050"/>
            </a:xfrm>
            <a:prstGeom prst="rect">
              <a:avLst/>
            </a:prstGeom>
            <a:noFill/>
            <a:ln>
              <a:noFill/>
            </a:ln>
          </p:spPr>
          <p:txBody>
            <a:bodyPr wrap="none" lIns="0" tIns="0" rIns="0" bIns="0" anchor="t" anchorCtr="0">
              <a:spAutoFit/>
            </a:bodyPr>
            <a:lstStyle/>
            <a:p>
              <a:pPr algn="l"/>
              <a:r>
                <a:rPr lang="zh-CN" sz="2020" b="1" dirty="0">
                  <a:solidFill>
                    <a:schemeClr val="accent2"/>
                  </a:solidFill>
                  <a:latin typeface="+mn-lt"/>
                  <a:ea typeface="+mn-ea"/>
                  <a:cs typeface="+mn-cs"/>
                </a:rPr>
                <a:t>二</a:t>
              </a:r>
            </a:p>
          </p:txBody>
        </p:sp>
        <p:sp>
          <p:nvSpPr>
            <p:cNvPr id="17" name="Line 17"/>
            <p:cNvSpPr/>
            <p:nvPr/>
          </p:nvSpPr>
          <p:spPr>
            <a:xfrm>
              <a:off x="4686300" y="2381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18" name="TextBox 18"/>
            <p:cNvSpPr txBox="1"/>
            <p:nvPr/>
          </p:nvSpPr>
          <p:spPr>
            <a:xfrm>
              <a:off x="5060061" y="2551271"/>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项目研发进展</a:t>
              </a:r>
            </a:p>
          </p:txBody>
        </p:sp>
      </p:grpSp>
      <p:grpSp>
        <p:nvGrpSpPr>
          <p:cNvPr id="24" name="Group 24"/>
          <p:cNvGrpSpPr/>
          <p:nvPr/>
        </p:nvGrpSpPr>
        <p:grpSpPr>
          <a:xfrm>
            <a:off x="3714750" y="3276600"/>
            <a:ext cx="7810500" cy="990600"/>
            <a:chOff x="3714750" y="3276600"/>
            <a:chExt cx="7810500" cy="990600"/>
          </a:xfrm>
        </p:grpSpPr>
        <p:sp>
          <p:nvSpPr>
            <p:cNvPr id="20" name="Rectangle 20"/>
            <p:cNvSpPr/>
            <p:nvPr/>
          </p:nvSpPr>
          <p:spPr>
            <a:xfrm>
              <a:off x="3714750" y="3276600"/>
              <a:ext cx="7810500" cy="990600"/>
            </a:xfrm>
            <a:prstGeom prst="roundRect">
              <a:avLst>
                <a:gd name="adj" fmla="val 9615"/>
              </a:avLst>
            </a:prstGeom>
            <a:solidFill>
              <a:schemeClr val="lt2"/>
            </a:solidFill>
            <a:ln>
              <a:noFill/>
            </a:ln>
          </p:spPr>
        </p:sp>
        <p:sp>
          <p:nvSpPr>
            <p:cNvPr id="21" name="TextBox 21"/>
            <p:cNvSpPr txBox="1"/>
            <p:nvPr/>
          </p:nvSpPr>
          <p:spPr>
            <a:xfrm>
              <a:off x="4028313" y="3667601"/>
              <a:ext cx="292506"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三</a:t>
              </a:r>
            </a:p>
          </p:txBody>
        </p:sp>
        <p:sp>
          <p:nvSpPr>
            <p:cNvPr id="22" name="Line 22"/>
            <p:cNvSpPr/>
            <p:nvPr/>
          </p:nvSpPr>
          <p:spPr>
            <a:xfrm>
              <a:off x="4686300" y="3524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23" name="TextBox 23"/>
            <p:cNvSpPr txBox="1"/>
            <p:nvPr/>
          </p:nvSpPr>
          <p:spPr>
            <a:xfrm>
              <a:off x="5060061" y="3694271"/>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经费使用情况</a:t>
              </a:r>
            </a:p>
          </p:txBody>
        </p:sp>
      </p:grpSp>
      <p:grpSp>
        <p:nvGrpSpPr>
          <p:cNvPr id="29" name="Group 29"/>
          <p:cNvGrpSpPr/>
          <p:nvPr/>
        </p:nvGrpSpPr>
        <p:grpSpPr>
          <a:xfrm>
            <a:off x="3714750" y="4419600"/>
            <a:ext cx="7810500" cy="990600"/>
            <a:chOff x="3714750" y="4419600"/>
            <a:chExt cx="7810500" cy="990600"/>
          </a:xfrm>
        </p:grpSpPr>
        <p:sp>
          <p:nvSpPr>
            <p:cNvPr id="25" name="Rectangle 25"/>
            <p:cNvSpPr/>
            <p:nvPr/>
          </p:nvSpPr>
          <p:spPr>
            <a:xfrm>
              <a:off x="3714750" y="4419600"/>
              <a:ext cx="7810500" cy="990600"/>
            </a:xfrm>
            <a:prstGeom prst="roundRect">
              <a:avLst>
                <a:gd name="adj" fmla="val 9615"/>
              </a:avLst>
            </a:prstGeom>
            <a:solidFill>
              <a:schemeClr val="lt1"/>
            </a:solidFill>
            <a:ln w="9525">
              <a:solidFill>
                <a:schemeClr val="accent5"/>
              </a:solidFill>
            </a:ln>
          </p:spPr>
        </p:sp>
        <p:sp>
          <p:nvSpPr>
            <p:cNvPr id="26" name="TextBox 26"/>
            <p:cNvSpPr txBox="1"/>
            <p:nvPr/>
          </p:nvSpPr>
          <p:spPr>
            <a:xfrm>
              <a:off x="4028313" y="4810601"/>
              <a:ext cx="292506"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四</a:t>
              </a:r>
            </a:p>
          </p:txBody>
        </p:sp>
        <p:sp>
          <p:nvSpPr>
            <p:cNvPr id="27" name="Line 27"/>
            <p:cNvSpPr/>
            <p:nvPr/>
          </p:nvSpPr>
          <p:spPr>
            <a:xfrm>
              <a:off x="4686300" y="4667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28" name="TextBox 28"/>
            <p:cNvSpPr txBox="1"/>
            <p:nvPr/>
          </p:nvSpPr>
          <p:spPr>
            <a:xfrm>
              <a:off x="5060061" y="4837271"/>
              <a:ext cx="1352601"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下一步工作计划</a:t>
              </a:r>
            </a:p>
          </p:txBody>
        </p:sp>
      </p:grpSp>
      <p:sp>
        <p:nvSpPr>
          <p:cNvPr id="30" name="TextBox 30"/>
          <p:cNvSpPr txBox="1"/>
          <p:nvPr/>
        </p:nvSpPr>
        <p:spPr>
          <a:xfrm>
            <a:off x="11399060" y="633079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Ellipse 2"/>
          <p:cNvSpPr/>
          <p:nvPr/>
        </p:nvSpPr>
        <p:spPr>
          <a:xfrm>
            <a:off x="7429500" y="-2190750"/>
            <a:ext cx="5905500" cy="5905500"/>
          </a:xfrm>
          <a:prstGeom prst="ellipse">
            <a:avLst/>
          </a:prstGeom>
          <a:solidFill>
            <a:schemeClr val="accent2">
              <a:alpha val="18000"/>
            </a:schemeClr>
          </a:solidFill>
          <a:ln>
            <a:noFill/>
          </a:ln>
        </p:spPr>
      </p:sp>
      <p:sp>
        <p:nvSpPr>
          <p:cNvPr id="3" name="Rectangle 3"/>
          <p:cNvSpPr/>
          <p:nvPr/>
        </p:nvSpPr>
        <p:spPr>
          <a:xfrm>
            <a:off x="609600" y="876300"/>
            <a:ext cx="1409700" cy="76200"/>
          </a:xfrm>
          <a:prstGeom prst="rect">
            <a:avLst/>
          </a:prstGeom>
          <a:solidFill>
            <a:schemeClr val="accent3"/>
          </a:solidFill>
          <a:ln>
            <a:noFill/>
          </a:ln>
        </p:spPr>
      </p:sp>
      <p:grpSp>
        <p:nvGrpSpPr>
          <p:cNvPr id="6" name="Group 6"/>
          <p:cNvGrpSpPr/>
          <p:nvPr/>
        </p:nvGrpSpPr>
        <p:grpSpPr>
          <a:xfrm>
            <a:off x="604266" y="1267778"/>
            <a:ext cx="3120390" cy="557783"/>
            <a:chOff x="604266" y="1267778"/>
            <a:chExt cx="3120390" cy="557783"/>
          </a:xfrm>
        </p:grpSpPr>
        <p:sp>
          <p:nvSpPr>
            <p:cNvPr id="4" name="TextBox 4"/>
            <p:cNvSpPr txBox="1"/>
            <p:nvPr/>
          </p:nvSpPr>
          <p:spPr>
            <a:xfrm>
              <a:off x="604266" y="1267778"/>
              <a:ext cx="3120390" cy="205359"/>
            </a:xfrm>
            <a:prstGeom prst="rect">
              <a:avLst/>
            </a:prstGeom>
            <a:noFill/>
            <a:ln>
              <a:noFill/>
            </a:ln>
          </p:spPr>
          <p:txBody>
            <a:bodyPr wrap="none" lIns="0" tIns="0" rIns="0" bIns="0" anchor="t" anchorCtr="0">
              <a:spAutoFit/>
            </a:bodyPr>
            <a:lstStyle/>
            <a:p>
              <a:pPr algn="l"/>
              <a:r>
                <a:rPr lang="zh-CN" sz="1050" b="1" dirty="0">
                  <a:solidFill>
                    <a:srgbClr val="8FCDBE"/>
                  </a:solidFill>
                  <a:latin typeface="+mn-lt"/>
                  <a:ea typeface="+mn-ea"/>
                  <a:cs typeface="+mn-cs"/>
                </a:rPr>
                <a:t>中国铁建股份有限公司科技研发计划项目重点课题</a:t>
              </a:r>
            </a:p>
          </p:txBody>
        </p:sp>
        <p:sp>
          <p:nvSpPr>
            <p:cNvPr id="5" name="TextBox 5"/>
            <p:cNvSpPr txBox="1"/>
            <p:nvPr/>
          </p:nvSpPr>
          <p:spPr>
            <a:xfrm>
              <a:off x="604266" y="1620202"/>
              <a:ext cx="3120390" cy="205359"/>
            </a:xfrm>
            <a:prstGeom prst="rect">
              <a:avLst/>
            </a:prstGeom>
            <a:noFill/>
            <a:ln>
              <a:noFill/>
            </a:ln>
          </p:spPr>
          <p:txBody>
            <a:bodyPr wrap="none" lIns="0" tIns="0" rIns="0" bIns="0" anchor="t" anchorCtr="0">
              <a:spAutoFit/>
            </a:bodyPr>
            <a:lstStyle/>
            <a:p>
              <a:pPr algn="l"/>
              <a:r>
                <a:rPr lang="zh-CN" sz="1050" dirty="0">
                  <a:solidFill>
                    <a:srgbClr val="D5DCE4"/>
                  </a:solidFill>
                  <a:latin typeface="+mn-lt"/>
                  <a:ea typeface="+mn-ea"/>
                  <a:cs typeface="+mn-cs"/>
                </a:rPr>
                <a:t>基于变径盾构的轨道交通隧站一体化建造技术研究</a:t>
              </a:r>
            </a:p>
          </p:txBody>
        </p:sp>
      </p:grpSp>
      <p:grpSp>
        <p:nvGrpSpPr>
          <p:cNvPr id="8" name="Group 8"/>
          <p:cNvGrpSpPr/>
          <p:nvPr/>
        </p:nvGrpSpPr>
        <p:grpSpPr>
          <a:xfrm>
            <a:off x="590550" y="2598420"/>
            <a:ext cx="765048" cy="1047750"/>
            <a:chOff x="590550" y="2598420"/>
            <a:chExt cx="765048" cy="1047750"/>
          </a:xfrm>
        </p:grpSpPr>
        <p:sp>
          <p:nvSpPr>
            <p:cNvPr id="7" name="TextBox 7"/>
            <p:cNvSpPr txBox="1"/>
            <p:nvPr/>
          </p:nvSpPr>
          <p:spPr>
            <a:xfrm>
              <a:off x="590550" y="2598420"/>
              <a:ext cx="765048" cy="1047750"/>
            </a:xfrm>
            <a:prstGeom prst="rect">
              <a:avLst/>
            </a:prstGeom>
            <a:noFill/>
            <a:ln>
              <a:noFill/>
            </a:ln>
          </p:spPr>
          <p:txBody>
            <a:bodyPr wrap="none" lIns="0" tIns="0" rIns="0" bIns="0" anchor="t" anchorCtr="0">
              <a:spAutoFit/>
            </a:bodyPr>
            <a:lstStyle/>
            <a:p>
              <a:pPr algn="l"/>
              <a:r>
                <a:rPr lang="zh-CN" sz="5400" b="1" dirty="0">
                  <a:solidFill>
                    <a:srgbClr val="8FCDBE"/>
                  </a:solidFill>
                  <a:latin typeface="+mn-lt"/>
                  <a:ea typeface="+mn-ea"/>
                  <a:cs typeface="+mn-cs"/>
                </a:rPr>
                <a:t>一</a:t>
              </a:r>
            </a:p>
          </p:txBody>
        </p:sp>
      </p:grpSp>
      <p:grpSp>
        <p:nvGrpSpPr>
          <p:cNvPr id="10" name="Group 10"/>
          <p:cNvGrpSpPr/>
          <p:nvPr/>
        </p:nvGrpSpPr>
        <p:grpSpPr>
          <a:xfrm>
            <a:off x="2256663" y="2581751"/>
            <a:ext cx="2196033" cy="396050"/>
            <a:chOff x="2256663" y="2581751"/>
            <a:chExt cx="2196033" cy="396050"/>
          </a:xfrm>
        </p:grpSpPr>
        <p:sp>
          <p:nvSpPr>
            <p:cNvPr id="9" name="TextBox 9"/>
            <p:cNvSpPr txBox="1"/>
            <p:nvPr/>
          </p:nvSpPr>
          <p:spPr>
            <a:xfrm>
              <a:off x="2256663" y="2581751"/>
              <a:ext cx="2196033"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n-lt"/>
                  <a:ea typeface="+mn-ea"/>
                  <a:cs typeface="+mn-cs"/>
                </a:rPr>
                <a:t>一、课题总体情况</a:t>
              </a:r>
            </a:p>
          </p:txBody>
        </p:sp>
      </p:grpSp>
      <p:grpSp>
        <p:nvGrpSpPr>
          <p:cNvPr id="14" name="Group 14"/>
          <p:cNvGrpSpPr/>
          <p:nvPr/>
        </p:nvGrpSpPr>
        <p:grpSpPr>
          <a:xfrm>
            <a:off x="2266950" y="3505200"/>
            <a:ext cx="1931168" cy="819150"/>
            <a:chOff x="2266950" y="3505200"/>
            <a:chExt cx="1931168" cy="819150"/>
          </a:xfrm>
        </p:grpSpPr>
        <p:sp>
          <p:nvSpPr>
            <p:cNvPr id="11" name="Line 11"/>
            <p:cNvSpPr/>
            <p:nvPr/>
          </p:nvSpPr>
          <p:spPr>
            <a:xfrm>
              <a:off x="2266950" y="3505200"/>
              <a:ext cx="9525" cy="819150"/>
            </a:xfrm>
            <a:custGeom>
              <a:avLst/>
              <a:gdLst/>
              <a:ahLst/>
              <a:cxnLst/>
              <a:rect l="l" t="t" r="r" b="b"/>
              <a:pathLst>
                <a:path w="9525" h="819150">
                  <a:moveTo>
                    <a:pt x="0" y="0"/>
                  </a:moveTo>
                  <a:lnTo>
                    <a:pt x="0" y="819150"/>
                  </a:lnTo>
                </a:path>
              </a:pathLst>
            </a:custGeom>
            <a:noFill/>
            <a:ln w="38100">
              <a:solidFill>
                <a:schemeClr val="accent2"/>
              </a:solidFill>
            </a:ln>
          </p:spPr>
        </p:sp>
        <p:sp>
          <p:nvSpPr>
            <p:cNvPr id="12" name="TextBox 12"/>
            <p:cNvSpPr txBox="1"/>
            <p:nvPr/>
          </p:nvSpPr>
          <p:spPr>
            <a:xfrm>
              <a:off x="2564511" y="3513296"/>
              <a:ext cx="1060125"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1. 课题概况</a:t>
              </a:r>
            </a:p>
          </p:txBody>
        </p:sp>
        <p:sp>
          <p:nvSpPr>
            <p:cNvPr id="13" name="TextBox 13"/>
            <p:cNvSpPr txBox="1"/>
            <p:nvPr/>
          </p:nvSpPr>
          <p:spPr>
            <a:xfrm>
              <a:off x="2564511" y="4018121"/>
              <a:ext cx="1633607"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2. 团队组成及分工</a:t>
              </a:r>
            </a:p>
          </p:txBody>
        </p:sp>
      </p:grpSp>
      <p:grpSp>
        <p:nvGrpSpPr>
          <p:cNvPr id="17" name="Group 17"/>
          <p:cNvGrpSpPr/>
          <p:nvPr/>
        </p:nvGrpSpPr>
        <p:grpSpPr>
          <a:xfrm>
            <a:off x="609600" y="6000750"/>
            <a:ext cx="10977562" cy="339566"/>
            <a:chOff x="609600" y="6000750"/>
            <a:chExt cx="10977562" cy="339566"/>
          </a:xfrm>
        </p:grpSpPr>
        <p:sp>
          <p:nvSpPr>
            <p:cNvPr id="15" name="Line 15"/>
            <p:cNvSpPr/>
            <p:nvPr/>
          </p:nvSpPr>
          <p:spPr>
            <a:xfrm>
              <a:off x="609600" y="6000750"/>
              <a:ext cx="10972800" cy="9525"/>
            </a:xfrm>
            <a:custGeom>
              <a:avLst/>
              <a:gdLst/>
              <a:ahLst/>
              <a:cxnLst/>
              <a:rect l="l" t="t" r="r" b="b"/>
              <a:pathLst>
                <a:path w="10972800" h="9525">
                  <a:moveTo>
                    <a:pt x="0" y="0"/>
                  </a:moveTo>
                  <a:lnTo>
                    <a:pt x="10972800" y="0"/>
                  </a:lnTo>
                </a:path>
              </a:pathLst>
            </a:custGeom>
            <a:noFill/>
            <a:ln w="9525">
              <a:solidFill>
                <a:srgbClr val="FFFFFF">
                  <a:alpha val="18000"/>
                </a:srgbClr>
              </a:solidFill>
            </a:ln>
          </p:spPr>
        </p:sp>
        <p:sp>
          <p:nvSpPr>
            <p:cNvPr id="16" name="TextBox 16"/>
            <p:cNvSpPr txBox="1"/>
            <p:nvPr/>
          </p:nvSpPr>
          <p:spPr>
            <a:xfrm>
              <a:off x="11456210" y="6178391"/>
              <a:ext cx="130952" cy="161925"/>
            </a:xfrm>
            <a:prstGeom prst="rect">
              <a:avLst/>
            </a:prstGeom>
            <a:noFill/>
            <a:ln>
              <a:noFill/>
            </a:ln>
          </p:spPr>
          <p:txBody>
            <a:bodyPr wrap="none" lIns="0" tIns="0" rIns="0" bIns="0" anchor="t" anchorCtr="0">
              <a:spAutoFit/>
            </a:bodyPr>
            <a:lstStyle/>
            <a:p>
              <a:pPr algn="r"/>
              <a:r>
                <a:rPr lang="zh-CN" sz="820" dirty="0">
                  <a:solidFill>
                    <a:srgbClr val="D5DCE4"/>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9086850" y="0"/>
            <a:ext cx="3105150" cy="6858000"/>
          </a:xfrm>
          <a:prstGeom prst="rect">
            <a:avLst/>
          </a:prstGeom>
          <a:solidFill>
            <a:schemeClr val="accent1"/>
          </a:solidFill>
          <a:ln>
            <a:noFill/>
          </a:ln>
        </p:spPr>
      </p:sp>
      <p:sp>
        <p:nvSpPr>
          <p:cNvPr id="3" name="Rectangle 3"/>
          <p:cNvSpPr/>
          <p:nvPr/>
        </p:nvSpPr>
        <p:spPr>
          <a:xfrm>
            <a:off x="609600" y="876300"/>
            <a:ext cx="1409700" cy="76200"/>
          </a:xfrm>
          <a:prstGeom prst="rect">
            <a:avLst/>
          </a:prstGeom>
          <a:solidFill>
            <a:schemeClr val="accent2"/>
          </a:solidFill>
          <a:ln>
            <a:noFill/>
          </a:ln>
        </p:spPr>
      </p:sp>
      <p:grpSp>
        <p:nvGrpSpPr>
          <p:cNvPr id="6" name="Group 6"/>
          <p:cNvGrpSpPr/>
          <p:nvPr/>
        </p:nvGrpSpPr>
        <p:grpSpPr>
          <a:xfrm>
            <a:off x="604266" y="1267778"/>
            <a:ext cx="3261741" cy="557783"/>
            <a:chOff x="604266" y="1267778"/>
            <a:chExt cx="3261741" cy="557783"/>
          </a:xfrm>
        </p:grpSpPr>
        <p:sp>
          <p:nvSpPr>
            <p:cNvPr id="4" name="TextBox 4"/>
            <p:cNvSpPr txBox="1"/>
            <p:nvPr/>
          </p:nvSpPr>
          <p:spPr>
            <a:xfrm>
              <a:off x="604266" y="1267778"/>
              <a:ext cx="3261741"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中国铁建股份有限公司科技研发计划项目重点课题）</a:t>
              </a:r>
            </a:p>
          </p:txBody>
        </p:sp>
        <p:sp>
          <p:nvSpPr>
            <p:cNvPr id="5" name="TextBox 5"/>
            <p:cNvSpPr txBox="1"/>
            <p:nvPr/>
          </p:nvSpPr>
          <p:spPr>
            <a:xfrm>
              <a:off x="604266" y="1620202"/>
              <a:ext cx="3120390"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基于变径盾构的轨道交通隧站一体化建造技术研究</a:t>
              </a:r>
            </a:p>
          </p:txBody>
        </p:sp>
      </p:grpSp>
      <p:grpSp>
        <p:nvGrpSpPr>
          <p:cNvPr id="8" name="Group 8"/>
          <p:cNvGrpSpPr/>
          <p:nvPr/>
        </p:nvGrpSpPr>
        <p:grpSpPr>
          <a:xfrm>
            <a:off x="590550" y="2535555"/>
            <a:ext cx="724662" cy="990600"/>
            <a:chOff x="590550" y="2535555"/>
            <a:chExt cx="724662" cy="990600"/>
          </a:xfrm>
        </p:grpSpPr>
        <p:sp>
          <p:nvSpPr>
            <p:cNvPr id="7" name="TextBox 7"/>
            <p:cNvSpPr txBox="1"/>
            <p:nvPr/>
          </p:nvSpPr>
          <p:spPr>
            <a:xfrm>
              <a:off x="590550" y="2535555"/>
              <a:ext cx="724662" cy="990600"/>
            </a:xfrm>
            <a:prstGeom prst="rect">
              <a:avLst/>
            </a:prstGeom>
            <a:noFill/>
            <a:ln>
              <a:noFill/>
            </a:ln>
          </p:spPr>
          <p:txBody>
            <a:bodyPr wrap="none" lIns="0" tIns="0" rIns="0" bIns="0" anchor="t" anchorCtr="0">
              <a:spAutoFit/>
            </a:bodyPr>
            <a:lstStyle/>
            <a:p>
              <a:pPr algn="l"/>
              <a:r>
                <a:rPr lang="zh-CN" sz="5100" b="1" dirty="0">
                  <a:solidFill>
                    <a:schemeClr val="accent2"/>
                  </a:solidFill>
                  <a:latin typeface="+mn-lt"/>
                  <a:ea typeface="+mn-ea"/>
                  <a:cs typeface="+mn-cs"/>
                </a:rPr>
                <a:t>二</a:t>
              </a:r>
            </a:p>
          </p:txBody>
        </p:sp>
      </p:grpSp>
      <p:grpSp>
        <p:nvGrpSpPr>
          <p:cNvPr id="10" name="Group 10"/>
          <p:cNvGrpSpPr/>
          <p:nvPr/>
        </p:nvGrpSpPr>
        <p:grpSpPr>
          <a:xfrm>
            <a:off x="2180463" y="2524601"/>
            <a:ext cx="2196033" cy="396050"/>
            <a:chOff x="2180463" y="2524601"/>
            <a:chExt cx="2196033" cy="396050"/>
          </a:xfrm>
        </p:grpSpPr>
        <p:sp>
          <p:nvSpPr>
            <p:cNvPr id="9" name="TextBox 9"/>
            <p:cNvSpPr txBox="1"/>
            <p:nvPr/>
          </p:nvSpPr>
          <p:spPr>
            <a:xfrm>
              <a:off x="2180463" y="2524601"/>
              <a:ext cx="2196033" cy="396050"/>
            </a:xfrm>
            <a:prstGeom prst="rect">
              <a:avLst/>
            </a:prstGeom>
            <a:noFill/>
            <a:ln>
              <a:noFill/>
            </a:ln>
          </p:spPr>
          <p:txBody>
            <a:bodyPr wrap="none" lIns="0" tIns="0" rIns="0" bIns="0" anchor="t" anchorCtr="0">
              <a:spAutoFit/>
            </a:bodyPr>
            <a:lstStyle/>
            <a:p>
              <a:pPr algn="l"/>
              <a:r>
                <a:rPr lang="zh-CN" sz="2020" b="1" dirty="0">
                  <a:solidFill>
                    <a:schemeClr val="accent1"/>
                  </a:solidFill>
                  <a:latin typeface="+mn-lt"/>
                  <a:ea typeface="+mn-ea"/>
                  <a:cs typeface="+mn-cs"/>
                </a:rPr>
                <a:t>二、项目研发进展</a:t>
              </a:r>
            </a:p>
          </p:txBody>
        </p:sp>
      </p:grpSp>
      <p:grpSp>
        <p:nvGrpSpPr>
          <p:cNvPr id="17" name="Group 17"/>
          <p:cNvGrpSpPr/>
          <p:nvPr/>
        </p:nvGrpSpPr>
        <p:grpSpPr>
          <a:xfrm>
            <a:off x="2190750" y="3314700"/>
            <a:ext cx="1859768" cy="1876806"/>
            <a:chOff x="2190750" y="3314700"/>
            <a:chExt cx="1859768" cy="1876806"/>
          </a:xfrm>
        </p:grpSpPr>
        <p:sp>
          <p:nvSpPr>
            <p:cNvPr id="11" name="Line 11"/>
            <p:cNvSpPr/>
            <p:nvPr/>
          </p:nvSpPr>
          <p:spPr>
            <a:xfrm>
              <a:off x="2190750" y="3314700"/>
              <a:ext cx="9525" cy="1809750"/>
            </a:xfrm>
            <a:custGeom>
              <a:avLst/>
              <a:gdLst/>
              <a:ahLst/>
              <a:cxnLst/>
              <a:rect l="l" t="t" r="r" b="b"/>
              <a:pathLst>
                <a:path w="9525" h="1809750">
                  <a:moveTo>
                    <a:pt x="0" y="0"/>
                  </a:moveTo>
                  <a:lnTo>
                    <a:pt x="0" y="1809750"/>
                  </a:lnTo>
                </a:path>
              </a:pathLst>
            </a:custGeom>
            <a:noFill/>
            <a:ln w="19050">
              <a:solidFill>
                <a:schemeClr val="accent5"/>
              </a:solidFill>
            </a:ln>
          </p:spPr>
        </p:sp>
        <p:sp>
          <p:nvSpPr>
            <p:cNvPr id="12" name="TextBox 12"/>
            <p:cNvSpPr txBox="1"/>
            <p:nvPr/>
          </p:nvSpPr>
          <p:spPr>
            <a:xfrm>
              <a:off x="2508504" y="3356610"/>
              <a:ext cx="121892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1. 组织管理机构</a:t>
              </a:r>
            </a:p>
          </p:txBody>
        </p:sp>
        <p:sp>
          <p:nvSpPr>
            <p:cNvPr id="13" name="TextBox 13"/>
            <p:cNvSpPr txBox="1"/>
            <p:nvPr/>
          </p:nvSpPr>
          <p:spPr>
            <a:xfrm>
              <a:off x="2508504" y="3756660"/>
              <a:ext cx="121892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2. 目标计划分解</a:t>
              </a:r>
            </a:p>
          </p:txBody>
        </p:sp>
        <p:sp>
          <p:nvSpPr>
            <p:cNvPr id="14" name="TextBox 14"/>
            <p:cNvSpPr txBox="1"/>
            <p:nvPr/>
          </p:nvSpPr>
          <p:spPr>
            <a:xfrm>
              <a:off x="2508504" y="4156710"/>
              <a:ext cx="1542014"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3. 年度任务完成情况</a:t>
              </a:r>
            </a:p>
          </p:txBody>
        </p:sp>
        <p:sp>
          <p:nvSpPr>
            <p:cNvPr id="15" name="TextBox 15"/>
            <p:cNvSpPr txBox="1"/>
            <p:nvPr/>
          </p:nvSpPr>
          <p:spPr>
            <a:xfrm>
              <a:off x="2508504" y="4556760"/>
              <a:ext cx="1542014"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4. 各子课题工作进展</a:t>
              </a:r>
            </a:p>
          </p:txBody>
        </p:sp>
        <p:sp>
          <p:nvSpPr>
            <p:cNvPr id="16" name="TextBox 16"/>
            <p:cNvSpPr txBox="1"/>
            <p:nvPr/>
          </p:nvSpPr>
          <p:spPr>
            <a:xfrm>
              <a:off x="2508504" y="4956810"/>
              <a:ext cx="121892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5. 年度工作成果</a:t>
              </a:r>
            </a:p>
          </p:txBody>
        </p:sp>
      </p:grpSp>
      <p:sp>
        <p:nvSpPr>
          <p:cNvPr id="18" name="Rectangle 18"/>
          <p:cNvSpPr/>
          <p:nvPr/>
        </p:nvSpPr>
        <p:spPr>
          <a:xfrm>
            <a:off x="9525000" y="2209800"/>
            <a:ext cx="1733550" cy="57150"/>
          </a:xfrm>
          <a:prstGeom prst="rect">
            <a:avLst/>
          </a:prstGeom>
          <a:solidFill>
            <a:schemeClr val="accent3"/>
          </a:solidFill>
          <a:ln>
            <a:noFill/>
          </a:ln>
        </p:spPr>
      </p:sp>
      <p:sp>
        <p:nvSpPr>
          <p:cNvPr id="19" name="TextBox 19"/>
          <p:cNvSpPr txBox="1"/>
          <p:nvPr/>
        </p:nvSpPr>
        <p:spPr>
          <a:xfrm>
            <a:off x="11456210" y="6330791"/>
            <a:ext cx="130952" cy="161925"/>
          </a:xfrm>
          <a:prstGeom prst="rect">
            <a:avLst/>
          </a:prstGeom>
          <a:noFill/>
          <a:ln>
            <a:noFill/>
          </a:ln>
        </p:spPr>
        <p:txBody>
          <a:bodyPr wrap="none" lIns="0" tIns="0" rIns="0" bIns="0" anchor="t" anchorCtr="0">
            <a:spAutoFit/>
          </a:bodyPr>
          <a:lstStyle/>
          <a:p>
            <a:pPr algn="r"/>
            <a:r>
              <a:rPr lang="zh-CN" sz="820" dirty="0">
                <a:solidFill>
                  <a:srgbClr val="D5DCE4"/>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40594"/>
            <a:ext cx="5226919" cy="366712"/>
            <a:chOff x="523875" y="940594"/>
            <a:chExt cx="5226919" cy="366712"/>
          </a:xfrm>
        </p:grpSpPr>
        <p:sp>
          <p:nvSpPr>
            <p:cNvPr id="6" name="TextBox 6"/>
            <p:cNvSpPr txBox="1"/>
            <p:nvPr/>
          </p:nvSpPr>
          <p:spPr>
            <a:xfrm>
              <a:off x="523875" y="940594"/>
              <a:ext cx="5226919"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（1）站隧一体化建造风险智能识别与评估技术</a:t>
              </a:r>
            </a:p>
          </p:txBody>
        </p:sp>
      </p:grpSp>
      <p:grpSp>
        <p:nvGrpSpPr>
          <p:cNvPr id="12" name="Group 12"/>
          <p:cNvGrpSpPr/>
          <p:nvPr/>
        </p:nvGrpSpPr>
        <p:grpSpPr>
          <a:xfrm>
            <a:off x="533400" y="1390650"/>
            <a:ext cx="11125200" cy="704850"/>
            <a:chOff x="533400" y="1390650"/>
            <a:chExt cx="11125200" cy="704850"/>
          </a:xfrm>
        </p:grpSpPr>
        <p:sp>
          <p:nvSpPr>
            <p:cNvPr id="8" name="Rectangle 8"/>
            <p:cNvSpPr/>
            <p:nvPr/>
          </p:nvSpPr>
          <p:spPr>
            <a:xfrm>
              <a:off x="533400" y="1390650"/>
              <a:ext cx="11125200" cy="704850"/>
            </a:xfrm>
            <a:prstGeom prst="roundRect">
              <a:avLst>
                <a:gd name="adj" fmla="val 13514"/>
              </a:avLst>
            </a:prstGeom>
            <a:solidFill>
              <a:schemeClr val="lt2"/>
            </a:solidFill>
            <a:ln>
              <a:noFill/>
            </a:ln>
          </p:spPr>
        </p:sp>
        <p:sp>
          <p:nvSpPr>
            <p:cNvPr id="9" name="Rectangle 9"/>
            <p:cNvSpPr/>
            <p:nvPr/>
          </p:nvSpPr>
          <p:spPr>
            <a:xfrm>
              <a:off x="533400" y="1390650"/>
              <a:ext cx="76200" cy="704850"/>
            </a:xfrm>
            <a:prstGeom prst="roundRect">
              <a:avLst>
                <a:gd name="adj" fmla="val 50000"/>
              </a:avLst>
            </a:prstGeom>
            <a:solidFill>
              <a:schemeClr val="accent2"/>
            </a:solidFill>
            <a:ln>
              <a:noFill/>
            </a:ln>
          </p:spPr>
        </p:sp>
        <p:sp>
          <p:nvSpPr>
            <p:cNvPr id="10" name="TextBox 10"/>
            <p:cNvSpPr txBox="1"/>
            <p:nvPr/>
          </p:nvSpPr>
          <p:spPr>
            <a:xfrm>
              <a:off x="794004" y="152781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研究目标</a:t>
              </a:r>
            </a:p>
          </p:txBody>
        </p:sp>
        <p:sp>
          <p:nvSpPr>
            <p:cNvPr id="11" name="TextBox 11"/>
            <p:cNvSpPr txBox="1"/>
            <p:nvPr/>
          </p:nvSpPr>
          <p:spPr>
            <a:xfrm>
              <a:off x="794766" y="1829752"/>
              <a:ext cx="7926324"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围绕站隧一体化施工风险识别与评估需求，研发面向工程资料接入、风险智能识别、评估依据生成与风险管理协同的软件系统。</a:t>
              </a:r>
            </a:p>
          </p:txBody>
        </p:sp>
      </p:grpSp>
      <p:grpSp>
        <p:nvGrpSpPr>
          <p:cNvPr id="37" name="Group 37"/>
          <p:cNvGrpSpPr/>
          <p:nvPr/>
        </p:nvGrpSpPr>
        <p:grpSpPr>
          <a:xfrm>
            <a:off x="527304" y="2308860"/>
            <a:ext cx="11047857" cy="964501"/>
            <a:chOff x="527304" y="2308860"/>
            <a:chExt cx="11047857" cy="964501"/>
          </a:xfrm>
        </p:grpSpPr>
        <p:sp>
          <p:nvSpPr>
            <p:cNvPr id="13" name="TextBox 13"/>
            <p:cNvSpPr txBox="1"/>
            <p:nvPr/>
          </p:nvSpPr>
          <p:spPr>
            <a:xfrm>
              <a:off x="527304" y="23088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研发路线</a:t>
              </a:r>
            </a:p>
          </p:txBody>
        </p:sp>
        <p:sp>
          <p:nvSpPr>
            <p:cNvPr id="14" name="Line 14"/>
            <p:cNvSpPr/>
            <p:nvPr/>
          </p:nvSpPr>
          <p:spPr>
            <a:xfrm>
              <a:off x="885825" y="2857500"/>
              <a:ext cx="10429875" cy="9525"/>
            </a:xfrm>
            <a:custGeom>
              <a:avLst/>
              <a:gdLst/>
              <a:ahLst/>
              <a:cxnLst/>
              <a:rect l="l" t="t" r="r" b="b"/>
              <a:pathLst>
                <a:path w="10429875" h="9525">
                  <a:moveTo>
                    <a:pt x="0" y="0"/>
                  </a:moveTo>
                  <a:lnTo>
                    <a:pt x="10429875" y="0"/>
                  </a:lnTo>
                </a:path>
              </a:pathLst>
            </a:custGeom>
            <a:noFill/>
            <a:ln w="38100">
              <a:solidFill>
                <a:schemeClr val="accent5"/>
              </a:solidFill>
            </a:ln>
          </p:spPr>
        </p:sp>
        <p:grpSp>
          <p:nvGrpSpPr>
            <p:cNvPr id="36" name="Group 36"/>
            <p:cNvGrpSpPr/>
            <p:nvPr/>
          </p:nvGrpSpPr>
          <p:grpSpPr>
            <a:xfrm>
              <a:off x="597789" y="2667000"/>
              <a:ext cx="10977372" cy="606361"/>
              <a:chOff x="597789" y="2667000"/>
              <a:chExt cx="10977372" cy="606361"/>
            </a:xfrm>
          </p:grpSpPr>
          <p:sp>
            <p:nvSpPr>
              <p:cNvPr id="15" name="Ellipse 15"/>
              <p:cNvSpPr/>
              <p:nvPr/>
            </p:nvSpPr>
            <p:spPr>
              <a:xfrm>
                <a:off x="695325" y="2667000"/>
                <a:ext cx="381000" cy="381000"/>
              </a:xfrm>
              <a:prstGeom prst="ellipse">
                <a:avLst/>
              </a:prstGeom>
              <a:solidFill>
                <a:schemeClr val="accent2"/>
              </a:solidFill>
              <a:ln>
                <a:noFill/>
              </a:ln>
            </p:spPr>
          </p:sp>
          <p:sp>
            <p:nvSpPr>
              <p:cNvPr id="16" name="TextBox 16"/>
              <p:cNvSpPr txBox="1"/>
              <p:nvPr/>
            </p:nvSpPr>
            <p:spPr>
              <a:xfrm>
                <a:off x="8396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1</a:t>
                </a:r>
              </a:p>
            </p:txBody>
          </p:sp>
          <p:sp>
            <p:nvSpPr>
              <p:cNvPr id="17" name="TextBox 17"/>
              <p:cNvSpPr txBox="1"/>
              <p:nvPr/>
            </p:nvSpPr>
            <p:spPr>
              <a:xfrm>
                <a:off x="5977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需求分析</a:t>
                </a:r>
              </a:p>
            </p:txBody>
          </p:sp>
          <p:sp>
            <p:nvSpPr>
              <p:cNvPr id="18" name="Ellipse 18"/>
              <p:cNvSpPr/>
              <p:nvPr/>
            </p:nvSpPr>
            <p:spPr>
              <a:xfrm>
                <a:off x="2428875" y="2667000"/>
                <a:ext cx="381000" cy="381000"/>
              </a:xfrm>
              <a:prstGeom prst="ellipse">
                <a:avLst/>
              </a:prstGeom>
              <a:solidFill>
                <a:schemeClr val="accent2"/>
              </a:solidFill>
              <a:ln>
                <a:noFill/>
              </a:ln>
            </p:spPr>
          </p:sp>
          <p:sp>
            <p:nvSpPr>
              <p:cNvPr id="19" name="TextBox 19"/>
              <p:cNvSpPr txBox="1"/>
              <p:nvPr/>
            </p:nvSpPr>
            <p:spPr>
              <a:xfrm>
                <a:off x="257322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2</a:t>
                </a:r>
              </a:p>
            </p:txBody>
          </p:sp>
          <p:sp>
            <p:nvSpPr>
              <p:cNvPr id="20" name="TextBox 20"/>
              <p:cNvSpPr txBox="1"/>
              <p:nvPr/>
            </p:nvSpPr>
            <p:spPr>
              <a:xfrm>
                <a:off x="233133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对象建模</a:t>
                </a:r>
              </a:p>
            </p:txBody>
          </p:sp>
          <p:sp>
            <p:nvSpPr>
              <p:cNvPr id="21" name="Ellipse 21"/>
              <p:cNvSpPr/>
              <p:nvPr/>
            </p:nvSpPr>
            <p:spPr>
              <a:xfrm>
                <a:off x="4162425" y="2667000"/>
                <a:ext cx="381000" cy="381000"/>
              </a:xfrm>
              <a:prstGeom prst="ellipse">
                <a:avLst/>
              </a:prstGeom>
              <a:solidFill>
                <a:schemeClr val="accent2"/>
              </a:solidFill>
              <a:ln>
                <a:noFill/>
              </a:ln>
            </p:spPr>
          </p:sp>
          <p:sp>
            <p:nvSpPr>
              <p:cNvPr id="22" name="TextBox 22"/>
              <p:cNvSpPr txBox="1"/>
              <p:nvPr/>
            </p:nvSpPr>
            <p:spPr>
              <a:xfrm>
                <a:off x="43067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3</a:t>
                </a:r>
              </a:p>
            </p:txBody>
          </p:sp>
          <p:sp>
            <p:nvSpPr>
              <p:cNvPr id="23" name="TextBox 23"/>
              <p:cNvSpPr txBox="1"/>
              <p:nvPr/>
            </p:nvSpPr>
            <p:spPr>
              <a:xfrm>
                <a:off x="40648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架构设计</a:t>
                </a:r>
              </a:p>
            </p:txBody>
          </p:sp>
          <p:sp>
            <p:nvSpPr>
              <p:cNvPr id="24" name="Ellipse 24"/>
              <p:cNvSpPr/>
              <p:nvPr/>
            </p:nvSpPr>
            <p:spPr>
              <a:xfrm>
                <a:off x="5895975" y="2667000"/>
                <a:ext cx="381000" cy="381000"/>
              </a:xfrm>
              <a:prstGeom prst="ellipse">
                <a:avLst/>
              </a:prstGeom>
              <a:solidFill>
                <a:schemeClr val="accent1"/>
              </a:solidFill>
              <a:ln>
                <a:noFill/>
              </a:ln>
            </p:spPr>
          </p:sp>
          <p:sp>
            <p:nvSpPr>
              <p:cNvPr id="25" name="TextBox 25"/>
              <p:cNvSpPr txBox="1"/>
              <p:nvPr/>
            </p:nvSpPr>
            <p:spPr>
              <a:xfrm>
                <a:off x="604032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4</a:t>
                </a:r>
              </a:p>
            </p:txBody>
          </p:sp>
          <p:sp>
            <p:nvSpPr>
              <p:cNvPr id="26" name="TextBox 26"/>
              <p:cNvSpPr txBox="1"/>
              <p:nvPr/>
            </p:nvSpPr>
            <p:spPr>
              <a:xfrm>
                <a:off x="579843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接口设计</a:t>
                </a:r>
              </a:p>
            </p:txBody>
          </p:sp>
          <p:sp>
            <p:nvSpPr>
              <p:cNvPr id="27" name="Ellipse 27"/>
              <p:cNvSpPr/>
              <p:nvPr/>
            </p:nvSpPr>
            <p:spPr>
              <a:xfrm>
                <a:off x="7629525" y="2667000"/>
                <a:ext cx="381000" cy="381000"/>
              </a:xfrm>
              <a:prstGeom prst="ellipse">
                <a:avLst/>
              </a:prstGeom>
              <a:solidFill>
                <a:schemeClr val="accent1"/>
              </a:solidFill>
              <a:ln>
                <a:noFill/>
              </a:ln>
            </p:spPr>
          </p:sp>
          <p:sp>
            <p:nvSpPr>
              <p:cNvPr id="28" name="TextBox 28"/>
              <p:cNvSpPr txBox="1"/>
              <p:nvPr/>
            </p:nvSpPr>
            <p:spPr>
              <a:xfrm>
                <a:off x="77738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5</a:t>
                </a:r>
              </a:p>
            </p:txBody>
          </p:sp>
          <p:sp>
            <p:nvSpPr>
              <p:cNvPr id="29" name="TextBox 29"/>
              <p:cNvSpPr txBox="1"/>
              <p:nvPr/>
            </p:nvSpPr>
            <p:spPr>
              <a:xfrm>
                <a:off x="75319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原型实现</a:t>
                </a:r>
              </a:p>
            </p:txBody>
          </p:sp>
          <p:sp>
            <p:nvSpPr>
              <p:cNvPr id="30" name="Ellipse 30"/>
              <p:cNvSpPr/>
              <p:nvPr/>
            </p:nvSpPr>
            <p:spPr>
              <a:xfrm>
                <a:off x="9363075" y="2667000"/>
                <a:ext cx="381000" cy="381000"/>
              </a:xfrm>
              <a:prstGeom prst="ellipse">
                <a:avLst/>
              </a:prstGeom>
              <a:solidFill>
                <a:schemeClr val="accent1"/>
              </a:solidFill>
              <a:ln>
                <a:noFill/>
              </a:ln>
            </p:spPr>
          </p:sp>
          <p:sp>
            <p:nvSpPr>
              <p:cNvPr id="31" name="TextBox 31"/>
              <p:cNvSpPr txBox="1"/>
              <p:nvPr/>
            </p:nvSpPr>
            <p:spPr>
              <a:xfrm>
                <a:off x="950742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6</a:t>
                </a:r>
              </a:p>
            </p:txBody>
          </p:sp>
          <p:sp>
            <p:nvSpPr>
              <p:cNvPr id="32" name="TextBox 32"/>
              <p:cNvSpPr txBox="1"/>
              <p:nvPr/>
            </p:nvSpPr>
            <p:spPr>
              <a:xfrm>
                <a:off x="926553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测试验证</a:t>
                </a:r>
              </a:p>
            </p:txBody>
          </p:sp>
          <p:sp>
            <p:nvSpPr>
              <p:cNvPr id="33" name="Ellipse 33"/>
              <p:cNvSpPr/>
              <p:nvPr/>
            </p:nvSpPr>
            <p:spPr>
              <a:xfrm>
                <a:off x="11096625" y="2667000"/>
                <a:ext cx="381000" cy="381000"/>
              </a:xfrm>
              <a:prstGeom prst="ellipse">
                <a:avLst/>
              </a:prstGeom>
              <a:solidFill>
                <a:schemeClr val="accent3"/>
              </a:solidFill>
              <a:ln>
                <a:noFill/>
              </a:ln>
            </p:spPr>
          </p:sp>
          <p:sp>
            <p:nvSpPr>
              <p:cNvPr id="34" name="TextBox 34"/>
              <p:cNvSpPr txBox="1"/>
              <p:nvPr/>
            </p:nvSpPr>
            <p:spPr>
              <a:xfrm>
                <a:off x="112409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7</a:t>
                </a:r>
              </a:p>
            </p:txBody>
          </p:sp>
          <p:sp>
            <p:nvSpPr>
              <p:cNvPr id="35" name="TextBox 35"/>
              <p:cNvSpPr txBox="1"/>
              <p:nvPr/>
            </p:nvSpPr>
            <p:spPr>
              <a:xfrm>
                <a:off x="109990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迭代交付</a:t>
                </a:r>
              </a:p>
            </p:txBody>
          </p:sp>
        </p:grpSp>
      </p:grpSp>
      <p:grpSp>
        <p:nvGrpSpPr>
          <p:cNvPr id="51" name="Group 51"/>
          <p:cNvGrpSpPr/>
          <p:nvPr/>
        </p:nvGrpSpPr>
        <p:grpSpPr>
          <a:xfrm>
            <a:off x="527304" y="3566160"/>
            <a:ext cx="4006596" cy="2244090"/>
            <a:chOff x="527304" y="3566160"/>
            <a:chExt cx="4006596" cy="2244090"/>
          </a:xfrm>
        </p:grpSpPr>
        <p:sp>
          <p:nvSpPr>
            <p:cNvPr id="38" name="TextBox 38"/>
            <p:cNvSpPr txBox="1"/>
            <p:nvPr/>
          </p:nvSpPr>
          <p:spPr>
            <a:xfrm>
              <a:off x="527304" y="35661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研发要点</a:t>
              </a:r>
            </a:p>
          </p:txBody>
        </p:sp>
        <p:sp>
          <p:nvSpPr>
            <p:cNvPr id="39" name="Rectangle 39"/>
            <p:cNvSpPr/>
            <p:nvPr/>
          </p:nvSpPr>
          <p:spPr>
            <a:xfrm>
              <a:off x="533400" y="3848100"/>
              <a:ext cx="4000500" cy="1962150"/>
            </a:xfrm>
            <a:prstGeom prst="roundRect">
              <a:avLst>
                <a:gd name="adj" fmla="val 4854"/>
              </a:avLst>
            </a:prstGeom>
            <a:solidFill>
              <a:schemeClr val="accent1"/>
            </a:solidFill>
            <a:ln>
              <a:noFill/>
            </a:ln>
          </p:spPr>
        </p:sp>
        <p:sp>
          <p:nvSpPr>
            <p:cNvPr id="40" name="TextBox 40"/>
            <p:cNvSpPr txBox="1"/>
            <p:nvPr/>
          </p:nvSpPr>
          <p:spPr>
            <a:xfrm>
              <a:off x="794766" y="4058602"/>
              <a:ext cx="293370"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需求</a:t>
              </a:r>
            </a:p>
          </p:txBody>
        </p:sp>
        <p:sp>
          <p:nvSpPr>
            <p:cNvPr id="41" name="TextBox 41"/>
            <p:cNvSpPr txBox="1"/>
            <p:nvPr/>
          </p:nvSpPr>
          <p:spPr>
            <a:xfrm>
              <a:off x="1404366" y="40586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明确业务需求与应用边界</a:t>
              </a:r>
            </a:p>
          </p:txBody>
        </p:sp>
        <p:sp>
          <p:nvSpPr>
            <p:cNvPr id="42" name="Line 42"/>
            <p:cNvSpPr/>
            <p:nvPr/>
          </p:nvSpPr>
          <p:spPr>
            <a:xfrm>
              <a:off x="800100" y="4343400"/>
              <a:ext cx="3467100" cy="9525"/>
            </a:xfrm>
            <a:custGeom>
              <a:avLst/>
              <a:gdLst/>
              <a:ahLst/>
              <a:cxnLst/>
              <a:rect l="l" t="t" r="r" b="b"/>
              <a:pathLst>
                <a:path w="3467100" h="9525">
                  <a:moveTo>
                    <a:pt x="0" y="0"/>
                  </a:moveTo>
                  <a:lnTo>
                    <a:pt x="3467100" y="0"/>
                  </a:lnTo>
                </a:path>
              </a:pathLst>
            </a:custGeom>
            <a:noFill/>
            <a:ln w="9525">
              <a:solidFill>
                <a:srgbClr val="FFFFFF">
                  <a:alpha val="16000"/>
                </a:srgbClr>
              </a:solidFill>
            </a:ln>
          </p:spPr>
        </p:sp>
        <p:sp>
          <p:nvSpPr>
            <p:cNvPr id="43" name="TextBox 43"/>
            <p:cNvSpPr txBox="1"/>
            <p:nvPr/>
          </p:nvSpPr>
          <p:spPr>
            <a:xfrm>
              <a:off x="794766" y="4515802"/>
              <a:ext cx="293370" cy="205359"/>
            </a:xfrm>
            <a:prstGeom prst="rect">
              <a:avLst/>
            </a:prstGeom>
            <a:noFill/>
            <a:ln>
              <a:noFill/>
            </a:ln>
          </p:spPr>
          <p:txBody>
            <a:bodyPr wrap="none" lIns="0" tIns="0" rIns="0" bIns="0" anchor="t" anchorCtr="0">
              <a:spAutoFit/>
            </a:bodyPr>
            <a:lstStyle/>
            <a:p>
              <a:pPr algn="l"/>
              <a:r>
                <a:rPr lang="zh-CN" sz="1050" b="1" dirty="0">
                  <a:solidFill>
                    <a:srgbClr val="8FCDBE"/>
                  </a:solidFill>
                  <a:latin typeface="+mn-lt"/>
                  <a:ea typeface="+mn-ea"/>
                  <a:cs typeface="+mn-cs"/>
                </a:rPr>
                <a:t>资料</a:t>
              </a:r>
            </a:p>
          </p:txBody>
        </p:sp>
        <p:sp>
          <p:nvSpPr>
            <p:cNvPr id="44" name="TextBox 44"/>
            <p:cNvSpPr txBox="1"/>
            <p:nvPr/>
          </p:nvSpPr>
          <p:spPr>
            <a:xfrm>
              <a:off x="1404366" y="45158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梳理工程资料与结果流转</a:t>
              </a:r>
            </a:p>
          </p:txBody>
        </p:sp>
        <p:sp>
          <p:nvSpPr>
            <p:cNvPr id="45" name="Line 45"/>
            <p:cNvSpPr/>
            <p:nvPr/>
          </p:nvSpPr>
          <p:spPr>
            <a:xfrm>
              <a:off x="800100" y="4800600"/>
              <a:ext cx="3467100" cy="9525"/>
            </a:xfrm>
            <a:custGeom>
              <a:avLst/>
              <a:gdLst/>
              <a:ahLst/>
              <a:cxnLst/>
              <a:rect l="l" t="t" r="r" b="b"/>
              <a:pathLst>
                <a:path w="3467100" h="9525">
                  <a:moveTo>
                    <a:pt x="0" y="0"/>
                  </a:moveTo>
                  <a:lnTo>
                    <a:pt x="3467100" y="0"/>
                  </a:lnTo>
                </a:path>
              </a:pathLst>
            </a:custGeom>
            <a:noFill/>
            <a:ln w="9525">
              <a:solidFill>
                <a:srgbClr val="FFFFFF">
                  <a:alpha val="16000"/>
                </a:srgbClr>
              </a:solidFill>
            </a:ln>
          </p:spPr>
        </p:sp>
        <p:sp>
          <p:nvSpPr>
            <p:cNvPr id="46" name="TextBox 46"/>
            <p:cNvSpPr txBox="1"/>
            <p:nvPr/>
          </p:nvSpPr>
          <p:spPr>
            <a:xfrm>
              <a:off x="794766" y="4973002"/>
              <a:ext cx="293370" cy="205359"/>
            </a:xfrm>
            <a:prstGeom prst="rect">
              <a:avLst/>
            </a:prstGeom>
            <a:noFill/>
            <a:ln>
              <a:noFill/>
            </a:ln>
          </p:spPr>
          <p:txBody>
            <a:bodyPr wrap="none" lIns="0" tIns="0" rIns="0" bIns="0" anchor="t" anchorCtr="0">
              <a:spAutoFit/>
            </a:bodyPr>
            <a:lstStyle/>
            <a:p>
              <a:pPr algn="l"/>
              <a:r>
                <a:rPr lang="zh-CN" sz="1050" b="1" dirty="0">
                  <a:solidFill>
                    <a:srgbClr val="8FCDBE"/>
                  </a:solidFill>
                  <a:latin typeface="+mn-lt"/>
                  <a:ea typeface="+mn-ea"/>
                  <a:cs typeface="+mn-cs"/>
                </a:rPr>
                <a:t>框架</a:t>
              </a:r>
            </a:p>
          </p:txBody>
        </p:sp>
        <p:sp>
          <p:nvSpPr>
            <p:cNvPr id="47" name="TextBox 47"/>
            <p:cNvSpPr txBox="1"/>
            <p:nvPr/>
          </p:nvSpPr>
          <p:spPr>
            <a:xfrm>
              <a:off x="1404366" y="49730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搭建系统模块与接口关系</a:t>
              </a:r>
            </a:p>
          </p:txBody>
        </p:sp>
        <p:sp>
          <p:nvSpPr>
            <p:cNvPr id="48" name="Line 48"/>
            <p:cNvSpPr/>
            <p:nvPr/>
          </p:nvSpPr>
          <p:spPr>
            <a:xfrm>
              <a:off x="800100" y="5257800"/>
              <a:ext cx="3467100" cy="9525"/>
            </a:xfrm>
            <a:custGeom>
              <a:avLst/>
              <a:gdLst/>
              <a:ahLst/>
              <a:cxnLst/>
              <a:rect l="l" t="t" r="r" b="b"/>
              <a:pathLst>
                <a:path w="3467100" h="9525">
                  <a:moveTo>
                    <a:pt x="0" y="0"/>
                  </a:moveTo>
                  <a:lnTo>
                    <a:pt x="3467100" y="0"/>
                  </a:lnTo>
                </a:path>
              </a:pathLst>
            </a:custGeom>
            <a:noFill/>
            <a:ln w="9525">
              <a:solidFill>
                <a:srgbClr val="FFFFFF">
                  <a:alpha val="16000"/>
                </a:srgbClr>
              </a:solidFill>
            </a:ln>
          </p:spPr>
        </p:sp>
        <p:sp>
          <p:nvSpPr>
            <p:cNvPr id="49" name="TextBox 49"/>
            <p:cNvSpPr txBox="1"/>
            <p:nvPr/>
          </p:nvSpPr>
          <p:spPr>
            <a:xfrm>
              <a:off x="794766" y="5430202"/>
              <a:ext cx="293370" cy="205359"/>
            </a:xfrm>
            <a:prstGeom prst="rect">
              <a:avLst/>
            </a:prstGeom>
            <a:noFill/>
            <a:ln>
              <a:noFill/>
            </a:ln>
          </p:spPr>
          <p:txBody>
            <a:bodyPr wrap="none" lIns="0" tIns="0" rIns="0" bIns="0" anchor="t" anchorCtr="0">
              <a:spAutoFit/>
            </a:bodyPr>
            <a:lstStyle/>
            <a:p>
              <a:pPr algn="l"/>
              <a:r>
                <a:rPr lang="zh-CN" sz="1050" b="1" dirty="0">
                  <a:solidFill>
                    <a:srgbClr val="F8C885"/>
                  </a:solidFill>
                  <a:latin typeface="+mn-lt"/>
                  <a:ea typeface="+mn-ea"/>
                  <a:cs typeface="+mn-cs"/>
                </a:rPr>
                <a:t>验证</a:t>
              </a:r>
            </a:p>
          </p:txBody>
        </p:sp>
        <p:sp>
          <p:nvSpPr>
            <p:cNvPr id="50" name="TextBox 50"/>
            <p:cNvSpPr txBox="1"/>
            <p:nvPr/>
          </p:nvSpPr>
          <p:spPr>
            <a:xfrm>
              <a:off x="1404366" y="54302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建立结果校验与沉淀机制</a:t>
              </a:r>
            </a:p>
          </p:txBody>
        </p:sp>
      </p:grpSp>
      <p:grpSp>
        <p:nvGrpSpPr>
          <p:cNvPr id="65" name="Group 65"/>
          <p:cNvGrpSpPr/>
          <p:nvPr/>
        </p:nvGrpSpPr>
        <p:grpSpPr>
          <a:xfrm>
            <a:off x="4794504" y="3566160"/>
            <a:ext cx="6864096" cy="2244090"/>
            <a:chOff x="4794504" y="3566160"/>
            <a:chExt cx="6864096" cy="2244090"/>
          </a:xfrm>
        </p:grpSpPr>
        <p:sp>
          <p:nvSpPr>
            <p:cNvPr id="52" name="TextBox 52"/>
            <p:cNvSpPr txBox="1"/>
            <p:nvPr/>
          </p:nvSpPr>
          <p:spPr>
            <a:xfrm>
              <a:off x="4794504" y="35661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当前阶段进展</a:t>
              </a:r>
            </a:p>
          </p:txBody>
        </p:sp>
        <p:sp>
          <p:nvSpPr>
            <p:cNvPr id="53" name="Rectangle 53"/>
            <p:cNvSpPr/>
            <p:nvPr/>
          </p:nvSpPr>
          <p:spPr>
            <a:xfrm>
              <a:off x="4800600" y="3848100"/>
              <a:ext cx="3295650" cy="876300"/>
            </a:xfrm>
            <a:prstGeom prst="roundRect">
              <a:avLst>
                <a:gd name="adj" fmla="val 10870"/>
              </a:avLst>
            </a:prstGeom>
            <a:solidFill>
              <a:schemeClr val="lt2"/>
            </a:solidFill>
            <a:ln>
              <a:noFill/>
            </a:ln>
          </p:spPr>
        </p:sp>
        <p:sp>
          <p:nvSpPr>
            <p:cNvPr id="54" name="TextBox 54"/>
            <p:cNvSpPr txBox="1"/>
            <p:nvPr/>
          </p:nvSpPr>
          <p:spPr>
            <a:xfrm>
              <a:off x="5023866" y="4001452"/>
              <a:ext cx="1565529"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明确业务需求与应用边界</a:t>
              </a:r>
            </a:p>
          </p:txBody>
        </p:sp>
        <p:sp>
          <p:nvSpPr>
            <p:cNvPr id="55" name="TextBox 55"/>
            <p:cNvSpPr txBox="1"/>
            <p:nvPr/>
          </p:nvSpPr>
          <p:spPr>
            <a:xfrm>
              <a:off x="5023866" y="4249102"/>
              <a:ext cx="32110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明确了系统应用场景、输入资料范围、风险识别输出和</a:t>
              </a:r>
              <a:br/>
              <a:r>
                <a:rPr lang="zh-CN" sz="1050" dirty="0">
                  <a:solidFill>
                    <a:schemeClr val="dk1"/>
                  </a:solidFill>
                  <a:latin typeface="+mn-lt"/>
                  <a:ea typeface="+mn-ea"/>
                  <a:cs typeface="+mn-cs"/>
                </a:rPr>
                <a:t>管理系统衔接方式。</a:t>
              </a:r>
            </a:p>
          </p:txBody>
        </p:sp>
        <p:sp>
          <p:nvSpPr>
            <p:cNvPr id="56" name="Rectangle 56"/>
            <p:cNvSpPr/>
            <p:nvPr/>
          </p:nvSpPr>
          <p:spPr>
            <a:xfrm>
              <a:off x="8267700" y="3848100"/>
              <a:ext cx="3390900" cy="876300"/>
            </a:xfrm>
            <a:prstGeom prst="roundRect">
              <a:avLst>
                <a:gd name="adj" fmla="val 10870"/>
              </a:avLst>
            </a:prstGeom>
            <a:solidFill>
              <a:schemeClr val="lt2"/>
            </a:solidFill>
            <a:ln>
              <a:noFill/>
            </a:ln>
          </p:spPr>
        </p:sp>
        <p:sp>
          <p:nvSpPr>
            <p:cNvPr id="57" name="TextBox 57"/>
            <p:cNvSpPr txBox="1"/>
            <p:nvPr/>
          </p:nvSpPr>
          <p:spPr>
            <a:xfrm>
              <a:off x="8490966" y="4001452"/>
              <a:ext cx="1565529"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梳理工程资料与结果流转</a:t>
              </a:r>
            </a:p>
          </p:txBody>
        </p:sp>
        <p:sp>
          <p:nvSpPr>
            <p:cNvPr id="58" name="TextBox 58"/>
            <p:cNvSpPr txBox="1"/>
            <p:nvPr/>
          </p:nvSpPr>
          <p:spPr>
            <a:xfrm>
              <a:off x="8490966" y="4249102"/>
              <a:ext cx="29443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梳理了工程资料、工序信息、机理知识与风险记录</a:t>
              </a:r>
              <a:br/>
              <a:r>
                <a:rPr lang="zh-CN" sz="1050" dirty="0">
                  <a:solidFill>
                    <a:schemeClr val="dk1"/>
                  </a:solidFill>
                  <a:latin typeface="+mn-lt"/>
                  <a:ea typeface="+mn-ea"/>
                  <a:cs typeface="+mn-cs"/>
                </a:rPr>
                <a:t>之间的对应关系。</a:t>
              </a:r>
            </a:p>
          </p:txBody>
        </p:sp>
        <p:sp>
          <p:nvSpPr>
            <p:cNvPr id="59" name="Rectangle 59"/>
            <p:cNvSpPr/>
            <p:nvPr/>
          </p:nvSpPr>
          <p:spPr>
            <a:xfrm>
              <a:off x="4800600" y="4857750"/>
              <a:ext cx="3295650" cy="952500"/>
            </a:xfrm>
            <a:prstGeom prst="roundRect">
              <a:avLst>
                <a:gd name="adj" fmla="val 10000"/>
              </a:avLst>
            </a:prstGeom>
            <a:solidFill>
              <a:schemeClr val="lt2"/>
            </a:solidFill>
            <a:ln>
              <a:noFill/>
            </a:ln>
          </p:spPr>
        </p:sp>
        <p:sp>
          <p:nvSpPr>
            <p:cNvPr id="60" name="TextBox 60"/>
            <p:cNvSpPr txBox="1"/>
            <p:nvPr/>
          </p:nvSpPr>
          <p:spPr>
            <a:xfrm>
              <a:off x="5023866" y="5011102"/>
              <a:ext cx="1565529"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搭建系统模块与接口关系</a:t>
              </a:r>
            </a:p>
          </p:txBody>
        </p:sp>
        <p:sp>
          <p:nvSpPr>
            <p:cNvPr id="61" name="TextBox 61"/>
            <p:cNvSpPr txBox="1"/>
            <p:nvPr/>
          </p:nvSpPr>
          <p:spPr>
            <a:xfrm>
              <a:off x="5023866" y="5258752"/>
              <a:ext cx="29443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形成了数据接入、知识建模、智能推理、结果入库</a:t>
              </a:r>
              <a:br/>
              <a:r>
                <a:rPr lang="zh-CN" sz="1050" dirty="0">
                  <a:solidFill>
                    <a:schemeClr val="dk1"/>
                  </a:solidFill>
                  <a:latin typeface="+mn-lt"/>
                  <a:ea typeface="+mn-ea"/>
                  <a:cs typeface="+mn-cs"/>
                </a:rPr>
                <a:t>和系统管理的整体框架。</a:t>
              </a:r>
            </a:p>
          </p:txBody>
        </p:sp>
        <p:sp>
          <p:nvSpPr>
            <p:cNvPr id="62" name="Rectangle 62"/>
            <p:cNvSpPr/>
            <p:nvPr/>
          </p:nvSpPr>
          <p:spPr>
            <a:xfrm>
              <a:off x="8267700" y="4857750"/>
              <a:ext cx="3390900" cy="952500"/>
            </a:xfrm>
            <a:prstGeom prst="roundRect">
              <a:avLst>
                <a:gd name="adj" fmla="val 10000"/>
              </a:avLst>
            </a:prstGeom>
            <a:solidFill>
              <a:srgbClr val="FFF7EC"/>
            </a:solidFill>
            <a:ln>
              <a:noFill/>
            </a:ln>
          </p:spPr>
        </p:sp>
        <p:sp>
          <p:nvSpPr>
            <p:cNvPr id="63" name="TextBox 63"/>
            <p:cNvSpPr txBox="1"/>
            <p:nvPr/>
          </p:nvSpPr>
          <p:spPr>
            <a:xfrm>
              <a:off x="8490966" y="5011102"/>
              <a:ext cx="1565529"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建立结果校验与沉淀机制</a:t>
              </a:r>
            </a:p>
          </p:txBody>
        </p:sp>
        <p:sp>
          <p:nvSpPr>
            <p:cNvPr id="64" name="TextBox 64"/>
            <p:cNvSpPr txBox="1"/>
            <p:nvPr/>
          </p:nvSpPr>
          <p:spPr>
            <a:xfrm>
              <a:off x="8490966" y="5258752"/>
              <a:ext cx="28110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具备了开展样例资料接入、接口联调、结果复核</a:t>
              </a:r>
              <a:br/>
              <a:r>
                <a:rPr lang="zh-CN" sz="1050" dirty="0">
                  <a:solidFill>
                    <a:schemeClr val="dk1"/>
                  </a:solidFill>
                  <a:latin typeface="+mn-lt"/>
                  <a:ea typeface="+mn-ea"/>
                  <a:cs typeface="+mn-cs"/>
                </a:rPr>
                <a:t>和原型迭代的基础。</a:t>
              </a:r>
            </a:p>
          </p:txBody>
        </p:sp>
      </p:grpSp>
      <p:grpSp>
        <p:nvGrpSpPr>
          <p:cNvPr id="68" name="Group 68"/>
          <p:cNvGrpSpPr/>
          <p:nvPr/>
        </p:nvGrpSpPr>
        <p:grpSpPr>
          <a:xfrm>
            <a:off x="528638" y="6311741"/>
            <a:ext cx="11134724" cy="161925"/>
            <a:chOff x="528638" y="6311741"/>
            <a:chExt cx="11134724" cy="161925"/>
          </a:xfrm>
        </p:grpSpPr>
        <p:sp>
          <p:nvSpPr>
            <p:cNvPr id="66" name="TextBox 6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67" name="TextBox 6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3309163" cy="366712"/>
            <a:chOff x="523875" y="921544"/>
            <a:chExt cx="3309163" cy="366712"/>
          </a:xfrm>
        </p:grpSpPr>
        <p:sp>
          <p:nvSpPr>
            <p:cNvPr id="6" name="TextBox 6"/>
            <p:cNvSpPr txBox="1"/>
            <p:nvPr/>
          </p:nvSpPr>
          <p:spPr>
            <a:xfrm>
              <a:off x="523875" y="921544"/>
              <a:ext cx="3309163"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机理驱动识别与规则约束评估</a:t>
              </a:r>
            </a:p>
          </p:txBody>
        </p:sp>
      </p:grpSp>
      <p:grpSp>
        <p:nvGrpSpPr>
          <p:cNvPr id="17" name="Group 17"/>
          <p:cNvGrpSpPr/>
          <p:nvPr/>
        </p:nvGrpSpPr>
        <p:grpSpPr>
          <a:xfrm>
            <a:off x="533400" y="1409700"/>
            <a:ext cx="11125200" cy="1009650"/>
            <a:chOff x="533400" y="1409700"/>
            <a:chExt cx="11125200" cy="1009650"/>
          </a:xfrm>
        </p:grpSpPr>
        <p:sp>
          <p:nvSpPr>
            <p:cNvPr id="8" name="Rectangle 8"/>
            <p:cNvSpPr/>
            <p:nvPr/>
          </p:nvSpPr>
          <p:spPr>
            <a:xfrm>
              <a:off x="533400" y="1409700"/>
              <a:ext cx="3448050" cy="1009650"/>
            </a:xfrm>
            <a:prstGeom prst="roundRect">
              <a:avLst>
                <a:gd name="adj" fmla="val 9434"/>
              </a:avLst>
            </a:prstGeom>
            <a:solidFill>
              <a:srgbClr val="FFF7EC"/>
            </a:solidFill>
            <a:ln>
              <a:noFill/>
            </a:ln>
          </p:spPr>
        </p:sp>
        <p:sp>
          <p:nvSpPr>
            <p:cNvPr id="9" name="TextBox 9"/>
            <p:cNvSpPr txBox="1"/>
            <p:nvPr/>
          </p:nvSpPr>
          <p:spPr>
            <a:xfrm>
              <a:off x="1647850" y="1586389"/>
              <a:ext cx="1219149" cy="249364"/>
            </a:xfrm>
            <a:prstGeom prst="rect">
              <a:avLst/>
            </a:prstGeom>
            <a:noFill/>
            <a:ln>
              <a:noFill/>
            </a:ln>
          </p:spPr>
          <p:txBody>
            <a:bodyPr wrap="none" lIns="0" tIns="0" rIns="0" bIns="0" anchor="t" anchorCtr="0">
              <a:spAutoFit/>
            </a:bodyPr>
            <a:lstStyle/>
            <a:p>
              <a:pPr algn="ctr"/>
              <a:r>
                <a:rPr lang="zh-CN" sz="1280" b="1" dirty="0">
                  <a:solidFill>
                    <a:schemeClr val="accent3"/>
                  </a:solidFill>
                  <a:latin typeface="+mn-lt"/>
                  <a:ea typeface="+mn-ea"/>
                  <a:cs typeface="+mn-cs"/>
                </a:rPr>
                <a:t>同类型案例不足</a:t>
              </a:r>
            </a:p>
          </p:txBody>
        </p:sp>
        <p:sp>
          <p:nvSpPr>
            <p:cNvPr id="10" name="TextBox 10"/>
            <p:cNvSpPr txBox="1"/>
            <p:nvPr/>
          </p:nvSpPr>
          <p:spPr>
            <a:xfrm>
              <a:off x="819353" y="1993106"/>
              <a:ext cx="2876144"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新装备、新工法难以直接套用历史风险清单</a:t>
              </a:r>
            </a:p>
          </p:txBody>
        </p:sp>
        <p:sp>
          <p:nvSpPr>
            <p:cNvPr id="11" name="Rectangle 11"/>
            <p:cNvSpPr/>
            <p:nvPr/>
          </p:nvSpPr>
          <p:spPr>
            <a:xfrm>
              <a:off x="4248150" y="1409700"/>
              <a:ext cx="3448050" cy="1009650"/>
            </a:xfrm>
            <a:prstGeom prst="roundRect">
              <a:avLst>
                <a:gd name="adj" fmla="val 9434"/>
              </a:avLst>
            </a:prstGeom>
            <a:solidFill>
              <a:schemeClr val="lt2"/>
            </a:solidFill>
            <a:ln>
              <a:noFill/>
            </a:ln>
          </p:spPr>
        </p:sp>
        <p:sp>
          <p:nvSpPr>
            <p:cNvPr id="12" name="TextBox 12"/>
            <p:cNvSpPr txBox="1"/>
            <p:nvPr/>
          </p:nvSpPr>
          <p:spPr>
            <a:xfrm>
              <a:off x="5276444" y="1586389"/>
              <a:ext cx="1391463" cy="249364"/>
            </a:xfrm>
            <a:prstGeom prst="rect">
              <a:avLst/>
            </a:prstGeom>
            <a:noFill/>
            <a:ln>
              <a:noFill/>
            </a:ln>
          </p:spPr>
          <p:txBody>
            <a:bodyPr wrap="none" lIns="0" tIns="0" rIns="0" bIns="0" anchor="t" anchorCtr="0">
              <a:spAutoFit/>
            </a:bodyPr>
            <a:lstStyle/>
            <a:p>
              <a:pPr algn="ctr"/>
              <a:r>
                <a:rPr lang="zh-CN" sz="1280" b="1" dirty="0">
                  <a:solidFill>
                    <a:schemeClr val="accent1"/>
                  </a:solidFill>
                  <a:latin typeface="+mn-lt"/>
                  <a:ea typeface="+mn-ea"/>
                  <a:cs typeface="+mn-cs"/>
                </a:rPr>
                <a:t>规则适用条件复杂</a:t>
              </a:r>
            </a:p>
          </p:txBody>
        </p:sp>
        <p:sp>
          <p:nvSpPr>
            <p:cNvPr id="13" name="TextBox 13"/>
            <p:cNvSpPr txBox="1"/>
            <p:nvPr/>
          </p:nvSpPr>
          <p:spPr>
            <a:xfrm>
              <a:off x="4534103" y="1993106"/>
              <a:ext cx="2876144"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工法、地层和工程阶段变化会影响规则选用</a:t>
              </a:r>
            </a:p>
          </p:txBody>
        </p:sp>
        <p:sp>
          <p:nvSpPr>
            <p:cNvPr id="14" name="Rectangle 14"/>
            <p:cNvSpPr/>
            <p:nvPr/>
          </p:nvSpPr>
          <p:spPr>
            <a:xfrm>
              <a:off x="7962900" y="1409700"/>
              <a:ext cx="3695700" cy="1009650"/>
            </a:xfrm>
            <a:prstGeom prst="roundRect">
              <a:avLst>
                <a:gd name="adj" fmla="val 9434"/>
              </a:avLst>
            </a:prstGeom>
            <a:solidFill>
              <a:schemeClr val="lt2"/>
            </a:solidFill>
            <a:ln>
              <a:noFill/>
            </a:ln>
          </p:spPr>
        </p:sp>
        <p:sp>
          <p:nvSpPr>
            <p:cNvPr id="15" name="TextBox 15"/>
            <p:cNvSpPr txBox="1"/>
            <p:nvPr/>
          </p:nvSpPr>
          <p:spPr>
            <a:xfrm>
              <a:off x="9201175" y="1586389"/>
              <a:ext cx="1219149" cy="249364"/>
            </a:xfrm>
            <a:prstGeom prst="rect">
              <a:avLst/>
            </a:prstGeom>
            <a:noFill/>
            <a:ln>
              <a:noFill/>
            </a:ln>
          </p:spPr>
          <p:txBody>
            <a:bodyPr wrap="none" lIns="0" tIns="0" rIns="0" bIns="0" anchor="t" anchorCtr="0">
              <a:spAutoFit/>
            </a:bodyPr>
            <a:lstStyle/>
            <a:p>
              <a:pPr algn="ctr"/>
              <a:r>
                <a:rPr lang="zh-CN" sz="1280" b="1" dirty="0">
                  <a:solidFill>
                    <a:schemeClr val="accent1"/>
                  </a:solidFill>
                  <a:latin typeface="+mn-lt"/>
                  <a:ea typeface="+mn-ea"/>
                  <a:cs typeface="+mn-cs"/>
                </a:rPr>
                <a:t>人工排查难追溯</a:t>
              </a:r>
            </a:p>
          </p:txBody>
        </p:sp>
        <p:sp>
          <p:nvSpPr>
            <p:cNvPr id="16" name="TextBox 16"/>
            <p:cNvSpPr txBox="1"/>
            <p:nvPr/>
          </p:nvSpPr>
          <p:spPr>
            <a:xfrm>
              <a:off x="8448065" y="1993106"/>
              <a:ext cx="272536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资料分散，识别依据和复核过程不易沉淀</a:t>
              </a:r>
            </a:p>
          </p:txBody>
        </p:sp>
      </p:grpSp>
      <p:grpSp>
        <p:nvGrpSpPr>
          <p:cNvPr id="35" name="Group 35"/>
          <p:cNvGrpSpPr/>
          <p:nvPr/>
        </p:nvGrpSpPr>
        <p:grpSpPr>
          <a:xfrm>
            <a:off x="527304" y="2727960"/>
            <a:ext cx="9912096" cy="1345501"/>
            <a:chOff x="527304" y="2727960"/>
            <a:chExt cx="9912096" cy="1345501"/>
          </a:xfrm>
        </p:grpSpPr>
        <p:sp>
          <p:nvSpPr>
            <p:cNvPr id="18" name="TextBox 18"/>
            <p:cNvSpPr txBox="1"/>
            <p:nvPr/>
          </p:nvSpPr>
          <p:spPr>
            <a:xfrm>
              <a:off x="527304" y="2727960"/>
              <a:ext cx="130454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风险管理业务闭环</a:t>
              </a:r>
            </a:p>
          </p:txBody>
        </p:sp>
        <p:sp>
          <p:nvSpPr>
            <p:cNvPr id="19" name="Line 19"/>
            <p:cNvSpPr/>
            <p:nvPr/>
          </p:nvSpPr>
          <p:spPr>
            <a:xfrm>
              <a:off x="1676400" y="3390900"/>
              <a:ext cx="1695450" cy="1"/>
            </a:xfrm>
            <a:prstGeom prst="line">
              <a:avLst/>
            </a:prstGeom>
            <a:noFill/>
            <a:ln w="28575">
              <a:solidFill>
                <a:schemeClr val="accent1"/>
              </a:solidFill>
              <a:tailEnd type="triangle" w="lg" len="lg"/>
            </a:ln>
          </p:spPr>
        </p:sp>
        <p:sp>
          <p:nvSpPr>
            <p:cNvPr id="20" name="Line 20"/>
            <p:cNvSpPr/>
            <p:nvPr/>
          </p:nvSpPr>
          <p:spPr>
            <a:xfrm>
              <a:off x="3867150" y="3390900"/>
              <a:ext cx="1695450" cy="1"/>
            </a:xfrm>
            <a:prstGeom prst="line">
              <a:avLst/>
            </a:prstGeom>
            <a:noFill/>
            <a:ln w="28575">
              <a:solidFill>
                <a:schemeClr val="accent2"/>
              </a:solidFill>
              <a:tailEnd type="triangle" w="lg" len="lg"/>
            </a:ln>
          </p:spPr>
        </p:sp>
        <p:sp>
          <p:nvSpPr>
            <p:cNvPr id="21" name="Line 21"/>
            <p:cNvSpPr/>
            <p:nvPr/>
          </p:nvSpPr>
          <p:spPr>
            <a:xfrm>
              <a:off x="6057900" y="3390900"/>
              <a:ext cx="1695450" cy="1"/>
            </a:xfrm>
            <a:prstGeom prst="line">
              <a:avLst/>
            </a:prstGeom>
            <a:noFill/>
            <a:ln w="28575">
              <a:solidFill>
                <a:schemeClr val="accent2"/>
              </a:solidFill>
              <a:tailEnd type="triangle" w="lg" len="lg"/>
            </a:ln>
          </p:spPr>
        </p:sp>
        <p:sp>
          <p:nvSpPr>
            <p:cNvPr id="22" name="Line 22"/>
            <p:cNvSpPr/>
            <p:nvPr/>
          </p:nvSpPr>
          <p:spPr>
            <a:xfrm>
              <a:off x="8248650" y="3390900"/>
              <a:ext cx="1695450" cy="1"/>
            </a:xfrm>
            <a:prstGeom prst="line">
              <a:avLst/>
            </a:prstGeom>
            <a:noFill/>
            <a:ln w="28575">
              <a:solidFill>
                <a:schemeClr val="accent3"/>
              </a:solidFill>
              <a:tailEnd type="triangle" w="lg" len="lg"/>
            </a:ln>
          </p:spPr>
        </p:sp>
        <p:sp>
          <p:nvSpPr>
            <p:cNvPr id="23" name="Ellipse 23"/>
            <p:cNvSpPr/>
            <p:nvPr/>
          </p:nvSpPr>
          <p:spPr>
            <a:xfrm>
              <a:off x="1028700" y="3067050"/>
              <a:ext cx="647700" cy="647700"/>
            </a:xfrm>
            <a:prstGeom prst="ellipse">
              <a:avLst/>
            </a:prstGeom>
            <a:solidFill>
              <a:schemeClr val="accent1"/>
            </a:solidFill>
            <a:ln>
              <a:noFill/>
            </a:ln>
          </p:spPr>
        </p:sp>
        <p:sp>
          <p:nvSpPr>
            <p:cNvPr id="24" name="TextBox 24"/>
            <p:cNvSpPr txBox="1"/>
            <p:nvPr/>
          </p:nvSpPr>
          <p:spPr>
            <a:xfrm>
              <a:off x="106451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资料接入</a:t>
              </a:r>
            </a:p>
          </p:txBody>
        </p:sp>
        <p:sp>
          <p:nvSpPr>
            <p:cNvPr id="25" name="Ellipse 25"/>
            <p:cNvSpPr/>
            <p:nvPr/>
          </p:nvSpPr>
          <p:spPr>
            <a:xfrm>
              <a:off x="3219450" y="3067050"/>
              <a:ext cx="647700" cy="647700"/>
            </a:xfrm>
            <a:prstGeom prst="ellipse">
              <a:avLst/>
            </a:prstGeom>
            <a:solidFill>
              <a:schemeClr val="accent2"/>
            </a:solidFill>
            <a:ln>
              <a:noFill/>
            </a:ln>
          </p:spPr>
        </p:sp>
        <p:sp>
          <p:nvSpPr>
            <p:cNvPr id="26" name="TextBox 26"/>
            <p:cNvSpPr txBox="1"/>
            <p:nvPr/>
          </p:nvSpPr>
          <p:spPr>
            <a:xfrm>
              <a:off x="325526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智能识别</a:t>
              </a:r>
            </a:p>
          </p:txBody>
        </p:sp>
        <p:sp>
          <p:nvSpPr>
            <p:cNvPr id="27" name="Ellipse 27"/>
            <p:cNvSpPr/>
            <p:nvPr/>
          </p:nvSpPr>
          <p:spPr>
            <a:xfrm>
              <a:off x="5410200" y="3067050"/>
              <a:ext cx="647700" cy="647700"/>
            </a:xfrm>
            <a:prstGeom prst="ellipse">
              <a:avLst/>
            </a:prstGeom>
            <a:solidFill>
              <a:schemeClr val="accent2"/>
            </a:solidFill>
            <a:ln>
              <a:noFill/>
            </a:ln>
          </p:spPr>
        </p:sp>
        <p:sp>
          <p:nvSpPr>
            <p:cNvPr id="28" name="TextBox 28"/>
            <p:cNvSpPr txBox="1"/>
            <p:nvPr/>
          </p:nvSpPr>
          <p:spPr>
            <a:xfrm>
              <a:off x="544601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智能评估</a:t>
              </a:r>
            </a:p>
          </p:txBody>
        </p:sp>
        <p:sp>
          <p:nvSpPr>
            <p:cNvPr id="29" name="Ellipse 29"/>
            <p:cNvSpPr/>
            <p:nvPr/>
          </p:nvSpPr>
          <p:spPr>
            <a:xfrm>
              <a:off x="7600950" y="3067050"/>
              <a:ext cx="647700" cy="647700"/>
            </a:xfrm>
            <a:prstGeom prst="ellipse">
              <a:avLst/>
            </a:prstGeom>
            <a:solidFill>
              <a:schemeClr val="accent3"/>
            </a:solidFill>
            <a:ln>
              <a:noFill/>
            </a:ln>
          </p:spPr>
        </p:sp>
        <p:sp>
          <p:nvSpPr>
            <p:cNvPr id="30" name="TextBox 30"/>
            <p:cNvSpPr txBox="1"/>
            <p:nvPr/>
          </p:nvSpPr>
          <p:spPr>
            <a:xfrm>
              <a:off x="763676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动态预警</a:t>
              </a:r>
            </a:p>
          </p:txBody>
        </p:sp>
        <p:sp>
          <p:nvSpPr>
            <p:cNvPr id="31" name="Ellipse 31"/>
            <p:cNvSpPr/>
            <p:nvPr/>
          </p:nvSpPr>
          <p:spPr>
            <a:xfrm>
              <a:off x="9791700" y="3067050"/>
              <a:ext cx="647700" cy="647700"/>
            </a:xfrm>
            <a:prstGeom prst="ellipse">
              <a:avLst/>
            </a:prstGeom>
            <a:solidFill>
              <a:schemeClr val="accent3"/>
            </a:solidFill>
            <a:ln>
              <a:noFill/>
            </a:ln>
          </p:spPr>
        </p:sp>
        <p:sp>
          <p:nvSpPr>
            <p:cNvPr id="32" name="TextBox 32"/>
            <p:cNvSpPr txBox="1"/>
            <p:nvPr/>
          </p:nvSpPr>
          <p:spPr>
            <a:xfrm>
              <a:off x="982751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处置反馈</a:t>
              </a:r>
            </a:p>
          </p:txBody>
        </p:sp>
        <p:sp>
          <p:nvSpPr>
            <p:cNvPr id="33" name="Freeform 33"/>
            <p:cNvSpPr/>
            <p:nvPr/>
          </p:nvSpPr>
          <p:spPr>
            <a:xfrm>
              <a:off x="1352550" y="3781425"/>
              <a:ext cx="8763000" cy="219075"/>
            </a:xfrm>
            <a:custGeom>
              <a:avLst/>
              <a:gdLst/>
              <a:ahLst/>
              <a:cxnLst/>
              <a:rect l="l" t="t" r="r" b="b"/>
              <a:pathLst>
                <a:path w="8763000" h="219075">
                  <a:moveTo>
                    <a:pt x="8763000" y="0"/>
                  </a:moveTo>
                  <a:lnTo>
                    <a:pt x="8763000" y="219075"/>
                  </a:lnTo>
                  <a:lnTo>
                    <a:pt x="0" y="219075"/>
                  </a:lnTo>
                  <a:lnTo>
                    <a:pt x="0" y="0"/>
                  </a:lnTo>
                </a:path>
              </a:pathLst>
            </a:custGeom>
            <a:noFill/>
            <a:ln w="19050">
              <a:solidFill>
                <a:schemeClr val="accent3"/>
              </a:solidFill>
              <a:prstDash val="lgDash"/>
              <a:tailEnd type="triangle" w="lg" len="lg"/>
            </a:ln>
          </p:spPr>
        </p:sp>
        <p:sp>
          <p:nvSpPr>
            <p:cNvPr id="34" name="TextBox 34"/>
            <p:cNvSpPr txBox="1"/>
            <p:nvPr/>
          </p:nvSpPr>
          <p:spPr>
            <a:xfrm>
              <a:off x="3961828" y="3868102"/>
              <a:ext cx="3544443" cy="205359"/>
            </a:xfrm>
            <a:prstGeom prst="rect">
              <a:avLst/>
            </a:prstGeom>
            <a:noFill/>
            <a:ln>
              <a:noFill/>
            </a:ln>
          </p:spPr>
          <p:txBody>
            <a:bodyPr wrap="none" lIns="0" tIns="0" rIns="0" bIns="0" anchor="t" anchorCtr="0">
              <a:spAutoFit/>
            </a:bodyPr>
            <a:lstStyle/>
            <a:p>
              <a:pPr algn="ctr"/>
              <a:r>
                <a:rPr lang="zh-CN" sz="1050" dirty="0">
                  <a:solidFill>
                    <a:schemeClr val="accent3"/>
                  </a:solidFill>
                  <a:latin typeface="+mn-lt"/>
                  <a:ea typeface="+mn-ea"/>
                  <a:cs typeface="+mn-cs"/>
                </a:rPr>
                <a:t>反馈复核：形成知识更新或校准建议，审核后发布新版本</a:t>
              </a:r>
            </a:p>
          </p:txBody>
        </p:sp>
      </p:grpSp>
      <p:grpSp>
        <p:nvGrpSpPr>
          <p:cNvPr id="45" name="Group 45"/>
          <p:cNvGrpSpPr/>
          <p:nvPr/>
        </p:nvGrpSpPr>
        <p:grpSpPr>
          <a:xfrm>
            <a:off x="533400" y="4381500"/>
            <a:ext cx="11125200" cy="1428750"/>
            <a:chOff x="533400" y="4381500"/>
            <a:chExt cx="11125200" cy="1428750"/>
          </a:xfrm>
        </p:grpSpPr>
        <p:sp>
          <p:nvSpPr>
            <p:cNvPr id="36" name="Rectangle 36"/>
            <p:cNvSpPr/>
            <p:nvPr/>
          </p:nvSpPr>
          <p:spPr>
            <a:xfrm>
              <a:off x="533400" y="4381500"/>
              <a:ext cx="3448050" cy="1428750"/>
            </a:xfrm>
            <a:prstGeom prst="roundRect">
              <a:avLst>
                <a:gd name="adj" fmla="val 6667"/>
              </a:avLst>
            </a:prstGeom>
            <a:solidFill>
              <a:schemeClr val="lt2"/>
            </a:solidFill>
            <a:ln>
              <a:noFill/>
            </a:ln>
          </p:spPr>
        </p:sp>
        <p:sp>
          <p:nvSpPr>
            <p:cNvPr id="37" name="TextBox 37"/>
            <p:cNvSpPr txBox="1"/>
            <p:nvPr/>
          </p:nvSpPr>
          <p:spPr>
            <a:xfrm>
              <a:off x="1820164" y="4586764"/>
              <a:ext cx="874522" cy="249364"/>
            </a:xfrm>
            <a:prstGeom prst="rect">
              <a:avLst/>
            </a:prstGeom>
            <a:noFill/>
            <a:ln>
              <a:noFill/>
            </a:ln>
          </p:spPr>
          <p:txBody>
            <a:bodyPr wrap="none" lIns="0" tIns="0" rIns="0" bIns="0" anchor="t" anchorCtr="0">
              <a:spAutoFit/>
            </a:bodyPr>
            <a:lstStyle/>
            <a:p>
              <a:pPr algn="ctr"/>
              <a:r>
                <a:rPr lang="zh-CN" sz="1280" b="1" dirty="0">
                  <a:solidFill>
                    <a:schemeClr val="accent1"/>
                  </a:solidFill>
                  <a:latin typeface="+mn-lt"/>
                  <a:ea typeface="+mn-ea"/>
                  <a:cs typeface="+mn-cs"/>
                </a:rPr>
                <a:t>风险在哪里</a:t>
              </a:r>
            </a:p>
          </p:txBody>
        </p:sp>
        <p:sp>
          <p:nvSpPr>
            <p:cNvPr id="38" name="TextBox 38"/>
            <p:cNvSpPr txBox="1"/>
            <p:nvPr/>
          </p:nvSpPr>
          <p:spPr>
            <a:xfrm>
              <a:off x="1327150" y="5003006"/>
              <a:ext cx="1860550" cy="458152"/>
            </a:xfrm>
            <a:prstGeom prst="rect">
              <a:avLst/>
            </a:prstGeom>
            <a:noFill/>
            <a:ln>
              <a:noFill/>
            </a:ln>
          </p:spPr>
          <p:txBody>
            <a:bodyPr wrap="none" lIns="0" tIns="0" rIns="0" bIns="0" anchor="t" anchorCtr="0">
              <a:spAutoFit/>
            </a:bodyPr>
            <a:lstStyle/>
            <a:p>
              <a:pPr algn="ctr">
                <a:lnSpc>
                  <a:spcPts val="1875"/>
                </a:lnSpc>
              </a:pPr>
              <a:r>
                <a:rPr lang="zh-CN" sz="1120" dirty="0">
                  <a:solidFill>
                    <a:schemeClr val="dk1"/>
                  </a:solidFill>
                  <a:latin typeface="+mn-lt"/>
                  <a:ea typeface="+mn-ea"/>
                  <a:cs typeface="+mn-cs"/>
                </a:rPr>
                <a:t>按工序节点检索机理与证据，</a:t>
              </a:r>
              <a:br/>
              <a:r>
                <a:rPr lang="zh-CN" sz="1120" dirty="0">
                  <a:solidFill>
                    <a:schemeClr val="dk1"/>
                  </a:solidFill>
                  <a:latin typeface="+mn-lt"/>
                  <a:ea typeface="+mn-ea"/>
                  <a:cs typeface="+mn-cs"/>
                </a:rPr>
                <a:t>形成标准化风险记录</a:t>
              </a:r>
            </a:p>
          </p:txBody>
        </p:sp>
        <p:sp>
          <p:nvSpPr>
            <p:cNvPr id="39" name="Rectangle 39"/>
            <p:cNvSpPr/>
            <p:nvPr/>
          </p:nvSpPr>
          <p:spPr>
            <a:xfrm>
              <a:off x="4248150" y="4381500"/>
              <a:ext cx="3448050" cy="1428750"/>
            </a:xfrm>
            <a:prstGeom prst="roundRect">
              <a:avLst>
                <a:gd name="adj" fmla="val 6667"/>
              </a:avLst>
            </a:prstGeom>
            <a:solidFill>
              <a:srgbClr val="EEF7F4"/>
            </a:solidFill>
            <a:ln>
              <a:noFill/>
            </a:ln>
          </p:spPr>
        </p:sp>
        <p:sp>
          <p:nvSpPr>
            <p:cNvPr id="40" name="TextBox 40"/>
            <p:cNvSpPr txBox="1"/>
            <p:nvPr/>
          </p:nvSpPr>
          <p:spPr>
            <a:xfrm>
              <a:off x="5534914" y="4586764"/>
              <a:ext cx="874522" cy="249364"/>
            </a:xfrm>
            <a:prstGeom prst="rect">
              <a:avLst/>
            </a:prstGeom>
            <a:noFill/>
            <a:ln>
              <a:noFill/>
            </a:ln>
          </p:spPr>
          <p:txBody>
            <a:bodyPr wrap="none" lIns="0" tIns="0" rIns="0" bIns="0" anchor="t" anchorCtr="0">
              <a:spAutoFit/>
            </a:bodyPr>
            <a:lstStyle/>
            <a:p>
              <a:pPr algn="ctr"/>
              <a:r>
                <a:rPr lang="zh-CN" sz="1280" b="1" dirty="0">
                  <a:solidFill>
                    <a:schemeClr val="accent2"/>
                  </a:solidFill>
                  <a:latin typeface="+mn-lt"/>
                  <a:ea typeface="+mn-ea"/>
                  <a:cs typeface="+mn-cs"/>
                </a:rPr>
                <a:t>风险有多大</a:t>
              </a:r>
            </a:p>
          </p:txBody>
        </p:sp>
        <p:sp>
          <p:nvSpPr>
            <p:cNvPr id="41" name="TextBox 41"/>
            <p:cNvSpPr txBox="1"/>
            <p:nvPr/>
          </p:nvSpPr>
          <p:spPr>
            <a:xfrm>
              <a:off x="5095240" y="5003006"/>
              <a:ext cx="1753870" cy="458152"/>
            </a:xfrm>
            <a:prstGeom prst="rect">
              <a:avLst/>
            </a:prstGeom>
            <a:noFill/>
            <a:ln>
              <a:noFill/>
            </a:ln>
          </p:spPr>
          <p:txBody>
            <a:bodyPr wrap="none" lIns="0" tIns="0" rIns="0" bIns="0" anchor="t" anchorCtr="0">
              <a:spAutoFit/>
            </a:bodyPr>
            <a:lstStyle/>
            <a:p>
              <a:pPr algn="ctr">
                <a:lnSpc>
                  <a:spcPts val="1875"/>
                </a:lnSpc>
              </a:pPr>
              <a:r>
                <a:rPr lang="zh-CN" sz="1120" dirty="0">
                  <a:solidFill>
                    <a:schemeClr val="dk1"/>
                  </a:solidFill>
                  <a:latin typeface="+mn-lt"/>
                  <a:ea typeface="+mn-ea"/>
                  <a:cs typeface="+mn-cs"/>
                </a:rPr>
                <a:t>按适用规则计算 P/C 分值，</a:t>
              </a:r>
              <a:br/>
              <a:r>
                <a:rPr lang="zh-CN" sz="1120" dirty="0">
                  <a:solidFill>
                    <a:schemeClr val="dk1"/>
                  </a:solidFill>
                  <a:latin typeface="+mn-lt"/>
                  <a:ea typeface="+mn-ea"/>
                  <a:cs typeface="+mn-cs"/>
                </a:rPr>
                <a:t>再映射版本化风险矩阵</a:t>
              </a:r>
            </a:p>
          </p:txBody>
        </p:sp>
        <p:sp>
          <p:nvSpPr>
            <p:cNvPr id="42" name="Rectangle 42"/>
            <p:cNvSpPr/>
            <p:nvPr/>
          </p:nvSpPr>
          <p:spPr>
            <a:xfrm>
              <a:off x="7962900" y="4381500"/>
              <a:ext cx="3695700" cy="1428750"/>
            </a:xfrm>
            <a:prstGeom prst="roundRect">
              <a:avLst>
                <a:gd name="adj" fmla="val 6667"/>
              </a:avLst>
            </a:prstGeom>
            <a:solidFill>
              <a:srgbClr val="FFF7EC"/>
            </a:solidFill>
            <a:ln>
              <a:noFill/>
            </a:ln>
          </p:spPr>
        </p:sp>
        <p:sp>
          <p:nvSpPr>
            <p:cNvPr id="43" name="TextBox 43"/>
            <p:cNvSpPr txBox="1"/>
            <p:nvPr/>
          </p:nvSpPr>
          <p:spPr>
            <a:xfrm>
              <a:off x="9287332" y="4586764"/>
              <a:ext cx="1046836" cy="249364"/>
            </a:xfrm>
            <a:prstGeom prst="rect">
              <a:avLst/>
            </a:prstGeom>
            <a:noFill/>
            <a:ln>
              <a:noFill/>
            </a:ln>
          </p:spPr>
          <p:txBody>
            <a:bodyPr wrap="none" lIns="0" tIns="0" rIns="0" bIns="0" anchor="t" anchorCtr="0">
              <a:spAutoFit/>
            </a:bodyPr>
            <a:lstStyle/>
            <a:p>
              <a:pPr algn="ctr"/>
              <a:r>
                <a:rPr lang="zh-CN" sz="1280" b="1" dirty="0">
                  <a:solidFill>
                    <a:schemeClr val="accent3"/>
                  </a:solidFill>
                  <a:latin typeface="+mn-lt"/>
                  <a:ea typeface="+mn-ea"/>
                  <a:cs typeface="+mn-cs"/>
                </a:rPr>
                <a:t>风险如何处置</a:t>
              </a:r>
            </a:p>
          </p:txBody>
        </p:sp>
        <p:sp>
          <p:nvSpPr>
            <p:cNvPr id="44" name="TextBox 44"/>
            <p:cNvSpPr txBox="1"/>
            <p:nvPr/>
          </p:nvSpPr>
          <p:spPr>
            <a:xfrm>
              <a:off x="8667115" y="5003006"/>
              <a:ext cx="2287270" cy="458152"/>
            </a:xfrm>
            <a:prstGeom prst="rect">
              <a:avLst/>
            </a:prstGeom>
            <a:noFill/>
            <a:ln>
              <a:noFill/>
            </a:ln>
          </p:spPr>
          <p:txBody>
            <a:bodyPr wrap="none" lIns="0" tIns="0" rIns="0" bIns="0" anchor="t" anchorCtr="0">
              <a:spAutoFit/>
            </a:bodyPr>
            <a:lstStyle/>
            <a:p>
              <a:pPr algn="ctr">
                <a:lnSpc>
                  <a:spcPts val="1875"/>
                </a:lnSpc>
              </a:pPr>
              <a:r>
                <a:rPr lang="zh-CN" sz="1120" dirty="0">
                  <a:solidFill>
                    <a:schemeClr val="dk1"/>
                  </a:solidFill>
                  <a:latin typeface="+mn-lt"/>
                  <a:ea typeface="+mn-ea"/>
                  <a:cs typeface="+mn-cs"/>
                </a:rPr>
                <a:t>根据触发指标形成预警和处置建议，</a:t>
              </a:r>
              <a:br/>
              <a:r>
                <a:rPr lang="zh-CN" sz="1120" dirty="0">
                  <a:solidFill>
                    <a:schemeClr val="dk1"/>
                  </a:solidFill>
                  <a:latin typeface="+mn-lt"/>
                  <a:ea typeface="+mn-ea"/>
                  <a:cs typeface="+mn-cs"/>
                </a:rPr>
                <a:t>跟踪实际效果</a:t>
              </a:r>
            </a:p>
          </p:txBody>
        </p:sp>
      </p:grpSp>
      <p:grpSp>
        <p:nvGrpSpPr>
          <p:cNvPr id="48" name="Group 48"/>
          <p:cNvGrpSpPr/>
          <p:nvPr/>
        </p:nvGrpSpPr>
        <p:grpSpPr>
          <a:xfrm>
            <a:off x="528638" y="6311741"/>
            <a:ext cx="11134724" cy="161925"/>
            <a:chOff x="528638" y="6311741"/>
            <a:chExt cx="11134724" cy="161925"/>
          </a:xfrm>
        </p:grpSpPr>
        <p:sp>
          <p:nvSpPr>
            <p:cNvPr id="46" name="TextBox 4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47" name="TextBox 4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3056077" cy="366712"/>
            <a:chOff x="523875" y="921544"/>
            <a:chExt cx="3056077" cy="366712"/>
          </a:xfrm>
        </p:grpSpPr>
        <p:sp>
          <p:nvSpPr>
            <p:cNvPr id="6" name="TextBox 6"/>
            <p:cNvSpPr txBox="1"/>
            <p:nvPr/>
          </p:nvSpPr>
          <p:spPr>
            <a:xfrm>
              <a:off x="523875" y="921544"/>
              <a:ext cx="3056077"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识别与评估一体化系统架构</a:t>
              </a:r>
            </a:p>
          </p:txBody>
        </p:sp>
      </p:grpSp>
      <p:grpSp>
        <p:nvGrpSpPr>
          <p:cNvPr id="30" name="Group 30"/>
          <p:cNvGrpSpPr/>
          <p:nvPr/>
        </p:nvGrpSpPr>
        <p:grpSpPr>
          <a:xfrm>
            <a:off x="533400" y="1390650"/>
            <a:ext cx="11125200" cy="857250"/>
            <a:chOff x="533400" y="1390650"/>
            <a:chExt cx="11125200" cy="857250"/>
          </a:xfrm>
        </p:grpSpPr>
        <p:sp>
          <p:nvSpPr>
            <p:cNvPr id="8" name="Rectangle 8"/>
            <p:cNvSpPr/>
            <p:nvPr/>
          </p:nvSpPr>
          <p:spPr>
            <a:xfrm>
              <a:off x="533400" y="1390650"/>
              <a:ext cx="11125200" cy="857250"/>
            </a:xfrm>
            <a:prstGeom prst="roundRect">
              <a:avLst>
                <a:gd name="adj" fmla="val 11111"/>
              </a:avLst>
            </a:prstGeom>
            <a:solidFill>
              <a:srgbClr val="EEF4FA"/>
            </a:solidFill>
            <a:ln w="9525">
              <a:solidFill>
                <a:srgbClr val="1F5E96"/>
              </a:solidFill>
            </a:ln>
          </p:spPr>
        </p:sp>
        <p:sp>
          <p:nvSpPr>
            <p:cNvPr id="9" name="Rectangle 9"/>
            <p:cNvSpPr/>
            <p:nvPr/>
          </p:nvSpPr>
          <p:spPr>
            <a:xfrm>
              <a:off x="533400" y="1390650"/>
              <a:ext cx="2343150" cy="857250"/>
            </a:xfrm>
            <a:prstGeom prst="roundRect">
              <a:avLst>
                <a:gd name="adj" fmla="val 11111"/>
              </a:avLst>
            </a:prstGeom>
            <a:solidFill>
              <a:schemeClr val="accent1"/>
            </a:solidFill>
            <a:ln>
              <a:noFill/>
            </a:ln>
          </p:spPr>
        </p:sp>
        <p:grpSp>
          <p:nvGrpSpPr>
            <p:cNvPr id="15" name="Group 15"/>
            <p:cNvGrpSpPr/>
            <p:nvPr/>
          </p:nvGrpSpPr>
          <p:grpSpPr>
            <a:xfrm>
              <a:off x="774700" y="1638300"/>
              <a:ext cx="228599" cy="241299"/>
              <a:chOff x="774700" y="1638300"/>
              <a:chExt cx="228599" cy="241299"/>
            </a:xfrm>
          </p:grpSpPr>
          <p:sp>
            <p:nvSpPr>
              <p:cNvPr id="10" name="Freeform 10"/>
              <p:cNvSpPr/>
              <p:nvPr/>
            </p:nvSpPr>
            <p:spPr>
              <a:xfrm>
                <a:off x="774700" y="1638300"/>
                <a:ext cx="203199" cy="76200"/>
              </a:xfrm>
              <a:custGeom>
                <a:avLst/>
                <a:gdLst/>
                <a:ahLst/>
                <a:cxnLst/>
                <a:rect l="l" t="t" r="r" b="b"/>
                <a:pathLst>
                  <a:path w="203199" h="76200">
                    <a:moveTo>
                      <a:pt x="0" y="38100"/>
                    </a:moveTo>
                    <a:cubicBezTo>
                      <a:pt x="0" y="59144"/>
                      <a:pt x="45491" y="76200"/>
                      <a:pt x="101600" y="76200"/>
                    </a:cubicBezTo>
                    <a:cubicBezTo>
                      <a:pt x="157708" y="76200"/>
                      <a:pt x="203199" y="59144"/>
                      <a:pt x="203199" y="38100"/>
                    </a:cubicBezTo>
                    <a:cubicBezTo>
                      <a:pt x="203199" y="17056"/>
                      <a:pt x="157708" y="0"/>
                      <a:pt x="101600" y="0"/>
                    </a:cubicBezTo>
                    <a:cubicBezTo>
                      <a:pt x="45491" y="0"/>
                      <a:pt x="0" y="17056"/>
                      <a:pt x="0" y="38100"/>
                    </a:cubicBezTo>
                  </a:path>
                </a:pathLst>
              </a:custGeom>
              <a:noFill/>
              <a:ln w="25400">
                <a:solidFill>
                  <a:srgbClr val="FFFFFF"/>
                </a:solidFill>
              </a:ln>
            </p:spPr>
          </p:sp>
          <p:sp>
            <p:nvSpPr>
              <p:cNvPr id="11" name="Freeform 11"/>
              <p:cNvSpPr/>
              <p:nvPr/>
            </p:nvSpPr>
            <p:spPr>
              <a:xfrm>
                <a:off x="774700" y="1676400"/>
                <a:ext cx="203199" cy="114300"/>
              </a:xfrm>
              <a:custGeom>
                <a:avLst/>
                <a:gdLst/>
                <a:ahLst/>
                <a:cxnLst/>
                <a:rect l="l" t="t" r="r" b="b"/>
                <a:pathLst>
                  <a:path w="203199" h="114300">
                    <a:moveTo>
                      <a:pt x="0" y="0"/>
                    </a:moveTo>
                    <a:lnTo>
                      <a:pt x="0" y="76200"/>
                    </a:lnTo>
                    <a:cubicBezTo>
                      <a:pt x="0" y="97244"/>
                      <a:pt x="45491" y="114300"/>
                      <a:pt x="101600" y="114300"/>
                    </a:cubicBezTo>
                    <a:moveTo>
                      <a:pt x="203199" y="69850"/>
                    </a:moveTo>
                    <a:lnTo>
                      <a:pt x="203199" y="0"/>
                    </a:lnTo>
                  </a:path>
                </a:pathLst>
              </a:custGeom>
              <a:noFill/>
              <a:ln w="25400">
                <a:solidFill>
                  <a:srgbClr val="FFFFFF"/>
                </a:solidFill>
              </a:ln>
            </p:spPr>
          </p:sp>
          <p:sp>
            <p:nvSpPr>
              <p:cNvPr id="12" name="Freeform 12"/>
              <p:cNvSpPr/>
              <p:nvPr/>
            </p:nvSpPr>
            <p:spPr>
              <a:xfrm>
                <a:off x="774700" y="1752600"/>
                <a:ext cx="101600" cy="114300"/>
              </a:xfrm>
              <a:custGeom>
                <a:avLst/>
                <a:gdLst/>
                <a:ahLst/>
                <a:cxnLst/>
                <a:rect l="l" t="t" r="r" b="b"/>
                <a:pathLst>
                  <a:path w="101600" h="114300">
                    <a:moveTo>
                      <a:pt x="0" y="0"/>
                    </a:moveTo>
                    <a:lnTo>
                      <a:pt x="0" y="76200"/>
                    </a:lnTo>
                    <a:cubicBezTo>
                      <a:pt x="0" y="97244"/>
                      <a:pt x="45491" y="114300"/>
                      <a:pt x="101600" y="114300"/>
                    </a:cubicBezTo>
                  </a:path>
                </a:pathLst>
              </a:custGeom>
              <a:noFill/>
              <a:ln w="25400">
                <a:solidFill>
                  <a:srgbClr val="FFFFFF"/>
                </a:solidFill>
              </a:ln>
            </p:spPr>
          </p:sp>
          <p:sp>
            <p:nvSpPr>
              <p:cNvPr id="13" name="Freeform 13"/>
              <p:cNvSpPr/>
              <p:nvPr/>
            </p:nvSpPr>
            <p:spPr>
              <a:xfrm>
                <a:off x="914400" y="17907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25400">
                <a:solidFill>
                  <a:srgbClr val="FFFFFF"/>
                </a:solidFill>
              </a:ln>
            </p:spPr>
          </p:sp>
          <p:sp>
            <p:nvSpPr>
              <p:cNvPr id="14" name="Freeform 14"/>
              <p:cNvSpPr/>
              <p:nvPr/>
            </p:nvSpPr>
            <p:spPr>
              <a:xfrm>
                <a:off x="980439" y="1856739"/>
                <a:ext cx="22860" cy="22860"/>
              </a:xfrm>
              <a:custGeom>
                <a:avLst/>
                <a:gdLst/>
                <a:ahLst/>
                <a:cxnLst/>
                <a:rect l="l" t="t" r="r" b="b"/>
                <a:pathLst>
                  <a:path w="22860" h="22860">
                    <a:moveTo>
                      <a:pt x="0" y="0"/>
                    </a:moveTo>
                    <a:lnTo>
                      <a:pt x="22860" y="22860"/>
                    </a:lnTo>
                  </a:path>
                </a:pathLst>
              </a:custGeom>
              <a:noFill/>
              <a:ln w="25400">
                <a:solidFill>
                  <a:srgbClr val="FFFFFF"/>
                </a:solidFill>
              </a:ln>
            </p:spPr>
          </p:sp>
        </p:grpSp>
        <p:sp>
          <p:nvSpPr>
            <p:cNvPr id="16" name="TextBox 16"/>
            <p:cNvSpPr txBox="1"/>
            <p:nvPr/>
          </p:nvSpPr>
          <p:spPr>
            <a:xfrm>
              <a:off x="1155573" y="155781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数据接入层</a:t>
              </a:r>
            </a:p>
          </p:txBody>
        </p:sp>
        <p:sp>
          <p:nvSpPr>
            <p:cNvPr id="17" name="TextBox 17"/>
            <p:cNvSpPr txBox="1"/>
            <p:nvPr/>
          </p:nvSpPr>
          <p:spPr>
            <a:xfrm>
              <a:off x="1157097" y="1837849"/>
              <a:ext cx="113004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D5DCE4"/>
                  </a:solidFill>
                  <a:latin typeface="+mn-lt"/>
                  <a:ea typeface="+mn-ea"/>
                  <a:cs typeface="+mn-cs"/>
                </a:rPr>
                <a:t>多源接入、标准化与</a:t>
              </a:r>
              <a:br/>
              <a:r>
                <a:rPr lang="zh-CN" sz="980" dirty="0">
                  <a:solidFill>
                    <a:srgbClr val="D5DCE4"/>
                  </a:solidFill>
                  <a:latin typeface="+mn-lt"/>
                  <a:ea typeface="+mn-ea"/>
                  <a:cs typeface="+mn-cs"/>
                </a:rPr>
                <a:t>适用性元数据绑定</a:t>
              </a:r>
            </a:p>
          </p:txBody>
        </p:sp>
        <p:sp>
          <p:nvSpPr>
            <p:cNvPr id="18" name="Rectangle 18"/>
            <p:cNvSpPr/>
            <p:nvPr/>
          </p:nvSpPr>
          <p:spPr>
            <a:xfrm>
              <a:off x="3067050" y="1495425"/>
              <a:ext cx="2686050" cy="285750"/>
            </a:xfrm>
            <a:prstGeom prst="roundRect">
              <a:avLst>
                <a:gd name="adj" fmla="val 23333"/>
              </a:avLst>
            </a:prstGeom>
            <a:solidFill>
              <a:schemeClr val="lt1"/>
            </a:solidFill>
            <a:ln>
              <a:noFill/>
            </a:ln>
          </p:spPr>
        </p:sp>
        <p:sp>
          <p:nvSpPr>
            <p:cNvPr id="19" name="TextBox 19"/>
            <p:cNvSpPr txBox="1"/>
            <p:nvPr/>
          </p:nvSpPr>
          <p:spPr>
            <a:xfrm>
              <a:off x="3980688" y="15821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风险事件信息</a:t>
              </a:r>
            </a:p>
          </p:txBody>
        </p:sp>
        <p:sp>
          <p:nvSpPr>
            <p:cNvPr id="20" name="Rectangle 20"/>
            <p:cNvSpPr/>
            <p:nvPr/>
          </p:nvSpPr>
          <p:spPr>
            <a:xfrm>
              <a:off x="5848350" y="1495425"/>
              <a:ext cx="2686050" cy="285750"/>
            </a:xfrm>
            <a:prstGeom prst="roundRect">
              <a:avLst>
                <a:gd name="adj" fmla="val 23333"/>
              </a:avLst>
            </a:prstGeom>
            <a:solidFill>
              <a:schemeClr val="lt1"/>
            </a:solidFill>
            <a:ln>
              <a:noFill/>
            </a:ln>
          </p:spPr>
        </p:sp>
        <p:sp>
          <p:nvSpPr>
            <p:cNvPr id="21" name="TextBox 21"/>
            <p:cNvSpPr txBox="1"/>
            <p:nvPr/>
          </p:nvSpPr>
          <p:spPr>
            <a:xfrm>
              <a:off x="6761988" y="15821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监测量测数据</a:t>
              </a:r>
            </a:p>
          </p:txBody>
        </p:sp>
        <p:sp>
          <p:nvSpPr>
            <p:cNvPr id="22" name="Rectangle 22"/>
            <p:cNvSpPr/>
            <p:nvPr/>
          </p:nvSpPr>
          <p:spPr>
            <a:xfrm>
              <a:off x="8629650" y="1495425"/>
              <a:ext cx="2838450" cy="285750"/>
            </a:xfrm>
            <a:prstGeom prst="roundRect">
              <a:avLst>
                <a:gd name="adj" fmla="val 23333"/>
              </a:avLst>
            </a:prstGeom>
            <a:solidFill>
              <a:schemeClr val="lt1"/>
            </a:solidFill>
            <a:ln>
              <a:noFill/>
            </a:ln>
          </p:spPr>
        </p:sp>
        <p:sp>
          <p:nvSpPr>
            <p:cNvPr id="23" name="TextBox 23"/>
            <p:cNvSpPr txBox="1"/>
            <p:nvPr/>
          </p:nvSpPr>
          <p:spPr>
            <a:xfrm>
              <a:off x="9760839" y="15821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地质勘察</a:t>
              </a:r>
            </a:p>
          </p:txBody>
        </p:sp>
        <p:sp>
          <p:nvSpPr>
            <p:cNvPr id="24" name="Rectangle 24"/>
            <p:cNvSpPr/>
            <p:nvPr/>
          </p:nvSpPr>
          <p:spPr>
            <a:xfrm>
              <a:off x="3067050" y="1857375"/>
              <a:ext cx="2686050" cy="285750"/>
            </a:xfrm>
            <a:prstGeom prst="roundRect">
              <a:avLst>
                <a:gd name="adj" fmla="val 23333"/>
              </a:avLst>
            </a:prstGeom>
            <a:solidFill>
              <a:schemeClr val="lt1"/>
            </a:solidFill>
            <a:ln>
              <a:noFill/>
            </a:ln>
          </p:spPr>
        </p:sp>
        <p:sp>
          <p:nvSpPr>
            <p:cNvPr id="25" name="TextBox 25"/>
            <p:cNvSpPr txBox="1"/>
            <p:nvPr/>
          </p:nvSpPr>
          <p:spPr>
            <a:xfrm>
              <a:off x="3980688" y="194405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装备设计资料</a:t>
              </a:r>
            </a:p>
          </p:txBody>
        </p:sp>
        <p:sp>
          <p:nvSpPr>
            <p:cNvPr id="26" name="Rectangle 26"/>
            <p:cNvSpPr/>
            <p:nvPr/>
          </p:nvSpPr>
          <p:spPr>
            <a:xfrm>
              <a:off x="5848350" y="1857375"/>
              <a:ext cx="2686050" cy="285750"/>
            </a:xfrm>
            <a:prstGeom prst="roundRect">
              <a:avLst>
                <a:gd name="adj" fmla="val 23333"/>
              </a:avLst>
            </a:prstGeom>
            <a:solidFill>
              <a:schemeClr val="lt1"/>
            </a:solidFill>
            <a:ln>
              <a:noFill/>
            </a:ln>
          </p:spPr>
        </p:sp>
        <p:sp>
          <p:nvSpPr>
            <p:cNvPr id="27" name="TextBox 27"/>
            <p:cNvSpPr txBox="1"/>
            <p:nvPr/>
          </p:nvSpPr>
          <p:spPr>
            <a:xfrm>
              <a:off x="6761988" y="194405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专项施工方案</a:t>
              </a:r>
            </a:p>
          </p:txBody>
        </p:sp>
        <p:sp>
          <p:nvSpPr>
            <p:cNvPr id="28" name="Rectangle 28"/>
            <p:cNvSpPr/>
            <p:nvPr/>
          </p:nvSpPr>
          <p:spPr>
            <a:xfrm>
              <a:off x="8629650" y="1857375"/>
              <a:ext cx="2838450" cy="285750"/>
            </a:xfrm>
            <a:prstGeom prst="roundRect">
              <a:avLst>
                <a:gd name="adj" fmla="val 23333"/>
              </a:avLst>
            </a:prstGeom>
            <a:solidFill>
              <a:schemeClr val="lt1"/>
            </a:solidFill>
            <a:ln>
              <a:noFill/>
            </a:ln>
          </p:spPr>
        </p:sp>
        <p:sp>
          <p:nvSpPr>
            <p:cNvPr id="29" name="TextBox 29"/>
            <p:cNvSpPr txBox="1"/>
            <p:nvPr/>
          </p:nvSpPr>
          <p:spPr>
            <a:xfrm>
              <a:off x="9760839" y="19440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工程资料</a:t>
              </a:r>
            </a:p>
          </p:txBody>
        </p:sp>
      </p:grpSp>
      <p:grpSp>
        <p:nvGrpSpPr>
          <p:cNvPr id="50" name="Group 50"/>
          <p:cNvGrpSpPr/>
          <p:nvPr/>
        </p:nvGrpSpPr>
        <p:grpSpPr>
          <a:xfrm>
            <a:off x="533400" y="2324100"/>
            <a:ext cx="11125200" cy="857250"/>
            <a:chOff x="533400" y="2324100"/>
            <a:chExt cx="11125200" cy="857250"/>
          </a:xfrm>
        </p:grpSpPr>
        <p:sp>
          <p:nvSpPr>
            <p:cNvPr id="31" name="Rectangle 31"/>
            <p:cNvSpPr/>
            <p:nvPr/>
          </p:nvSpPr>
          <p:spPr>
            <a:xfrm>
              <a:off x="533400" y="2324100"/>
              <a:ext cx="11125200" cy="857250"/>
            </a:xfrm>
            <a:prstGeom prst="roundRect">
              <a:avLst>
                <a:gd name="adj" fmla="val 11111"/>
              </a:avLst>
            </a:prstGeom>
            <a:solidFill>
              <a:srgbClr val="EEF7F4"/>
            </a:solidFill>
            <a:ln w="9525">
              <a:solidFill>
                <a:schemeClr val="accent2"/>
              </a:solidFill>
            </a:ln>
          </p:spPr>
        </p:sp>
        <p:sp>
          <p:nvSpPr>
            <p:cNvPr id="32" name="Rectangle 32"/>
            <p:cNvSpPr/>
            <p:nvPr/>
          </p:nvSpPr>
          <p:spPr>
            <a:xfrm>
              <a:off x="533400" y="2324100"/>
              <a:ext cx="2343150" cy="857250"/>
            </a:xfrm>
            <a:prstGeom prst="roundRect">
              <a:avLst>
                <a:gd name="adj" fmla="val 11111"/>
              </a:avLst>
            </a:prstGeom>
            <a:solidFill>
              <a:schemeClr val="accent2"/>
            </a:solidFill>
            <a:ln>
              <a:noFill/>
            </a:ln>
          </p:spPr>
        </p:sp>
        <p:grpSp>
          <p:nvGrpSpPr>
            <p:cNvPr id="35" name="Group 35"/>
            <p:cNvGrpSpPr/>
            <p:nvPr/>
          </p:nvGrpSpPr>
          <p:grpSpPr>
            <a:xfrm>
              <a:off x="774691" y="2584450"/>
              <a:ext cx="203209" cy="203200"/>
              <a:chOff x="774691" y="2584450"/>
              <a:chExt cx="203209" cy="203200"/>
            </a:xfrm>
          </p:grpSpPr>
          <p:sp>
            <p:nvSpPr>
              <p:cNvPr id="33" name="Freeform 33"/>
              <p:cNvSpPr/>
              <p:nvPr/>
            </p:nvSpPr>
            <p:spPr>
              <a:xfrm>
                <a:off x="825500" y="2635250"/>
                <a:ext cx="152400" cy="152400"/>
              </a:xfrm>
              <a:custGeom>
                <a:avLst/>
                <a:gdLst/>
                <a:ahLst/>
                <a:cxnLst/>
                <a:rect l="l" t="t" r="r" b="b"/>
                <a:pathLst>
                  <a:path w="152400" h="152400">
                    <a:moveTo>
                      <a:pt x="139700" y="3404"/>
                    </a:moveTo>
                    <a:cubicBezTo>
                      <a:pt x="147558" y="7941"/>
                      <a:pt x="152399" y="16326"/>
                      <a:pt x="152400" y="25400"/>
                    </a:cubicBezTo>
                    <a:lnTo>
                      <a:pt x="152400" y="127000"/>
                    </a:lnTo>
                    <a:cubicBezTo>
                      <a:pt x="152400" y="141028"/>
                      <a:pt x="141028" y="152400"/>
                      <a:pt x="127000" y="152400"/>
                    </a:cubicBezTo>
                    <a:lnTo>
                      <a:pt x="25400" y="152400"/>
                    </a:lnTo>
                    <a:cubicBezTo>
                      <a:pt x="11372" y="152400"/>
                      <a:pt x="0" y="141028"/>
                      <a:pt x="0" y="127000"/>
                    </a:cubicBezTo>
                    <a:lnTo>
                      <a:pt x="0" y="25400"/>
                    </a:lnTo>
                    <a:cubicBezTo>
                      <a:pt x="0" y="11372"/>
                      <a:pt x="11372" y="0"/>
                      <a:pt x="25400" y="0"/>
                    </a:cubicBezTo>
                    <a:lnTo>
                      <a:pt x="63500" y="0"/>
                    </a:lnTo>
                  </a:path>
                </a:pathLst>
              </a:custGeom>
              <a:noFill/>
              <a:ln w="25400">
                <a:solidFill>
                  <a:srgbClr val="FFFFFF"/>
                </a:solidFill>
              </a:ln>
            </p:spPr>
          </p:sp>
          <p:sp>
            <p:nvSpPr>
              <p:cNvPr id="34" name="Freeform 34"/>
              <p:cNvSpPr/>
              <p:nvPr/>
            </p:nvSpPr>
            <p:spPr>
              <a:xfrm>
                <a:off x="774691" y="2584450"/>
                <a:ext cx="152408" cy="152400"/>
              </a:xfrm>
              <a:custGeom>
                <a:avLst/>
                <a:gdLst/>
                <a:ahLst/>
                <a:cxnLst/>
                <a:rect l="l" t="t" r="r" b="b"/>
                <a:pathLst>
                  <a:path w="152408" h="152400">
                    <a:moveTo>
                      <a:pt x="12709" y="149021"/>
                    </a:moveTo>
                    <a:cubicBezTo>
                      <a:pt x="4842" y="144480"/>
                      <a:pt x="0" y="136083"/>
                      <a:pt x="9" y="127000"/>
                    </a:cubicBezTo>
                    <a:lnTo>
                      <a:pt x="9" y="25400"/>
                    </a:lnTo>
                    <a:cubicBezTo>
                      <a:pt x="9" y="11372"/>
                      <a:pt x="11381" y="0"/>
                      <a:pt x="25409" y="0"/>
                    </a:cubicBezTo>
                    <a:lnTo>
                      <a:pt x="127009" y="0"/>
                    </a:lnTo>
                    <a:cubicBezTo>
                      <a:pt x="141037" y="0"/>
                      <a:pt x="152408" y="11372"/>
                      <a:pt x="152408" y="25400"/>
                    </a:cubicBezTo>
                    <a:lnTo>
                      <a:pt x="152408" y="127000"/>
                    </a:lnTo>
                    <a:cubicBezTo>
                      <a:pt x="152408" y="141028"/>
                      <a:pt x="141037" y="152400"/>
                      <a:pt x="127009" y="152400"/>
                    </a:cubicBezTo>
                    <a:lnTo>
                      <a:pt x="88909" y="152400"/>
                    </a:lnTo>
                  </a:path>
                </a:pathLst>
              </a:custGeom>
              <a:noFill/>
              <a:ln w="25400">
                <a:solidFill>
                  <a:srgbClr val="FFFFFF"/>
                </a:solidFill>
              </a:ln>
            </p:spPr>
          </p:sp>
        </p:grpSp>
        <p:sp>
          <p:nvSpPr>
            <p:cNvPr id="36" name="TextBox 36"/>
            <p:cNvSpPr txBox="1"/>
            <p:nvPr/>
          </p:nvSpPr>
          <p:spPr>
            <a:xfrm>
              <a:off x="1155573" y="249126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知识建模层</a:t>
              </a:r>
            </a:p>
          </p:txBody>
        </p:sp>
        <p:sp>
          <p:nvSpPr>
            <p:cNvPr id="37" name="TextBox 37"/>
            <p:cNvSpPr txBox="1"/>
            <p:nvPr/>
          </p:nvSpPr>
          <p:spPr>
            <a:xfrm>
              <a:off x="1157097" y="2771299"/>
              <a:ext cx="125450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DDF1EC"/>
                  </a:solidFill>
                  <a:latin typeface="+mn-lt"/>
                  <a:ea typeface="+mn-ea"/>
                  <a:cs typeface="+mn-cs"/>
                </a:rPr>
                <a:t>工程对象、机理知识与</a:t>
              </a:r>
              <a:br/>
              <a:r>
                <a:rPr lang="zh-CN" sz="980" dirty="0">
                  <a:solidFill>
                    <a:srgbClr val="DDF1EC"/>
                  </a:solidFill>
                  <a:latin typeface="+mn-lt"/>
                  <a:ea typeface="+mn-ea"/>
                  <a:cs typeface="+mn-cs"/>
                </a:rPr>
                <a:t>评估规则版本化</a:t>
              </a:r>
            </a:p>
          </p:txBody>
        </p:sp>
        <p:sp>
          <p:nvSpPr>
            <p:cNvPr id="38" name="Rectangle 38"/>
            <p:cNvSpPr/>
            <p:nvPr/>
          </p:nvSpPr>
          <p:spPr>
            <a:xfrm>
              <a:off x="3067050" y="2428875"/>
              <a:ext cx="2686050" cy="285750"/>
            </a:xfrm>
            <a:prstGeom prst="roundRect">
              <a:avLst>
                <a:gd name="adj" fmla="val 23333"/>
              </a:avLst>
            </a:prstGeom>
            <a:solidFill>
              <a:schemeClr val="lt1"/>
            </a:solidFill>
            <a:ln>
              <a:noFill/>
            </a:ln>
          </p:spPr>
        </p:sp>
        <p:sp>
          <p:nvSpPr>
            <p:cNvPr id="39" name="TextBox 39"/>
            <p:cNvSpPr txBox="1"/>
            <p:nvPr/>
          </p:nvSpPr>
          <p:spPr>
            <a:xfrm>
              <a:off x="4192714" y="2515552"/>
              <a:ext cx="434721"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措施库</a:t>
              </a:r>
            </a:p>
          </p:txBody>
        </p:sp>
        <p:sp>
          <p:nvSpPr>
            <p:cNvPr id="40" name="Rectangle 40"/>
            <p:cNvSpPr/>
            <p:nvPr/>
          </p:nvSpPr>
          <p:spPr>
            <a:xfrm>
              <a:off x="5848350" y="2428875"/>
              <a:ext cx="2686050" cy="285750"/>
            </a:xfrm>
            <a:prstGeom prst="roundRect">
              <a:avLst>
                <a:gd name="adj" fmla="val 23333"/>
              </a:avLst>
            </a:prstGeom>
            <a:solidFill>
              <a:schemeClr val="lt1"/>
            </a:solidFill>
            <a:ln>
              <a:noFill/>
            </a:ln>
          </p:spPr>
        </p:sp>
        <p:sp>
          <p:nvSpPr>
            <p:cNvPr id="41" name="TextBox 41"/>
            <p:cNvSpPr txBox="1"/>
            <p:nvPr/>
          </p:nvSpPr>
          <p:spPr>
            <a:xfrm>
              <a:off x="6549962" y="25155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指标体系与量化标准</a:t>
              </a:r>
            </a:p>
          </p:txBody>
        </p:sp>
        <p:sp>
          <p:nvSpPr>
            <p:cNvPr id="42" name="Rectangle 42"/>
            <p:cNvSpPr/>
            <p:nvPr/>
          </p:nvSpPr>
          <p:spPr>
            <a:xfrm>
              <a:off x="8629650" y="2428875"/>
              <a:ext cx="2838450" cy="285750"/>
            </a:xfrm>
            <a:prstGeom prst="roundRect">
              <a:avLst>
                <a:gd name="adj" fmla="val 23333"/>
              </a:avLst>
            </a:prstGeom>
            <a:solidFill>
              <a:schemeClr val="lt1"/>
            </a:solidFill>
            <a:ln>
              <a:noFill/>
            </a:ln>
          </p:spPr>
        </p:sp>
        <p:sp>
          <p:nvSpPr>
            <p:cNvPr id="43" name="TextBox 43"/>
            <p:cNvSpPr txBox="1"/>
            <p:nvPr/>
          </p:nvSpPr>
          <p:spPr>
            <a:xfrm>
              <a:off x="9548812" y="2515552"/>
              <a:ext cx="1000125"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风险评估标准库</a:t>
              </a:r>
            </a:p>
          </p:txBody>
        </p:sp>
        <p:sp>
          <p:nvSpPr>
            <p:cNvPr id="44" name="Rectangle 44"/>
            <p:cNvSpPr/>
            <p:nvPr/>
          </p:nvSpPr>
          <p:spPr>
            <a:xfrm>
              <a:off x="3067050" y="2790825"/>
              <a:ext cx="2686050" cy="285750"/>
            </a:xfrm>
            <a:prstGeom prst="roundRect">
              <a:avLst>
                <a:gd name="adj" fmla="val 23333"/>
              </a:avLst>
            </a:prstGeom>
            <a:solidFill>
              <a:schemeClr val="lt1"/>
            </a:solidFill>
            <a:ln>
              <a:noFill/>
            </a:ln>
          </p:spPr>
        </p:sp>
        <p:sp>
          <p:nvSpPr>
            <p:cNvPr id="45" name="TextBox 45"/>
            <p:cNvSpPr txBox="1"/>
            <p:nvPr/>
          </p:nvSpPr>
          <p:spPr>
            <a:xfrm>
              <a:off x="4051363" y="2877502"/>
              <a:ext cx="717423"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检索证据库</a:t>
              </a:r>
            </a:p>
          </p:txBody>
        </p:sp>
        <p:sp>
          <p:nvSpPr>
            <p:cNvPr id="46" name="Rectangle 46"/>
            <p:cNvSpPr/>
            <p:nvPr/>
          </p:nvSpPr>
          <p:spPr>
            <a:xfrm>
              <a:off x="5848350" y="2790825"/>
              <a:ext cx="2686050" cy="285750"/>
            </a:xfrm>
            <a:prstGeom prst="roundRect">
              <a:avLst>
                <a:gd name="adj" fmla="val 23333"/>
              </a:avLst>
            </a:prstGeom>
            <a:solidFill>
              <a:schemeClr val="lt1"/>
            </a:solidFill>
            <a:ln>
              <a:noFill/>
            </a:ln>
          </p:spPr>
        </p:sp>
        <p:sp>
          <p:nvSpPr>
            <p:cNvPr id="47" name="TextBox 47"/>
            <p:cNvSpPr txBox="1"/>
            <p:nvPr/>
          </p:nvSpPr>
          <p:spPr>
            <a:xfrm>
              <a:off x="6832664" y="2877502"/>
              <a:ext cx="717423"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风险机理库</a:t>
              </a:r>
            </a:p>
          </p:txBody>
        </p:sp>
        <p:sp>
          <p:nvSpPr>
            <p:cNvPr id="48" name="Rectangle 48"/>
            <p:cNvSpPr/>
            <p:nvPr/>
          </p:nvSpPr>
          <p:spPr>
            <a:xfrm>
              <a:off x="8629650" y="2790825"/>
              <a:ext cx="2838450" cy="285750"/>
            </a:xfrm>
            <a:prstGeom prst="roundRect">
              <a:avLst>
                <a:gd name="adj" fmla="val 23333"/>
              </a:avLst>
            </a:prstGeom>
            <a:solidFill>
              <a:schemeClr val="lt1"/>
            </a:solidFill>
            <a:ln>
              <a:noFill/>
            </a:ln>
          </p:spPr>
        </p:sp>
        <p:sp>
          <p:nvSpPr>
            <p:cNvPr id="49" name="TextBox 49"/>
            <p:cNvSpPr txBox="1"/>
            <p:nvPr/>
          </p:nvSpPr>
          <p:spPr>
            <a:xfrm>
              <a:off x="9266110" y="2877502"/>
              <a:ext cx="1565529"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站隧一体化施工工序模型</a:t>
              </a:r>
            </a:p>
          </p:txBody>
        </p:sp>
      </p:grpSp>
      <p:grpSp>
        <p:nvGrpSpPr>
          <p:cNvPr id="74" name="Group 74"/>
          <p:cNvGrpSpPr/>
          <p:nvPr/>
        </p:nvGrpSpPr>
        <p:grpSpPr>
          <a:xfrm>
            <a:off x="533400" y="3257550"/>
            <a:ext cx="11125200" cy="857250"/>
            <a:chOff x="533400" y="3257550"/>
            <a:chExt cx="11125200" cy="857250"/>
          </a:xfrm>
        </p:grpSpPr>
        <p:sp>
          <p:nvSpPr>
            <p:cNvPr id="51" name="Rectangle 51"/>
            <p:cNvSpPr/>
            <p:nvPr/>
          </p:nvSpPr>
          <p:spPr>
            <a:xfrm>
              <a:off x="533400" y="3257550"/>
              <a:ext cx="11125200" cy="857250"/>
            </a:xfrm>
            <a:prstGeom prst="roundRect">
              <a:avLst>
                <a:gd name="adj" fmla="val 11111"/>
              </a:avLst>
            </a:prstGeom>
            <a:solidFill>
              <a:srgbClr val="FFF7EC"/>
            </a:solidFill>
            <a:ln w="9525">
              <a:solidFill>
                <a:schemeClr val="accent3"/>
              </a:solidFill>
            </a:ln>
          </p:spPr>
        </p:sp>
        <p:sp>
          <p:nvSpPr>
            <p:cNvPr id="52" name="Rectangle 52"/>
            <p:cNvSpPr/>
            <p:nvPr/>
          </p:nvSpPr>
          <p:spPr>
            <a:xfrm>
              <a:off x="533400" y="3257550"/>
              <a:ext cx="2343150" cy="857250"/>
            </a:xfrm>
            <a:prstGeom prst="roundRect">
              <a:avLst>
                <a:gd name="adj" fmla="val 11111"/>
              </a:avLst>
            </a:prstGeom>
            <a:solidFill>
              <a:schemeClr val="accent3"/>
            </a:solidFill>
            <a:ln>
              <a:noFill/>
            </a:ln>
          </p:spPr>
        </p:sp>
        <p:grpSp>
          <p:nvGrpSpPr>
            <p:cNvPr id="59" name="Group 59"/>
            <p:cNvGrpSpPr/>
            <p:nvPr/>
          </p:nvGrpSpPr>
          <p:grpSpPr>
            <a:xfrm>
              <a:off x="762000" y="3505200"/>
              <a:ext cx="228599" cy="228600"/>
              <a:chOff x="762000" y="3505200"/>
              <a:chExt cx="228599" cy="228600"/>
            </a:xfrm>
          </p:grpSpPr>
          <p:sp>
            <p:nvSpPr>
              <p:cNvPr id="53" name="Freeform 53"/>
              <p:cNvSpPr/>
              <p:nvPr/>
            </p:nvSpPr>
            <p:spPr>
              <a:xfrm>
                <a:off x="876300" y="3632200"/>
                <a:ext cx="88900" cy="101600"/>
              </a:xfrm>
              <a:custGeom>
                <a:avLst/>
                <a:gdLst/>
                <a:ahLst/>
                <a:cxnLst/>
                <a:rect l="l" t="t" r="r" b="b"/>
                <a:pathLst>
                  <a:path w="88900" h="101600">
                    <a:moveTo>
                      <a:pt x="44450" y="0"/>
                    </a:moveTo>
                    <a:cubicBezTo>
                      <a:pt x="19901" y="0"/>
                      <a:pt x="0" y="19901"/>
                      <a:pt x="0" y="44450"/>
                    </a:cubicBezTo>
                    <a:lnTo>
                      <a:pt x="0" y="57150"/>
                    </a:lnTo>
                    <a:cubicBezTo>
                      <a:pt x="0" y="81699"/>
                      <a:pt x="19901" y="101600"/>
                      <a:pt x="44450" y="101600"/>
                    </a:cubicBezTo>
                    <a:cubicBezTo>
                      <a:pt x="68999" y="101600"/>
                      <a:pt x="88900" y="81699"/>
                      <a:pt x="88900" y="57150"/>
                    </a:cubicBezTo>
                    <a:lnTo>
                      <a:pt x="88900" y="34290"/>
                    </a:lnTo>
                  </a:path>
                </a:pathLst>
              </a:custGeom>
              <a:noFill/>
              <a:ln w="25400">
                <a:solidFill>
                  <a:srgbClr val="FFFFFF"/>
                </a:solidFill>
              </a:ln>
            </p:spPr>
          </p:sp>
          <p:sp>
            <p:nvSpPr>
              <p:cNvPr id="54" name="Freeform 54"/>
              <p:cNvSpPr/>
              <p:nvPr/>
            </p:nvSpPr>
            <p:spPr>
              <a:xfrm>
                <a:off x="787400" y="3632200"/>
                <a:ext cx="88900" cy="101600"/>
              </a:xfrm>
              <a:custGeom>
                <a:avLst/>
                <a:gdLst/>
                <a:ahLst/>
                <a:cxnLst/>
                <a:rect l="l" t="t" r="r" b="b"/>
                <a:pathLst>
                  <a:path w="88900" h="101600">
                    <a:moveTo>
                      <a:pt x="44450" y="0"/>
                    </a:moveTo>
                    <a:cubicBezTo>
                      <a:pt x="68999" y="0"/>
                      <a:pt x="88900" y="19901"/>
                      <a:pt x="88900" y="44450"/>
                    </a:cubicBezTo>
                    <a:lnTo>
                      <a:pt x="88900" y="57150"/>
                    </a:lnTo>
                    <a:cubicBezTo>
                      <a:pt x="88900" y="81699"/>
                      <a:pt x="68999" y="101600"/>
                      <a:pt x="44450" y="101600"/>
                    </a:cubicBezTo>
                    <a:cubicBezTo>
                      <a:pt x="19901" y="101600"/>
                      <a:pt x="0" y="81699"/>
                      <a:pt x="0" y="57150"/>
                    </a:cubicBezTo>
                    <a:lnTo>
                      <a:pt x="0" y="34290"/>
                    </a:lnTo>
                  </a:path>
                </a:pathLst>
              </a:custGeom>
              <a:noFill/>
              <a:ln w="25400">
                <a:solidFill>
                  <a:srgbClr val="FFFFFF"/>
                </a:solidFill>
              </a:ln>
            </p:spPr>
          </p:sp>
          <p:sp>
            <p:nvSpPr>
              <p:cNvPr id="55" name="Freeform 55"/>
              <p:cNvSpPr/>
              <p:nvPr/>
            </p:nvSpPr>
            <p:spPr>
              <a:xfrm>
                <a:off x="939799" y="3581400"/>
                <a:ext cx="50800" cy="88900"/>
              </a:xfrm>
              <a:custGeom>
                <a:avLst/>
                <a:gdLst/>
                <a:ahLst/>
                <a:cxnLst/>
                <a:rect l="l" t="t" r="r" b="b"/>
                <a:pathLst>
                  <a:path w="50800" h="88900">
                    <a:moveTo>
                      <a:pt x="6350" y="88900"/>
                    </a:moveTo>
                    <a:cubicBezTo>
                      <a:pt x="30899" y="88900"/>
                      <a:pt x="50800" y="68999"/>
                      <a:pt x="50800" y="44450"/>
                    </a:cubicBezTo>
                    <a:cubicBezTo>
                      <a:pt x="50800" y="19901"/>
                      <a:pt x="30899" y="0"/>
                      <a:pt x="6350" y="0"/>
                    </a:cubicBezTo>
                    <a:lnTo>
                      <a:pt x="0" y="0"/>
                    </a:lnTo>
                  </a:path>
                </a:pathLst>
              </a:custGeom>
              <a:noFill/>
              <a:ln w="25400">
                <a:solidFill>
                  <a:srgbClr val="FFFFFF"/>
                </a:solidFill>
              </a:ln>
            </p:spPr>
          </p:sp>
          <p:sp>
            <p:nvSpPr>
              <p:cNvPr id="56" name="Freeform 56"/>
              <p:cNvSpPr/>
              <p:nvPr/>
            </p:nvSpPr>
            <p:spPr>
              <a:xfrm>
                <a:off x="876300" y="3505200"/>
                <a:ext cx="88900" cy="80010"/>
              </a:xfrm>
              <a:custGeom>
                <a:avLst/>
                <a:gdLst/>
                <a:ahLst/>
                <a:cxnLst/>
                <a:rect l="l" t="t" r="r" b="b"/>
                <a:pathLst>
                  <a:path w="88900" h="80010">
                    <a:moveTo>
                      <a:pt x="88900" y="80010"/>
                    </a:moveTo>
                    <a:lnTo>
                      <a:pt x="88900" y="44450"/>
                    </a:lnTo>
                    <a:cubicBezTo>
                      <a:pt x="88900" y="19901"/>
                      <a:pt x="68999" y="0"/>
                      <a:pt x="44450" y="0"/>
                    </a:cubicBezTo>
                    <a:cubicBezTo>
                      <a:pt x="19901" y="0"/>
                      <a:pt x="0" y="19901"/>
                      <a:pt x="0" y="44450"/>
                    </a:cubicBezTo>
                  </a:path>
                </a:pathLst>
              </a:custGeom>
              <a:noFill/>
              <a:ln w="25400">
                <a:solidFill>
                  <a:srgbClr val="FFFFFF"/>
                </a:solidFill>
              </a:ln>
            </p:spPr>
          </p:sp>
          <p:sp>
            <p:nvSpPr>
              <p:cNvPr id="57" name="Freeform 57"/>
              <p:cNvSpPr/>
              <p:nvPr/>
            </p:nvSpPr>
            <p:spPr>
              <a:xfrm>
                <a:off x="762000" y="3581400"/>
                <a:ext cx="50800" cy="88900"/>
              </a:xfrm>
              <a:custGeom>
                <a:avLst/>
                <a:gdLst/>
                <a:ahLst/>
                <a:cxnLst/>
                <a:rect l="l" t="t" r="r" b="b"/>
                <a:pathLst>
                  <a:path w="50800" h="88900">
                    <a:moveTo>
                      <a:pt x="44450" y="88900"/>
                    </a:moveTo>
                    <a:cubicBezTo>
                      <a:pt x="19901" y="88900"/>
                      <a:pt x="0" y="68999"/>
                      <a:pt x="0" y="44450"/>
                    </a:cubicBezTo>
                    <a:cubicBezTo>
                      <a:pt x="0" y="19901"/>
                      <a:pt x="19901" y="0"/>
                      <a:pt x="44450" y="0"/>
                    </a:cubicBezTo>
                    <a:lnTo>
                      <a:pt x="50800" y="0"/>
                    </a:lnTo>
                  </a:path>
                </a:pathLst>
              </a:custGeom>
              <a:noFill/>
              <a:ln w="25400">
                <a:solidFill>
                  <a:srgbClr val="FFFFFF"/>
                </a:solidFill>
              </a:ln>
            </p:spPr>
          </p:sp>
          <p:sp>
            <p:nvSpPr>
              <p:cNvPr id="58" name="Freeform 58"/>
              <p:cNvSpPr/>
              <p:nvPr/>
            </p:nvSpPr>
            <p:spPr>
              <a:xfrm>
                <a:off x="787400" y="3505200"/>
                <a:ext cx="88900" cy="171450"/>
              </a:xfrm>
              <a:custGeom>
                <a:avLst/>
                <a:gdLst/>
                <a:ahLst/>
                <a:cxnLst/>
                <a:rect l="l" t="t" r="r" b="b"/>
                <a:pathLst>
                  <a:path w="88900" h="171450">
                    <a:moveTo>
                      <a:pt x="0" y="80010"/>
                    </a:moveTo>
                    <a:lnTo>
                      <a:pt x="0" y="44450"/>
                    </a:lnTo>
                    <a:cubicBezTo>
                      <a:pt x="0" y="19901"/>
                      <a:pt x="19901" y="0"/>
                      <a:pt x="44450" y="0"/>
                    </a:cubicBezTo>
                    <a:cubicBezTo>
                      <a:pt x="68999" y="0"/>
                      <a:pt x="88900" y="19901"/>
                      <a:pt x="88900" y="44450"/>
                    </a:cubicBezTo>
                    <a:lnTo>
                      <a:pt x="88900" y="171450"/>
                    </a:lnTo>
                  </a:path>
                </a:pathLst>
              </a:custGeom>
              <a:noFill/>
              <a:ln w="25400">
                <a:solidFill>
                  <a:srgbClr val="FFFFFF"/>
                </a:solidFill>
              </a:ln>
            </p:spPr>
          </p:sp>
        </p:grpSp>
        <p:sp>
          <p:nvSpPr>
            <p:cNvPr id="60" name="TextBox 60"/>
            <p:cNvSpPr txBox="1"/>
            <p:nvPr/>
          </p:nvSpPr>
          <p:spPr>
            <a:xfrm>
              <a:off x="1155573" y="342471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智能推理层</a:t>
              </a:r>
            </a:p>
          </p:txBody>
        </p:sp>
        <p:sp>
          <p:nvSpPr>
            <p:cNvPr id="61" name="TextBox 61"/>
            <p:cNvSpPr txBox="1"/>
            <p:nvPr/>
          </p:nvSpPr>
          <p:spPr>
            <a:xfrm>
              <a:off x="1157097" y="3704749"/>
              <a:ext cx="113004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FFF0D8"/>
                  </a:solidFill>
                  <a:latin typeface="+mn-lt"/>
                  <a:ea typeface="+mn-ea"/>
                  <a:cs typeface="+mn-cs"/>
                </a:rPr>
                <a:t>风险识别与风险评估</a:t>
              </a:r>
              <a:br/>
              <a:r>
                <a:rPr lang="zh-CN" sz="980" dirty="0">
                  <a:solidFill>
                    <a:srgbClr val="FFF0D8"/>
                  </a:solidFill>
                  <a:latin typeface="+mn-lt"/>
                  <a:ea typeface="+mn-ea"/>
                  <a:cs typeface="+mn-cs"/>
                </a:rPr>
                <a:t>统一编排</a:t>
              </a:r>
            </a:p>
          </p:txBody>
        </p:sp>
        <p:sp>
          <p:nvSpPr>
            <p:cNvPr id="62" name="Rectangle 62"/>
            <p:cNvSpPr/>
            <p:nvPr/>
          </p:nvSpPr>
          <p:spPr>
            <a:xfrm>
              <a:off x="3067050" y="3362325"/>
              <a:ext cx="2686050" cy="285750"/>
            </a:xfrm>
            <a:prstGeom prst="roundRect">
              <a:avLst>
                <a:gd name="adj" fmla="val 23333"/>
              </a:avLst>
            </a:prstGeom>
            <a:solidFill>
              <a:schemeClr val="lt1"/>
            </a:solidFill>
            <a:ln>
              <a:noFill/>
            </a:ln>
          </p:spPr>
        </p:sp>
        <p:sp>
          <p:nvSpPr>
            <p:cNvPr id="63" name="TextBox 63"/>
            <p:cNvSpPr txBox="1"/>
            <p:nvPr/>
          </p:nvSpPr>
          <p:spPr>
            <a:xfrm>
              <a:off x="3627310" y="3449002"/>
              <a:ext cx="1565529"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预警触发与处置约束校验</a:t>
              </a:r>
            </a:p>
          </p:txBody>
        </p:sp>
        <p:sp>
          <p:nvSpPr>
            <p:cNvPr id="64" name="Rectangle 64"/>
            <p:cNvSpPr/>
            <p:nvPr/>
          </p:nvSpPr>
          <p:spPr>
            <a:xfrm>
              <a:off x="5848350" y="3362325"/>
              <a:ext cx="2686050" cy="285750"/>
            </a:xfrm>
            <a:prstGeom prst="roundRect">
              <a:avLst>
                <a:gd name="adj" fmla="val 23333"/>
              </a:avLst>
            </a:prstGeom>
            <a:solidFill>
              <a:schemeClr val="lt1"/>
            </a:solidFill>
            <a:ln>
              <a:noFill/>
            </a:ln>
          </p:spPr>
        </p:sp>
        <p:sp>
          <p:nvSpPr>
            <p:cNvPr id="65" name="TextBox 65"/>
            <p:cNvSpPr txBox="1"/>
            <p:nvPr/>
          </p:nvSpPr>
          <p:spPr>
            <a:xfrm>
              <a:off x="6144311" y="3449002"/>
              <a:ext cx="2094128"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P/C 确定性评分、风险矩阵映射</a:t>
              </a:r>
            </a:p>
          </p:txBody>
        </p:sp>
        <p:sp>
          <p:nvSpPr>
            <p:cNvPr id="66" name="Rectangle 66"/>
            <p:cNvSpPr/>
            <p:nvPr/>
          </p:nvSpPr>
          <p:spPr>
            <a:xfrm>
              <a:off x="8629650" y="3362325"/>
              <a:ext cx="2838450" cy="285750"/>
            </a:xfrm>
            <a:prstGeom prst="roundRect">
              <a:avLst>
                <a:gd name="adj" fmla="val 23333"/>
              </a:avLst>
            </a:prstGeom>
            <a:solidFill>
              <a:schemeClr val="lt1"/>
            </a:solidFill>
            <a:ln>
              <a:noFill/>
            </a:ln>
          </p:spPr>
        </p:sp>
        <p:sp>
          <p:nvSpPr>
            <p:cNvPr id="67" name="TextBox 67"/>
            <p:cNvSpPr txBox="1"/>
            <p:nvPr/>
          </p:nvSpPr>
          <p:spPr>
            <a:xfrm>
              <a:off x="9760839" y="3449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规则适配</a:t>
              </a:r>
            </a:p>
          </p:txBody>
        </p:sp>
        <p:sp>
          <p:nvSpPr>
            <p:cNvPr id="68" name="Rectangle 68"/>
            <p:cNvSpPr/>
            <p:nvPr/>
          </p:nvSpPr>
          <p:spPr>
            <a:xfrm>
              <a:off x="3067050" y="3724275"/>
              <a:ext cx="2686050" cy="285750"/>
            </a:xfrm>
            <a:prstGeom prst="roundRect">
              <a:avLst>
                <a:gd name="adj" fmla="val 23333"/>
              </a:avLst>
            </a:prstGeom>
            <a:solidFill>
              <a:schemeClr val="lt1"/>
            </a:solidFill>
            <a:ln>
              <a:noFill/>
            </a:ln>
          </p:spPr>
        </p:sp>
        <p:sp>
          <p:nvSpPr>
            <p:cNvPr id="69" name="TextBox 69"/>
            <p:cNvSpPr txBox="1"/>
            <p:nvPr/>
          </p:nvSpPr>
          <p:spPr>
            <a:xfrm>
              <a:off x="3839337" y="38109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结构化与约束校验</a:t>
              </a:r>
            </a:p>
          </p:txBody>
        </p:sp>
        <p:sp>
          <p:nvSpPr>
            <p:cNvPr id="70" name="Rectangle 70"/>
            <p:cNvSpPr/>
            <p:nvPr/>
          </p:nvSpPr>
          <p:spPr>
            <a:xfrm>
              <a:off x="5848350" y="3724275"/>
              <a:ext cx="2686050" cy="285750"/>
            </a:xfrm>
            <a:prstGeom prst="roundRect">
              <a:avLst>
                <a:gd name="adj" fmla="val 23333"/>
              </a:avLst>
            </a:prstGeom>
            <a:solidFill>
              <a:schemeClr val="lt1"/>
            </a:solidFill>
            <a:ln>
              <a:noFill/>
            </a:ln>
          </p:spPr>
        </p:sp>
        <p:sp>
          <p:nvSpPr>
            <p:cNvPr id="71" name="TextBox 71"/>
            <p:cNvSpPr txBox="1"/>
            <p:nvPr/>
          </p:nvSpPr>
          <p:spPr>
            <a:xfrm>
              <a:off x="6549962" y="38109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机理驱动启发式推理</a:t>
              </a:r>
            </a:p>
          </p:txBody>
        </p:sp>
        <p:sp>
          <p:nvSpPr>
            <p:cNvPr id="72" name="Rectangle 72"/>
            <p:cNvSpPr/>
            <p:nvPr/>
          </p:nvSpPr>
          <p:spPr>
            <a:xfrm>
              <a:off x="8629650" y="3724275"/>
              <a:ext cx="2838450" cy="285750"/>
            </a:xfrm>
            <a:prstGeom prst="roundRect">
              <a:avLst>
                <a:gd name="adj" fmla="val 23333"/>
              </a:avLst>
            </a:prstGeom>
            <a:solidFill>
              <a:schemeClr val="lt1"/>
            </a:solidFill>
            <a:ln>
              <a:noFill/>
            </a:ln>
          </p:spPr>
        </p:sp>
        <p:sp>
          <p:nvSpPr>
            <p:cNvPr id="73" name="TextBox 73"/>
            <p:cNvSpPr txBox="1"/>
            <p:nvPr/>
          </p:nvSpPr>
          <p:spPr>
            <a:xfrm>
              <a:off x="9407462" y="38109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混合检索与关系检索</a:t>
              </a:r>
            </a:p>
          </p:txBody>
        </p:sp>
      </p:grpSp>
      <p:grpSp>
        <p:nvGrpSpPr>
          <p:cNvPr id="100" name="Group 100"/>
          <p:cNvGrpSpPr/>
          <p:nvPr/>
        </p:nvGrpSpPr>
        <p:grpSpPr>
          <a:xfrm>
            <a:off x="533400" y="4191000"/>
            <a:ext cx="11125200" cy="857250"/>
            <a:chOff x="533400" y="4191000"/>
            <a:chExt cx="11125200" cy="857250"/>
          </a:xfrm>
        </p:grpSpPr>
        <p:sp>
          <p:nvSpPr>
            <p:cNvPr id="75" name="Rectangle 75"/>
            <p:cNvSpPr/>
            <p:nvPr/>
          </p:nvSpPr>
          <p:spPr>
            <a:xfrm>
              <a:off x="533400" y="4191000"/>
              <a:ext cx="11125200" cy="857250"/>
            </a:xfrm>
            <a:prstGeom prst="roundRect">
              <a:avLst>
                <a:gd name="adj" fmla="val 11111"/>
              </a:avLst>
            </a:prstGeom>
            <a:solidFill>
              <a:srgbClr val="F3F0FA"/>
            </a:solidFill>
            <a:ln w="9525">
              <a:solidFill>
                <a:srgbClr val="6A52A3"/>
              </a:solidFill>
            </a:ln>
          </p:spPr>
        </p:sp>
        <p:sp>
          <p:nvSpPr>
            <p:cNvPr id="76" name="Rectangle 76"/>
            <p:cNvSpPr/>
            <p:nvPr/>
          </p:nvSpPr>
          <p:spPr>
            <a:xfrm>
              <a:off x="533400" y="4191000"/>
              <a:ext cx="2343150" cy="857250"/>
            </a:xfrm>
            <a:prstGeom prst="roundRect">
              <a:avLst>
                <a:gd name="adj" fmla="val 11111"/>
              </a:avLst>
            </a:prstGeom>
            <a:solidFill>
              <a:srgbClr val="6A52A3"/>
            </a:solidFill>
            <a:ln>
              <a:noFill/>
            </a:ln>
          </p:spPr>
        </p:sp>
        <p:grpSp>
          <p:nvGrpSpPr>
            <p:cNvPr id="85" name="Group 85"/>
            <p:cNvGrpSpPr/>
            <p:nvPr/>
          </p:nvGrpSpPr>
          <p:grpSpPr>
            <a:xfrm>
              <a:off x="762000" y="4438650"/>
              <a:ext cx="228600" cy="241299"/>
              <a:chOff x="762000" y="4438650"/>
              <a:chExt cx="228600" cy="241299"/>
            </a:xfrm>
          </p:grpSpPr>
          <p:sp>
            <p:nvSpPr>
              <p:cNvPr id="77" name="Freeform 77"/>
              <p:cNvSpPr/>
              <p:nvPr/>
            </p:nvSpPr>
            <p:spPr>
              <a:xfrm>
                <a:off x="800100" y="443865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25400">
                <a:solidFill>
                  <a:srgbClr val="FFFFFF"/>
                </a:solidFill>
              </a:ln>
            </p:spPr>
          </p:sp>
          <p:sp>
            <p:nvSpPr>
              <p:cNvPr id="78" name="Freeform 78"/>
              <p:cNvSpPr/>
              <p:nvPr/>
            </p:nvSpPr>
            <p:spPr>
              <a:xfrm>
                <a:off x="876300" y="4438650"/>
                <a:ext cx="25400" cy="152400"/>
              </a:xfrm>
              <a:custGeom>
                <a:avLst/>
                <a:gdLst/>
                <a:ahLst/>
                <a:cxnLst/>
                <a:rect l="l" t="t" r="r" b="b"/>
                <a:pathLst>
                  <a:path w="25400" h="152400">
                    <a:moveTo>
                      <a:pt x="0" y="0"/>
                    </a:moveTo>
                    <a:cubicBezTo>
                      <a:pt x="16929" y="4229"/>
                      <a:pt x="25400" y="29629"/>
                      <a:pt x="25400" y="76200"/>
                    </a:cubicBezTo>
                    <a:cubicBezTo>
                      <a:pt x="25400" y="122771"/>
                      <a:pt x="16929" y="148171"/>
                      <a:pt x="0" y="152400"/>
                    </a:cubicBezTo>
                  </a:path>
                </a:pathLst>
              </a:custGeom>
              <a:noFill/>
              <a:ln w="25400">
                <a:solidFill>
                  <a:srgbClr val="FFFFFF"/>
                </a:solidFill>
              </a:ln>
            </p:spPr>
          </p:sp>
          <p:sp>
            <p:nvSpPr>
              <p:cNvPr id="79" name="Freeform 79"/>
              <p:cNvSpPr/>
              <p:nvPr/>
            </p:nvSpPr>
            <p:spPr>
              <a:xfrm>
                <a:off x="850900" y="4438650"/>
                <a:ext cx="25400" cy="152400"/>
              </a:xfrm>
              <a:custGeom>
                <a:avLst/>
                <a:gdLst/>
                <a:ahLst/>
                <a:cxnLst/>
                <a:rect l="l" t="t" r="r" b="b"/>
                <a:pathLst>
                  <a:path w="25400" h="152400">
                    <a:moveTo>
                      <a:pt x="25400" y="0"/>
                    </a:moveTo>
                    <a:cubicBezTo>
                      <a:pt x="8471" y="4229"/>
                      <a:pt x="0" y="29629"/>
                      <a:pt x="0" y="76200"/>
                    </a:cubicBezTo>
                    <a:cubicBezTo>
                      <a:pt x="0" y="122771"/>
                      <a:pt x="8471" y="148171"/>
                      <a:pt x="25400" y="152400"/>
                    </a:cubicBezTo>
                  </a:path>
                </a:pathLst>
              </a:custGeom>
              <a:noFill/>
              <a:ln w="25400">
                <a:solidFill>
                  <a:srgbClr val="FFFFFF"/>
                </a:solidFill>
              </a:ln>
            </p:spPr>
          </p:sp>
          <p:sp>
            <p:nvSpPr>
              <p:cNvPr id="80" name="Freeform 80"/>
              <p:cNvSpPr/>
              <p:nvPr/>
            </p:nvSpPr>
            <p:spPr>
              <a:xfrm>
                <a:off x="800100" y="4514850"/>
                <a:ext cx="152400" cy="9525"/>
              </a:xfrm>
              <a:custGeom>
                <a:avLst/>
                <a:gdLst/>
                <a:ahLst/>
                <a:cxnLst/>
                <a:rect l="l" t="t" r="r" b="b"/>
                <a:pathLst>
                  <a:path w="152400" h="9525">
                    <a:moveTo>
                      <a:pt x="0" y="0"/>
                    </a:moveTo>
                    <a:lnTo>
                      <a:pt x="152400" y="0"/>
                    </a:lnTo>
                  </a:path>
                </a:pathLst>
              </a:custGeom>
              <a:noFill/>
              <a:ln w="25400">
                <a:solidFill>
                  <a:srgbClr val="FFFFFF"/>
                </a:solidFill>
              </a:ln>
            </p:spPr>
          </p:sp>
          <p:sp>
            <p:nvSpPr>
              <p:cNvPr id="81" name="Freeform 81"/>
              <p:cNvSpPr/>
              <p:nvPr/>
            </p:nvSpPr>
            <p:spPr>
              <a:xfrm>
                <a:off x="762000" y="4654549"/>
                <a:ext cx="88900" cy="9525"/>
              </a:xfrm>
              <a:custGeom>
                <a:avLst/>
                <a:gdLst/>
                <a:ahLst/>
                <a:cxnLst/>
                <a:rect l="l" t="t" r="r" b="b"/>
                <a:pathLst>
                  <a:path w="88900" h="9525">
                    <a:moveTo>
                      <a:pt x="0" y="0"/>
                    </a:moveTo>
                    <a:lnTo>
                      <a:pt x="88900" y="0"/>
                    </a:lnTo>
                  </a:path>
                </a:pathLst>
              </a:custGeom>
              <a:noFill/>
              <a:ln w="25400">
                <a:solidFill>
                  <a:srgbClr val="FFFFFF"/>
                </a:solidFill>
              </a:ln>
            </p:spPr>
          </p:sp>
          <p:sp>
            <p:nvSpPr>
              <p:cNvPr id="82" name="Freeform 82"/>
              <p:cNvSpPr/>
              <p:nvPr/>
            </p:nvSpPr>
            <p:spPr>
              <a:xfrm>
                <a:off x="901700" y="4654549"/>
                <a:ext cx="88900" cy="9525"/>
              </a:xfrm>
              <a:custGeom>
                <a:avLst/>
                <a:gdLst/>
                <a:ahLst/>
                <a:cxnLst/>
                <a:rect l="l" t="t" r="r" b="b"/>
                <a:pathLst>
                  <a:path w="88900" h="9525">
                    <a:moveTo>
                      <a:pt x="0" y="0"/>
                    </a:moveTo>
                    <a:lnTo>
                      <a:pt x="88900" y="0"/>
                    </a:lnTo>
                  </a:path>
                </a:pathLst>
              </a:custGeom>
              <a:noFill/>
              <a:ln w="25400">
                <a:solidFill>
                  <a:srgbClr val="FFFFFF"/>
                </a:solidFill>
              </a:ln>
            </p:spPr>
          </p:sp>
          <p:sp>
            <p:nvSpPr>
              <p:cNvPr id="83" name="Freeform 83"/>
              <p:cNvSpPr/>
              <p:nvPr/>
            </p:nvSpPr>
            <p:spPr>
              <a:xfrm>
                <a:off x="850900" y="462914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FFFF"/>
                </a:solidFill>
              </a:ln>
            </p:spPr>
          </p:sp>
          <p:sp>
            <p:nvSpPr>
              <p:cNvPr id="84" name="Freeform 84"/>
              <p:cNvSpPr/>
              <p:nvPr/>
            </p:nvSpPr>
            <p:spPr>
              <a:xfrm>
                <a:off x="876300" y="4591050"/>
                <a:ext cx="9525" cy="38100"/>
              </a:xfrm>
              <a:custGeom>
                <a:avLst/>
                <a:gdLst/>
                <a:ahLst/>
                <a:cxnLst/>
                <a:rect l="l" t="t" r="r" b="b"/>
                <a:pathLst>
                  <a:path w="9525" h="38100">
                    <a:moveTo>
                      <a:pt x="0" y="0"/>
                    </a:moveTo>
                    <a:lnTo>
                      <a:pt x="0" y="38100"/>
                    </a:lnTo>
                  </a:path>
                </a:pathLst>
              </a:custGeom>
              <a:noFill/>
              <a:ln w="25400">
                <a:solidFill>
                  <a:srgbClr val="FFFFFF"/>
                </a:solidFill>
              </a:ln>
            </p:spPr>
          </p:sp>
        </p:grpSp>
        <p:sp>
          <p:nvSpPr>
            <p:cNvPr id="86" name="TextBox 86"/>
            <p:cNvSpPr txBox="1"/>
            <p:nvPr/>
          </p:nvSpPr>
          <p:spPr>
            <a:xfrm>
              <a:off x="1155573" y="435816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应用输出层</a:t>
              </a:r>
            </a:p>
          </p:txBody>
        </p:sp>
        <p:sp>
          <p:nvSpPr>
            <p:cNvPr id="87" name="TextBox 87"/>
            <p:cNvSpPr txBox="1"/>
            <p:nvPr/>
          </p:nvSpPr>
          <p:spPr>
            <a:xfrm>
              <a:off x="1157097" y="4638199"/>
              <a:ext cx="125450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E9E2F7"/>
                  </a:solidFill>
                  <a:latin typeface="+mn-lt"/>
                  <a:ea typeface="+mn-ea"/>
                  <a:cs typeface="+mn-cs"/>
                </a:rPr>
                <a:t>业务结果、人工复核与</a:t>
              </a:r>
              <a:br/>
              <a:r>
                <a:rPr lang="zh-CN" sz="980" dirty="0">
                  <a:solidFill>
                    <a:srgbClr val="E9E2F7"/>
                  </a:solidFill>
                  <a:latin typeface="+mn-lt"/>
                  <a:ea typeface="+mn-ea"/>
                  <a:cs typeface="+mn-cs"/>
                </a:rPr>
                <a:t>端到端追溯</a:t>
              </a:r>
            </a:p>
          </p:txBody>
        </p:sp>
        <p:sp>
          <p:nvSpPr>
            <p:cNvPr id="88" name="Rectangle 88"/>
            <p:cNvSpPr/>
            <p:nvPr/>
          </p:nvSpPr>
          <p:spPr>
            <a:xfrm>
              <a:off x="3067050" y="4295775"/>
              <a:ext cx="2686050" cy="285750"/>
            </a:xfrm>
            <a:prstGeom prst="roundRect">
              <a:avLst>
                <a:gd name="adj" fmla="val 23333"/>
              </a:avLst>
            </a:prstGeom>
            <a:solidFill>
              <a:schemeClr val="lt1"/>
            </a:solidFill>
            <a:ln>
              <a:noFill/>
            </a:ln>
          </p:spPr>
        </p:sp>
        <p:sp>
          <p:nvSpPr>
            <p:cNvPr id="89" name="TextBox 89"/>
            <p:cNvSpPr txBox="1"/>
            <p:nvPr/>
          </p:nvSpPr>
          <p:spPr>
            <a:xfrm>
              <a:off x="3768662" y="43824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偏差记录与校准建议</a:t>
              </a:r>
            </a:p>
          </p:txBody>
        </p:sp>
        <p:sp>
          <p:nvSpPr>
            <p:cNvPr id="90" name="Rectangle 90"/>
            <p:cNvSpPr/>
            <p:nvPr/>
          </p:nvSpPr>
          <p:spPr>
            <a:xfrm>
              <a:off x="5848350" y="4295775"/>
              <a:ext cx="2686050" cy="285750"/>
            </a:xfrm>
            <a:prstGeom prst="roundRect">
              <a:avLst>
                <a:gd name="adj" fmla="val 23333"/>
              </a:avLst>
            </a:prstGeom>
            <a:solidFill>
              <a:schemeClr val="lt1"/>
            </a:solidFill>
            <a:ln>
              <a:noFill/>
            </a:ln>
          </p:spPr>
        </p:sp>
        <p:sp>
          <p:nvSpPr>
            <p:cNvPr id="91" name="TextBox 91"/>
            <p:cNvSpPr txBox="1"/>
            <p:nvPr/>
          </p:nvSpPr>
          <p:spPr>
            <a:xfrm>
              <a:off x="6903339" y="43824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处置建议</a:t>
              </a:r>
            </a:p>
          </p:txBody>
        </p:sp>
        <p:sp>
          <p:nvSpPr>
            <p:cNvPr id="92" name="Rectangle 92"/>
            <p:cNvSpPr/>
            <p:nvPr/>
          </p:nvSpPr>
          <p:spPr>
            <a:xfrm>
              <a:off x="8629650" y="4295775"/>
              <a:ext cx="2838450" cy="285750"/>
            </a:xfrm>
            <a:prstGeom prst="roundRect">
              <a:avLst>
                <a:gd name="adj" fmla="val 23333"/>
              </a:avLst>
            </a:prstGeom>
            <a:solidFill>
              <a:schemeClr val="lt1"/>
            </a:solidFill>
            <a:ln>
              <a:noFill/>
            </a:ln>
          </p:spPr>
        </p:sp>
        <p:sp>
          <p:nvSpPr>
            <p:cNvPr id="93" name="TextBox 93"/>
            <p:cNvSpPr txBox="1"/>
            <p:nvPr/>
          </p:nvSpPr>
          <p:spPr>
            <a:xfrm>
              <a:off x="9760839" y="43824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预警信息</a:t>
              </a:r>
            </a:p>
          </p:txBody>
        </p:sp>
        <p:sp>
          <p:nvSpPr>
            <p:cNvPr id="94" name="Rectangle 94"/>
            <p:cNvSpPr/>
            <p:nvPr/>
          </p:nvSpPr>
          <p:spPr>
            <a:xfrm>
              <a:off x="3067050" y="4657725"/>
              <a:ext cx="2686050" cy="285750"/>
            </a:xfrm>
            <a:prstGeom prst="roundRect">
              <a:avLst>
                <a:gd name="adj" fmla="val 23333"/>
              </a:avLst>
            </a:prstGeom>
            <a:solidFill>
              <a:schemeClr val="lt1"/>
            </a:solidFill>
            <a:ln>
              <a:noFill/>
            </a:ln>
          </p:spPr>
        </p:sp>
        <p:sp>
          <p:nvSpPr>
            <p:cNvPr id="95" name="TextBox 95"/>
            <p:cNvSpPr txBox="1"/>
            <p:nvPr/>
          </p:nvSpPr>
          <p:spPr>
            <a:xfrm>
              <a:off x="3980688" y="47444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风险评估记录</a:t>
              </a:r>
            </a:p>
          </p:txBody>
        </p:sp>
        <p:sp>
          <p:nvSpPr>
            <p:cNvPr id="96" name="Rectangle 96"/>
            <p:cNvSpPr/>
            <p:nvPr/>
          </p:nvSpPr>
          <p:spPr>
            <a:xfrm>
              <a:off x="5848350" y="4657725"/>
              <a:ext cx="2686050" cy="285750"/>
            </a:xfrm>
            <a:prstGeom prst="roundRect">
              <a:avLst>
                <a:gd name="adj" fmla="val 23333"/>
              </a:avLst>
            </a:prstGeom>
            <a:solidFill>
              <a:schemeClr val="lt1"/>
            </a:solidFill>
            <a:ln>
              <a:noFill/>
            </a:ln>
          </p:spPr>
        </p:sp>
        <p:sp>
          <p:nvSpPr>
            <p:cNvPr id="97" name="TextBox 97"/>
            <p:cNvSpPr txBox="1"/>
            <p:nvPr/>
          </p:nvSpPr>
          <p:spPr>
            <a:xfrm>
              <a:off x="6620637" y="474440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工序风险关联图谱</a:t>
              </a:r>
            </a:p>
          </p:txBody>
        </p:sp>
        <p:sp>
          <p:nvSpPr>
            <p:cNvPr id="98" name="Rectangle 98"/>
            <p:cNvSpPr/>
            <p:nvPr/>
          </p:nvSpPr>
          <p:spPr>
            <a:xfrm>
              <a:off x="8629650" y="4657725"/>
              <a:ext cx="2838450" cy="285750"/>
            </a:xfrm>
            <a:prstGeom prst="roundRect">
              <a:avLst>
                <a:gd name="adj" fmla="val 23333"/>
              </a:avLst>
            </a:prstGeom>
            <a:solidFill>
              <a:schemeClr val="lt1"/>
            </a:solidFill>
            <a:ln>
              <a:noFill/>
            </a:ln>
          </p:spPr>
        </p:sp>
        <p:sp>
          <p:nvSpPr>
            <p:cNvPr id="99" name="TextBox 99"/>
            <p:cNvSpPr txBox="1"/>
            <p:nvPr/>
          </p:nvSpPr>
          <p:spPr>
            <a:xfrm>
              <a:off x="9548812" y="4744402"/>
              <a:ext cx="1000125"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标准化风险记录</a:t>
              </a:r>
            </a:p>
          </p:txBody>
        </p:sp>
      </p:grpSp>
      <p:grpSp>
        <p:nvGrpSpPr>
          <p:cNvPr id="113" name="Group 113"/>
          <p:cNvGrpSpPr/>
          <p:nvPr/>
        </p:nvGrpSpPr>
        <p:grpSpPr>
          <a:xfrm>
            <a:off x="533400" y="5181600"/>
            <a:ext cx="11125200" cy="838200"/>
            <a:chOff x="533400" y="5181600"/>
            <a:chExt cx="11125200" cy="838200"/>
          </a:xfrm>
        </p:grpSpPr>
        <p:sp>
          <p:nvSpPr>
            <p:cNvPr id="101" name="Rectangle 101"/>
            <p:cNvSpPr/>
            <p:nvPr/>
          </p:nvSpPr>
          <p:spPr>
            <a:xfrm>
              <a:off x="533400" y="5181600"/>
              <a:ext cx="2667000" cy="838200"/>
            </a:xfrm>
            <a:prstGeom prst="roundRect">
              <a:avLst>
                <a:gd name="adj" fmla="val 11364"/>
              </a:avLst>
            </a:prstGeom>
            <a:solidFill>
              <a:schemeClr val="lt2"/>
            </a:solidFill>
            <a:ln>
              <a:noFill/>
            </a:ln>
          </p:spPr>
        </p:sp>
        <p:sp>
          <p:nvSpPr>
            <p:cNvPr id="102" name="TextBox 102"/>
            <p:cNvSpPr txBox="1"/>
            <p:nvPr/>
          </p:nvSpPr>
          <p:spPr>
            <a:xfrm>
              <a:off x="718185" y="5307806"/>
              <a:ext cx="614528" cy="220028"/>
            </a:xfrm>
            <a:prstGeom prst="rect">
              <a:avLst/>
            </a:prstGeom>
            <a:noFill/>
            <a:ln>
              <a:noFill/>
            </a:ln>
          </p:spPr>
          <p:txBody>
            <a:bodyPr wrap="none" lIns="0" tIns="0" rIns="0" bIns="0" anchor="t" anchorCtr="0">
              <a:spAutoFit/>
            </a:bodyPr>
            <a:lstStyle/>
            <a:p>
              <a:pPr algn="l"/>
              <a:r>
                <a:rPr lang="zh-CN" sz="1120" b="1" dirty="0">
                  <a:solidFill>
                    <a:schemeClr val="accent2"/>
                  </a:solidFill>
                  <a:latin typeface="+mn-lt"/>
                  <a:ea typeface="+mn-ea"/>
                  <a:cs typeface="+mn-cs"/>
                </a:rPr>
                <a:t>对象贯通</a:t>
              </a:r>
            </a:p>
          </p:txBody>
        </p:sp>
        <p:sp>
          <p:nvSpPr>
            <p:cNvPr id="103" name="TextBox 103"/>
            <p:cNvSpPr txBox="1"/>
            <p:nvPr/>
          </p:nvSpPr>
          <p:spPr>
            <a:xfrm>
              <a:off x="718947" y="5571649"/>
              <a:ext cx="1876806"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工序节点、风险因素、风险事件与</a:t>
              </a:r>
              <a:br/>
              <a:r>
                <a:rPr lang="zh-CN" sz="980" dirty="0">
                  <a:solidFill>
                    <a:schemeClr val="dk1"/>
                  </a:solidFill>
                  <a:latin typeface="+mn-lt"/>
                  <a:ea typeface="+mn-ea"/>
                  <a:cs typeface="+mn-cs"/>
                </a:rPr>
                <a:t>证据片段统一编号</a:t>
              </a:r>
            </a:p>
          </p:txBody>
        </p:sp>
        <p:sp>
          <p:nvSpPr>
            <p:cNvPr id="104" name="Rectangle 104"/>
            <p:cNvSpPr/>
            <p:nvPr/>
          </p:nvSpPr>
          <p:spPr>
            <a:xfrm>
              <a:off x="3352800" y="5181600"/>
              <a:ext cx="2667000" cy="838200"/>
            </a:xfrm>
            <a:prstGeom prst="roundRect">
              <a:avLst>
                <a:gd name="adj" fmla="val 11364"/>
              </a:avLst>
            </a:prstGeom>
            <a:solidFill>
              <a:srgbClr val="EEF7F4"/>
            </a:solidFill>
            <a:ln>
              <a:noFill/>
            </a:ln>
          </p:spPr>
        </p:sp>
        <p:sp>
          <p:nvSpPr>
            <p:cNvPr id="105" name="TextBox 105"/>
            <p:cNvSpPr txBox="1"/>
            <p:nvPr/>
          </p:nvSpPr>
          <p:spPr>
            <a:xfrm>
              <a:off x="3537585" y="5307806"/>
              <a:ext cx="765302" cy="220028"/>
            </a:xfrm>
            <a:prstGeom prst="rect">
              <a:avLst/>
            </a:prstGeom>
            <a:noFill/>
            <a:ln>
              <a:noFill/>
            </a:ln>
          </p:spPr>
          <p:txBody>
            <a:bodyPr wrap="none" lIns="0" tIns="0" rIns="0" bIns="0" anchor="t" anchorCtr="0">
              <a:spAutoFit/>
            </a:bodyPr>
            <a:lstStyle/>
            <a:p>
              <a:pPr algn="l"/>
              <a:r>
                <a:rPr lang="zh-CN" sz="1120" b="1" dirty="0">
                  <a:solidFill>
                    <a:schemeClr val="accent2"/>
                  </a:solidFill>
                  <a:latin typeface="+mn-lt"/>
                  <a:ea typeface="+mn-ea"/>
                  <a:cs typeface="+mn-cs"/>
                </a:rPr>
                <a:t>机理与证据</a:t>
              </a:r>
            </a:p>
          </p:txBody>
        </p:sp>
        <p:sp>
          <p:nvSpPr>
            <p:cNvPr id="106" name="TextBox 106"/>
            <p:cNvSpPr txBox="1"/>
            <p:nvPr/>
          </p:nvSpPr>
          <p:spPr>
            <a:xfrm>
              <a:off x="3538347" y="5571649"/>
              <a:ext cx="1627886"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机理链条固化为可检索知识，</a:t>
              </a:r>
              <a:br/>
              <a:r>
                <a:rPr lang="zh-CN" sz="980" dirty="0">
                  <a:solidFill>
                    <a:schemeClr val="dk1"/>
                  </a:solidFill>
                  <a:latin typeface="+mn-lt"/>
                  <a:ea typeface="+mn-ea"/>
                  <a:cs typeface="+mn-cs"/>
                </a:rPr>
                <a:t>资料来源和模型置信度可追溯</a:t>
              </a:r>
            </a:p>
          </p:txBody>
        </p:sp>
        <p:sp>
          <p:nvSpPr>
            <p:cNvPr id="107" name="Rectangle 107"/>
            <p:cNvSpPr/>
            <p:nvPr/>
          </p:nvSpPr>
          <p:spPr>
            <a:xfrm>
              <a:off x="6172200" y="5181600"/>
              <a:ext cx="2667000" cy="838200"/>
            </a:xfrm>
            <a:prstGeom prst="roundRect">
              <a:avLst>
                <a:gd name="adj" fmla="val 11364"/>
              </a:avLst>
            </a:prstGeom>
            <a:solidFill>
              <a:schemeClr val="lt2"/>
            </a:solidFill>
            <a:ln>
              <a:noFill/>
            </a:ln>
          </p:spPr>
        </p:sp>
        <p:sp>
          <p:nvSpPr>
            <p:cNvPr id="108" name="TextBox 108"/>
            <p:cNvSpPr txBox="1"/>
            <p:nvPr/>
          </p:nvSpPr>
          <p:spPr>
            <a:xfrm>
              <a:off x="6356985" y="5307806"/>
              <a:ext cx="765302"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确定性边界</a:t>
              </a:r>
            </a:p>
          </p:txBody>
        </p:sp>
        <p:sp>
          <p:nvSpPr>
            <p:cNvPr id="109" name="TextBox 109"/>
            <p:cNvSpPr txBox="1"/>
            <p:nvPr/>
          </p:nvSpPr>
          <p:spPr>
            <a:xfrm>
              <a:off x="6357747" y="5571649"/>
              <a:ext cx="1584325"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P/C、矩阵、阈值和业务入库</a:t>
              </a:r>
              <a:br/>
              <a:r>
                <a:rPr lang="zh-CN" sz="980" dirty="0">
                  <a:solidFill>
                    <a:schemeClr val="dk1"/>
                  </a:solidFill>
                  <a:latin typeface="+mn-lt"/>
                  <a:ea typeface="+mn-ea"/>
                  <a:cs typeface="+mn-cs"/>
                </a:rPr>
                <a:t>不由大模型决定</a:t>
              </a:r>
            </a:p>
          </p:txBody>
        </p:sp>
        <p:sp>
          <p:nvSpPr>
            <p:cNvPr id="110" name="Rectangle 110"/>
            <p:cNvSpPr/>
            <p:nvPr/>
          </p:nvSpPr>
          <p:spPr>
            <a:xfrm>
              <a:off x="8991600" y="5181600"/>
              <a:ext cx="2667000" cy="838200"/>
            </a:xfrm>
            <a:prstGeom prst="roundRect">
              <a:avLst>
                <a:gd name="adj" fmla="val 11364"/>
              </a:avLst>
            </a:prstGeom>
            <a:solidFill>
              <a:srgbClr val="FFF7EC"/>
            </a:solidFill>
            <a:ln>
              <a:noFill/>
            </a:ln>
          </p:spPr>
        </p:sp>
        <p:sp>
          <p:nvSpPr>
            <p:cNvPr id="111" name="TextBox 111"/>
            <p:cNvSpPr txBox="1"/>
            <p:nvPr/>
          </p:nvSpPr>
          <p:spPr>
            <a:xfrm>
              <a:off x="9176385" y="5307806"/>
              <a:ext cx="1066851" cy="220028"/>
            </a:xfrm>
            <a:prstGeom prst="rect">
              <a:avLst/>
            </a:prstGeom>
            <a:noFill/>
            <a:ln>
              <a:noFill/>
            </a:ln>
          </p:spPr>
          <p:txBody>
            <a:bodyPr wrap="none" lIns="0" tIns="0" rIns="0" bIns="0" anchor="t" anchorCtr="0">
              <a:spAutoFit/>
            </a:bodyPr>
            <a:lstStyle/>
            <a:p>
              <a:pPr algn="l"/>
              <a:r>
                <a:rPr lang="zh-CN" sz="1120" b="1" dirty="0">
                  <a:solidFill>
                    <a:schemeClr val="accent3"/>
                  </a:solidFill>
                  <a:latin typeface="+mn-lt"/>
                  <a:ea typeface="+mn-ea"/>
                  <a:cs typeface="+mn-cs"/>
                </a:rPr>
                <a:t>动态入库与复核</a:t>
              </a:r>
            </a:p>
          </p:txBody>
        </p:sp>
        <p:sp>
          <p:nvSpPr>
            <p:cNvPr id="112" name="TextBox 112"/>
            <p:cNvSpPr txBox="1"/>
            <p:nvPr/>
          </p:nvSpPr>
          <p:spPr>
            <a:xfrm>
              <a:off x="9177147" y="5571649"/>
              <a:ext cx="1627886"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结果写入工序风险关联图谱，</a:t>
              </a:r>
              <a:br/>
              <a:r>
                <a:rPr lang="zh-CN" sz="980" dirty="0">
                  <a:solidFill>
                    <a:schemeClr val="dk1"/>
                  </a:solidFill>
                  <a:latin typeface="+mn-lt"/>
                  <a:ea typeface="+mn-ea"/>
                  <a:cs typeface="+mn-cs"/>
                </a:rPr>
                <a:t>异常场景显式暂停等待审核</a:t>
              </a:r>
            </a:p>
          </p:txBody>
        </p:sp>
      </p:grpSp>
      <p:grpSp>
        <p:nvGrpSpPr>
          <p:cNvPr id="116" name="Group 116"/>
          <p:cNvGrpSpPr/>
          <p:nvPr/>
        </p:nvGrpSpPr>
        <p:grpSpPr>
          <a:xfrm>
            <a:off x="528638" y="6311741"/>
            <a:ext cx="11134724" cy="161925"/>
            <a:chOff x="528638" y="6311741"/>
            <a:chExt cx="11134724" cy="161925"/>
          </a:xfrm>
        </p:grpSpPr>
        <p:sp>
          <p:nvSpPr>
            <p:cNvPr id="114" name="TextBox 114"/>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115" name="TextBox 115"/>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8" name="Group 8"/>
          <p:cNvGrpSpPr/>
          <p:nvPr/>
        </p:nvGrpSpPr>
        <p:grpSpPr>
          <a:xfrm>
            <a:off x="523875" y="921544"/>
            <a:ext cx="5639989" cy="561117"/>
            <a:chOff x="523875" y="921544"/>
            <a:chExt cx="5639989" cy="561117"/>
          </a:xfrm>
        </p:grpSpPr>
        <p:sp>
          <p:nvSpPr>
            <p:cNvPr id="6" name="TextBox 6"/>
            <p:cNvSpPr txBox="1"/>
            <p:nvPr/>
          </p:nvSpPr>
          <p:spPr>
            <a:xfrm>
              <a:off x="523875" y="921544"/>
              <a:ext cx="4853319"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Agent、确定性计算与人工决策的职责边界</a:t>
              </a:r>
            </a:p>
          </p:txBody>
        </p:sp>
        <p:sp>
          <p:nvSpPr>
            <p:cNvPr id="7" name="TextBox 7"/>
            <p:cNvSpPr txBox="1"/>
            <p:nvPr/>
          </p:nvSpPr>
          <p:spPr>
            <a:xfrm>
              <a:off x="528066" y="1277302"/>
              <a:ext cx="5635798"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五类必经 Agent 任务聚焦语义判断；计算、校验、发布和采纳均由受控模块或人工完成。</a:t>
              </a:r>
            </a:p>
          </p:txBody>
        </p:sp>
      </p:grpSp>
      <p:grpSp>
        <p:nvGrpSpPr>
          <p:cNvPr id="12" name="Group 12"/>
          <p:cNvGrpSpPr/>
          <p:nvPr/>
        </p:nvGrpSpPr>
        <p:grpSpPr>
          <a:xfrm>
            <a:off x="533400" y="1562100"/>
            <a:ext cx="11125200" cy="647700"/>
            <a:chOff x="533400" y="1562100"/>
            <a:chExt cx="11125200" cy="647700"/>
          </a:xfrm>
        </p:grpSpPr>
        <p:sp>
          <p:nvSpPr>
            <p:cNvPr id="9" name="Rectangle 9"/>
            <p:cNvSpPr/>
            <p:nvPr/>
          </p:nvSpPr>
          <p:spPr>
            <a:xfrm>
              <a:off x="533400" y="1562100"/>
              <a:ext cx="11125200" cy="647700"/>
            </a:xfrm>
            <a:prstGeom prst="roundRect">
              <a:avLst>
                <a:gd name="adj" fmla="val 14706"/>
              </a:avLst>
            </a:prstGeom>
            <a:solidFill>
              <a:srgbClr val="FFF7EC"/>
            </a:solidFill>
            <a:ln>
              <a:noFill/>
            </a:ln>
          </p:spPr>
        </p:sp>
        <p:sp>
          <p:nvSpPr>
            <p:cNvPr id="10" name="TextBox 10"/>
            <p:cNvSpPr txBox="1"/>
            <p:nvPr/>
          </p:nvSpPr>
          <p:spPr>
            <a:xfrm>
              <a:off x="736854" y="1842135"/>
              <a:ext cx="1143000"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统一任务契约：</a:t>
              </a:r>
            </a:p>
          </p:txBody>
        </p:sp>
        <p:sp>
          <p:nvSpPr>
            <p:cNvPr id="11" name="TextBox 11"/>
            <p:cNvSpPr txBox="1"/>
            <p:nvPr/>
          </p:nvSpPr>
          <p:spPr>
            <a:xfrm>
              <a:off x="2108835" y="1850231"/>
              <a:ext cx="679627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发起者、工程、输入版本、模型与提示模板、工具白名单、资源预算、结构化增量、确定性校验和终态</a:t>
              </a:r>
            </a:p>
          </p:txBody>
        </p:sp>
      </p:grpSp>
      <p:grpSp>
        <p:nvGrpSpPr>
          <p:cNvPr id="30" name="Group 30"/>
          <p:cNvGrpSpPr/>
          <p:nvPr/>
        </p:nvGrpSpPr>
        <p:grpSpPr>
          <a:xfrm>
            <a:off x="533400" y="2324100"/>
            <a:ext cx="3200400" cy="2190750"/>
            <a:chOff x="533400" y="2324100"/>
            <a:chExt cx="3200400" cy="2190750"/>
          </a:xfrm>
        </p:grpSpPr>
        <p:sp>
          <p:nvSpPr>
            <p:cNvPr id="13" name="Rectangle 13"/>
            <p:cNvSpPr/>
            <p:nvPr/>
          </p:nvSpPr>
          <p:spPr>
            <a:xfrm>
              <a:off x="533400" y="2324100"/>
              <a:ext cx="3200400" cy="2190750"/>
            </a:xfrm>
            <a:prstGeom prst="roundRect">
              <a:avLst>
                <a:gd name="adj" fmla="val 5217"/>
              </a:avLst>
            </a:prstGeom>
            <a:solidFill>
              <a:srgbClr val="EEF4FA"/>
            </a:solidFill>
            <a:ln w="19050">
              <a:solidFill>
                <a:srgbClr val="1F5E96"/>
              </a:solidFill>
            </a:ln>
          </p:spPr>
        </p:sp>
        <p:grpSp>
          <p:nvGrpSpPr>
            <p:cNvPr id="23" name="Group 23"/>
            <p:cNvGrpSpPr/>
            <p:nvPr/>
          </p:nvGrpSpPr>
          <p:grpSpPr>
            <a:xfrm>
              <a:off x="825500" y="2559050"/>
              <a:ext cx="177800" cy="241300"/>
              <a:chOff x="825500" y="2559050"/>
              <a:chExt cx="177800" cy="241300"/>
            </a:xfrm>
          </p:grpSpPr>
          <p:sp>
            <p:nvSpPr>
              <p:cNvPr id="14" name="Freeform 14"/>
              <p:cNvSpPr/>
              <p:nvPr/>
            </p:nvSpPr>
            <p:spPr>
              <a:xfrm>
                <a:off x="838200" y="25844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25400">
                <a:solidFill>
                  <a:srgbClr val="1F5E96"/>
                </a:solidFill>
              </a:ln>
            </p:spPr>
          </p:sp>
          <p:sp>
            <p:nvSpPr>
              <p:cNvPr id="15" name="Freeform 15"/>
              <p:cNvSpPr/>
              <p:nvPr/>
            </p:nvSpPr>
            <p:spPr>
              <a:xfrm>
                <a:off x="914400" y="2559050"/>
                <a:ext cx="9525" cy="25400"/>
              </a:xfrm>
              <a:custGeom>
                <a:avLst/>
                <a:gdLst/>
                <a:ahLst/>
                <a:cxnLst/>
                <a:rect l="l" t="t" r="r" b="b"/>
                <a:pathLst>
                  <a:path w="9525" h="25400">
                    <a:moveTo>
                      <a:pt x="0" y="0"/>
                    </a:moveTo>
                    <a:lnTo>
                      <a:pt x="0" y="25400"/>
                    </a:lnTo>
                  </a:path>
                </a:pathLst>
              </a:custGeom>
              <a:noFill/>
              <a:ln w="25400">
                <a:solidFill>
                  <a:srgbClr val="1F5E96"/>
                </a:solidFill>
              </a:ln>
            </p:spPr>
          </p:sp>
          <p:sp>
            <p:nvSpPr>
              <p:cNvPr id="16" name="Freeform 16"/>
              <p:cNvSpPr/>
              <p:nvPr/>
            </p:nvSpPr>
            <p:spPr>
              <a:xfrm>
                <a:off x="876300" y="2686050"/>
                <a:ext cx="9525" cy="114300"/>
              </a:xfrm>
              <a:custGeom>
                <a:avLst/>
                <a:gdLst/>
                <a:ahLst/>
                <a:cxnLst/>
                <a:rect l="l" t="t" r="r" b="b"/>
                <a:pathLst>
                  <a:path w="9525" h="114300">
                    <a:moveTo>
                      <a:pt x="0" y="0"/>
                    </a:moveTo>
                    <a:lnTo>
                      <a:pt x="0" y="114300"/>
                    </a:lnTo>
                  </a:path>
                </a:pathLst>
              </a:custGeom>
              <a:noFill/>
              <a:ln w="25400">
                <a:solidFill>
                  <a:srgbClr val="1F5E96"/>
                </a:solidFill>
              </a:ln>
            </p:spPr>
          </p:sp>
          <p:sp>
            <p:nvSpPr>
              <p:cNvPr id="17" name="Freeform 17"/>
              <p:cNvSpPr/>
              <p:nvPr/>
            </p:nvSpPr>
            <p:spPr>
              <a:xfrm>
                <a:off x="952500" y="2686050"/>
                <a:ext cx="9525" cy="114300"/>
              </a:xfrm>
              <a:custGeom>
                <a:avLst/>
                <a:gdLst/>
                <a:ahLst/>
                <a:cxnLst/>
                <a:rect l="l" t="t" r="r" b="b"/>
                <a:pathLst>
                  <a:path w="9525" h="114300">
                    <a:moveTo>
                      <a:pt x="0" y="0"/>
                    </a:moveTo>
                    <a:lnTo>
                      <a:pt x="0" y="114300"/>
                    </a:lnTo>
                  </a:path>
                </a:pathLst>
              </a:custGeom>
              <a:noFill/>
              <a:ln w="25400">
                <a:solidFill>
                  <a:srgbClr val="1F5E96"/>
                </a:solidFill>
              </a:ln>
            </p:spPr>
          </p:sp>
          <p:sp>
            <p:nvSpPr>
              <p:cNvPr id="18" name="Freeform 18"/>
              <p:cNvSpPr/>
              <p:nvPr/>
            </p:nvSpPr>
            <p:spPr>
              <a:xfrm>
                <a:off x="825500" y="2711450"/>
                <a:ext cx="50800" cy="25400"/>
              </a:xfrm>
              <a:custGeom>
                <a:avLst/>
                <a:gdLst/>
                <a:ahLst/>
                <a:cxnLst/>
                <a:rect l="l" t="t" r="r" b="b"/>
                <a:pathLst>
                  <a:path w="50800" h="25400">
                    <a:moveTo>
                      <a:pt x="0" y="25400"/>
                    </a:moveTo>
                    <a:lnTo>
                      <a:pt x="50800" y="0"/>
                    </a:lnTo>
                  </a:path>
                </a:pathLst>
              </a:custGeom>
              <a:noFill/>
              <a:ln w="25400">
                <a:solidFill>
                  <a:srgbClr val="1F5E96"/>
                </a:solidFill>
              </a:ln>
            </p:spPr>
          </p:sp>
          <p:sp>
            <p:nvSpPr>
              <p:cNvPr id="19" name="Freeform 19"/>
              <p:cNvSpPr/>
              <p:nvPr/>
            </p:nvSpPr>
            <p:spPr>
              <a:xfrm>
                <a:off x="952500" y="2711450"/>
                <a:ext cx="50800" cy="25400"/>
              </a:xfrm>
              <a:custGeom>
                <a:avLst/>
                <a:gdLst/>
                <a:ahLst/>
                <a:cxnLst/>
                <a:rect l="l" t="t" r="r" b="b"/>
                <a:pathLst>
                  <a:path w="50800" h="25400">
                    <a:moveTo>
                      <a:pt x="0" y="0"/>
                    </a:moveTo>
                    <a:lnTo>
                      <a:pt x="50800" y="25400"/>
                    </a:lnTo>
                  </a:path>
                </a:pathLst>
              </a:custGeom>
              <a:noFill/>
              <a:ln w="25400">
                <a:solidFill>
                  <a:srgbClr val="1F5E96"/>
                </a:solidFill>
              </a:ln>
            </p:spPr>
          </p:sp>
          <p:sp>
            <p:nvSpPr>
              <p:cNvPr id="20" name="Freeform 20"/>
              <p:cNvSpPr/>
              <p:nvPr/>
            </p:nvSpPr>
            <p:spPr>
              <a:xfrm>
                <a:off x="876300" y="2762249"/>
                <a:ext cx="76200" cy="9525"/>
              </a:xfrm>
              <a:custGeom>
                <a:avLst/>
                <a:gdLst/>
                <a:ahLst/>
                <a:cxnLst/>
                <a:rect l="l" t="t" r="r" b="b"/>
                <a:pathLst>
                  <a:path w="76200" h="9525">
                    <a:moveTo>
                      <a:pt x="0" y="0"/>
                    </a:moveTo>
                    <a:lnTo>
                      <a:pt x="76200" y="0"/>
                    </a:lnTo>
                  </a:path>
                </a:pathLst>
              </a:custGeom>
              <a:noFill/>
              <a:ln w="25400">
                <a:solidFill>
                  <a:srgbClr val="1F5E96"/>
                </a:solidFill>
              </a:ln>
            </p:spPr>
          </p:sp>
          <p:sp>
            <p:nvSpPr>
              <p:cNvPr id="21" name="Freeform 21"/>
              <p:cNvSpPr/>
              <p:nvPr/>
            </p:nvSpPr>
            <p:spPr>
              <a:xfrm>
                <a:off x="889000" y="2635250"/>
                <a:ext cx="9525" cy="9525"/>
              </a:xfrm>
              <a:custGeom>
                <a:avLst/>
                <a:gdLst/>
                <a:ahLst/>
                <a:cxnLst/>
                <a:rect l="l" t="t" r="r" b="b"/>
                <a:pathLst>
                  <a:path w="9525" h="9525">
                    <a:moveTo>
                      <a:pt x="0" y="0"/>
                    </a:moveTo>
                    <a:lnTo>
                      <a:pt x="0" y="127"/>
                    </a:lnTo>
                  </a:path>
                </a:pathLst>
              </a:custGeom>
              <a:noFill/>
              <a:ln w="25400">
                <a:solidFill>
                  <a:srgbClr val="1F5E96"/>
                </a:solidFill>
              </a:ln>
            </p:spPr>
          </p:sp>
          <p:sp>
            <p:nvSpPr>
              <p:cNvPr id="22" name="Freeform 22"/>
              <p:cNvSpPr/>
              <p:nvPr/>
            </p:nvSpPr>
            <p:spPr>
              <a:xfrm>
                <a:off x="939800" y="2635250"/>
                <a:ext cx="9525" cy="9525"/>
              </a:xfrm>
              <a:custGeom>
                <a:avLst/>
                <a:gdLst/>
                <a:ahLst/>
                <a:cxnLst/>
                <a:rect l="l" t="t" r="r" b="b"/>
                <a:pathLst>
                  <a:path w="9525" h="9525">
                    <a:moveTo>
                      <a:pt x="0" y="0"/>
                    </a:moveTo>
                    <a:lnTo>
                      <a:pt x="0" y="127"/>
                    </a:lnTo>
                  </a:path>
                </a:pathLst>
              </a:custGeom>
              <a:noFill/>
              <a:ln w="25400">
                <a:solidFill>
                  <a:srgbClr val="1F5E96"/>
                </a:solidFill>
              </a:ln>
            </p:spPr>
          </p:sp>
        </p:grpSp>
        <p:sp>
          <p:nvSpPr>
            <p:cNvPr id="24" name="TextBox 24"/>
            <p:cNvSpPr txBox="1"/>
            <p:nvPr/>
          </p:nvSpPr>
          <p:spPr>
            <a:xfrm>
              <a:off x="1192911" y="2608421"/>
              <a:ext cx="1793547"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Agent 承担语义判断</a:t>
              </a:r>
            </a:p>
          </p:txBody>
        </p:sp>
        <p:sp>
          <p:nvSpPr>
            <p:cNvPr id="25" name="TextBox 25"/>
            <p:cNvSpPr txBox="1"/>
            <p:nvPr/>
          </p:nvSpPr>
          <p:spPr>
            <a:xfrm>
              <a:off x="756666" y="3048952"/>
              <a:ext cx="167887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数据清洗与部分可用判断</a:t>
              </a:r>
            </a:p>
          </p:txBody>
        </p:sp>
        <p:sp>
          <p:nvSpPr>
            <p:cNvPr id="26" name="TextBox 26"/>
            <p:cNvSpPr txBox="1"/>
            <p:nvPr/>
          </p:nvSpPr>
          <p:spPr>
            <a:xfrm>
              <a:off x="756666" y="3334702"/>
              <a:ext cx="1254824"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非结构化知识编制</a:t>
              </a:r>
            </a:p>
          </p:txBody>
        </p:sp>
        <p:sp>
          <p:nvSpPr>
            <p:cNvPr id="27" name="TextBox 27"/>
            <p:cNvSpPr txBox="1"/>
            <p:nvPr/>
          </p:nvSpPr>
          <p:spPr>
            <a:xfrm>
              <a:off x="756666" y="3620452"/>
              <a:ext cx="167887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识别检索审阅与有界补搜</a:t>
              </a:r>
            </a:p>
          </p:txBody>
        </p:sp>
        <p:sp>
          <p:nvSpPr>
            <p:cNvPr id="28" name="TextBox 28"/>
            <p:cNvSpPr txBox="1"/>
            <p:nvPr/>
          </p:nvSpPr>
          <p:spPr>
            <a:xfrm>
              <a:off x="756666" y="3906202"/>
              <a:ext cx="1396175"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处置建议组合与排序</a:t>
              </a:r>
            </a:p>
          </p:txBody>
        </p:sp>
        <p:sp>
          <p:nvSpPr>
            <p:cNvPr id="29" name="TextBox 29"/>
            <p:cNvSpPr txBox="1"/>
            <p:nvPr/>
          </p:nvSpPr>
          <p:spPr>
            <a:xfrm>
              <a:off x="756666" y="4191952"/>
              <a:ext cx="1820228"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偏差超限后的校准建议候选</a:t>
              </a:r>
            </a:p>
          </p:txBody>
        </p:sp>
      </p:grpSp>
      <p:grpSp>
        <p:nvGrpSpPr>
          <p:cNvPr id="40" name="Group 40"/>
          <p:cNvGrpSpPr/>
          <p:nvPr/>
        </p:nvGrpSpPr>
        <p:grpSpPr>
          <a:xfrm>
            <a:off x="4495800" y="2324100"/>
            <a:ext cx="3200400" cy="2190750"/>
            <a:chOff x="4495800" y="2324100"/>
            <a:chExt cx="3200400" cy="2190750"/>
          </a:xfrm>
        </p:grpSpPr>
        <p:sp>
          <p:nvSpPr>
            <p:cNvPr id="31" name="Rectangle 31"/>
            <p:cNvSpPr/>
            <p:nvPr/>
          </p:nvSpPr>
          <p:spPr>
            <a:xfrm>
              <a:off x="4495800" y="2324100"/>
              <a:ext cx="3200400" cy="2190750"/>
            </a:xfrm>
            <a:prstGeom prst="roundRect">
              <a:avLst>
                <a:gd name="adj" fmla="val 5217"/>
              </a:avLst>
            </a:prstGeom>
            <a:solidFill>
              <a:srgbClr val="EEF7F4"/>
            </a:solidFill>
            <a:ln w="19050">
              <a:solidFill>
                <a:schemeClr val="accent2"/>
              </a:solidFill>
            </a:ln>
          </p:spPr>
        </p:sp>
        <p:grpSp>
          <p:nvGrpSpPr>
            <p:cNvPr id="34" name="Group 34"/>
            <p:cNvGrpSpPr/>
            <p:nvPr/>
          </p:nvGrpSpPr>
          <p:grpSpPr>
            <a:xfrm>
              <a:off x="4745361" y="2571750"/>
              <a:ext cx="248008" cy="228599"/>
              <a:chOff x="4745361" y="2571750"/>
              <a:chExt cx="248008" cy="228599"/>
            </a:xfrm>
          </p:grpSpPr>
          <p:sp>
            <p:nvSpPr>
              <p:cNvPr id="32" name="Freeform 32"/>
              <p:cNvSpPr/>
              <p:nvPr/>
            </p:nvSpPr>
            <p:spPr>
              <a:xfrm>
                <a:off x="4745361" y="2571750"/>
                <a:ext cx="248008" cy="226644"/>
              </a:xfrm>
              <a:custGeom>
                <a:avLst/>
                <a:gdLst/>
                <a:ahLst/>
                <a:cxnLst/>
                <a:rect l="l" t="t" r="r" b="b"/>
                <a:pathLst>
                  <a:path w="248008" h="226644">
                    <a:moveTo>
                      <a:pt x="124581" y="226644"/>
                    </a:moveTo>
                    <a:cubicBezTo>
                      <a:pt x="45021" y="201982"/>
                      <a:pt x="0" y="118013"/>
                      <a:pt x="23489" y="38100"/>
                    </a:cubicBezTo>
                    <a:cubicBezTo>
                      <a:pt x="63056" y="39910"/>
                      <a:pt x="101774" y="26245"/>
                      <a:pt x="131439" y="0"/>
                    </a:cubicBezTo>
                    <a:cubicBezTo>
                      <a:pt x="161104" y="26245"/>
                      <a:pt x="199822" y="39910"/>
                      <a:pt x="239389" y="38100"/>
                    </a:cubicBezTo>
                    <a:cubicBezTo>
                      <a:pt x="248008" y="67426"/>
                      <a:pt x="247610" y="98665"/>
                      <a:pt x="238246" y="127762"/>
                    </a:cubicBezTo>
                  </a:path>
                </a:pathLst>
              </a:custGeom>
              <a:noFill/>
              <a:ln w="25400">
                <a:solidFill>
                  <a:schemeClr val="accent2"/>
                </a:solidFill>
              </a:ln>
            </p:spPr>
          </p:sp>
          <p:sp>
            <p:nvSpPr>
              <p:cNvPr id="33" name="Freeform 33"/>
              <p:cNvSpPr/>
              <p:nvPr/>
            </p:nvSpPr>
            <p:spPr>
              <a:xfrm>
                <a:off x="4914900" y="2749549"/>
                <a:ext cx="76200" cy="50800"/>
              </a:xfrm>
              <a:custGeom>
                <a:avLst/>
                <a:gdLst/>
                <a:ahLst/>
                <a:cxnLst/>
                <a:rect l="l" t="t" r="r" b="b"/>
                <a:pathLst>
                  <a:path w="76200" h="50800">
                    <a:moveTo>
                      <a:pt x="0" y="25400"/>
                    </a:moveTo>
                    <a:lnTo>
                      <a:pt x="25400" y="50800"/>
                    </a:lnTo>
                    <a:lnTo>
                      <a:pt x="76200" y="0"/>
                    </a:lnTo>
                  </a:path>
                </a:pathLst>
              </a:custGeom>
              <a:noFill/>
              <a:ln w="25400">
                <a:solidFill>
                  <a:schemeClr val="accent2"/>
                </a:solidFill>
              </a:ln>
            </p:spPr>
          </p:sp>
        </p:grpSp>
        <p:sp>
          <p:nvSpPr>
            <p:cNvPr id="35" name="TextBox 35"/>
            <p:cNvSpPr txBox="1"/>
            <p:nvPr/>
          </p:nvSpPr>
          <p:spPr>
            <a:xfrm>
              <a:off x="5155311" y="2608421"/>
              <a:ext cx="1734922"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确定性模块负责收口</a:t>
              </a:r>
            </a:p>
          </p:txBody>
        </p:sp>
        <p:sp>
          <p:nvSpPr>
            <p:cNvPr id="36" name="TextBox 36"/>
            <p:cNvSpPr txBox="1"/>
            <p:nvPr/>
          </p:nvSpPr>
          <p:spPr>
            <a:xfrm>
              <a:off x="4719066" y="3106102"/>
              <a:ext cx="1537526"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字段格式与完整性校验</a:t>
              </a:r>
            </a:p>
          </p:txBody>
        </p:sp>
        <p:sp>
          <p:nvSpPr>
            <p:cNvPr id="37" name="TextBox 37"/>
            <p:cNvSpPr txBox="1"/>
            <p:nvPr/>
          </p:nvSpPr>
          <p:spPr>
            <a:xfrm>
              <a:off x="4719066" y="3449002"/>
              <a:ext cx="167887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规则一致性与适用性校验</a:t>
              </a:r>
            </a:p>
          </p:txBody>
        </p:sp>
        <p:sp>
          <p:nvSpPr>
            <p:cNvPr id="38" name="TextBox 38"/>
            <p:cNvSpPr txBox="1"/>
            <p:nvPr/>
          </p:nvSpPr>
          <p:spPr>
            <a:xfrm>
              <a:off x="4719066" y="3791902"/>
              <a:ext cx="2506180"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P/C 评分、风险矩阵映射与阈值判断</a:t>
              </a:r>
            </a:p>
          </p:txBody>
        </p:sp>
        <p:sp>
          <p:nvSpPr>
            <p:cNvPr id="39" name="TextBox 39"/>
            <p:cNvSpPr txBox="1"/>
            <p:nvPr/>
          </p:nvSpPr>
          <p:spPr>
            <a:xfrm>
              <a:off x="4719066" y="4134802"/>
              <a:ext cx="2102930"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业务入库、版本发布与审计记录</a:t>
              </a:r>
            </a:p>
          </p:txBody>
        </p:sp>
      </p:grpSp>
      <p:grpSp>
        <p:nvGrpSpPr>
          <p:cNvPr id="50" name="Group 50"/>
          <p:cNvGrpSpPr/>
          <p:nvPr/>
        </p:nvGrpSpPr>
        <p:grpSpPr>
          <a:xfrm>
            <a:off x="8458200" y="2324100"/>
            <a:ext cx="3200400" cy="2190750"/>
            <a:chOff x="8458200" y="2324100"/>
            <a:chExt cx="3200400" cy="2190750"/>
          </a:xfrm>
        </p:grpSpPr>
        <p:sp>
          <p:nvSpPr>
            <p:cNvPr id="41" name="Rectangle 41"/>
            <p:cNvSpPr/>
            <p:nvPr/>
          </p:nvSpPr>
          <p:spPr>
            <a:xfrm>
              <a:off x="8458200" y="2324100"/>
              <a:ext cx="3200400" cy="2190750"/>
            </a:xfrm>
            <a:prstGeom prst="roundRect">
              <a:avLst>
                <a:gd name="adj" fmla="val 5217"/>
              </a:avLst>
            </a:prstGeom>
            <a:solidFill>
              <a:srgbClr val="FFF7EC"/>
            </a:solidFill>
            <a:ln w="19050">
              <a:solidFill>
                <a:schemeClr val="accent3"/>
              </a:solidFill>
            </a:ln>
          </p:spPr>
        </p:sp>
        <p:grpSp>
          <p:nvGrpSpPr>
            <p:cNvPr id="45" name="Group 45"/>
            <p:cNvGrpSpPr/>
            <p:nvPr/>
          </p:nvGrpSpPr>
          <p:grpSpPr>
            <a:xfrm>
              <a:off x="8763000" y="2571750"/>
              <a:ext cx="190500" cy="228600"/>
              <a:chOff x="8763000" y="2571750"/>
              <a:chExt cx="190500" cy="228600"/>
            </a:xfrm>
          </p:grpSpPr>
          <p:sp>
            <p:nvSpPr>
              <p:cNvPr id="42" name="Freeform 42"/>
              <p:cNvSpPr/>
              <p:nvPr/>
            </p:nvSpPr>
            <p:spPr>
              <a:xfrm>
                <a:off x="8788400" y="25717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25400">
                <a:solidFill>
                  <a:schemeClr val="accent3"/>
                </a:solidFill>
              </a:ln>
            </p:spPr>
          </p:sp>
          <p:sp>
            <p:nvSpPr>
              <p:cNvPr id="43" name="Freeform 43"/>
              <p:cNvSpPr/>
              <p:nvPr/>
            </p:nvSpPr>
            <p:spPr>
              <a:xfrm>
                <a:off x="8763000" y="2724150"/>
                <a:ext cx="101600" cy="76200"/>
              </a:xfrm>
              <a:custGeom>
                <a:avLst/>
                <a:gdLst/>
                <a:ahLst/>
                <a:cxnLst/>
                <a:rect l="l" t="t" r="r" b="b"/>
                <a:pathLst>
                  <a:path w="101600" h="76200">
                    <a:moveTo>
                      <a:pt x="0" y="76200"/>
                    </a:moveTo>
                    <a:lnTo>
                      <a:pt x="0" y="50800"/>
                    </a:lnTo>
                    <a:cubicBezTo>
                      <a:pt x="0" y="22744"/>
                      <a:pt x="22744" y="0"/>
                      <a:pt x="50800" y="0"/>
                    </a:cubicBezTo>
                    <a:lnTo>
                      <a:pt x="101600" y="0"/>
                    </a:lnTo>
                  </a:path>
                </a:pathLst>
              </a:custGeom>
              <a:noFill/>
              <a:ln w="25400">
                <a:solidFill>
                  <a:schemeClr val="accent3"/>
                </a:solidFill>
              </a:ln>
            </p:spPr>
          </p:sp>
          <p:sp>
            <p:nvSpPr>
              <p:cNvPr id="44" name="Freeform 44"/>
              <p:cNvSpPr/>
              <p:nvPr/>
            </p:nvSpPr>
            <p:spPr>
              <a:xfrm>
                <a:off x="8877300" y="2749549"/>
                <a:ext cx="76200" cy="50800"/>
              </a:xfrm>
              <a:custGeom>
                <a:avLst/>
                <a:gdLst/>
                <a:ahLst/>
                <a:cxnLst/>
                <a:rect l="l" t="t" r="r" b="b"/>
                <a:pathLst>
                  <a:path w="76200" h="50800">
                    <a:moveTo>
                      <a:pt x="0" y="25400"/>
                    </a:moveTo>
                    <a:lnTo>
                      <a:pt x="25400" y="50800"/>
                    </a:lnTo>
                    <a:lnTo>
                      <a:pt x="76200" y="0"/>
                    </a:lnTo>
                  </a:path>
                </a:pathLst>
              </a:custGeom>
              <a:noFill/>
              <a:ln w="25400">
                <a:solidFill>
                  <a:schemeClr val="accent3"/>
                </a:solidFill>
              </a:ln>
            </p:spPr>
          </p:sp>
        </p:grpSp>
        <p:sp>
          <p:nvSpPr>
            <p:cNvPr id="46" name="TextBox 46"/>
            <p:cNvSpPr txBox="1"/>
            <p:nvPr/>
          </p:nvSpPr>
          <p:spPr>
            <a:xfrm>
              <a:off x="9117711" y="2608421"/>
              <a:ext cx="1352601" cy="278702"/>
            </a:xfrm>
            <a:prstGeom prst="rect">
              <a:avLst/>
            </a:prstGeom>
            <a:noFill/>
            <a:ln>
              <a:noFill/>
            </a:ln>
          </p:spPr>
          <p:txBody>
            <a:bodyPr wrap="none" lIns="0" tIns="0" rIns="0" bIns="0" anchor="t" anchorCtr="0">
              <a:spAutoFit/>
            </a:bodyPr>
            <a:lstStyle/>
            <a:p>
              <a:pPr algn="l"/>
              <a:r>
                <a:rPr lang="zh-CN" sz="1420" b="1" dirty="0">
                  <a:solidFill>
                    <a:schemeClr val="accent3"/>
                  </a:solidFill>
                  <a:latin typeface="+mn-lt"/>
                  <a:ea typeface="+mn-ea"/>
                  <a:cs typeface="+mn-cs"/>
                </a:rPr>
                <a:t>人工审核与决定</a:t>
              </a:r>
            </a:p>
          </p:txBody>
        </p:sp>
        <p:sp>
          <p:nvSpPr>
            <p:cNvPr id="47" name="TextBox 47"/>
            <p:cNvSpPr txBox="1"/>
            <p:nvPr/>
          </p:nvSpPr>
          <p:spPr>
            <a:xfrm>
              <a:off x="8681466" y="3182302"/>
              <a:ext cx="972122"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规则冲突裁决</a:t>
              </a:r>
            </a:p>
          </p:txBody>
        </p:sp>
        <p:sp>
          <p:nvSpPr>
            <p:cNvPr id="48" name="TextBox 48"/>
            <p:cNvSpPr txBox="1"/>
            <p:nvPr/>
          </p:nvSpPr>
          <p:spPr>
            <a:xfrm>
              <a:off x="8681466" y="3601402"/>
              <a:ext cx="1396175"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知识与校准版本发布</a:t>
              </a:r>
            </a:p>
          </p:txBody>
        </p:sp>
        <p:sp>
          <p:nvSpPr>
            <p:cNvPr id="49" name="TextBox 49"/>
            <p:cNvSpPr txBox="1"/>
            <p:nvPr/>
          </p:nvSpPr>
          <p:spPr>
            <a:xfrm>
              <a:off x="8681466" y="4020502"/>
              <a:ext cx="1396175"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处置建议采纳与执行</a:t>
              </a:r>
            </a:p>
          </p:txBody>
        </p:sp>
      </p:grpSp>
      <p:grpSp>
        <p:nvGrpSpPr>
          <p:cNvPr id="54" name="Group 54"/>
          <p:cNvGrpSpPr/>
          <p:nvPr/>
        </p:nvGrpSpPr>
        <p:grpSpPr>
          <a:xfrm>
            <a:off x="3733800" y="3219450"/>
            <a:ext cx="4724400" cy="1085850"/>
            <a:chOff x="3733800" y="3219450"/>
            <a:chExt cx="4724400" cy="1085850"/>
          </a:xfrm>
        </p:grpSpPr>
        <p:sp>
          <p:nvSpPr>
            <p:cNvPr id="51" name="Line 51"/>
            <p:cNvSpPr/>
            <p:nvPr/>
          </p:nvSpPr>
          <p:spPr>
            <a:xfrm>
              <a:off x="3733800" y="3219450"/>
              <a:ext cx="762000" cy="1"/>
            </a:xfrm>
            <a:prstGeom prst="line">
              <a:avLst/>
            </a:prstGeom>
            <a:noFill/>
            <a:ln w="28575">
              <a:solidFill>
                <a:schemeClr val="accent1"/>
              </a:solidFill>
              <a:tailEnd type="triangle" w="lg" len="lg"/>
            </a:ln>
          </p:spPr>
        </p:sp>
        <p:sp>
          <p:nvSpPr>
            <p:cNvPr id="52" name="Line 52"/>
            <p:cNvSpPr/>
            <p:nvPr/>
          </p:nvSpPr>
          <p:spPr>
            <a:xfrm>
              <a:off x="7696200" y="3219450"/>
              <a:ext cx="762000" cy="1"/>
            </a:xfrm>
            <a:prstGeom prst="line">
              <a:avLst/>
            </a:prstGeom>
            <a:noFill/>
            <a:ln w="28575">
              <a:solidFill>
                <a:schemeClr val="accent3"/>
              </a:solidFill>
              <a:tailEnd type="triangle" w="lg" len="lg"/>
            </a:ln>
          </p:spPr>
        </p:sp>
        <p:sp>
          <p:nvSpPr>
            <p:cNvPr id="53" name="Freeform 53"/>
            <p:cNvSpPr/>
            <p:nvPr/>
          </p:nvSpPr>
          <p:spPr>
            <a:xfrm>
              <a:off x="7696200" y="4000500"/>
              <a:ext cx="762000" cy="304800"/>
            </a:xfrm>
            <a:custGeom>
              <a:avLst/>
              <a:gdLst/>
              <a:ahLst/>
              <a:cxnLst/>
              <a:rect l="l" t="t" r="r" b="b"/>
              <a:pathLst>
                <a:path w="762000" h="304800">
                  <a:moveTo>
                    <a:pt x="762000" y="0"/>
                  </a:moveTo>
                  <a:cubicBezTo>
                    <a:pt x="438150" y="285750"/>
                    <a:pt x="266700" y="304800"/>
                    <a:pt x="0" y="114300"/>
                  </a:cubicBezTo>
                </a:path>
              </a:pathLst>
            </a:custGeom>
            <a:noFill/>
            <a:ln w="19050">
              <a:solidFill>
                <a:schemeClr val="accent2"/>
              </a:solidFill>
              <a:prstDash val="dash"/>
              <a:tailEnd type="triangle" w="lg" len="lg"/>
            </a:ln>
          </p:spPr>
        </p:sp>
      </p:grpSp>
      <p:grpSp>
        <p:nvGrpSpPr>
          <p:cNvPr id="67" name="Group 67"/>
          <p:cNvGrpSpPr/>
          <p:nvPr/>
        </p:nvGrpSpPr>
        <p:grpSpPr>
          <a:xfrm>
            <a:off x="533400" y="4762500"/>
            <a:ext cx="11125200" cy="1104900"/>
            <a:chOff x="533400" y="4762500"/>
            <a:chExt cx="11125200" cy="1104900"/>
          </a:xfrm>
        </p:grpSpPr>
        <p:sp>
          <p:nvSpPr>
            <p:cNvPr id="55" name="Rectangle 55"/>
            <p:cNvSpPr/>
            <p:nvPr/>
          </p:nvSpPr>
          <p:spPr>
            <a:xfrm>
              <a:off x="533400" y="4762500"/>
              <a:ext cx="2609850" cy="1104900"/>
            </a:xfrm>
            <a:prstGeom prst="roundRect">
              <a:avLst>
                <a:gd name="adj" fmla="val 8621"/>
              </a:avLst>
            </a:prstGeom>
            <a:solidFill>
              <a:schemeClr val="lt2"/>
            </a:solidFill>
            <a:ln>
              <a:noFill/>
            </a:ln>
          </p:spPr>
        </p:sp>
        <p:sp>
          <p:nvSpPr>
            <p:cNvPr id="56" name="TextBox 56"/>
            <p:cNvSpPr txBox="1"/>
            <p:nvPr/>
          </p:nvSpPr>
          <p:spPr>
            <a:xfrm>
              <a:off x="73723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固定任务边界</a:t>
              </a:r>
            </a:p>
          </p:txBody>
        </p:sp>
        <p:sp>
          <p:nvSpPr>
            <p:cNvPr id="57" name="TextBox 57"/>
            <p:cNvSpPr txBox="1"/>
            <p:nvPr/>
          </p:nvSpPr>
          <p:spPr>
            <a:xfrm>
              <a:off x="737616" y="5201602"/>
              <a:ext cx="14775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发起者、工程和输入版本</a:t>
              </a:r>
              <a:br/>
              <a:r>
                <a:rPr lang="zh-CN" sz="1050" dirty="0">
                  <a:solidFill>
                    <a:schemeClr val="dk1"/>
                  </a:solidFill>
                  <a:latin typeface="+mn-lt"/>
                  <a:ea typeface="+mn-ea"/>
                  <a:cs typeface="+mn-cs"/>
                </a:rPr>
                <a:t>在任务创建时确定</a:t>
              </a:r>
            </a:p>
          </p:txBody>
        </p:sp>
        <p:sp>
          <p:nvSpPr>
            <p:cNvPr id="58" name="Rectangle 58"/>
            <p:cNvSpPr/>
            <p:nvPr/>
          </p:nvSpPr>
          <p:spPr>
            <a:xfrm>
              <a:off x="3371850" y="4762500"/>
              <a:ext cx="2609850" cy="1104900"/>
            </a:xfrm>
            <a:prstGeom prst="roundRect">
              <a:avLst>
                <a:gd name="adj" fmla="val 8621"/>
              </a:avLst>
            </a:prstGeom>
            <a:solidFill>
              <a:schemeClr val="lt2"/>
            </a:solidFill>
            <a:ln>
              <a:noFill/>
            </a:ln>
          </p:spPr>
        </p:sp>
        <p:sp>
          <p:nvSpPr>
            <p:cNvPr id="59" name="TextBox 59"/>
            <p:cNvSpPr txBox="1"/>
            <p:nvPr/>
          </p:nvSpPr>
          <p:spPr>
            <a:xfrm>
              <a:off x="357568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限定工具范围</a:t>
              </a:r>
            </a:p>
          </p:txBody>
        </p:sp>
        <p:sp>
          <p:nvSpPr>
            <p:cNvPr id="60" name="TextBox 60"/>
            <p:cNvSpPr txBox="1"/>
            <p:nvPr/>
          </p:nvSpPr>
          <p:spPr>
            <a:xfrm>
              <a:off x="3576066" y="5201602"/>
              <a:ext cx="12108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按任务类型配置领域</a:t>
              </a:r>
              <a:br/>
              <a:r>
                <a:rPr lang="zh-CN" sz="1050" dirty="0">
                  <a:solidFill>
                    <a:schemeClr val="dk1"/>
                  </a:solidFill>
                  <a:latin typeface="+mn-lt"/>
                  <a:ea typeface="+mn-ea"/>
                  <a:cs typeface="+mn-cs"/>
                </a:rPr>
                <a:t>工具白名单</a:t>
              </a:r>
            </a:p>
          </p:txBody>
        </p:sp>
        <p:sp>
          <p:nvSpPr>
            <p:cNvPr id="61" name="Rectangle 61"/>
            <p:cNvSpPr/>
            <p:nvPr/>
          </p:nvSpPr>
          <p:spPr>
            <a:xfrm>
              <a:off x="6210300" y="4762500"/>
              <a:ext cx="2609850" cy="1104900"/>
            </a:xfrm>
            <a:prstGeom prst="roundRect">
              <a:avLst>
                <a:gd name="adj" fmla="val 8621"/>
              </a:avLst>
            </a:prstGeom>
            <a:solidFill>
              <a:schemeClr val="lt2"/>
            </a:solidFill>
            <a:ln>
              <a:noFill/>
            </a:ln>
          </p:spPr>
        </p:sp>
        <p:sp>
          <p:nvSpPr>
            <p:cNvPr id="62" name="TextBox 62"/>
            <p:cNvSpPr txBox="1"/>
            <p:nvPr/>
          </p:nvSpPr>
          <p:spPr>
            <a:xfrm>
              <a:off x="641413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执行资源预算</a:t>
              </a:r>
            </a:p>
          </p:txBody>
        </p:sp>
        <p:sp>
          <p:nvSpPr>
            <p:cNvPr id="63" name="TextBox 63"/>
            <p:cNvSpPr txBox="1"/>
            <p:nvPr/>
          </p:nvSpPr>
          <p:spPr>
            <a:xfrm>
              <a:off x="6414516" y="5201602"/>
              <a:ext cx="14775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模型、工具、并发和墙钟</a:t>
              </a:r>
              <a:br/>
              <a:r>
                <a:rPr lang="zh-CN" sz="1050" dirty="0">
                  <a:solidFill>
                    <a:schemeClr val="dk1"/>
                  </a:solidFill>
                  <a:latin typeface="+mn-lt"/>
                  <a:ea typeface="+mn-ea"/>
                  <a:cs typeface="+mn-cs"/>
                </a:rPr>
                <a:t>时间设硬预算</a:t>
              </a:r>
            </a:p>
          </p:txBody>
        </p:sp>
        <p:sp>
          <p:nvSpPr>
            <p:cNvPr id="64" name="Rectangle 64"/>
            <p:cNvSpPr/>
            <p:nvPr/>
          </p:nvSpPr>
          <p:spPr>
            <a:xfrm>
              <a:off x="9048750" y="4762500"/>
              <a:ext cx="2609850" cy="1104900"/>
            </a:xfrm>
            <a:prstGeom prst="roundRect">
              <a:avLst>
                <a:gd name="adj" fmla="val 8621"/>
              </a:avLst>
            </a:prstGeom>
            <a:solidFill>
              <a:schemeClr val="lt2"/>
            </a:solidFill>
            <a:ln>
              <a:noFill/>
            </a:ln>
          </p:spPr>
        </p:sp>
        <p:sp>
          <p:nvSpPr>
            <p:cNvPr id="65" name="TextBox 65"/>
            <p:cNvSpPr txBox="1"/>
            <p:nvPr/>
          </p:nvSpPr>
          <p:spPr>
            <a:xfrm>
              <a:off x="925258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保留审计证据</a:t>
              </a:r>
            </a:p>
          </p:txBody>
        </p:sp>
        <p:sp>
          <p:nvSpPr>
            <p:cNvPr id="66" name="TextBox 66"/>
            <p:cNvSpPr txBox="1"/>
            <p:nvPr/>
          </p:nvSpPr>
          <p:spPr>
            <a:xfrm>
              <a:off x="9252966" y="5201602"/>
              <a:ext cx="17442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记录输入、工具行动、校验和</a:t>
              </a:r>
              <a:br/>
              <a:r>
                <a:rPr lang="zh-CN" sz="1050" dirty="0">
                  <a:solidFill>
                    <a:schemeClr val="dk1"/>
                  </a:solidFill>
                  <a:latin typeface="+mn-lt"/>
                  <a:ea typeface="+mn-ea"/>
                  <a:cs typeface="+mn-cs"/>
                </a:rPr>
                <a:t>正式结果，不展示思维链</a:t>
              </a:r>
            </a:p>
          </p:txBody>
        </p:sp>
      </p:grpSp>
      <p:grpSp>
        <p:nvGrpSpPr>
          <p:cNvPr id="70" name="Group 70"/>
          <p:cNvGrpSpPr/>
          <p:nvPr/>
        </p:nvGrpSpPr>
        <p:grpSpPr>
          <a:xfrm>
            <a:off x="528638" y="6311741"/>
            <a:ext cx="11134724" cy="161925"/>
            <a:chOff x="528638" y="6311741"/>
            <a:chExt cx="11134724" cy="161925"/>
          </a:xfrm>
        </p:grpSpPr>
        <p:sp>
          <p:nvSpPr>
            <p:cNvPr id="68" name="TextBox 68"/>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69" name="TextBox 69"/>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4827676" cy="366712"/>
            <a:chOff x="523875" y="921544"/>
            <a:chExt cx="4827676" cy="366712"/>
          </a:xfrm>
        </p:grpSpPr>
        <p:sp>
          <p:nvSpPr>
            <p:cNvPr id="6" name="TextBox 6"/>
            <p:cNvSpPr txBox="1"/>
            <p:nvPr/>
          </p:nvSpPr>
          <p:spPr>
            <a:xfrm>
              <a:off x="523875" y="921544"/>
              <a:ext cx="4827676"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识别与评估双引擎贯通工程证据与预警处置</a:t>
              </a:r>
            </a:p>
          </p:txBody>
        </p:sp>
      </p:grpSp>
      <p:grpSp>
        <p:nvGrpSpPr>
          <p:cNvPr id="21" name="Group 21"/>
          <p:cNvGrpSpPr/>
          <p:nvPr/>
        </p:nvGrpSpPr>
        <p:grpSpPr>
          <a:xfrm>
            <a:off x="533400" y="1390650"/>
            <a:ext cx="11125200" cy="1447800"/>
            <a:chOff x="533400" y="1390650"/>
            <a:chExt cx="11125200" cy="1447800"/>
          </a:xfrm>
        </p:grpSpPr>
        <p:sp>
          <p:nvSpPr>
            <p:cNvPr id="8" name="Rectangle 8"/>
            <p:cNvSpPr/>
            <p:nvPr/>
          </p:nvSpPr>
          <p:spPr>
            <a:xfrm>
              <a:off x="533400" y="1390650"/>
              <a:ext cx="11125200" cy="1447800"/>
            </a:xfrm>
            <a:prstGeom prst="roundRect">
              <a:avLst>
                <a:gd name="adj" fmla="val 7895"/>
              </a:avLst>
            </a:prstGeom>
            <a:solidFill>
              <a:srgbClr val="EEF4FA"/>
            </a:solidFill>
            <a:ln w="19050">
              <a:solidFill>
                <a:srgbClr val="1F5E96"/>
              </a:solidFill>
            </a:ln>
          </p:spPr>
        </p:sp>
        <p:sp>
          <p:nvSpPr>
            <p:cNvPr id="9" name="TextBox 9"/>
            <p:cNvSpPr txBox="1"/>
            <p:nvPr/>
          </p:nvSpPr>
          <p:spPr>
            <a:xfrm>
              <a:off x="736854" y="1546860"/>
              <a:ext cx="249911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风险智能识别 专利步骤 S1 至 S6</a:t>
              </a:r>
            </a:p>
          </p:txBody>
        </p:sp>
        <p:sp>
          <p:nvSpPr>
            <p:cNvPr id="10" name="Line 10"/>
            <p:cNvSpPr/>
            <p:nvPr/>
          </p:nvSpPr>
          <p:spPr>
            <a:xfrm>
              <a:off x="2990850" y="2209800"/>
              <a:ext cx="438150" cy="1"/>
            </a:xfrm>
            <a:prstGeom prst="line">
              <a:avLst/>
            </a:prstGeom>
            <a:noFill/>
            <a:ln w="19050">
              <a:solidFill>
                <a:schemeClr val="accent1"/>
              </a:solidFill>
              <a:tailEnd type="triangle" w="lg" len="lg"/>
            </a:ln>
          </p:spPr>
        </p:sp>
        <p:sp>
          <p:nvSpPr>
            <p:cNvPr id="11" name="Line 11"/>
            <p:cNvSpPr/>
            <p:nvPr/>
          </p:nvSpPr>
          <p:spPr>
            <a:xfrm>
              <a:off x="5753100" y="2209800"/>
              <a:ext cx="438150" cy="1"/>
            </a:xfrm>
            <a:prstGeom prst="line">
              <a:avLst/>
            </a:prstGeom>
            <a:noFill/>
            <a:ln w="19050">
              <a:solidFill>
                <a:schemeClr val="accent1"/>
              </a:solidFill>
              <a:tailEnd type="triangle" w="lg" len="lg"/>
            </a:ln>
          </p:spPr>
        </p:sp>
        <p:sp>
          <p:nvSpPr>
            <p:cNvPr id="12" name="Line 12"/>
            <p:cNvSpPr/>
            <p:nvPr/>
          </p:nvSpPr>
          <p:spPr>
            <a:xfrm>
              <a:off x="8515350" y="2209800"/>
              <a:ext cx="438150" cy="1"/>
            </a:xfrm>
            <a:prstGeom prst="line">
              <a:avLst/>
            </a:prstGeom>
            <a:noFill/>
            <a:ln w="19050">
              <a:solidFill>
                <a:schemeClr val="accent1"/>
              </a:solidFill>
              <a:tailEnd type="triangle" w="lg" len="lg"/>
            </a:ln>
          </p:spPr>
        </p:sp>
        <p:sp>
          <p:nvSpPr>
            <p:cNvPr id="13" name="Rectangle 13"/>
            <p:cNvSpPr/>
            <p:nvPr/>
          </p:nvSpPr>
          <p:spPr>
            <a:xfrm>
              <a:off x="742950" y="1866900"/>
              <a:ext cx="2247900" cy="685800"/>
            </a:xfrm>
            <a:prstGeom prst="roundRect">
              <a:avLst>
                <a:gd name="adj" fmla="val 13889"/>
              </a:avLst>
            </a:prstGeom>
            <a:solidFill>
              <a:schemeClr val="lt1"/>
            </a:solidFill>
            <a:ln>
              <a:noFill/>
            </a:ln>
          </p:spPr>
        </p:sp>
        <p:sp>
          <p:nvSpPr>
            <p:cNvPr id="14" name="TextBox 14"/>
            <p:cNvSpPr txBox="1"/>
            <p:nvPr/>
          </p:nvSpPr>
          <p:spPr>
            <a:xfrm>
              <a:off x="1261491" y="200120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资料接入、格式转换</a:t>
              </a:r>
              <a:br/>
              <a:r>
                <a:rPr lang="zh-CN" sz="1050" dirty="0">
                  <a:solidFill>
                    <a:schemeClr val="dk1"/>
                  </a:solidFill>
                  <a:latin typeface="+mn-lt"/>
                  <a:ea typeface="+mn-ea"/>
                  <a:cs typeface="+mn-cs"/>
                </a:rPr>
                <a:t>与合规性校验</a:t>
              </a:r>
            </a:p>
          </p:txBody>
        </p:sp>
        <p:sp>
          <p:nvSpPr>
            <p:cNvPr id="15" name="Rectangle 15"/>
            <p:cNvSpPr/>
            <p:nvPr/>
          </p:nvSpPr>
          <p:spPr>
            <a:xfrm>
              <a:off x="3505200" y="1866900"/>
              <a:ext cx="2247900" cy="685800"/>
            </a:xfrm>
            <a:prstGeom prst="roundRect">
              <a:avLst>
                <a:gd name="adj" fmla="val 13889"/>
              </a:avLst>
            </a:prstGeom>
            <a:solidFill>
              <a:schemeClr val="lt1"/>
            </a:solidFill>
            <a:ln>
              <a:noFill/>
            </a:ln>
          </p:spPr>
        </p:sp>
        <p:sp>
          <p:nvSpPr>
            <p:cNvPr id="16" name="TextBox 16"/>
            <p:cNvSpPr txBox="1"/>
            <p:nvPr/>
          </p:nvSpPr>
          <p:spPr>
            <a:xfrm>
              <a:off x="3890391" y="2001202"/>
              <a:ext cx="14775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站隧一体化施工工序模型</a:t>
              </a:r>
              <a:br/>
              <a:r>
                <a:rPr lang="zh-CN" sz="1050" dirty="0">
                  <a:solidFill>
                    <a:schemeClr val="dk1"/>
                  </a:solidFill>
                  <a:latin typeface="+mn-lt"/>
                  <a:ea typeface="+mn-ea"/>
                  <a:cs typeface="+mn-cs"/>
                </a:rPr>
                <a:t>风险机理库</a:t>
              </a:r>
            </a:p>
          </p:txBody>
        </p:sp>
        <p:sp>
          <p:nvSpPr>
            <p:cNvPr id="17" name="Rectangle 17"/>
            <p:cNvSpPr/>
            <p:nvPr/>
          </p:nvSpPr>
          <p:spPr>
            <a:xfrm>
              <a:off x="6267450" y="1866900"/>
              <a:ext cx="2247900" cy="685800"/>
            </a:xfrm>
            <a:prstGeom prst="roundRect">
              <a:avLst>
                <a:gd name="adj" fmla="val 13889"/>
              </a:avLst>
            </a:prstGeom>
            <a:solidFill>
              <a:schemeClr val="lt1"/>
            </a:solidFill>
            <a:ln>
              <a:noFill/>
            </a:ln>
          </p:spPr>
        </p:sp>
        <p:sp>
          <p:nvSpPr>
            <p:cNvPr id="18" name="TextBox 18"/>
            <p:cNvSpPr txBox="1"/>
            <p:nvPr/>
          </p:nvSpPr>
          <p:spPr>
            <a:xfrm>
              <a:off x="6785991" y="200120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混合检索、关系检索</a:t>
              </a:r>
              <a:br/>
              <a:r>
                <a:rPr lang="zh-CN" sz="1050" dirty="0">
                  <a:solidFill>
                    <a:schemeClr val="dk1"/>
                  </a:solidFill>
                  <a:latin typeface="+mn-lt"/>
                  <a:ea typeface="+mn-ea"/>
                  <a:cs typeface="+mn-cs"/>
                </a:rPr>
                <a:t>机理驱动启发式推理</a:t>
              </a:r>
            </a:p>
          </p:txBody>
        </p:sp>
        <p:sp>
          <p:nvSpPr>
            <p:cNvPr id="19" name="Rectangle 19"/>
            <p:cNvSpPr/>
            <p:nvPr/>
          </p:nvSpPr>
          <p:spPr>
            <a:xfrm>
              <a:off x="9029700" y="1866900"/>
              <a:ext cx="2419350" cy="685800"/>
            </a:xfrm>
            <a:prstGeom prst="roundRect">
              <a:avLst>
                <a:gd name="adj" fmla="val 13889"/>
              </a:avLst>
            </a:prstGeom>
            <a:solidFill>
              <a:schemeClr val="lt1"/>
            </a:solidFill>
            <a:ln>
              <a:noFill/>
            </a:ln>
          </p:spPr>
        </p:sp>
        <p:sp>
          <p:nvSpPr>
            <p:cNvPr id="20" name="TextBox 20"/>
            <p:cNvSpPr txBox="1"/>
            <p:nvPr/>
          </p:nvSpPr>
          <p:spPr>
            <a:xfrm>
              <a:off x="9900666" y="2001202"/>
              <a:ext cx="6774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结构化校验</a:t>
              </a:r>
              <a:br/>
              <a:r>
                <a:rPr lang="zh-CN" sz="1050" dirty="0">
                  <a:solidFill>
                    <a:schemeClr val="dk1"/>
                  </a:solidFill>
                  <a:latin typeface="+mn-lt"/>
                  <a:ea typeface="+mn-ea"/>
                  <a:cs typeface="+mn-cs"/>
                </a:rPr>
                <a:t>完整性检查</a:t>
              </a:r>
            </a:p>
          </p:txBody>
        </p:sp>
      </p:grpSp>
      <p:grpSp>
        <p:nvGrpSpPr>
          <p:cNvPr id="25" name="Group 25"/>
          <p:cNvGrpSpPr/>
          <p:nvPr/>
        </p:nvGrpSpPr>
        <p:grpSpPr>
          <a:xfrm>
            <a:off x="4648200" y="2895600"/>
            <a:ext cx="2895600" cy="628650"/>
            <a:chOff x="4648200" y="2895600"/>
            <a:chExt cx="2895600" cy="628650"/>
          </a:xfrm>
        </p:grpSpPr>
        <p:sp>
          <p:nvSpPr>
            <p:cNvPr id="22" name="Rectangle 22"/>
            <p:cNvSpPr/>
            <p:nvPr/>
          </p:nvSpPr>
          <p:spPr>
            <a:xfrm>
              <a:off x="4648200" y="2895600"/>
              <a:ext cx="2895600" cy="628650"/>
            </a:xfrm>
            <a:prstGeom prst="roundRect">
              <a:avLst>
                <a:gd name="adj" fmla="val 18182"/>
              </a:avLst>
            </a:prstGeom>
            <a:solidFill>
              <a:schemeClr val="accent1"/>
            </a:solidFill>
            <a:ln>
              <a:noFill/>
            </a:ln>
          </p:spPr>
        </p:sp>
        <p:sp>
          <p:nvSpPr>
            <p:cNvPr id="23" name="TextBox 23"/>
            <p:cNvSpPr txBox="1"/>
            <p:nvPr/>
          </p:nvSpPr>
          <p:spPr>
            <a:xfrm>
              <a:off x="5595938" y="3039428"/>
              <a:ext cx="100012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标准化风险记录</a:t>
              </a:r>
            </a:p>
          </p:txBody>
        </p:sp>
        <p:sp>
          <p:nvSpPr>
            <p:cNvPr id="24" name="TextBox 24"/>
            <p:cNvSpPr txBox="1"/>
            <p:nvPr/>
          </p:nvSpPr>
          <p:spPr>
            <a:xfrm>
              <a:off x="5424868" y="3274695"/>
              <a:ext cx="1342263" cy="176212"/>
            </a:xfrm>
            <a:prstGeom prst="rect">
              <a:avLst/>
            </a:prstGeom>
            <a:noFill/>
            <a:ln>
              <a:noFill/>
            </a:ln>
          </p:spPr>
          <p:txBody>
            <a:bodyPr wrap="none" lIns="0" tIns="0" rIns="0" bIns="0" anchor="t" anchorCtr="0">
              <a:spAutoFit/>
            </a:bodyPr>
            <a:lstStyle/>
            <a:p>
              <a:pPr algn="ctr"/>
              <a:r>
                <a:rPr lang="zh-CN" sz="900" dirty="0">
                  <a:solidFill>
                    <a:srgbClr val="D5DCE4"/>
                  </a:solidFill>
                  <a:latin typeface="+mn-lt"/>
                  <a:ea typeface="+mn-ea"/>
                  <a:cs typeface="+mn-cs"/>
                </a:rPr>
                <a:t>识别与评估共享领域对象</a:t>
              </a:r>
            </a:p>
          </p:txBody>
        </p:sp>
      </p:grpSp>
      <p:grpSp>
        <p:nvGrpSpPr>
          <p:cNvPr id="39" name="Group 39"/>
          <p:cNvGrpSpPr/>
          <p:nvPr/>
        </p:nvGrpSpPr>
        <p:grpSpPr>
          <a:xfrm>
            <a:off x="533400" y="3581400"/>
            <a:ext cx="11125200" cy="1447800"/>
            <a:chOff x="533400" y="3581400"/>
            <a:chExt cx="11125200" cy="1447800"/>
          </a:xfrm>
        </p:grpSpPr>
        <p:sp>
          <p:nvSpPr>
            <p:cNvPr id="26" name="Rectangle 26"/>
            <p:cNvSpPr/>
            <p:nvPr/>
          </p:nvSpPr>
          <p:spPr>
            <a:xfrm>
              <a:off x="533400" y="3581400"/>
              <a:ext cx="11125200" cy="1447800"/>
            </a:xfrm>
            <a:prstGeom prst="roundRect">
              <a:avLst>
                <a:gd name="adj" fmla="val 7895"/>
              </a:avLst>
            </a:prstGeom>
            <a:solidFill>
              <a:srgbClr val="EEF7F4"/>
            </a:solidFill>
            <a:ln w="19050">
              <a:solidFill>
                <a:schemeClr val="accent2"/>
              </a:solidFill>
            </a:ln>
          </p:spPr>
        </p:sp>
        <p:sp>
          <p:nvSpPr>
            <p:cNvPr id="27" name="TextBox 27"/>
            <p:cNvSpPr txBox="1"/>
            <p:nvPr/>
          </p:nvSpPr>
          <p:spPr>
            <a:xfrm>
              <a:off x="8424916" y="3737610"/>
              <a:ext cx="3011180" cy="234696"/>
            </a:xfrm>
            <a:prstGeom prst="rect">
              <a:avLst/>
            </a:prstGeom>
            <a:noFill/>
            <a:ln>
              <a:noFill/>
            </a:ln>
          </p:spPr>
          <p:txBody>
            <a:bodyPr wrap="none" lIns="0" tIns="0" rIns="0" bIns="0" anchor="t" anchorCtr="0">
              <a:spAutoFit/>
            </a:bodyPr>
            <a:lstStyle/>
            <a:p>
              <a:pPr algn="r"/>
              <a:r>
                <a:rPr lang="zh-CN" sz="1200" b="1" dirty="0">
                  <a:solidFill>
                    <a:schemeClr val="accent2"/>
                  </a:solidFill>
                  <a:latin typeface="+mn-lt"/>
                  <a:ea typeface="+mn-ea"/>
                  <a:cs typeface="+mn-cs"/>
                </a:rPr>
                <a:t>风险智能评估与预警 专利步骤 S1 至 S7</a:t>
              </a:r>
            </a:p>
          </p:txBody>
        </p:sp>
        <p:sp>
          <p:nvSpPr>
            <p:cNvPr id="28" name="Line 28"/>
            <p:cNvSpPr/>
            <p:nvPr/>
          </p:nvSpPr>
          <p:spPr>
            <a:xfrm>
              <a:off x="2990850" y="4400550"/>
              <a:ext cx="438150" cy="1"/>
            </a:xfrm>
            <a:prstGeom prst="line">
              <a:avLst/>
            </a:prstGeom>
            <a:noFill/>
            <a:ln w="19050">
              <a:solidFill>
                <a:schemeClr val="accent1"/>
              </a:solidFill>
              <a:tailEnd type="triangle" w="lg" len="lg"/>
            </a:ln>
          </p:spPr>
        </p:sp>
        <p:sp>
          <p:nvSpPr>
            <p:cNvPr id="29" name="Line 29"/>
            <p:cNvSpPr/>
            <p:nvPr/>
          </p:nvSpPr>
          <p:spPr>
            <a:xfrm>
              <a:off x="5753100" y="4400550"/>
              <a:ext cx="438150" cy="1"/>
            </a:xfrm>
            <a:prstGeom prst="line">
              <a:avLst/>
            </a:prstGeom>
            <a:noFill/>
            <a:ln w="19050">
              <a:solidFill>
                <a:schemeClr val="accent1"/>
              </a:solidFill>
              <a:tailEnd type="triangle" w="lg" len="lg"/>
            </a:ln>
          </p:spPr>
        </p:sp>
        <p:sp>
          <p:nvSpPr>
            <p:cNvPr id="30" name="Line 30"/>
            <p:cNvSpPr/>
            <p:nvPr/>
          </p:nvSpPr>
          <p:spPr>
            <a:xfrm>
              <a:off x="8515350" y="4400550"/>
              <a:ext cx="438150" cy="1"/>
            </a:xfrm>
            <a:prstGeom prst="line">
              <a:avLst/>
            </a:prstGeom>
            <a:noFill/>
            <a:ln w="19050">
              <a:solidFill>
                <a:schemeClr val="accent1"/>
              </a:solidFill>
              <a:tailEnd type="triangle" w="lg" len="lg"/>
            </a:ln>
          </p:spPr>
        </p:sp>
        <p:sp>
          <p:nvSpPr>
            <p:cNvPr id="31" name="Rectangle 31"/>
            <p:cNvSpPr/>
            <p:nvPr/>
          </p:nvSpPr>
          <p:spPr>
            <a:xfrm>
              <a:off x="742950" y="4057650"/>
              <a:ext cx="2247900" cy="685800"/>
            </a:xfrm>
            <a:prstGeom prst="roundRect">
              <a:avLst>
                <a:gd name="adj" fmla="val 13889"/>
              </a:avLst>
            </a:prstGeom>
            <a:solidFill>
              <a:schemeClr val="lt1"/>
            </a:solidFill>
            <a:ln>
              <a:noFill/>
            </a:ln>
          </p:spPr>
        </p:sp>
        <p:sp>
          <p:nvSpPr>
            <p:cNvPr id="32" name="TextBox 32"/>
            <p:cNvSpPr txBox="1"/>
            <p:nvPr/>
          </p:nvSpPr>
          <p:spPr>
            <a:xfrm>
              <a:off x="1128141" y="4191952"/>
              <a:ext cx="14775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适用性元数据快照</a:t>
              </a:r>
              <a:br/>
              <a:r>
                <a:rPr lang="zh-CN" sz="1050" dirty="0">
                  <a:solidFill>
                    <a:schemeClr val="dk1"/>
                  </a:solidFill>
                  <a:latin typeface="+mn-lt"/>
                  <a:ea typeface="+mn-ea"/>
                  <a:cs typeface="+mn-cs"/>
                </a:rPr>
                <a:t>规则一致性与适用性校验</a:t>
              </a:r>
            </a:p>
          </p:txBody>
        </p:sp>
        <p:sp>
          <p:nvSpPr>
            <p:cNvPr id="33" name="Rectangle 33"/>
            <p:cNvSpPr/>
            <p:nvPr/>
          </p:nvSpPr>
          <p:spPr>
            <a:xfrm>
              <a:off x="3505200" y="4057650"/>
              <a:ext cx="2247900" cy="685800"/>
            </a:xfrm>
            <a:prstGeom prst="roundRect">
              <a:avLst>
                <a:gd name="adj" fmla="val 13889"/>
              </a:avLst>
            </a:prstGeom>
            <a:solidFill>
              <a:schemeClr val="lt1"/>
            </a:solidFill>
            <a:ln>
              <a:noFill/>
            </a:ln>
          </p:spPr>
        </p:sp>
        <p:sp>
          <p:nvSpPr>
            <p:cNvPr id="34" name="TextBox 34"/>
            <p:cNvSpPr txBox="1"/>
            <p:nvPr/>
          </p:nvSpPr>
          <p:spPr>
            <a:xfrm>
              <a:off x="4160425" y="4191952"/>
              <a:ext cx="937450"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指标实际取值</a:t>
              </a:r>
              <a:br/>
              <a:r>
                <a:rPr lang="zh-CN" sz="1050" dirty="0">
                  <a:solidFill>
                    <a:schemeClr val="dk1"/>
                  </a:solidFill>
                  <a:latin typeface="+mn-lt"/>
                  <a:ea typeface="+mn-ea"/>
                  <a:cs typeface="+mn-cs"/>
                </a:rPr>
                <a:t>P/C 确定性评分</a:t>
              </a:r>
            </a:p>
          </p:txBody>
        </p:sp>
        <p:sp>
          <p:nvSpPr>
            <p:cNvPr id="35" name="Rectangle 35"/>
            <p:cNvSpPr/>
            <p:nvPr/>
          </p:nvSpPr>
          <p:spPr>
            <a:xfrm>
              <a:off x="6267450" y="4057650"/>
              <a:ext cx="2247900" cy="685800"/>
            </a:xfrm>
            <a:prstGeom prst="roundRect">
              <a:avLst>
                <a:gd name="adj" fmla="val 13889"/>
              </a:avLst>
            </a:prstGeom>
            <a:solidFill>
              <a:schemeClr val="lt1"/>
            </a:solidFill>
            <a:ln>
              <a:noFill/>
            </a:ln>
          </p:spPr>
        </p:sp>
        <p:sp>
          <p:nvSpPr>
            <p:cNvPr id="36" name="TextBox 36"/>
            <p:cNvSpPr txBox="1"/>
            <p:nvPr/>
          </p:nvSpPr>
          <p:spPr>
            <a:xfrm>
              <a:off x="6919341" y="4191952"/>
              <a:ext cx="9441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版本化风险矩阵</a:t>
              </a:r>
              <a:br/>
              <a:r>
                <a:rPr lang="zh-CN" sz="1050" dirty="0">
                  <a:solidFill>
                    <a:schemeClr val="dk1"/>
                  </a:solidFill>
                  <a:latin typeface="+mn-lt"/>
                  <a:ea typeface="+mn-ea"/>
                  <a:cs typeface="+mn-cs"/>
                </a:rPr>
                <a:t>风险评估记录</a:t>
              </a:r>
            </a:p>
          </p:txBody>
        </p:sp>
        <p:sp>
          <p:nvSpPr>
            <p:cNvPr id="37" name="Rectangle 37"/>
            <p:cNvSpPr/>
            <p:nvPr/>
          </p:nvSpPr>
          <p:spPr>
            <a:xfrm>
              <a:off x="9029700" y="4057650"/>
              <a:ext cx="2419350" cy="685800"/>
            </a:xfrm>
            <a:prstGeom prst="roundRect">
              <a:avLst>
                <a:gd name="adj" fmla="val 13889"/>
              </a:avLst>
            </a:prstGeom>
            <a:solidFill>
              <a:schemeClr val="lt1"/>
            </a:solidFill>
            <a:ln>
              <a:noFill/>
            </a:ln>
          </p:spPr>
        </p:sp>
        <p:sp>
          <p:nvSpPr>
            <p:cNvPr id="38" name="TextBox 38"/>
            <p:cNvSpPr txBox="1"/>
            <p:nvPr/>
          </p:nvSpPr>
          <p:spPr>
            <a:xfrm>
              <a:off x="9633966" y="419195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预警信息、处置建议</a:t>
              </a:r>
              <a:br/>
              <a:r>
                <a:rPr lang="zh-CN" sz="1050" dirty="0">
                  <a:solidFill>
                    <a:schemeClr val="dk1"/>
                  </a:solidFill>
                  <a:latin typeface="+mn-lt"/>
                  <a:ea typeface="+mn-ea"/>
                  <a:cs typeface="+mn-cs"/>
                </a:rPr>
                <a:t>偏差记录与校准建议</a:t>
              </a:r>
            </a:p>
          </p:txBody>
        </p:sp>
      </p:grpSp>
      <p:grpSp>
        <p:nvGrpSpPr>
          <p:cNvPr id="45" name="Group 45"/>
          <p:cNvGrpSpPr/>
          <p:nvPr/>
        </p:nvGrpSpPr>
        <p:grpSpPr>
          <a:xfrm>
            <a:off x="1866900" y="2552700"/>
            <a:ext cx="8372475" cy="2819400"/>
            <a:chOff x="1866900" y="2552700"/>
            <a:chExt cx="8372475" cy="2819400"/>
          </a:xfrm>
        </p:grpSpPr>
        <p:sp>
          <p:nvSpPr>
            <p:cNvPr id="40" name="Freeform 40"/>
            <p:cNvSpPr/>
            <p:nvPr/>
          </p:nvSpPr>
          <p:spPr>
            <a:xfrm>
              <a:off x="7543800" y="2552700"/>
              <a:ext cx="2695575" cy="657225"/>
            </a:xfrm>
            <a:custGeom>
              <a:avLst/>
              <a:gdLst/>
              <a:ahLst/>
              <a:cxnLst/>
              <a:rect l="l" t="t" r="r" b="b"/>
              <a:pathLst>
                <a:path w="2695575" h="657225">
                  <a:moveTo>
                    <a:pt x="2695575" y="0"/>
                  </a:moveTo>
                  <a:lnTo>
                    <a:pt x="2695575" y="657225"/>
                  </a:lnTo>
                  <a:lnTo>
                    <a:pt x="0" y="657225"/>
                  </a:lnTo>
                </a:path>
              </a:pathLst>
            </a:custGeom>
            <a:noFill/>
            <a:ln w="19050">
              <a:solidFill>
                <a:schemeClr val="accent1"/>
              </a:solidFill>
              <a:tailEnd type="triangle" w="lg" len="lg"/>
            </a:ln>
          </p:spPr>
        </p:sp>
        <p:sp>
          <p:nvSpPr>
            <p:cNvPr id="41" name="Freeform 41"/>
            <p:cNvSpPr/>
            <p:nvPr/>
          </p:nvSpPr>
          <p:spPr>
            <a:xfrm>
              <a:off x="1866900" y="3209925"/>
              <a:ext cx="2781300" cy="847725"/>
            </a:xfrm>
            <a:custGeom>
              <a:avLst/>
              <a:gdLst/>
              <a:ahLst/>
              <a:cxnLst/>
              <a:rect l="l" t="t" r="r" b="b"/>
              <a:pathLst>
                <a:path w="2781300" h="847725">
                  <a:moveTo>
                    <a:pt x="2781300" y="0"/>
                  </a:moveTo>
                  <a:lnTo>
                    <a:pt x="0" y="0"/>
                  </a:lnTo>
                  <a:lnTo>
                    <a:pt x="0" y="847725"/>
                  </a:lnTo>
                </a:path>
              </a:pathLst>
            </a:custGeom>
            <a:noFill/>
            <a:ln w="19050">
              <a:solidFill>
                <a:schemeClr val="accent1"/>
              </a:solidFill>
              <a:tailEnd type="triangle" w="lg" len="lg"/>
            </a:ln>
          </p:spPr>
        </p:sp>
        <p:sp>
          <p:nvSpPr>
            <p:cNvPr id="42" name="Freeform 42"/>
            <p:cNvSpPr/>
            <p:nvPr/>
          </p:nvSpPr>
          <p:spPr>
            <a:xfrm>
              <a:off x="1866900" y="4743450"/>
              <a:ext cx="8372475" cy="228600"/>
            </a:xfrm>
            <a:custGeom>
              <a:avLst/>
              <a:gdLst/>
              <a:ahLst/>
              <a:cxnLst/>
              <a:rect l="l" t="t" r="r" b="b"/>
              <a:pathLst>
                <a:path w="8372475" h="228600">
                  <a:moveTo>
                    <a:pt x="8372475" y="0"/>
                  </a:moveTo>
                  <a:lnTo>
                    <a:pt x="8372475" y="228600"/>
                  </a:lnTo>
                  <a:lnTo>
                    <a:pt x="0" y="228600"/>
                  </a:lnTo>
                  <a:lnTo>
                    <a:pt x="0" y="0"/>
                  </a:lnTo>
                </a:path>
              </a:pathLst>
            </a:custGeom>
            <a:noFill/>
            <a:ln w="19050">
              <a:solidFill>
                <a:schemeClr val="accent3"/>
              </a:solidFill>
              <a:tailEnd type="triangle" w="lg" len="lg"/>
            </a:ln>
          </p:spPr>
        </p:sp>
        <p:sp>
          <p:nvSpPr>
            <p:cNvPr id="43" name="Rectangle 43"/>
            <p:cNvSpPr/>
            <p:nvPr/>
          </p:nvSpPr>
          <p:spPr>
            <a:xfrm>
              <a:off x="4400550" y="5067300"/>
              <a:ext cx="3390900" cy="304800"/>
            </a:xfrm>
            <a:prstGeom prst="roundRect">
              <a:avLst>
                <a:gd name="adj" fmla="val 50000"/>
              </a:avLst>
            </a:prstGeom>
            <a:solidFill>
              <a:schemeClr val="accent3"/>
            </a:solidFill>
            <a:ln>
              <a:noFill/>
            </a:ln>
          </p:spPr>
        </p:sp>
        <p:sp>
          <p:nvSpPr>
            <p:cNvPr id="44" name="TextBox 44"/>
            <p:cNvSpPr txBox="1"/>
            <p:nvPr/>
          </p:nvSpPr>
          <p:spPr>
            <a:xfrm>
              <a:off x="5030534" y="5163502"/>
              <a:ext cx="213093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监测与处置反馈形成新的评估输入</a:t>
              </a:r>
            </a:p>
          </p:txBody>
        </p:sp>
      </p:grpSp>
      <p:grpSp>
        <p:nvGrpSpPr>
          <p:cNvPr id="55" name="Group 55"/>
          <p:cNvGrpSpPr/>
          <p:nvPr/>
        </p:nvGrpSpPr>
        <p:grpSpPr>
          <a:xfrm>
            <a:off x="533400" y="5467350"/>
            <a:ext cx="11125200" cy="552450"/>
            <a:chOff x="533400" y="5467350"/>
            <a:chExt cx="11125200" cy="552450"/>
          </a:xfrm>
        </p:grpSpPr>
        <p:sp>
          <p:nvSpPr>
            <p:cNvPr id="46" name="Rectangle 46"/>
            <p:cNvSpPr/>
            <p:nvPr/>
          </p:nvSpPr>
          <p:spPr>
            <a:xfrm>
              <a:off x="533400" y="5467350"/>
              <a:ext cx="3524250" cy="552450"/>
            </a:xfrm>
            <a:prstGeom prst="roundRect">
              <a:avLst>
                <a:gd name="adj" fmla="val 17241"/>
              </a:avLst>
            </a:prstGeom>
            <a:solidFill>
              <a:schemeClr val="lt2"/>
            </a:solidFill>
            <a:ln>
              <a:noFill/>
            </a:ln>
          </p:spPr>
        </p:sp>
        <p:sp>
          <p:nvSpPr>
            <p:cNvPr id="47" name="TextBox 47"/>
            <p:cNvSpPr txBox="1"/>
            <p:nvPr/>
          </p:nvSpPr>
          <p:spPr>
            <a:xfrm>
              <a:off x="718566" y="5573078"/>
              <a:ext cx="576072"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识别依据</a:t>
              </a:r>
            </a:p>
          </p:txBody>
        </p:sp>
        <p:sp>
          <p:nvSpPr>
            <p:cNvPr id="48" name="TextBox 48"/>
            <p:cNvSpPr txBox="1"/>
            <p:nvPr/>
          </p:nvSpPr>
          <p:spPr>
            <a:xfrm>
              <a:off x="718947" y="5790724"/>
              <a:ext cx="2912313"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工序模型、风险机理条目和检索证据共同约束推理</a:t>
              </a:r>
            </a:p>
          </p:txBody>
        </p:sp>
        <p:sp>
          <p:nvSpPr>
            <p:cNvPr id="49" name="Rectangle 49"/>
            <p:cNvSpPr/>
            <p:nvPr/>
          </p:nvSpPr>
          <p:spPr>
            <a:xfrm>
              <a:off x="4229100" y="5467350"/>
              <a:ext cx="3524250" cy="552450"/>
            </a:xfrm>
            <a:prstGeom prst="roundRect">
              <a:avLst>
                <a:gd name="adj" fmla="val 17241"/>
              </a:avLst>
            </a:prstGeom>
            <a:solidFill>
              <a:schemeClr val="lt2"/>
            </a:solidFill>
            <a:ln>
              <a:noFill/>
            </a:ln>
          </p:spPr>
        </p:sp>
        <p:sp>
          <p:nvSpPr>
            <p:cNvPr id="50" name="TextBox 50"/>
            <p:cNvSpPr txBox="1"/>
            <p:nvPr/>
          </p:nvSpPr>
          <p:spPr>
            <a:xfrm>
              <a:off x="4414266" y="5573078"/>
              <a:ext cx="576072"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评估依据</a:t>
              </a:r>
            </a:p>
          </p:txBody>
        </p:sp>
        <p:sp>
          <p:nvSpPr>
            <p:cNvPr id="51" name="TextBox 51"/>
            <p:cNvSpPr txBox="1"/>
            <p:nvPr/>
          </p:nvSpPr>
          <p:spPr>
            <a:xfrm>
              <a:off x="4414647" y="5790724"/>
              <a:ext cx="3044241"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适用规则集、指标实际取值、权重和版本化风险矩阵</a:t>
              </a:r>
            </a:p>
          </p:txBody>
        </p:sp>
        <p:sp>
          <p:nvSpPr>
            <p:cNvPr id="52" name="Rectangle 52"/>
            <p:cNvSpPr/>
            <p:nvPr/>
          </p:nvSpPr>
          <p:spPr>
            <a:xfrm>
              <a:off x="7924800" y="5467350"/>
              <a:ext cx="3733800" cy="552450"/>
            </a:xfrm>
            <a:prstGeom prst="roundRect">
              <a:avLst>
                <a:gd name="adj" fmla="val 17241"/>
              </a:avLst>
            </a:prstGeom>
            <a:solidFill>
              <a:srgbClr val="FFF7EC"/>
            </a:solidFill>
            <a:ln>
              <a:noFill/>
            </a:ln>
          </p:spPr>
        </p:sp>
        <p:sp>
          <p:nvSpPr>
            <p:cNvPr id="53" name="TextBox 53"/>
            <p:cNvSpPr txBox="1"/>
            <p:nvPr/>
          </p:nvSpPr>
          <p:spPr>
            <a:xfrm>
              <a:off x="8109966" y="5573078"/>
              <a:ext cx="576072"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反馈边界</a:t>
              </a:r>
            </a:p>
          </p:txBody>
        </p:sp>
        <p:sp>
          <p:nvSpPr>
            <p:cNvPr id="54" name="TextBox 54"/>
            <p:cNvSpPr txBox="1"/>
            <p:nvPr/>
          </p:nvSpPr>
          <p:spPr>
            <a:xfrm>
              <a:off x="8110347" y="5790724"/>
              <a:ext cx="2912313"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偏差超限只生成校准建议，审核通过后形成新版本</a:t>
              </a:r>
            </a:p>
          </p:txBody>
        </p:sp>
      </p:grpSp>
      <p:grpSp>
        <p:nvGrpSpPr>
          <p:cNvPr id="58" name="Group 58"/>
          <p:cNvGrpSpPr/>
          <p:nvPr/>
        </p:nvGrpSpPr>
        <p:grpSpPr>
          <a:xfrm>
            <a:off x="528638" y="6311741"/>
            <a:ext cx="11134724" cy="161925"/>
            <a:chOff x="528638" y="6311741"/>
            <a:chExt cx="11134724" cy="161925"/>
          </a:xfrm>
        </p:grpSpPr>
        <p:sp>
          <p:nvSpPr>
            <p:cNvPr id="56" name="TextBox 5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57" name="TextBox 5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2296820" cy="366712"/>
            <a:chOff x="523875" y="921544"/>
            <a:chExt cx="2296820" cy="366712"/>
          </a:xfrm>
        </p:grpSpPr>
        <p:sp>
          <p:nvSpPr>
            <p:cNvPr id="6" name="TextBox 6"/>
            <p:cNvSpPr txBox="1"/>
            <p:nvPr/>
          </p:nvSpPr>
          <p:spPr>
            <a:xfrm>
              <a:off x="523875" y="921544"/>
              <a:ext cx="2296820"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技术实现与工程保障</a:t>
              </a:r>
            </a:p>
          </p:txBody>
        </p:sp>
      </p:grpSp>
      <p:grpSp>
        <p:nvGrpSpPr>
          <p:cNvPr id="19" name="Group 19"/>
          <p:cNvGrpSpPr/>
          <p:nvPr/>
        </p:nvGrpSpPr>
        <p:grpSpPr>
          <a:xfrm>
            <a:off x="533400" y="1428750"/>
            <a:ext cx="3524250" cy="2590800"/>
            <a:chOff x="533400" y="1428750"/>
            <a:chExt cx="3524250" cy="2590800"/>
          </a:xfrm>
        </p:grpSpPr>
        <p:sp>
          <p:nvSpPr>
            <p:cNvPr id="8" name="Rectangle 8"/>
            <p:cNvSpPr/>
            <p:nvPr/>
          </p:nvSpPr>
          <p:spPr>
            <a:xfrm>
              <a:off x="533400" y="1428750"/>
              <a:ext cx="3524250" cy="2590800"/>
            </a:xfrm>
            <a:prstGeom prst="roundRect">
              <a:avLst>
                <a:gd name="adj" fmla="val 4412"/>
              </a:avLst>
            </a:prstGeom>
            <a:solidFill>
              <a:schemeClr val="lt2"/>
            </a:solidFill>
            <a:ln>
              <a:noFill/>
            </a:ln>
          </p:spPr>
        </p:sp>
        <p:grpSp>
          <p:nvGrpSpPr>
            <p:cNvPr id="14" name="Group 14"/>
            <p:cNvGrpSpPr/>
            <p:nvPr/>
          </p:nvGrpSpPr>
          <p:grpSpPr>
            <a:xfrm>
              <a:off x="821531" y="1730375"/>
              <a:ext cx="242888" cy="215901"/>
              <a:chOff x="821531" y="1730375"/>
              <a:chExt cx="242888" cy="215901"/>
            </a:xfrm>
          </p:grpSpPr>
          <p:sp>
            <p:nvSpPr>
              <p:cNvPr id="9" name="Freeform 9"/>
              <p:cNvSpPr/>
              <p:nvPr/>
            </p:nvSpPr>
            <p:spPr>
              <a:xfrm>
                <a:off x="821531" y="1730375"/>
                <a:ext cx="242888" cy="215901"/>
              </a:xfrm>
              <a:custGeom>
                <a:avLst/>
                <a:gdLst/>
                <a:ahLst/>
                <a:cxnLst/>
                <a:rect l="l" t="t" r="r" b="b"/>
                <a:pathLst>
                  <a:path w="242888" h="215901">
                    <a:moveTo>
                      <a:pt x="0" y="40481"/>
                    </a:moveTo>
                    <a:lnTo>
                      <a:pt x="80963" y="0"/>
                    </a:lnTo>
                    <a:lnTo>
                      <a:pt x="161925" y="40481"/>
                    </a:lnTo>
                    <a:lnTo>
                      <a:pt x="242888" y="0"/>
                    </a:lnTo>
                    <a:lnTo>
                      <a:pt x="242888" y="175419"/>
                    </a:lnTo>
                    <a:lnTo>
                      <a:pt x="161925" y="215901"/>
                    </a:lnTo>
                    <a:lnTo>
                      <a:pt x="80963" y="175419"/>
                    </a:lnTo>
                    <a:lnTo>
                      <a:pt x="0" y="215901"/>
                    </a:lnTo>
                    <a:lnTo>
                      <a:pt x="0" y="40481"/>
                    </a:lnTo>
                  </a:path>
                </a:pathLst>
              </a:custGeom>
              <a:noFill/>
              <a:ln w="26988">
                <a:solidFill>
                  <a:schemeClr val="accent1"/>
                </a:solidFill>
              </a:ln>
            </p:spPr>
          </p:sp>
          <p:sp>
            <p:nvSpPr>
              <p:cNvPr id="10" name="Freeform 10"/>
              <p:cNvSpPr/>
              <p:nvPr/>
            </p:nvSpPr>
            <p:spPr>
              <a:xfrm>
                <a:off x="902494" y="1838325"/>
                <a:ext cx="9525" cy="9525"/>
              </a:xfrm>
              <a:custGeom>
                <a:avLst/>
                <a:gdLst/>
                <a:ahLst/>
                <a:cxnLst/>
                <a:rect l="l" t="t" r="r" b="b"/>
                <a:pathLst>
                  <a:path w="9525" h="9525">
                    <a:moveTo>
                      <a:pt x="0" y="0"/>
                    </a:moveTo>
                    <a:lnTo>
                      <a:pt x="0" y="135"/>
                    </a:lnTo>
                  </a:path>
                </a:pathLst>
              </a:custGeom>
              <a:noFill/>
              <a:ln w="26988">
                <a:solidFill>
                  <a:schemeClr val="accent1"/>
                </a:solidFill>
              </a:ln>
            </p:spPr>
          </p:sp>
          <p:sp>
            <p:nvSpPr>
              <p:cNvPr id="11" name="Freeform 11"/>
              <p:cNvSpPr/>
              <p:nvPr/>
            </p:nvSpPr>
            <p:spPr>
              <a:xfrm>
                <a:off x="862013" y="1851819"/>
                <a:ext cx="9525" cy="9525"/>
              </a:xfrm>
              <a:custGeom>
                <a:avLst/>
                <a:gdLst/>
                <a:ahLst/>
                <a:cxnLst/>
                <a:rect l="l" t="t" r="r" b="b"/>
                <a:pathLst>
                  <a:path w="9525" h="9525">
                    <a:moveTo>
                      <a:pt x="0" y="0"/>
                    </a:moveTo>
                    <a:lnTo>
                      <a:pt x="0" y="135"/>
                    </a:lnTo>
                  </a:path>
                </a:pathLst>
              </a:custGeom>
              <a:noFill/>
              <a:ln w="26988">
                <a:solidFill>
                  <a:schemeClr val="accent1"/>
                </a:solidFill>
              </a:ln>
            </p:spPr>
          </p:sp>
          <p:sp>
            <p:nvSpPr>
              <p:cNvPr id="12" name="Freeform 12"/>
              <p:cNvSpPr/>
              <p:nvPr/>
            </p:nvSpPr>
            <p:spPr>
              <a:xfrm>
                <a:off x="956469" y="1824832"/>
                <a:ext cx="53975" cy="53975"/>
              </a:xfrm>
              <a:custGeom>
                <a:avLst/>
                <a:gdLst/>
                <a:ahLst/>
                <a:cxnLst/>
                <a:rect l="l" t="t" r="r" b="b"/>
                <a:pathLst>
                  <a:path w="53975" h="53975">
                    <a:moveTo>
                      <a:pt x="53975" y="53975"/>
                    </a:moveTo>
                    <a:lnTo>
                      <a:pt x="0" y="0"/>
                    </a:lnTo>
                  </a:path>
                </a:pathLst>
              </a:custGeom>
              <a:noFill/>
              <a:ln w="26988">
                <a:solidFill>
                  <a:schemeClr val="accent1"/>
                </a:solidFill>
              </a:ln>
            </p:spPr>
          </p:sp>
          <p:sp>
            <p:nvSpPr>
              <p:cNvPr id="13" name="Freeform 13"/>
              <p:cNvSpPr/>
              <p:nvPr/>
            </p:nvSpPr>
            <p:spPr>
              <a:xfrm>
                <a:off x="956469" y="1824832"/>
                <a:ext cx="53975" cy="53975"/>
              </a:xfrm>
              <a:custGeom>
                <a:avLst/>
                <a:gdLst/>
                <a:ahLst/>
                <a:cxnLst/>
                <a:rect l="l" t="t" r="r" b="b"/>
                <a:pathLst>
                  <a:path w="53975" h="53975">
                    <a:moveTo>
                      <a:pt x="0" y="53975"/>
                    </a:moveTo>
                    <a:lnTo>
                      <a:pt x="53975" y="0"/>
                    </a:lnTo>
                  </a:path>
                </a:pathLst>
              </a:custGeom>
              <a:noFill/>
              <a:ln w="26988">
                <a:solidFill>
                  <a:schemeClr val="accent1"/>
                </a:solidFill>
              </a:ln>
            </p:spPr>
          </p:sp>
        </p:grpSp>
        <p:sp>
          <p:nvSpPr>
            <p:cNvPr id="15" name="TextBox 15"/>
            <p:cNvSpPr txBox="1"/>
            <p:nvPr/>
          </p:nvSpPr>
          <p:spPr>
            <a:xfrm>
              <a:off x="1250061" y="1751171"/>
              <a:ext cx="77912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流程编排</a:t>
              </a:r>
            </a:p>
          </p:txBody>
        </p:sp>
        <p:sp>
          <p:nvSpPr>
            <p:cNvPr id="16" name="TextBox 16"/>
            <p:cNvSpPr txBox="1"/>
            <p:nvPr/>
          </p:nvSpPr>
          <p:spPr>
            <a:xfrm>
              <a:off x="774954" y="2251710"/>
              <a:ext cx="862378"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LangGraph</a:t>
              </a:r>
            </a:p>
          </p:txBody>
        </p:sp>
        <p:sp>
          <p:nvSpPr>
            <p:cNvPr id="17" name="Line 17"/>
            <p:cNvSpPr/>
            <p:nvPr/>
          </p:nvSpPr>
          <p:spPr>
            <a:xfrm>
              <a:off x="781050" y="2667000"/>
              <a:ext cx="3028950" cy="9525"/>
            </a:xfrm>
            <a:custGeom>
              <a:avLst/>
              <a:gdLst/>
              <a:ahLst/>
              <a:cxnLst/>
              <a:rect l="l" t="t" r="r" b="b"/>
              <a:pathLst>
                <a:path w="3028950" h="9525">
                  <a:moveTo>
                    <a:pt x="0" y="0"/>
                  </a:moveTo>
                  <a:lnTo>
                    <a:pt x="3028950" y="0"/>
                  </a:lnTo>
                </a:path>
              </a:pathLst>
            </a:custGeom>
            <a:noFill/>
            <a:ln w="9525">
              <a:solidFill>
                <a:schemeClr val="accent5"/>
              </a:solidFill>
            </a:ln>
          </p:spPr>
        </p:sp>
        <p:sp>
          <p:nvSpPr>
            <p:cNvPr id="18" name="TextBox 18"/>
            <p:cNvSpPr txBox="1"/>
            <p:nvPr/>
          </p:nvSpPr>
          <p:spPr>
            <a:xfrm>
              <a:off x="775716" y="2896552"/>
              <a:ext cx="1877568" cy="433959"/>
            </a:xfrm>
            <a:prstGeom prst="rect">
              <a:avLst/>
            </a:prstGeom>
            <a:noFill/>
            <a:ln>
              <a:noFill/>
            </a:ln>
          </p:spPr>
          <p:txBody>
            <a:bodyPr wrap="none" lIns="0" tIns="0" rIns="0" bIns="0" anchor="t" anchorCtr="0">
              <a:spAutoFit/>
            </a:bodyPr>
            <a:lstStyle/>
            <a:p>
              <a:pPr algn="l">
                <a:lnSpc>
                  <a:spcPts val="1800"/>
                </a:lnSpc>
              </a:pPr>
              <a:r>
                <a:rPr lang="zh-CN" sz="1050" dirty="0">
                  <a:solidFill>
                    <a:schemeClr val="dk1"/>
                  </a:solidFill>
                  <a:latin typeface="+mn-lt"/>
                  <a:ea typeface="+mn-ea"/>
                  <a:cs typeface="+mn-cs"/>
                </a:rPr>
                <a:t>统一组织识别和评估流程，支持</a:t>
              </a:r>
              <a:br/>
              <a:r>
                <a:rPr lang="zh-CN" sz="1050" dirty="0">
                  <a:solidFill>
                    <a:schemeClr val="dk1"/>
                  </a:solidFill>
                  <a:latin typeface="+mn-lt"/>
                  <a:ea typeface="+mn-ea"/>
                  <a:cs typeface="+mn-cs"/>
                </a:rPr>
                <a:t>检查点、重试、暂停与人工复核</a:t>
              </a:r>
            </a:p>
          </p:txBody>
        </p:sp>
      </p:grpSp>
      <p:grpSp>
        <p:nvGrpSpPr>
          <p:cNvPr id="32" name="Group 32"/>
          <p:cNvGrpSpPr/>
          <p:nvPr/>
        </p:nvGrpSpPr>
        <p:grpSpPr>
          <a:xfrm>
            <a:off x="4324350" y="1428750"/>
            <a:ext cx="3524250" cy="2590800"/>
            <a:chOff x="4324350" y="1428750"/>
            <a:chExt cx="3524250" cy="2590800"/>
          </a:xfrm>
        </p:grpSpPr>
        <p:sp>
          <p:nvSpPr>
            <p:cNvPr id="20" name="Rectangle 20"/>
            <p:cNvSpPr/>
            <p:nvPr/>
          </p:nvSpPr>
          <p:spPr>
            <a:xfrm>
              <a:off x="4324350" y="1428750"/>
              <a:ext cx="3524250" cy="2590800"/>
            </a:xfrm>
            <a:prstGeom prst="roundRect">
              <a:avLst>
                <a:gd name="adj" fmla="val 4412"/>
              </a:avLst>
            </a:prstGeom>
            <a:solidFill>
              <a:srgbClr val="EEF7F4"/>
            </a:solidFill>
            <a:ln>
              <a:noFill/>
            </a:ln>
          </p:spPr>
        </p:sp>
        <p:grpSp>
          <p:nvGrpSpPr>
            <p:cNvPr id="27" name="Group 27"/>
            <p:cNvGrpSpPr/>
            <p:nvPr/>
          </p:nvGrpSpPr>
          <p:grpSpPr>
            <a:xfrm>
              <a:off x="4612481" y="1716881"/>
              <a:ext cx="242888" cy="242888"/>
              <a:chOff x="4612481" y="1716881"/>
              <a:chExt cx="242888" cy="242888"/>
            </a:xfrm>
          </p:grpSpPr>
          <p:sp>
            <p:nvSpPr>
              <p:cNvPr id="21" name="Freeform 21"/>
              <p:cNvSpPr/>
              <p:nvPr/>
            </p:nvSpPr>
            <p:spPr>
              <a:xfrm>
                <a:off x="4733925" y="1851819"/>
                <a:ext cx="94456" cy="107950"/>
              </a:xfrm>
              <a:custGeom>
                <a:avLst/>
                <a:gdLst/>
                <a:ahLst/>
                <a:cxnLst/>
                <a:rect l="l" t="t" r="r" b="b"/>
                <a:pathLst>
                  <a:path w="94456" h="107950">
                    <a:moveTo>
                      <a:pt x="47228" y="0"/>
                    </a:moveTo>
                    <a:cubicBezTo>
                      <a:pt x="21145" y="0"/>
                      <a:pt x="0" y="21145"/>
                      <a:pt x="0" y="47228"/>
                    </a:cubicBezTo>
                    <a:lnTo>
                      <a:pt x="0" y="60722"/>
                    </a:lnTo>
                    <a:cubicBezTo>
                      <a:pt x="0" y="86805"/>
                      <a:pt x="21145" y="107950"/>
                      <a:pt x="47228" y="107950"/>
                    </a:cubicBezTo>
                    <a:cubicBezTo>
                      <a:pt x="73312" y="107950"/>
                      <a:pt x="94456" y="86805"/>
                      <a:pt x="94456" y="60722"/>
                    </a:cubicBezTo>
                    <a:lnTo>
                      <a:pt x="94456" y="36433"/>
                    </a:lnTo>
                  </a:path>
                </a:pathLst>
              </a:custGeom>
              <a:noFill/>
              <a:ln w="26988">
                <a:solidFill>
                  <a:schemeClr val="accent2"/>
                </a:solidFill>
              </a:ln>
            </p:spPr>
          </p:sp>
          <p:sp>
            <p:nvSpPr>
              <p:cNvPr id="22" name="Freeform 22"/>
              <p:cNvSpPr/>
              <p:nvPr/>
            </p:nvSpPr>
            <p:spPr>
              <a:xfrm>
                <a:off x="4639469" y="1851819"/>
                <a:ext cx="94456" cy="107950"/>
              </a:xfrm>
              <a:custGeom>
                <a:avLst/>
                <a:gdLst/>
                <a:ahLst/>
                <a:cxnLst/>
                <a:rect l="l" t="t" r="r" b="b"/>
                <a:pathLst>
                  <a:path w="94456" h="107950">
                    <a:moveTo>
                      <a:pt x="47228" y="0"/>
                    </a:moveTo>
                    <a:cubicBezTo>
                      <a:pt x="73312" y="0"/>
                      <a:pt x="94456" y="21145"/>
                      <a:pt x="94456" y="47228"/>
                    </a:cubicBezTo>
                    <a:lnTo>
                      <a:pt x="94456" y="60722"/>
                    </a:lnTo>
                    <a:cubicBezTo>
                      <a:pt x="94456" y="86805"/>
                      <a:pt x="73312" y="107950"/>
                      <a:pt x="47228" y="107950"/>
                    </a:cubicBezTo>
                    <a:cubicBezTo>
                      <a:pt x="21145" y="107950"/>
                      <a:pt x="0" y="86805"/>
                      <a:pt x="0" y="60722"/>
                    </a:cubicBezTo>
                    <a:lnTo>
                      <a:pt x="0" y="36433"/>
                    </a:lnTo>
                  </a:path>
                </a:pathLst>
              </a:custGeom>
              <a:noFill/>
              <a:ln w="26988">
                <a:solidFill>
                  <a:schemeClr val="accent2"/>
                </a:solidFill>
              </a:ln>
            </p:spPr>
          </p:sp>
          <p:sp>
            <p:nvSpPr>
              <p:cNvPr id="23" name="Freeform 23"/>
              <p:cNvSpPr/>
              <p:nvPr/>
            </p:nvSpPr>
            <p:spPr>
              <a:xfrm>
                <a:off x="4801394" y="1797844"/>
                <a:ext cx="53975" cy="94456"/>
              </a:xfrm>
              <a:custGeom>
                <a:avLst/>
                <a:gdLst/>
                <a:ahLst/>
                <a:cxnLst/>
                <a:rect l="l" t="t" r="r" b="b"/>
                <a:pathLst>
                  <a:path w="53975" h="94456">
                    <a:moveTo>
                      <a:pt x="6747" y="94456"/>
                    </a:moveTo>
                    <a:cubicBezTo>
                      <a:pt x="32830" y="94456"/>
                      <a:pt x="53975" y="73312"/>
                      <a:pt x="53975" y="47228"/>
                    </a:cubicBezTo>
                    <a:cubicBezTo>
                      <a:pt x="53975" y="21145"/>
                      <a:pt x="32830" y="0"/>
                      <a:pt x="6747" y="0"/>
                    </a:cubicBezTo>
                    <a:lnTo>
                      <a:pt x="0" y="0"/>
                    </a:lnTo>
                  </a:path>
                </a:pathLst>
              </a:custGeom>
              <a:noFill/>
              <a:ln w="26988">
                <a:solidFill>
                  <a:schemeClr val="accent2"/>
                </a:solidFill>
              </a:ln>
            </p:spPr>
          </p:sp>
          <p:sp>
            <p:nvSpPr>
              <p:cNvPr id="24" name="Freeform 24"/>
              <p:cNvSpPr/>
              <p:nvPr/>
            </p:nvSpPr>
            <p:spPr>
              <a:xfrm>
                <a:off x="4733925" y="1716881"/>
                <a:ext cx="94456" cy="85011"/>
              </a:xfrm>
              <a:custGeom>
                <a:avLst/>
                <a:gdLst/>
                <a:ahLst/>
                <a:cxnLst/>
                <a:rect l="l" t="t" r="r" b="b"/>
                <a:pathLst>
                  <a:path w="94456" h="85011">
                    <a:moveTo>
                      <a:pt x="94456" y="85011"/>
                    </a:moveTo>
                    <a:lnTo>
                      <a:pt x="94456" y="47228"/>
                    </a:lnTo>
                    <a:cubicBezTo>
                      <a:pt x="94456" y="21145"/>
                      <a:pt x="73312" y="0"/>
                      <a:pt x="47228" y="0"/>
                    </a:cubicBezTo>
                    <a:cubicBezTo>
                      <a:pt x="21145" y="0"/>
                      <a:pt x="0" y="21145"/>
                      <a:pt x="0" y="47228"/>
                    </a:cubicBezTo>
                  </a:path>
                </a:pathLst>
              </a:custGeom>
              <a:noFill/>
              <a:ln w="26988">
                <a:solidFill>
                  <a:schemeClr val="accent2"/>
                </a:solidFill>
              </a:ln>
            </p:spPr>
          </p:sp>
          <p:sp>
            <p:nvSpPr>
              <p:cNvPr id="25" name="Freeform 25"/>
              <p:cNvSpPr/>
              <p:nvPr/>
            </p:nvSpPr>
            <p:spPr>
              <a:xfrm>
                <a:off x="4612481" y="1797844"/>
                <a:ext cx="53975" cy="94456"/>
              </a:xfrm>
              <a:custGeom>
                <a:avLst/>
                <a:gdLst/>
                <a:ahLst/>
                <a:cxnLst/>
                <a:rect l="l" t="t" r="r" b="b"/>
                <a:pathLst>
                  <a:path w="53975" h="94456">
                    <a:moveTo>
                      <a:pt x="47228" y="94456"/>
                    </a:moveTo>
                    <a:cubicBezTo>
                      <a:pt x="21145" y="94456"/>
                      <a:pt x="0" y="73312"/>
                      <a:pt x="0" y="47228"/>
                    </a:cubicBezTo>
                    <a:cubicBezTo>
                      <a:pt x="0" y="21145"/>
                      <a:pt x="21145" y="0"/>
                      <a:pt x="47228" y="0"/>
                    </a:cubicBezTo>
                    <a:lnTo>
                      <a:pt x="53975" y="0"/>
                    </a:lnTo>
                  </a:path>
                </a:pathLst>
              </a:custGeom>
              <a:noFill/>
              <a:ln w="26988">
                <a:solidFill>
                  <a:schemeClr val="accent2"/>
                </a:solidFill>
              </a:ln>
            </p:spPr>
          </p:sp>
          <p:sp>
            <p:nvSpPr>
              <p:cNvPr id="26" name="Freeform 26"/>
              <p:cNvSpPr/>
              <p:nvPr/>
            </p:nvSpPr>
            <p:spPr>
              <a:xfrm>
                <a:off x="4639469" y="1716881"/>
                <a:ext cx="94456" cy="182166"/>
              </a:xfrm>
              <a:custGeom>
                <a:avLst/>
                <a:gdLst/>
                <a:ahLst/>
                <a:cxnLst/>
                <a:rect l="l" t="t" r="r" b="b"/>
                <a:pathLst>
                  <a:path w="94456" h="182166">
                    <a:moveTo>
                      <a:pt x="0" y="85011"/>
                    </a:moveTo>
                    <a:lnTo>
                      <a:pt x="0" y="47228"/>
                    </a:lnTo>
                    <a:cubicBezTo>
                      <a:pt x="0" y="21145"/>
                      <a:pt x="21145" y="0"/>
                      <a:pt x="47228" y="0"/>
                    </a:cubicBezTo>
                    <a:cubicBezTo>
                      <a:pt x="73312" y="0"/>
                      <a:pt x="94456" y="21145"/>
                      <a:pt x="94456" y="47228"/>
                    </a:cubicBezTo>
                    <a:lnTo>
                      <a:pt x="94456" y="182166"/>
                    </a:lnTo>
                  </a:path>
                </a:pathLst>
              </a:custGeom>
              <a:noFill/>
              <a:ln w="26988">
                <a:solidFill>
                  <a:schemeClr val="accent2"/>
                </a:solidFill>
              </a:ln>
            </p:spPr>
          </p:sp>
        </p:grpSp>
        <p:sp>
          <p:nvSpPr>
            <p:cNvPr id="28" name="TextBox 28"/>
            <p:cNvSpPr txBox="1"/>
            <p:nvPr/>
          </p:nvSpPr>
          <p:spPr>
            <a:xfrm>
              <a:off x="5041011" y="1751171"/>
              <a:ext cx="970280"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模型与检索</a:t>
              </a:r>
            </a:p>
          </p:txBody>
        </p:sp>
        <p:sp>
          <p:nvSpPr>
            <p:cNvPr id="29" name="TextBox 29"/>
            <p:cNvSpPr txBox="1"/>
            <p:nvPr/>
          </p:nvSpPr>
          <p:spPr>
            <a:xfrm>
              <a:off x="4565904" y="2251710"/>
              <a:ext cx="274334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开源模型、LoRA、向量检索与 BM25</a:t>
              </a:r>
            </a:p>
          </p:txBody>
        </p:sp>
        <p:sp>
          <p:nvSpPr>
            <p:cNvPr id="30" name="Line 30"/>
            <p:cNvSpPr/>
            <p:nvPr/>
          </p:nvSpPr>
          <p:spPr>
            <a:xfrm>
              <a:off x="4572000" y="2667000"/>
              <a:ext cx="3028950" cy="9525"/>
            </a:xfrm>
            <a:custGeom>
              <a:avLst/>
              <a:gdLst/>
              <a:ahLst/>
              <a:cxnLst/>
              <a:rect l="l" t="t" r="r" b="b"/>
              <a:pathLst>
                <a:path w="3028950" h="9525">
                  <a:moveTo>
                    <a:pt x="0" y="0"/>
                  </a:moveTo>
                  <a:lnTo>
                    <a:pt x="3028950" y="0"/>
                  </a:lnTo>
                </a:path>
              </a:pathLst>
            </a:custGeom>
            <a:noFill/>
            <a:ln w="9525">
              <a:solidFill>
                <a:srgbClr val="C9DFD9"/>
              </a:solidFill>
            </a:ln>
          </p:spPr>
        </p:sp>
        <p:sp>
          <p:nvSpPr>
            <p:cNvPr id="31" name="TextBox 31"/>
            <p:cNvSpPr txBox="1"/>
            <p:nvPr/>
          </p:nvSpPr>
          <p:spPr>
            <a:xfrm>
              <a:off x="4566666" y="2896552"/>
              <a:ext cx="2277618" cy="433959"/>
            </a:xfrm>
            <a:prstGeom prst="rect">
              <a:avLst/>
            </a:prstGeom>
            <a:noFill/>
            <a:ln>
              <a:noFill/>
            </a:ln>
          </p:spPr>
          <p:txBody>
            <a:bodyPr wrap="none" lIns="0" tIns="0" rIns="0" bIns="0" anchor="t" anchorCtr="0">
              <a:spAutoFit/>
            </a:bodyPr>
            <a:lstStyle/>
            <a:p>
              <a:pPr algn="l">
                <a:lnSpc>
                  <a:spcPts val="1800"/>
                </a:lnSpc>
              </a:pPr>
              <a:r>
                <a:rPr lang="zh-CN" sz="1050" dirty="0">
                  <a:solidFill>
                    <a:schemeClr val="dk1"/>
                  </a:solidFill>
                  <a:latin typeface="+mn-lt"/>
                  <a:ea typeface="+mn-ea"/>
                  <a:cs typeface="+mn-cs"/>
                </a:rPr>
                <a:t>模型用于工程文本抽取和受约束推理；</a:t>
              </a:r>
              <a:br/>
              <a:r>
                <a:rPr lang="zh-CN" sz="1050" dirty="0">
                  <a:solidFill>
                    <a:schemeClr val="dk1"/>
                  </a:solidFill>
                  <a:latin typeface="+mn-lt"/>
                  <a:ea typeface="+mn-ea"/>
                  <a:cs typeface="+mn-cs"/>
                </a:rPr>
                <a:t>双索引独立打分后融合</a:t>
              </a:r>
            </a:p>
          </p:txBody>
        </p:sp>
      </p:grpSp>
      <p:grpSp>
        <p:nvGrpSpPr>
          <p:cNvPr id="47" name="Group 47"/>
          <p:cNvGrpSpPr/>
          <p:nvPr/>
        </p:nvGrpSpPr>
        <p:grpSpPr>
          <a:xfrm>
            <a:off x="8115300" y="1428750"/>
            <a:ext cx="3543300" cy="2590800"/>
            <a:chOff x="8115300" y="1428750"/>
            <a:chExt cx="3543300" cy="2590800"/>
          </a:xfrm>
        </p:grpSpPr>
        <p:sp>
          <p:nvSpPr>
            <p:cNvPr id="33" name="Rectangle 33"/>
            <p:cNvSpPr/>
            <p:nvPr/>
          </p:nvSpPr>
          <p:spPr>
            <a:xfrm>
              <a:off x="8115300" y="1428750"/>
              <a:ext cx="3543300" cy="2590800"/>
            </a:xfrm>
            <a:prstGeom prst="roundRect">
              <a:avLst>
                <a:gd name="adj" fmla="val 4412"/>
              </a:avLst>
            </a:prstGeom>
            <a:solidFill>
              <a:srgbClr val="FFF7EC"/>
            </a:solidFill>
            <a:ln>
              <a:noFill/>
            </a:ln>
          </p:spPr>
        </p:sp>
        <p:grpSp>
          <p:nvGrpSpPr>
            <p:cNvPr id="42" name="Group 42"/>
            <p:cNvGrpSpPr/>
            <p:nvPr/>
          </p:nvGrpSpPr>
          <p:grpSpPr>
            <a:xfrm>
              <a:off x="8403431" y="1730375"/>
              <a:ext cx="242888" cy="225426"/>
              <a:chOff x="8403431" y="1730375"/>
              <a:chExt cx="242888" cy="225426"/>
            </a:xfrm>
          </p:grpSpPr>
          <p:sp>
            <p:nvSpPr>
              <p:cNvPr id="34" name="Freeform 34"/>
              <p:cNvSpPr/>
              <p:nvPr/>
            </p:nvSpPr>
            <p:spPr>
              <a:xfrm>
                <a:off x="8403431" y="1730375"/>
                <a:ext cx="242888" cy="161925"/>
              </a:xfrm>
              <a:custGeom>
                <a:avLst/>
                <a:gdLst/>
                <a:ahLst/>
                <a:cxnLst/>
                <a:rect l="l" t="t" r="r" b="b"/>
                <a:pathLst>
                  <a:path w="242888" h="161925">
                    <a:moveTo>
                      <a:pt x="0" y="13494"/>
                    </a:moveTo>
                    <a:cubicBezTo>
                      <a:pt x="0" y="6041"/>
                      <a:pt x="6041" y="0"/>
                      <a:pt x="13494" y="0"/>
                    </a:cubicBezTo>
                    <a:lnTo>
                      <a:pt x="229394" y="0"/>
                    </a:lnTo>
                    <a:cubicBezTo>
                      <a:pt x="236847" y="0"/>
                      <a:pt x="242888" y="6041"/>
                      <a:pt x="242888" y="13494"/>
                    </a:cubicBezTo>
                    <a:lnTo>
                      <a:pt x="242888" y="148432"/>
                    </a:lnTo>
                    <a:cubicBezTo>
                      <a:pt x="242888" y="155884"/>
                      <a:pt x="236847" y="161925"/>
                      <a:pt x="229394" y="161925"/>
                    </a:cubicBezTo>
                    <a:lnTo>
                      <a:pt x="13494" y="161925"/>
                    </a:lnTo>
                    <a:cubicBezTo>
                      <a:pt x="6041" y="161925"/>
                      <a:pt x="0" y="155884"/>
                      <a:pt x="0" y="148432"/>
                    </a:cubicBezTo>
                    <a:lnTo>
                      <a:pt x="0" y="13494"/>
                    </a:lnTo>
                  </a:path>
                </a:pathLst>
              </a:custGeom>
              <a:noFill/>
              <a:ln w="26988">
                <a:solidFill>
                  <a:schemeClr val="accent3"/>
                </a:solidFill>
              </a:ln>
            </p:spPr>
          </p:sp>
          <p:sp>
            <p:nvSpPr>
              <p:cNvPr id="35" name="Freeform 35"/>
              <p:cNvSpPr/>
              <p:nvPr/>
            </p:nvSpPr>
            <p:spPr>
              <a:xfrm>
                <a:off x="8457406" y="1946276"/>
                <a:ext cx="134938" cy="9525"/>
              </a:xfrm>
              <a:custGeom>
                <a:avLst/>
                <a:gdLst/>
                <a:ahLst/>
                <a:cxnLst/>
                <a:rect l="l" t="t" r="r" b="b"/>
                <a:pathLst>
                  <a:path w="134938" h="9525">
                    <a:moveTo>
                      <a:pt x="0" y="0"/>
                    </a:moveTo>
                    <a:lnTo>
                      <a:pt x="134938" y="0"/>
                    </a:lnTo>
                  </a:path>
                </a:pathLst>
              </a:custGeom>
              <a:noFill/>
              <a:ln w="26988">
                <a:solidFill>
                  <a:schemeClr val="accent3"/>
                </a:solidFill>
              </a:ln>
            </p:spPr>
          </p:sp>
          <p:sp>
            <p:nvSpPr>
              <p:cNvPr id="36" name="Freeform 36"/>
              <p:cNvSpPr/>
              <p:nvPr/>
            </p:nvSpPr>
            <p:spPr>
              <a:xfrm>
                <a:off x="8484394" y="1892301"/>
                <a:ext cx="9525" cy="53975"/>
              </a:xfrm>
              <a:custGeom>
                <a:avLst/>
                <a:gdLst/>
                <a:ahLst/>
                <a:cxnLst/>
                <a:rect l="l" t="t" r="r" b="b"/>
                <a:pathLst>
                  <a:path w="9525" h="53975">
                    <a:moveTo>
                      <a:pt x="0" y="0"/>
                    </a:moveTo>
                    <a:lnTo>
                      <a:pt x="0" y="53975"/>
                    </a:lnTo>
                  </a:path>
                </a:pathLst>
              </a:custGeom>
              <a:noFill/>
              <a:ln w="26988">
                <a:solidFill>
                  <a:schemeClr val="accent3"/>
                </a:solidFill>
              </a:ln>
            </p:spPr>
          </p:sp>
          <p:sp>
            <p:nvSpPr>
              <p:cNvPr id="37" name="Freeform 37"/>
              <p:cNvSpPr/>
              <p:nvPr/>
            </p:nvSpPr>
            <p:spPr>
              <a:xfrm>
                <a:off x="8565357" y="1892301"/>
                <a:ext cx="9525" cy="53975"/>
              </a:xfrm>
              <a:custGeom>
                <a:avLst/>
                <a:gdLst/>
                <a:ahLst/>
                <a:cxnLst/>
                <a:rect l="l" t="t" r="r" b="b"/>
                <a:pathLst>
                  <a:path w="9525" h="53975">
                    <a:moveTo>
                      <a:pt x="0" y="0"/>
                    </a:moveTo>
                    <a:lnTo>
                      <a:pt x="0" y="53975"/>
                    </a:lnTo>
                  </a:path>
                </a:pathLst>
              </a:custGeom>
              <a:noFill/>
              <a:ln w="26988">
                <a:solidFill>
                  <a:schemeClr val="accent3"/>
                </a:solidFill>
              </a:ln>
            </p:spPr>
          </p:sp>
          <p:sp>
            <p:nvSpPr>
              <p:cNvPr id="38" name="Freeform 38"/>
              <p:cNvSpPr/>
              <p:nvPr/>
            </p:nvSpPr>
            <p:spPr>
              <a:xfrm>
                <a:off x="8484394" y="1784350"/>
                <a:ext cx="9525" cy="53975"/>
              </a:xfrm>
              <a:custGeom>
                <a:avLst/>
                <a:gdLst/>
                <a:ahLst/>
                <a:cxnLst/>
                <a:rect l="l" t="t" r="r" b="b"/>
                <a:pathLst>
                  <a:path w="9525" h="53975">
                    <a:moveTo>
                      <a:pt x="0" y="53975"/>
                    </a:moveTo>
                    <a:lnTo>
                      <a:pt x="0" y="0"/>
                    </a:lnTo>
                  </a:path>
                </a:pathLst>
              </a:custGeom>
              <a:noFill/>
              <a:ln w="26988">
                <a:solidFill>
                  <a:schemeClr val="accent3"/>
                </a:solidFill>
              </a:ln>
            </p:spPr>
          </p:sp>
          <p:sp>
            <p:nvSpPr>
              <p:cNvPr id="39" name="Freeform 39"/>
              <p:cNvSpPr/>
              <p:nvPr/>
            </p:nvSpPr>
            <p:spPr>
              <a:xfrm>
                <a:off x="8524875" y="1824832"/>
                <a:ext cx="9525" cy="13494"/>
              </a:xfrm>
              <a:custGeom>
                <a:avLst/>
                <a:gdLst/>
                <a:ahLst/>
                <a:cxnLst/>
                <a:rect l="l" t="t" r="r" b="b"/>
                <a:pathLst>
                  <a:path w="9525" h="13494">
                    <a:moveTo>
                      <a:pt x="0" y="13494"/>
                    </a:moveTo>
                    <a:lnTo>
                      <a:pt x="0" y="0"/>
                    </a:lnTo>
                  </a:path>
                </a:pathLst>
              </a:custGeom>
              <a:noFill/>
              <a:ln w="26988">
                <a:solidFill>
                  <a:schemeClr val="accent3"/>
                </a:solidFill>
              </a:ln>
            </p:spPr>
          </p:sp>
          <p:sp>
            <p:nvSpPr>
              <p:cNvPr id="40" name="Freeform 40"/>
              <p:cNvSpPr/>
              <p:nvPr/>
            </p:nvSpPr>
            <p:spPr>
              <a:xfrm>
                <a:off x="8565357" y="1811338"/>
                <a:ext cx="9525" cy="26988"/>
              </a:xfrm>
              <a:custGeom>
                <a:avLst/>
                <a:gdLst/>
                <a:ahLst/>
                <a:cxnLst/>
                <a:rect l="l" t="t" r="r" b="b"/>
                <a:pathLst>
                  <a:path w="9525" h="26988">
                    <a:moveTo>
                      <a:pt x="0" y="26988"/>
                    </a:moveTo>
                    <a:lnTo>
                      <a:pt x="0" y="0"/>
                    </a:lnTo>
                  </a:path>
                </a:pathLst>
              </a:custGeom>
              <a:noFill/>
              <a:ln w="26988">
                <a:solidFill>
                  <a:schemeClr val="accent3"/>
                </a:solidFill>
              </a:ln>
            </p:spPr>
          </p:sp>
          <p:sp>
            <p:nvSpPr>
              <p:cNvPr id="41" name="Freeform 41"/>
              <p:cNvSpPr/>
              <p:nvPr/>
            </p:nvSpPr>
            <p:spPr>
              <a:xfrm>
                <a:off x="8524875" y="1824832"/>
                <a:ext cx="9525" cy="13494"/>
              </a:xfrm>
              <a:custGeom>
                <a:avLst/>
                <a:gdLst/>
                <a:ahLst/>
                <a:cxnLst/>
                <a:rect l="l" t="t" r="r" b="b"/>
                <a:pathLst>
                  <a:path w="9525" h="13494">
                    <a:moveTo>
                      <a:pt x="0" y="13494"/>
                    </a:moveTo>
                    <a:lnTo>
                      <a:pt x="0" y="0"/>
                    </a:lnTo>
                  </a:path>
                </a:pathLst>
              </a:custGeom>
              <a:noFill/>
              <a:ln w="26988">
                <a:solidFill>
                  <a:schemeClr val="accent3"/>
                </a:solidFill>
              </a:ln>
            </p:spPr>
          </p:sp>
        </p:grpSp>
        <p:sp>
          <p:nvSpPr>
            <p:cNvPr id="43" name="TextBox 43"/>
            <p:cNvSpPr txBox="1"/>
            <p:nvPr/>
          </p:nvSpPr>
          <p:spPr>
            <a:xfrm>
              <a:off x="8831961" y="1751171"/>
              <a:ext cx="1352601" cy="278702"/>
            </a:xfrm>
            <a:prstGeom prst="rect">
              <a:avLst/>
            </a:prstGeom>
            <a:noFill/>
            <a:ln>
              <a:noFill/>
            </a:ln>
          </p:spPr>
          <p:txBody>
            <a:bodyPr wrap="none" lIns="0" tIns="0" rIns="0" bIns="0" anchor="t" anchorCtr="0">
              <a:spAutoFit/>
            </a:bodyPr>
            <a:lstStyle/>
            <a:p>
              <a:pPr algn="l"/>
              <a:r>
                <a:rPr lang="zh-CN" sz="1420" b="1" dirty="0">
                  <a:solidFill>
                    <a:schemeClr val="accent3"/>
                  </a:solidFill>
                  <a:latin typeface="+mn-lt"/>
                  <a:ea typeface="+mn-ea"/>
                  <a:cs typeface="+mn-cs"/>
                </a:rPr>
                <a:t>应用与领域工具</a:t>
              </a:r>
            </a:p>
          </p:txBody>
        </p:sp>
        <p:sp>
          <p:nvSpPr>
            <p:cNvPr id="44" name="TextBox 44"/>
            <p:cNvSpPr txBox="1"/>
            <p:nvPr/>
          </p:nvSpPr>
          <p:spPr>
            <a:xfrm>
              <a:off x="8356854" y="2251710"/>
              <a:ext cx="250978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React、ECharts 与受限工具接口</a:t>
              </a:r>
            </a:p>
          </p:txBody>
        </p:sp>
        <p:sp>
          <p:nvSpPr>
            <p:cNvPr id="45" name="Line 45"/>
            <p:cNvSpPr/>
            <p:nvPr/>
          </p:nvSpPr>
          <p:spPr>
            <a:xfrm>
              <a:off x="8362950" y="2667000"/>
              <a:ext cx="3048000" cy="9525"/>
            </a:xfrm>
            <a:custGeom>
              <a:avLst/>
              <a:gdLst/>
              <a:ahLst/>
              <a:cxnLst/>
              <a:rect l="l" t="t" r="r" b="b"/>
              <a:pathLst>
                <a:path w="3048000" h="9525">
                  <a:moveTo>
                    <a:pt x="0" y="0"/>
                  </a:moveTo>
                  <a:lnTo>
                    <a:pt x="3048000" y="0"/>
                  </a:lnTo>
                </a:path>
              </a:pathLst>
            </a:custGeom>
            <a:noFill/>
            <a:ln w="9525">
              <a:solidFill>
                <a:srgbClr val="F0D7B5"/>
              </a:solidFill>
            </a:ln>
          </p:spPr>
        </p:sp>
        <p:sp>
          <p:nvSpPr>
            <p:cNvPr id="46" name="TextBox 46"/>
            <p:cNvSpPr txBox="1"/>
            <p:nvPr/>
          </p:nvSpPr>
          <p:spPr>
            <a:xfrm>
              <a:off x="8357616" y="2896552"/>
              <a:ext cx="2150936" cy="433959"/>
            </a:xfrm>
            <a:prstGeom prst="rect">
              <a:avLst/>
            </a:prstGeom>
            <a:noFill/>
            <a:ln>
              <a:noFill/>
            </a:ln>
          </p:spPr>
          <p:txBody>
            <a:bodyPr wrap="none" lIns="0" tIns="0" rIns="0" bIns="0" anchor="t" anchorCtr="0">
              <a:spAutoFit/>
            </a:bodyPr>
            <a:lstStyle/>
            <a:p>
              <a:pPr algn="l">
                <a:lnSpc>
                  <a:spcPts val="1800"/>
                </a:lnSpc>
              </a:pPr>
              <a:r>
                <a:rPr lang="zh-CN" sz="1050" dirty="0">
                  <a:solidFill>
                    <a:schemeClr val="dk1"/>
                  </a:solidFill>
                  <a:latin typeface="+mn-lt"/>
                  <a:ea typeface="+mn-ea"/>
                  <a:cs typeface="+mn-cs"/>
                </a:rPr>
                <a:t>界面承载业务闭环；Agent 只能调用</a:t>
              </a:r>
              <a:br/>
              <a:r>
                <a:rPr lang="zh-CN" sz="1050" dirty="0">
                  <a:solidFill>
                    <a:schemeClr val="dk1"/>
                  </a:solidFill>
                  <a:latin typeface="+mn-lt"/>
                  <a:ea typeface="+mn-ea"/>
                  <a:cs typeface="+mn-cs"/>
                </a:rPr>
                <a:t>按任务授权的领域操作</a:t>
              </a:r>
            </a:p>
          </p:txBody>
        </p:sp>
      </p:grpSp>
      <p:grpSp>
        <p:nvGrpSpPr>
          <p:cNvPr id="49" name="Group 49"/>
          <p:cNvGrpSpPr/>
          <p:nvPr/>
        </p:nvGrpSpPr>
        <p:grpSpPr>
          <a:xfrm>
            <a:off x="527304" y="4347210"/>
            <a:ext cx="981456" cy="234696"/>
            <a:chOff x="527304" y="4347210"/>
            <a:chExt cx="981456" cy="234696"/>
          </a:xfrm>
        </p:grpSpPr>
        <p:sp>
          <p:nvSpPr>
            <p:cNvPr id="48" name="TextBox 48"/>
            <p:cNvSpPr txBox="1"/>
            <p:nvPr/>
          </p:nvSpPr>
          <p:spPr>
            <a:xfrm>
              <a:off x="527304" y="434721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工程保障机制</a:t>
              </a:r>
            </a:p>
          </p:txBody>
        </p:sp>
      </p:grpSp>
      <p:grpSp>
        <p:nvGrpSpPr>
          <p:cNvPr id="80" name="Group 80"/>
          <p:cNvGrpSpPr/>
          <p:nvPr/>
        </p:nvGrpSpPr>
        <p:grpSpPr>
          <a:xfrm>
            <a:off x="533400" y="4686300"/>
            <a:ext cx="11125200" cy="1200150"/>
            <a:chOff x="533400" y="4686300"/>
            <a:chExt cx="11125200" cy="1200150"/>
          </a:xfrm>
        </p:grpSpPr>
        <p:sp>
          <p:nvSpPr>
            <p:cNvPr id="50" name="Rectangle 50"/>
            <p:cNvSpPr/>
            <p:nvPr/>
          </p:nvSpPr>
          <p:spPr>
            <a:xfrm>
              <a:off x="533400" y="4686300"/>
              <a:ext cx="2609850" cy="1200150"/>
            </a:xfrm>
            <a:prstGeom prst="roundRect">
              <a:avLst>
                <a:gd name="adj" fmla="val 7937"/>
              </a:avLst>
            </a:prstGeom>
            <a:solidFill>
              <a:schemeClr val="lt1"/>
            </a:solidFill>
            <a:ln w="9525">
              <a:solidFill>
                <a:schemeClr val="accent5"/>
              </a:solidFill>
            </a:ln>
          </p:spPr>
        </p:sp>
        <p:grpSp>
          <p:nvGrpSpPr>
            <p:cNvPr id="56" name="Group 56"/>
            <p:cNvGrpSpPr/>
            <p:nvPr/>
          </p:nvGrpSpPr>
          <p:grpSpPr>
            <a:xfrm>
              <a:off x="794544" y="4945856"/>
              <a:ext cx="144462" cy="185737"/>
              <a:chOff x="794544" y="4945856"/>
              <a:chExt cx="144462" cy="185737"/>
            </a:xfrm>
          </p:grpSpPr>
          <p:sp>
            <p:nvSpPr>
              <p:cNvPr id="51" name="Freeform 51"/>
              <p:cNvSpPr/>
              <p:nvPr/>
            </p:nvSpPr>
            <p:spPr>
              <a:xfrm>
                <a:off x="887412" y="4945856"/>
                <a:ext cx="51594" cy="51594"/>
              </a:xfrm>
              <a:custGeom>
                <a:avLst/>
                <a:gdLst/>
                <a:ahLst/>
                <a:cxnLst/>
                <a:rect l="l" t="t" r="r" b="b"/>
                <a:pathLst>
                  <a:path w="51594" h="51594">
                    <a:moveTo>
                      <a:pt x="0" y="0"/>
                    </a:moveTo>
                    <a:lnTo>
                      <a:pt x="0" y="41275"/>
                    </a:lnTo>
                    <a:cubicBezTo>
                      <a:pt x="0" y="46974"/>
                      <a:pt x="4620" y="51594"/>
                      <a:pt x="10319" y="51594"/>
                    </a:cubicBezTo>
                    <a:lnTo>
                      <a:pt x="51594" y="51594"/>
                    </a:lnTo>
                  </a:path>
                </a:pathLst>
              </a:custGeom>
              <a:noFill/>
              <a:ln w="20637">
                <a:solidFill>
                  <a:schemeClr val="accent1"/>
                </a:solidFill>
              </a:ln>
            </p:spPr>
          </p:sp>
          <p:sp>
            <p:nvSpPr>
              <p:cNvPr id="52" name="Freeform 52"/>
              <p:cNvSpPr/>
              <p:nvPr/>
            </p:nvSpPr>
            <p:spPr>
              <a:xfrm>
                <a:off x="794544" y="4945856"/>
                <a:ext cx="144462" cy="185737"/>
              </a:xfrm>
              <a:custGeom>
                <a:avLst/>
                <a:gdLst/>
                <a:ahLst/>
                <a:cxnLst/>
                <a:rect l="l" t="t" r="r" b="b"/>
                <a:pathLst>
                  <a:path w="144462" h="185737">
                    <a:moveTo>
                      <a:pt x="123825" y="185737"/>
                    </a:moveTo>
                    <a:lnTo>
                      <a:pt x="20637" y="185737"/>
                    </a:lnTo>
                    <a:cubicBezTo>
                      <a:pt x="9240" y="185737"/>
                      <a:pt x="0" y="176497"/>
                      <a:pt x="0" y="165099"/>
                    </a:cubicBezTo>
                    <a:lnTo>
                      <a:pt x="0" y="20637"/>
                    </a:lnTo>
                    <a:cubicBezTo>
                      <a:pt x="0" y="9240"/>
                      <a:pt x="9240" y="0"/>
                      <a:pt x="20637" y="0"/>
                    </a:cubicBezTo>
                    <a:lnTo>
                      <a:pt x="92868" y="0"/>
                    </a:lnTo>
                    <a:lnTo>
                      <a:pt x="144462" y="51594"/>
                    </a:lnTo>
                    <a:lnTo>
                      <a:pt x="144462" y="165099"/>
                    </a:lnTo>
                    <a:cubicBezTo>
                      <a:pt x="144462" y="176497"/>
                      <a:pt x="135222" y="185737"/>
                      <a:pt x="123825" y="185737"/>
                    </a:cubicBezTo>
                  </a:path>
                </a:pathLst>
              </a:custGeom>
              <a:noFill/>
              <a:ln w="20637">
                <a:solidFill>
                  <a:schemeClr val="accent1"/>
                </a:solidFill>
              </a:ln>
            </p:spPr>
          </p:sp>
          <p:sp>
            <p:nvSpPr>
              <p:cNvPr id="53" name="Freeform 53"/>
              <p:cNvSpPr/>
              <p:nvPr/>
            </p:nvSpPr>
            <p:spPr>
              <a:xfrm>
                <a:off x="835818" y="5007768"/>
                <a:ext cx="10319" cy="9525"/>
              </a:xfrm>
              <a:custGeom>
                <a:avLst/>
                <a:gdLst/>
                <a:ahLst/>
                <a:cxnLst/>
                <a:rect l="l" t="t" r="r" b="b"/>
                <a:pathLst>
                  <a:path w="10319" h="9525">
                    <a:moveTo>
                      <a:pt x="0" y="0"/>
                    </a:moveTo>
                    <a:lnTo>
                      <a:pt x="10319" y="0"/>
                    </a:lnTo>
                  </a:path>
                </a:pathLst>
              </a:custGeom>
              <a:noFill/>
              <a:ln w="20637">
                <a:solidFill>
                  <a:schemeClr val="accent1"/>
                </a:solidFill>
              </a:ln>
            </p:spPr>
          </p:sp>
          <p:sp>
            <p:nvSpPr>
              <p:cNvPr id="54" name="Freeform 54"/>
              <p:cNvSpPr/>
              <p:nvPr/>
            </p:nvSpPr>
            <p:spPr>
              <a:xfrm>
                <a:off x="835818" y="5049043"/>
                <a:ext cx="61912" cy="9525"/>
              </a:xfrm>
              <a:custGeom>
                <a:avLst/>
                <a:gdLst/>
                <a:ahLst/>
                <a:cxnLst/>
                <a:rect l="l" t="t" r="r" b="b"/>
                <a:pathLst>
                  <a:path w="61912" h="9525">
                    <a:moveTo>
                      <a:pt x="0" y="0"/>
                    </a:moveTo>
                    <a:lnTo>
                      <a:pt x="61912" y="0"/>
                    </a:lnTo>
                  </a:path>
                </a:pathLst>
              </a:custGeom>
              <a:noFill/>
              <a:ln w="20637">
                <a:solidFill>
                  <a:schemeClr val="accent1"/>
                </a:solidFill>
              </a:ln>
            </p:spPr>
          </p:sp>
          <p:sp>
            <p:nvSpPr>
              <p:cNvPr id="55" name="Freeform 55"/>
              <p:cNvSpPr/>
              <p:nvPr/>
            </p:nvSpPr>
            <p:spPr>
              <a:xfrm>
                <a:off x="835818" y="5090318"/>
                <a:ext cx="61912" cy="9525"/>
              </a:xfrm>
              <a:custGeom>
                <a:avLst/>
                <a:gdLst/>
                <a:ahLst/>
                <a:cxnLst/>
                <a:rect l="l" t="t" r="r" b="b"/>
                <a:pathLst>
                  <a:path w="61912" h="9525">
                    <a:moveTo>
                      <a:pt x="0" y="0"/>
                    </a:moveTo>
                    <a:lnTo>
                      <a:pt x="61912" y="0"/>
                    </a:lnTo>
                  </a:path>
                </a:pathLst>
              </a:custGeom>
              <a:noFill/>
              <a:ln w="20637">
                <a:solidFill>
                  <a:schemeClr val="accent1"/>
                </a:solidFill>
              </a:ln>
            </p:spPr>
          </p:sp>
        </p:grpSp>
        <p:sp>
          <p:nvSpPr>
            <p:cNvPr id="57" name="TextBox 57"/>
            <p:cNvSpPr txBox="1"/>
            <p:nvPr/>
          </p:nvSpPr>
          <p:spPr>
            <a:xfrm>
              <a:off x="1117854" y="49758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规格驱动</a:t>
              </a:r>
            </a:p>
          </p:txBody>
        </p:sp>
        <p:sp>
          <p:nvSpPr>
            <p:cNvPr id="58" name="TextBox 58"/>
            <p:cNvSpPr txBox="1"/>
            <p:nvPr/>
          </p:nvSpPr>
          <p:spPr>
            <a:xfrm>
              <a:off x="737997" y="5381149"/>
              <a:ext cx="172496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能力变更先形成可核对的规格</a:t>
              </a:r>
            </a:p>
          </p:txBody>
        </p:sp>
        <p:sp>
          <p:nvSpPr>
            <p:cNvPr id="59" name="Rectangle 59"/>
            <p:cNvSpPr/>
            <p:nvPr/>
          </p:nvSpPr>
          <p:spPr>
            <a:xfrm>
              <a:off x="3371850" y="4686300"/>
              <a:ext cx="2609850" cy="1200150"/>
            </a:xfrm>
            <a:prstGeom prst="roundRect">
              <a:avLst>
                <a:gd name="adj" fmla="val 7937"/>
              </a:avLst>
            </a:prstGeom>
            <a:solidFill>
              <a:schemeClr val="lt1"/>
            </a:solidFill>
            <a:ln w="9525">
              <a:solidFill>
                <a:schemeClr val="accent5"/>
              </a:solidFill>
            </a:ln>
          </p:spPr>
        </p:sp>
        <p:grpSp>
          <p:nvGrpSpPr>
            <p:cNvPr id="62" name="Group 62"/>
            <p:cNvGrpSpPr/>
            <p:nvPr/>
          </p:nvGrpSpPr>
          <p:grpSpPr>
            <a:xfrm>
              <a:off x="3622668" y="4956175"/>
              <a:ext cx="165107" cy="165100"/>
              <a:chOff x="3622668" y="4956175"/>
              <a:chExt cx="165107" cy="165100"/>
            </a:xfrm>
          </p:grpSpPr>
          <p:sp>
            <p:nvSpPr>
              <p:cNvPr id="60" name="Freeform 60"/>
              <p:cNvSpPr/>
              <p:nvPr/>
            </p:nvSpPr>
            <p:spPr>
              <a:xfrm>
                <a:off x="3663950" y="4997450"/>
                <a:ext cx="123825" cy="123825"/>
              </a:xfrm>
              <a:custGeom>
                <a:avLst/>
                <a:gdLst/>
                <a:ahLst/>
                <a:cxnLst/>
                <a:rect l="l" t="t" r="r" b="b"/>
                <a:pathLst>
                  <a:path w="123825" h="123825">
                    <a:moveTo>
                      <a:pt x="113506" y="2765"/>
                    </a:moveTo>
                    <a:cubicBezTo>
                      <a:pt x="119891" y="6452"/>
                      <a:pt x="123824" y="13265"/>
                      <a:pt x="123825" y="20637"/>
                    </a:cubicBezTo>
                    <a:lnTo>
                      <a:pt x="123825" y="103187"/>
                    </a:lnTo>
                    <a:cubicBezTo>
                      <a:pt x="123825" y="114585"/>
                      <a:pt x="114585" y="123825"/>
                      <a:pt x="103187" y="123825"/>
                    </a:cubicBezTo>
                    <a:lnTo>
                      <a:pt x="20637" y="123825"/>
                    </a:lnTo>
                    <a:cubicBezTo>
                      <a:pt x="9240" y="123825"/>
                      <a:pt x="0" y="114585"/>
                      <a:pt x="0" y="103187"/>
                    </a:cubicBezTo>
                    <a:lnTo>
                      <a:pt x="0" y="20637"/>
                    </a:lnTo>
                    <a:cubicBezTo>
                      <a:pt x="0" y="9240"/>
                      <a:pt x="9240" y="0"/>
                      <a:pt x="20637" y="0"/>
                    </a:cubicBezTo>
                    <a:lnTo>
                      <a:pt x="51594" y="0"/>
                    </a:lnTo>
                  </a:path>
                </a:pathLst>
              </a:custGeom>
              <a:noFill/>
              <a:ln w="20637">
                <a:solidFill>
                  <a:schemeClr val="accent2"/>
                </a:solidFill>
              </a:ln>
            </p:spPr>
          </p:sp>
          <p:sp>
            <p:nvSpPr>
              <p:cNvPr id="61" name="Freeform 61"/>
              <p:cNvSpPr/>
              <p:nvPr/>
            </p:nvSpPr>
            <p:spPr>
              <a:xfrm>
                <a:off x="3622668" y="4956175"/>
                <a:ext cx="123832" cy="123825"/>
              </a:xfrm>
              <a:custGeom>
                <a:avLst/>
                <a:gdLst/>
                <a:ahLst/>
                <a:cxnLst/>
                <a:rect l="l" t="t" r="r" b="b"/>
                <a:pathLst>
                  <a:path w="123832" h="123825">
                    <a:moveTo>
                      <a:pt x="10326" y="121080"/>
                    </a:moveTo>
                    <a:cubicBezTo>
                      <a:pt x="3934" y="117390"/>
                      <a:pt x="0" y="110567"/>
                      <a:pt x="7" y="103187"/>
                    </a:cubicBezTo>
                    <a:lnTo>
                      <a:pt x="7" y="20637"/>
                    </a:lnTo>
                    <a:cubicBezTo>
                      <a:pt x="7" y="9240"/>
                      <a:pt x="9247" y="0"/>
                      <a:pt x="20645" y="0"/>
                    </a:cubicBezTo>
                    <a:lnTo>
                      <a:pt x="103194" y="0"/>
                    </a:lnTo>
                    <a:cubicBezTo>
                      <a:pt x="114592" y="0"/>
                      <a:pt x="123832" y="9240"/>
                      <a:pt x="123832" y="20637"/>
                    </a:cubicBezTo>
                    <a:lnTo>
                      <a:pt x="123832" y="103187"/>
                    </a:lnTo>
                    <a:cubicBezTo>
                      <a:pt x="123832" y="114585"/>
                      <a:pt x="114592" y="123825"/>
                      <a:pt x="103194" y="123825"/>
                    </a:cubicBezTo>
                    <a:lnTo>
                      <a:pt x="72238" y="123825"/>
                    </a:lnTo>
                  </a:path>
                </a:pathLst>
              </a:custGeom>
              <a:noFill/>
              <a:ln w="20637">
                <a:solidFill>
                  <a:schemeClr val="accent2"/>
                </a:solidFill>
              </a:ln>
            </p:spPr>
          </p:sp>
        </p:grpSp>
        <p:sp>
          <p:nvSpPr>
            <p:cNvPr id="63" name="TextBox 63"/>
            <p:cNvSpPr txBox="1"/>
            <p:nvPr/>
          </p:nvSpPr>
          <p:spPr>
            <a:xfrm>
              <a:off x="3956304" y="4975860"/>
              <a:ext cx="819912"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配置版本化</a:t>
              </a:r>
            </a:p>
          </p:txBody>
        </p:sp>
        <p:sp>
          <p:nvSpPr>
            <p:cNvPr id="64" name="TextBox 64"/>
            <p:cNvSpPr txBox="1"/>
            <p:nvPr/>
          </p:nvSpPr>
          <p:spPr>
            <a:xfrm>
              <a:off x="3576447" y="5381149"/>
              <a:ext cx="1856892"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指标、权重、矩阵和阈值不写死</a:t>
              </a:r>
            </a:p>
          </p:txBody>
        </p:sp>
        <p:sp>
          <p:nvSpPr>
            <p:cNvPr id="65" name="Rectangle 65"/>
            <p:cNvSpPr/>
            <p:nvPr/>
          </p:nvSpPr>
          <p:spPr>
            <a:xfrm>
              <a:off x="6210300" y="4686300"/>
              <a:ext cx="2609850" cy="1200150"/>
            </a:xfrm>
            <a:prstGeom prst="roundRect">
              <a:avLst>
                <a:gd name="adj" fmla="val 7937"/>
              </a:avLst>
            </a:prstGeom>
            <a:solidFill>
              <a:schemeClr val="lt1"/>
            </a:solidFill>
            <a:ln w="9525">
              <a:solidFill>
                <a:schemeClr val="accent5"/>
              </a:solidFill>
            </a:ln>
          </p:spPr>
        </p:sp>
        <p:grpSp>
          <p:nvGrpSpPr>
            <p:cNvPr id="68" name="Group 68"/>
            <p:cNvGrpSpPr/>
            <p:nvPr/>
          </p:nvGrpSpPr>
          <p:grpSpPr>
            <a:xfrm>
              <a:off x="6436881" y="4945856"/>
              <a:ext cx="201506" cy="185737"/>
              <a:chOff x="6436881" y="4945856"/>
              <a:chExt cx="201506" cy="185737"/>
            </a:xfrm>
          </p:grpSpPr>
          <p:sp>
            <p:nvSpPr>
              <p:cNvPr id="66" name="Freeform 66"/>
              <p:cNvSpPr/>
              <p:nvPr/>
            </p:nvSpPr>
            <p:spPr>
              <a:xfrm>
                <a:off x="6436881" y="4945856"/>
                <a:ext cx="201506" cy="184148"/>
              </a:xfrm>
              <a:custGeom>
                <a:avLst/>
                <a:gdLst/>
                <a:ahLst/>
                <a:cxnLst/>
                <a:rect l="l" t="t" r="r" b="b"/>
                <a:pathLst>
                  <a:path w="201506" h="184148">
                    <a:moveTo>
                      <a:pt x="101222" y="184148"/>
                    </a:moveTo>
                    <a:cubicBezTo>
                      <a:pt x="36580" y="164110"/>
                      <a:pt x="0" y="95886"/>
                      <a:pt x="19085" y="30956"/>
                    </a:cubicBezTo>
                    <a:cubicBezTo>
                      <a:pt x="51233" y="32427"/>
                      <a:pt x="82691" y="21324"/>
                      <a:pt x="106794" y="0"/>
                    </a:cubicBezTo>
                    <a:cubicBezTo>
                      <a:pt x="130897" y="21324"/>
                      <a:pt x="162355" y="32427"/>
                      <a:pt x="194503" y="30956"/>
                    </a:cubicBezTo>
                    <a:cubicBezTo>
                      <a:pt x="201506" y="54783"/>
                      <a:pt x="201183" y="80166"/>
                      <a:pt x="193575" y="103806"/>
                    </a:cubicBezTo>
                  </a:path>
                </a:pathLst>
              </a:custGeom>
              <a:noFill/>
              <a:ln w="20637">
                <a:solidFill>
                  <a:schemeClr val="accent3"/>
                </a:solidFill>
              </a:ln>
            </p:spPr>
          </p:sp>
          <p:sp>
            <p:nvSpPr>
              <p:cNvPr id="67" name="Freeform 67"/>
              <p:cNvSpPr/>
              <p:nvPr/>
            </p:nvSpPr>
            <p:spPr>
              <a:xfrm>
                <a:off x="6574631" y="5090318"/>
                <a:ext cx="61912" cy="41275"/>
              </a:xfrm>
              <a:custGeom>
                <a:avLst/>
                <a:gdLst/>
                <a:ahLst/>
                <a:cxnLst/>
                <a:rect l="l" t="t" r="r" b="b"/>
                <a:pathLst>
                  <a:path w="61912" h="41275">
                    <a:moveTo>
                      <a:pt x="0" y="20637"/>
                    </a:moveTo>
                    <a:lnTo>
                      <a:pt x="20637" y="41275"/>
                    </a:lnTo>
                    <a:lnTo>
                      <a:pt x="61912" y="0"/>
                    </a:lnTo>
                  </a:path>
                </a:pathLst>
              </a:custGeom>
              <a:noFill/>
              <a:ln w="20637">
                <a:solidFill>
                  <a:schemeClr val="accent3"/>
                </a:solidFill>
              </a:ln>
            </p:spPr>
          </p:sp>
        </p:grpSp>
        <p:sp>
          <p:nvSpPr>
            <p:cNvPr id="69" name="TextBox 69"/>
            <p:cNvSpPr txBox="1"/>
            <p:nvPr/>
          </p:nvSpPr>
          <p:spPr>
            <a:xfrm>
              <a:off x="6794754" y="4975860"/>
              <a:ext cx="819912"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全链路审计</a:t>
              </a:r>
            </a:p>
          </p:txBody>
        </p:sp>
        <p:sp>
          <p:nvSpPr>
            <p:cNvPr id="70" name="TextBox 70"/>
            <p:cNvSpPr txBox="1"/>
            <p:nvPr/>
          </p:nvSpPr>
          <p:spPr>
            <a:xfrm>
              <a:off x="6414897" y="5323999"/>
              <a:ext cx="162788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来源、规则、版本和审核过程</a:t>
              </a:r>
              <a:br/>
              <a:r>
                <a:rPr lang="zh-CN" sz="980" dirty="0">
                  <a:solidFill>
                    <a:schemeClr val="dk1"/>
                  </a:solidFill>
                  <a:latin typeface="+mn-lt"/>
                  <a:ea typeface="+mn-ea"/>
                  <a:cs typeface="+mn-cs"/>
                </a:rPr>
                <a:t>可追溯</a:t>
              </a:r>
            </a:p>
          </p:txBody>
        </p:sp>
        <p:sp>
          <p:nvSpPr>
            <p:cNvPr id="71" name="Rectangle 71"/>
            <p:cNvSpPr/>
            <p:nvPr/>
          </p:nvSpPr>
          <p:spPr>
            <a:xfrm>
              <a:off x="9048750" y="4686300"/>
              <a:ext cx="2609850" cy="1200150"/>
            </a:xfrm>
            <a:prstGeom prst="roundRect">
              <a:avLst>
                <a:gd name="adj" fmla="val 7937"/>
              </a:avLst>
            </a:prstGeom>
            <a:solidFill>
              <a:schemeClr val="lt1"/>
            </a:solidFill>
            <a:ln w="9525">
              <a:solidFill>
                <a:schemeClr val="accent5"/>
              </a:solidFill>
            </a:ln>
          </p:spPr>
        </p:sp>
        <p:grpSp>
          <p:nvGrpSpPr>
            <p:cNvPr id="77" name="Group 77"/>
            <p:cNvGrpSpPr/>
            <p:nvPr/>
          </p:nvGrpSpPr>
          <p:grpSpPr>
            <a:xfrm>
              <a:off x="9289256" y="4987131"/>
              <a:ext cx="185737" cy="103187"/>
              <a:chOff x="9289256" y="4987131"/>
              <a:chExt cx="185737" cy="103187"/>
            </a:xfrm>
          </p:grpSpPr>
          <p:sp>
            <p:nvSpPr>
              <p:cNvPr id="72" name="Freeform 72"/>
              <p:cNvSpPr/>
              <p:nvPr/>
            </p:nvSpPr>
            <p:spPr>
              <a:xfrm>
                <a:off x="9299575" y="4997450"/>
                <a:ext cx="165099" cy="82550"/>
              </a:xfrm>
              <a:custGeom>
                <a:avLst/>
                <a:gdLst/>
                <a:ahLst/>
                <a:cxnLst/>
                <a:rect l="l" t="t" r="r" b="b"/>
                <a:pathLst>
                  <a:path w="165099" h="82550">
                    <a:moveTo>
                      <a:pt x="0" y="82550"/>
                    </a:moveTo>
                    <a:lnTo>
                      <a:pt x="61912" y="10319"/>
                    </a:lnTo>
                    <a:lnTo>
                      <a:pt x="113506" y="61912"/>
                    </a:lnTo>
                    <a:lnTo>
                      <a:pt x="165099" y="0"/>
                    </a:lnTo>
                  </a:path>
                </a:pathLst>
              </a:custGeom>
              <a:noFill/>
              <a:ln w="20637">
                <a:solidFill>
                  <a:schemeClr val="accent1"/>
                </a:solidFill>
              </a:ln>
            </p:spPr>
          </p:sp>
          <p:sp>
            <p:nvSpPr>
              <p:cNvPr id="73" name="Freeform 73"/>
              <p:cNvSpPr/>
              <p:nvPr/>
            </p:nvSpPr>
            <p:spPr>
              <a:xfrm>
                <a:off x="9402762" y="5049043"/>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sp>
            <p:nvSpPr>
              <p:cNvPr id="74" name="Freeform 74"/>
              <p:cNvSpPr/>
              <p:nvPr/>
            </p:nvSpPr>
            <p:spPr>
              <a:xfrm>
                <a:off x="9351168" y="4997450"/>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sp>
            <p:nvSpPr>
              <p:cNvPr id="75" name="Freeform 75"/>
              <p:cNvSpPr/>
              <p:nvPr/>
            </p:nvSpPr>
            <p:spPr>
              <a:xfrm>
                <a:off x="9289256" y="5069681"/>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sp>
            <p:nvSpPr>
              <p:cNvPr id="76" name="Freeform 76"/>
              <p:cNvSpPr/>
              <p:nvPr/>
            </p:nvSpPr>
            <p:spPr>
              <a:xfrm>
                <a:off x="9454356" y="4987131"/>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grpSp>
        <p:sp>
          <p:nvSpPr>
            <p:cNvPr id="78" name="TextBox 78"/>
            <p:cNvSpPr txBox="1"/>
            <p:nvPr/>
          </p:nvSpPr>
          <p:spPr>
            <a:xfrm>
              <a:off x="9633204" y="4975860"/>
              <a:ext cx="81991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结果可重放</a:t>
              </a:r>
            </a:p>
          </p:txBody>
        </p:sp>
        <p:sp>
          <p:nvSpPr>
            <p:cNvPr id="79" name="TextBox 79"/>
            <p:cNvSpPr txBox="1"/>
            <p:nvPr/>
          </p:nvSpPr>
          <p:spPr>
            <a:xfrm>
              <a:off x="9253347" y="5323999"/>
              <a:ext cx="150342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以输入快照和配置版本重现</a:t>
              </a:r>
              <a:br/>
              <a:r>
                <a:rPr lang="zh-CN" sz="980" dirty="0">
                  <a:solidFill>
                    <a:schemeClr val="dk1"/>
                  </a:solidFill>
                  <a:latin typeface="+mn-lt"/>
                  <a:ea typeface="+mn-ea"/>
                  <a:cs typeface="+mn-cs"/>
                </a:rPr>
                <a:t>计算结果</a:t>
              </a:r>
            </a:p>
          </p:txBody>
        </p:sp>
      </p:grpSp>
      <p:grpSp>
        <p:nvGrpSpPr>
          <p:cNvPr id="83" name="Group 83"/>
          <p:cNvGrpSpPr/>
          <p:nvPr/>
        </p:nvGrpSpPr>
        <p:grpSpPr>
          <a:xfrm>
            <a:off x="528638" y="6311741"/>
            <a:ext cx="11134724" cy="161925"/>
            <a:chOff x="528638" y="6311741"/>
            <a:chExt cx="11134724" cy="161925"/>
          </a:xfrm>
        </p:grpSpPr>
        <p:sp>
          <p:nvSpPr>
            <p:cNvPr id="81" name="TextBox 81"/>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82" name="TextBox 82"/>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4068420" cy="366712"/>
            <a:chOff x="523875" y="921544"/>
            <a:chExt cx="4068420" cy="366712"/>
          </a:xfrm>
        </p:grpSpPr>
        <p:sp>
          <p:nvSpPr>
            <p:cNvPr id="6" name="TextBox 6"/>
            <p:cNvSpPr txBox="1"/>
            <p:nvPr/>
          </p:nvSpPr>
          <p:spPr>
            <a:xfrm>
              <a:off x="523875" y="921544"/>
              <a:ext cx="4068420"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数据、模型与业务服务分区部署建议</a:t>
              </a:r>
            </a:p>
          </p:txBody>
        </p:sp>
      </p:grpSp>
      <p:grpSp>
        <p:nvGrpSpPr>
          <p:cNvPr id="22" name="Group 22"/>
          <p:cNvGrpSpPr/>
          <p:nvPr/>
        </p:nvGrpSpPr>
        <p:grpSpPr>
          <a:xfrm>
            <a:off x="533400" y="1600200"/>
            <a:ext cx="2381250" cy="2857500"/>
            <a:chOff x="533400" y="1600200"/>
            <a:chExt cx="2381250" cy="2857500"/>
          </a:xfrm>
        </p:grpSpPr>
        <p:sp>
          <p:nvSpPr>
            <p:cNvPr id="8" name="Rectangle 8"/>
            <p:cNvSpPr/>
            <p:nvPr/>
          </p:nvSpPr>
          <p:spPr>
            <a:xfrm>
              <a:off x="533400" y="1600200"/>
              <a:ext cx="2381250" cy="2857500"/>
            </a:xfrm>
            <a:prstGeom prst="roundRect">
              <a:avLst>
                <a:gd name="adj" fmla="val 4800"/>
              </a:avLst>
            </a:prstGeom>
            <a:solidFill>
              <a:srgbClr val="EEF4FA"/>
            </a:solidFill>
            <a:ln w="19050">
              <a:solidFill>
                <a:srgbClr val="1F5E96"/>
              </a:solidFill>
            </a:ln>
          </p:spPr>
        </p:sp>
        <p:grpSp>
          <p:nvGrpSpPr>
            <p:cNvPr id="14" name="Group 14"/>
            <p:cNvGrpSpPr/>
            <p:nvPr/>
          </p:nvGrpSpPr>
          <p:grpSpPr>
            <a:xfrm>
              <a:off x="844550" y="1885950"/>
              <a:ext cx="177800" cy="228599"/>
              <a:chOff x="844550" y="1885950"/>
              <a:chExt cx="177800" cy="228599"/>
            </a:xfrm>
          </p:grpSpPr>
          <p:sp>
            <p:nvSpPr>
              <p:cNvPr id="9" name="Freeform 9"/>
              <p:cNvSpPr/>
              <p:nvPr/>
            </p:nvSpPr>
            <p:spPr>
              <a:xfrm>
                <a:off x="958850" y="188595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rgbClr val="1F5E96"/>
                </a:solidFill>
              </a:ln>
            </p:spPr>
          </p:sp>
          <p:sp>
            <p:nvSpPr>
              <p:cNvPr id="10" name="Freeform 10"/>
              <p:cNvSpPr/>
              <p:nvPr/>
            </p:nvSpPr>
            <p:spPr>
              <a:xfrm>
                <a:off x="844550" y="188595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rgbClr val="1F5E96"/>
                </a:solidFill>
              </a:ln>
            </p:spPr>
          </p:sp>
          <p:sp>
            <p:nvSpPr>
              <p:cNvPr id="11" name="Freeform 11"/>
              <p:cNvSpPr/>
              <p:nvPr/>
            </p:nvSpPr>
            <p:spPr>
              <a:xfrm>
                <a:off x="895350" y="1962150"/>
                <a:ext cx="12700" cy="9525"/>
              </a:xfrm>
              <a:custGeom>
                <a:avLst/>
                <a:gdLst/>
                <a:ahLst/>
                <a:cxnLst/>
                <a:rect l="l" t="t" r="r" b="b"/>
                <a:pathLst>
                  <a:path w="12700" h="9525">
                    <a:moveTo>
                      <a:pt x="0" y="0"/>
                    </a:moveTo>
                    <a:lnTo>
                      <a:pt x="12700" y="0"/>
                    </a:lnTo>
                  </a:path>
                </a:pathLst>
              </a:custGeom>
              <a:noFill/>
              <a:ln w="25400">
                <a:solidFill>
                  <a:srgbClr val="1F5E96"/>
                </a:solidFill>
              </a:ln>
            </p:spPr>
          </p:sp>
          <p:sp>
            <p:nvSpPr>
              <p:cNvPr id="12" name="Freeform 12"/>
              <p:cNvSpPr/>
              <p:nvPr/>
            </p:nvSpPr>
            <p:spPr>
              <a:xfrm>
                <a:off x="895350" y="2012950"/>
                <a:ext cx="76200" cy="9525"/>
              </a:xfrm>
              <a:custGeom>
                <a:avLst/>
                <a:gdLst/>
                <a:ahLst/>
                <a:cxnLst/>
                <a:rect l="l" t="t" r="r" b="b"/>
                <a:pathLst>
                  <a:path w="76200" h="9525">
                    <a:moveTo>
                      <a:pt x="0" y="0"/>
                    </a:moveTo>
                    <a:lnTo>
                      <a:pt x="76200" y="0"/>
                    </a:lnTo>
                  </a:path>
                </a:pathLst>
              </a:custGeom>
              <a:noFill/>
              <a:ln w="25400">
                <a:solidFill>
                  <a:srgbClr val="1F5E96"/>
                </a:solidFill>
              </a:ln>
            </p:spPr>
          </p:sp>
          <p:sp>
            <p:nvSpPr>
              <p:cNvPr id="13" name="Freeform 13"/>
              <p:cNvSpPr/>
              <p:nvPr/>
            </p:nvSpPr>
            <p:spPr>
              <a:xfrm>
                <a:off x="895350" y="2063749"/>
                <a:ext cx="76200" cy="9525"/>
              </a:xfrm>
              <a:custGeom>
                <a:avLst/>
                <a:gdLst/>
                <a:ahLst/>
                <a:cxnLst/>
                <a:rect l="l" t="t" r="r" b="b"/>
                <a:pathLst>
                  <a:path w="76200" h="9525">
                    <a:moveTo>
                      <a:pt x="0" y="0"/>
                    </a:moveTo>
                    <a:lnTo>
                      <a:pt x="76200" y="0"/>
                    </a:lnTo>
                  </a:path>
                </a:pathLst>
              </a:custGeom>
              <a:noFill/>
              <a:ln w="25400">
                <a:solidFill>
                  <a:srgbClr val="1F5E96"/>
                </a:solidFill>
              </a:ln>
            </p:spPr>
          </p:sp>
        </p:grpSp>
        <p:sp>
          <p:nvSpPr>
            <p:cNvPr id="15" name="TextBox 15"/>
            <p:cNvSpPr txBox="1"/>
            <p:nvPr/>
          </p:nvSpPr>
          <p:spPr>
            <a:xfrm>
              <a:off x="1211961" y="1922621"/>
              <a:ext cx="77912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施工现场</a:t>
              </a:r>
            </a:p>
          </p:txBody>
        </p:sp>
        <p:sp>
          <p:nvSpPr>
            <p:cNvPr id="16" name="Rectangle 16"/>
            <p:cNvSpPr/>
            <p:nvPr/>
          </p:nvSpPr>
          <p:spPr>
            <a:xfrm>
              <a:off x="781050" y="2457450"/>
              <a:ext cx="1885950" cy="514350"/>
            </a:xfrm>
            <a:prstGeom prst="roundRect">
              <a:avLst>
                <a:gd name="adj" fmla="val 14815"/>
              </a:avLst>
            </a:prstGeom>
            <a:solidFill>
              <a:schemeClr val="lt1"/>
            </a:solidFill>
            <a:ln>
              <a:noFill/>
            </a:ln>
          </p:spPr>
        </p:sp>
        <p:sp>
          <p:nvSpPr>
            <p:cNvPr id="17" name="TextBox 17"/>
            <p:cNvSpPr txBox="1"/>
            <p:nvPr/>
          </p:nvSpPr>
          <p:spPr>
            <a:xfrm>
              <a:off x="941260" y="2648902"/>
              <a:ext cx="1565529"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工程资料与专项施工方案</a:t>
              </a:r>
            </a:p>
          </p:txBody>
        </p:sp>
        <p:sp>
          <p:nvSpPr>
            <p:cNvPr id="18" name="Rectangle 18"/>
            <p:cNvSpPr/>
            <p:nvPr/>
          </p:nvSpPr>
          <p:spPr>
            <a:xfrm>
              <a:off x="781050" y="3124200"/>
              <a:ext cx="1885950" cy="514350"/>
            </a:xfrm>
            <a:prstGeom prst="roundRect">
              <a:avLst>
                <a:gd name="adj" fmla="val 14815"/>
              </a:avLst>
            </a:prstGeom>
            <a:solidFill>
              <a:schemeClr val="lt1"/>
            </a:solidFill>
            <a:ln>
              <a:noFill/>
            </a:ln>
          </p:spPr>
        </p:sp>
        <p:sp>
          <p:nvSpPr>
            <p:cNvPr id="19" name="TextBox 19"/>
            <p:cNvSpPr txBox="1"/>
            <p:nvPr/>
          </p:nvSpPr>
          <p:spPr>
            <a:xfrm>
              <a:off x="1153287" y="33156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监测仪器与传感器</a:t>
              </a:r>
            </a:p>
          </p:txBody>
        </p:sp>
        <p:sp>
          <p:nvSpPr>
            <p:cNvPr id="20" name="Rectangle 20"/>
            <p:cNvSpPr/>
            <p:nvPr/>
          </p:nvSpPr>
          <p:spPr>
            <a:xfrm>
              <a:off x="781050" y="3790950"/>
              <a:ext cx="1885950" cy="514350"/>
            </a:xfrm>
            <a:prstGeom prst="roundRect">
              <a:avLst>
                <a:gd name="adj" fmla="val 14815"/>
              </a:avLst>
            </a:prstGeom>
            <a:solidFill>
              <a:schemeClr val="lt1"/>
            </a:solidFill>
            <a:ln>
              <a:noFill/>
            </a:ln>
          </p:spPr>
        </p:sp>
        <p:sp>
          <p:nvSpPr>
            <p:cNvPr id="21" name="TextBox 21"/>
            <p:cNvSpPr txBox="1"/>
            <p:nvPr/>
          </p:nvSpPr>
          <p:spPr>
            <a:xfrm>
              <a:off x="1223962" y="3982402"/>
              <a:ext cx="1000125"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数据采集工作站</a:t>
              </a:r>
            </a:p>
          </p:txBody>
        </p:sp>
      </p:grpSp>
      <p:grpSp>
        <p:nvGrpSpPr>
          <p:cNvPr id="40" name="Group 40"/>
          <p:cNvGrpSpPr/>
          <p:nvPr/>
        </p:nvGrpSpPr>
        <p:grpSpPr>
          <a:xfrm>
            <a:off x="3409950" y="1409700"/>
            <a:ext cx="5334000" cy="3238500"/>
            <a:chOff x="3409950" y="1409700"/>
            <a:chExt cx="5334000" cy="3238500"/>
          </a:xfrm>
        </p:grpSpPr>
        <p:sp>
          <p:nvSpPr>
            <p:cNvPr id="23" name="Rectangle 23"/>
            <p:cNvSpPr/>
            <p:nvPr/>
          </p:nvSpPr>
          <p:spPr>
            <a:xfrm>
              <a:off x="3409950" y="1409700"/>
              <a:ext cx="5334000" cy="3238500"/>
            </a:xfrm>
            <a:prstGeom prst="roundRect">
              <a:avLst>
                <a:gd name="adj" fmla="val 4118"/>
              </a:avLst>
            </a:prstGeom>
            <a:solidFill>
              <a:srgbClr val="EEF7F4"/>
            </a:solidFill>
            <a:ln w="19050">
              <a:solidFill>
                <a:schemeClr val="accent2"/>
              </a:solidFill>
            </a:ln>
          </p:spPr>
        </p:sp>
        <p:grpSp>
          <p:nvGrpSpPr>
            <p:cNvPr id="28" name="Group 28"/>
            <p:cNvGrpSpPr/>
            <p:nvPr/>
          </p:nvGrpSpPr>
          <p:grpSpPr>
            <a:xfrm>
              <a:off x="3695700" y="1708150"/>
              <a:ext cx="228599" cy="203200"/>
              <a:chOff x="3695700" y="1708150"/>
              <a:chExt cx="228599" cy="203200"/>
            </a:xfrm>
          </p:grpSpPr>
          <p:sp>
            <p:nvSpPr>
              <p:cNvPr id="24" name="Freeform 24"/>
              <p:cNvSpPr/>
              <p:nvPr/>
            </p:nvSpPr>
            <p:spPr>
              <a:xfrm>
                <a:off x="3695700" y="17081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chemeClr val="accent2"/>
                </a:solidFill>
              </a:ln>
            </p:spPr>
          </p:sp>
          <p:sp>
            <p:nvSpPr>
              <p:cNvPr id="25" name="Freeform 25"/>
              <p:cNvSpPr/>
              <p:nvPr/>
            </p:nvSpPr>
            <p:spPr>
              <a:xfrm>
                <a:off x="3695700" y="18097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chemeClr val="accent2"/>
                </a:solidFill>
              </a:ln>
            </p:spPr>
          </p:sp>
          <p:sp>
            <p:nvSpPr>
              <p:cNvPr id="26" name="Freeform 26"/>
              <p:cNvSpPr/>
              <p:nvPr/>
            </p:nvSpPr>
            <p:spPr>
              <a:xfrm>
                <a:off x="3746500" y="1758950"/>
                <a:ext cx="9525" cy="9525"/>
              </a:xfrm>
              <a:custGeom>
                <a:avLst/>
                <a:gdLst/>
                <a:ahLst/>
                <a:cxnLst/>
                <a:rect l="l" t="t" r="r" b="b"/>
                <a:pathLst>
                  <a:path w="9525" h="9525">
                    <a:moveTo>
                      <a:pt x="0" y="0"/>
                    </a:moveTo>
                    <a:lnTo>
                      <a:pt x="0" y="127"/>
                    </a:lnTo>
                  </a:path>
                </a:pathLst>
              </a:custGeom>
              <a:noFill/>
              <a:ln w="25400">
                <a:solidFill>
                  <a:schemeClr val="accent2"/>
                </a:solidFill>
              </a:ln>
            </p:spPr>
          </p:sp>
          <p:sp>
            <p:nvSpPr>
              <p:cNvPr id="27" name="Freeform 27"/>
              <p:cNvSpPr/>
              <p:nvPr/>
            </p:nvSpPr>
            <p:spPr>
              <a:xfrm>
                <a:off x="3746500" y="1860549"/>
                <a:ext cx="9525" cy="9525"/>
              </a:xfrm>
              <a:custGeom>
                <a:avLst/>
                <a:gdLst/>
                <a:ahLst/>
                <a:cxnLst/>
                <a:rect l="l" t="t" r="r" b="b"/>
                <a:pathLst>
                  <a:path w="9525" h="9525">
                    <a:moveTo>
                      <a:pt x="0" y="0"/>
                    </a:moveTo>
                    <a:lnTo>
                      <a:pt x="0" y="127"/>
                    </a:lnTo>
                  </a:path>
                </a:pathLst>
              </a:custGeom>
              <a:noFill/>
              <a:ln w="25400">
                <a:solidFill>
                  <a:schemeClr val="accent2"/>
                </a:solidFill>
              </a:ln>
            </p:spPr>
          </p:sp>
        </p:grpSp>
        <p:sp>
          <p:nvSpPr>
            <p:cNvPr id="29" name="TextBox 29"/>
            <p:cNvSpPr txBox="1"/>
            <p:nvPr/>
          </p:nvSpPr>
          <p:spPr>
            <a:xfrm>
              <a:off x="4088511" y="1732121"/>
              <a:ext cx="779120"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项目内网</a:t>
              </a:r>
            </a:p>
          </p:txBody>
        </p:sp>
        <p:sp>
          <p:nvSpPr>
            <p:cNvPr id="30" name="Rectangle 30"/>
            <p:cNvSpPr/>
            <p:nvPr/>
          </p:nvSpPr>
          <p:spPr>
            <a:xfrm>
              <a:off x="3657600" y="2190750"/>
              <a:ext cx="4838700" cy="419100"/>
            </a:xfrm>
            <a:prstGeom prst="roundRect">
              <a:avLst>
                <a:gd name="adj" fmla="val 18182"/>
              </a:avLst>
            </a:prstGeom>
            <a:solidFill>
              <a:schemeClr val="lt1"/>
            </a:solidFill>
            <a:ln>
              <a:noFill/>
            </a:ln>
          </p:spPr>
        </p:sp>
        <p:sp>
          <p:nvSpPr>
            <p:cNvPr id="31" name="TextBox 31"/>
            <p:cNvSpPr txBox="1"/>
            <p:nvPr/>
          </p:nvSpPr>
          <p:spPr>
            <a:xfrm>
              <a:off x="3880866" y="2344102"/>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数据接入与应用服务</a:t>
              </a:r>
            </a:p>
          </p:txBody>
        </p:sp>
        <p:sp>
          <p:nvSpPr>
            <p:cNvPr id="32" name="Rectangle 32"/>
            <p:cNvSpPr/>
            <p:nvPr/>
          </p:nvSpPr>
          <p:spPr>
            <a:xfrm>
              <a:off x="3657600" y="2724150"/>
              <a:ext cx="4838700" cy="419100"/>
            </a:xfrm>
            <a:prstGeom prst="roundRect">
              <a:avLst>
                <a:gd name="adj" fmla="val 18182"/>
              </a:avLst>
            </a:prstGeom>
            <a:solidFill>
              <a:schemeClr val="lt1"/>
            </a:solidFill>
            <a:ln>
              <a:noFill/>
            </a:ln>
          </p:spPr>
        </p:sp>
        <p:sp>
          <p:nvSpPr>
            <p:cNvPr id="33" name="TextBox 33"/>
            <p:cNvSpPr txBox="1"/>
            <p:nvPr/>
          </p:nvSpPr>
          <p:spPr>
            <a:xfrm>
              <a:off x="3880866" y="2877502"/>
              <a:ext cx="1424178"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流程编排与检查点服务</a:t>
              </a:r>
            </a:p>
          </p:txBody>
        </p:sp>
        <p:sp>
          <p:nvSpPr>
            <p:cNvPr id="34" name="Rectangle 34"/>
            <p:cNvSpPr/>
            <p:nvPr/>
          </p:nvSpPr>
          <p:spPr>
            <a:xfrm>
              <a:off x="3657600" y="3257550"/>
              <a:ext cx="4838700" cy="419100"/>
            </a:xfrm>
            <a:prstGeom prst="roundRect">
              <a:avLst>
                <a:gd name="adj" fmla="val 18182"/>
              </a:avLst>
            </a:prstGeom>
            <a:solidFill>
              <a:schemeClr val="lt1"/>
            </a:solidFill>
            <a:ln>
              <a:noFill/>
            </a:ln>
          </p:spPr>
        </p:sp>
        <p:sp>
          <p:nvSpPr>
            <p:cNvPr id="35" name="TextBox 35"/>
            <p:cNvSpPr txBox="1"/>
            <p:nvPr/>
          </p:nvSpPr>
          <p:spPr>
            <a:xfrm>
              <a:off x="3880866" y="3410902"/>
              <a:ext cx="1141476"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本地模型推理服务</a:t>
              </a:r>
            </a:p>
          </p:txBody>
        </p:sp>
        <p:sp>
          <p:nvSpPr>
            <p:cNvPr id="36" name="Rectangle 36"/>
            <p:cNvSpPr/>
            <p:nvPr/>
          </p:nvSpPr>
          <p:spPr>
            <a:xfrm>
              <a:off x="3657600" y="3790950"/>
              <a:ext cx="2324100" cy="609600"/>
            </a:xfrm>
            <a:prstGeom prst="roundRect">
              <a:avLst>
                <a:gd name="adj" fmla="val 12500"/>
              </a:avLst>
            </a:prstGeom>
            <a:solidFill>
              <a:schemeClr val="lt1"/>
            </a:solidFill>
            <a:ln>
              <a:noFill/>
            </a:ln>
          </p:spPr>
        </p:sp>
        <p:sp>
          <p:nvSpPr>
            <p:cNvPr id="37" name="TextBox 37"/>
            <p:cNvSpPr txBox="1"/>
            <p:nvPr/>
          </p:nvSpPr>
          <p:spPr>
            <a:xfrm>
              <a:off x="3880866" y="3925252"/>
              <a:ext cx="170688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业务数据、审计与结果存储</a:t>
              </a:r>
            </a:p>
          </p:txBody>
        </p:sp>
        <p:sp>
          <p:nvSpPr>
            <p:cNvPr id="38" name="Rectangle 38"/>
            <p:cNvSpPr/>
            <p:nvPr/>
          </p:nvSpPr>
          <p:spPr>
            <a:xfrm>
              <a:off x="6172200" y="3790950"/>
              <a:ext cx="2324100" cy="609600"/>
            </a:xfrm>
            <a:prstGeom prst="roundRect">
              <a:avLst>
                <a:gd name="adj" fmla="val 12500"/>
              </a:avLst>
            </a:prstGeom>
            <a:solidFill>
              <a:schemeClr val="lt1"/>
            </a:solidFill>
            <a:ln>
              <a:noFill/>
            </a:ln>
          </p:spPr>
        </p:sp>
        <p:sp>
          <p:nvSpPr>
            <p:cNvPr id="39" name="TextBox 39"/>
            <p:cNvSpPr txBox="1"/>
            <p:nvPr/>
          </p:nvSpPr>
          <p:spPr>
            <a:xfrm>
              <a:off x="6728841" y="388715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知识库、图谱、索引</a:t>
              </a:r>
              <a:br/>
              <a:r>
                <a:rPr lang="zh-CN" sz="1050" dirty="0">
                  <a:solidFill>
                    <a:schemeClr val="dk1"/>
                  </a:solidFill>
                  <a:latin typeface="+mn-lt"/>
                  <a:ea typeface="+mn-ea"/>
                  <a:cs typeface="+mn-cs"/>
                </a:rPr>
                <a:t>与版本化配置</a:t>
              </a:r>
            </a:p>
          </p:txBody>
        </p:sp>
      </p:grpSp>
      <p:grpSp>
        <p:nvGrpSpPr>
          <p:cNvPr id="58" name="Group 58"/>
          <p:cNvGrpSpPr/>
          <p:nvPr/>
        </p:nvGrpSpPr>
        <p:grpSpPr>
          <a:xfrm>
            <a:off x="9239250" y="1600200"/>
            <a:ext cx="2419350" cy="2857500"/>
            <a:chOff x="9239250" y="1600200"/>
            <a:chExt cx="2419350" cy="2857500"/>
          </a:xfrm>
        </p:grpSpPr>
        <p:sp>
          <p:nvSpPr>
            <p:cNvPr id="41" name="Rectangle 41"/>
            <p:cNvSpPr/>
            <p:nvPr/>
          </p:nvSpPr>
          <p:spPr>
            <a:xfrm>
              <a:off x="9239250" y="1600200"/>
              <a:ext cx="2419350" cy="2857500"/>
            </a:xfrm>
            <a:prstGeom prst="roundRect">
              <a:avLst>
                <a:gd name="adj" fmla="val 4724"/>
              </a:avLst>
            </a:prstGeom>
            <a:solidFill>
              <a:srgbClr val="F3F0FA"/>
            </a:solidFill>
            <a:ln w="19050">
              <a:solidFill>
                <a:srgbClr val="6A52A3"/>
              </a:solidFill>
            </a:ln>
          </p:spPr>
        </p:sp>
        <p:grpSp>
          <p:nvGrpSpPr>
            <p:cNvPr id="50" name="Group 50"/>
            <p:cNvGrpSpPr/>
            <p:nvPr/>
          </p:nvGrpSpPr>
          <p:grpSpPr>
            <a:xfrm>
              <a:off x="9525000" y="1898650"/>
              <a:ext cx="228599" cy="212724"/>
              <a:chOff x="9525000" y="1898650"/>
              <a:chExt cx="228599" cy="212724"/>
            </a:xfrm>
          </p:grpSpPr>
          <p:sp>
            <p:nvSpPr>
              <p:cNvPr id="42" name="Freeform 42"/>
              <p:cNvSpPr/>
              <p:nvPr/>
            </p:nvSpPr>
            <p:spPr>
              <a:xfrm>
                <a:off x="9525000" y="1898650"/>
                <a:ext cx="228599" cy="152400"/>
              </a:xfrm>
              <a:custGeom>
                <a:avLst/>
                <a:gdLst/>
                <a:ahLst/>
                <a:cxnLst/>
                <a:rect l="l" t="t" r="r" b="b"/>
                <a:pathLst>
                  <a:path w="228599" h="152400">
                    <a:moveTo>
                      <a:pt x="0" y="12700"/>
                    </a:moveTo>
                    <a:cubicBezTo>
                      <a:pt x="0" y="5686"/>
                      <a:pt x="5686" y="0"/>
                      <a:pt x="12700" y="0"/>
                    </a:cubicBezTo>
                    <a:lnTo>
                      <a:pt x="215899" y="0"/>
                    </a:lnTo>
                    <a:cubicBezTo>
                      <a:pt x="222913" y="0"/>
                      <a:pt x="228599" y="5686"/>
                      <a:pt x="228599" y="12700"/>
                    </a:cubicBezTo>
                    <a:lnTo>
                      <a:pt x="228599" y="139700"/>
                    </a:lnTo>
                    <a:cubicBezTo>
                      <a:pt x="228599" y="146714"/>
                      <a:pt x="222913" y="152400"/>
                      <a:pt x="215899" y="152400"/>
                    </a:cubicBezTo>
                    <a:lnTo>
                      <a:pt x="12700" y="152400"/>
                    </a:lnTo>
                    <a:cubicBezTo>
                      <a:pt x="5686" y="152400"/>
                      <a:pt x="0" y="146714"/>
                      <a:pt x="0" y="139700"/>
                    </a:cubicBezTo>
                    <a:lnTo>
                      <a:pt x="0" y="12700"/>
                    </a:lnTo>
                  </a:path>
                </a:pathLst>
              </a:custGeom>
              <a:noFill/>
              <a:ln w="25400">
                <a:solidFill>
                  <a:srgbClr val="6A52A3"/>
                </a:solidFill>
              </a:ln>
            </p:spPr>
          </p:sp>
          <p:sp>
            <p:nvSpPr>
              <p:cNvPr id="43" name="Freeform 43"/>
              <p:cNvSpPr/>
              <p:nvPr/>
            </p:nvSpPr>
            <p:spPr>
              <a:xfrm>
                <a:off x="9575800" y="2101849"/>
                <a:ext cx="127000" cy="9525"/>
              </a:xfrm>
              <a:custGeom>
                <a:avLst/>
                <a:gdLst/>
                <a:ahLst/>
                <a:cxnLst/>
                <a:rect l="l" t="t" r="r" b="b"/>
                <a:pathLst>
                  <a:path w="127000" h="9525">
                    <a:moveTo>
                      <a:pt x="0" y="0"/>
                    </a:moveTo>
                    <a:lnTo>
                      <a:pt x="127000" y="0"/>
                    </a:lnTo>
                  </a:path>
                </a:pathLst>
              </a:custGeom>
              <a:noFill/>
              <a:ln w="25400">
                <a:solidFill>
                  <a:srgbClr val="6A52A3"/>
                </a:solidFill>
              </a:ln>
            </p:spPr>
          </p:sp>
          <p:sp>
            <p:nvSpPr>
              <p:cNvPr id="44" name="Freeform 44"/>
              <p:cNvSpPr/>
              <p:nvPr/>
            </p:nvSpPr>
            <p:spPr>
              <a:xfrm>
                <a:off x="9601200" y="2051049"/>
                <a:ext cx="9525" cy="50800"/>
              </a:xfrm>
              <a:custGeom>
                <a:avLst/>
                <a:gdLst/>
                <a:ahLst/>
                <a:cxnLst/>
                <a:rect l="l" t="t" r="r" b="b"/>
                <a:pathLst>
                  <a:path w="9525" h="50800">
                    <a:moveTo>
                      <a:pt x="0" y="0"/>
                    </a:moveTo>
                    <a:lnTo>
                      <a:pt x="0" y="50800"/>
                    </a:lnTo>
                  </a:path>
                </a:pathLst>
              </a:custGeom>
              <a:noFill/>
              <a:ln w="25400">
                <a:solidFill>
                  <a:srgbClr val="6A52A3"/>
                </a:solidFill>
              </a:ln>
            </p:spPr>
          </p:sp>
          <p:sp>
            <p:nvSpPr>
              <p:cNvPr id="45" name="Freeform 45"/>
              <p:cNvSpPr/>
              <p:nvPr/>
            </p:nvSpPr>
            <p:spPr>
              <a:xfrm>
                <a:off x="9677400" y="2051049"/>
                <a:ext cx="9525" cy="50800"/>
              </a:xfrm>
              <a:custGeom>
                <a:avLst/>
                <a:gdLst/>
                <a:ahLst/>
                <a:cxnLst/>
                <a:rect l="l" t="t" r="r" b="b"/>
                <a:pathLst>
                  <a:path w="9525" h="50800">
                    <a:moveTo>
                      <a:pt x="0" y="0"/>
                    </a:moveTo>
                    <a:lnTo>
                      <a:pt x="0" y="50800"/>
                    </a:lnTo>
                  </a:path>
                </a:pathLst>
              </a:custGeom>
              <a:noFill/>
              <a:ln w="25400">
                <a:solidFill>
                  <a:srgbClr val="6A52A3"/>
                </a:solidFill>
              </a:ln>
            </p:spPr>
          </p:sp>
          <p:sp>
            <p:nvSpPr>
              <p:cNvPr id="46" name="Freeform 46"/>
              <p:cNvSpPr/>
              <p:nvPr/>
            </p:nvSpPr>
            <p:spPr>
              <a:xfrm>
                <a:off x="9601200" y="1949450"/>
                <a:ext cx="9525" cy="50800"/>
              </a:xfrm>
              <a:custGeom>
                <a:avLst/>
                <a:gdLst/>
                <a:ahLst/>
                <a:cxnLst/>
                <a:rect l="l" t="t" r="r" b="b"/>
                <a:pathLst>
                  <a:path w="9525" h="50800">
                    <a:moveTo>
                      <a:pt x="0" y="50800"/>
                    </a:moveTo>
                    <a:lnTo>
                      <a:pt x="0" y="0"/>
                    </a:lnTo>
                  </a:path>
                </a:pathLst>
              </a:custGeom>
              <a:noFill/>
              <a:ln w="25400">
                <a:solidFill>
                  <a:srgbClr val="6A52A3"/>
                </a:solidFill>
              </a:ln>
            </p:spPr>
          </p:sp>
          <p:sp>
            <p:nvSpPr>
              <p:cNvPr id="47" name="Freeform 47"/>
              <p:cNvSpPr/>
              <p:nvPr/>
            </p:nvSpPr>
            <p:spPr>
              <a:xfrm>
                <a:off x="9639300" y="1987550"/>
                <a:ext cx="9525" cy="12700"/>
              </a:xfrm>
              <a:custGeom>
                <a:avLst/>
                <a:gdLst/>
                <a:ahLst/>
                <a:cxnLst/>
                <a:rect l="l" t="t" r="r" b="b"/>
                <a:pathLst>
                  <a:path w="9525" h="12700">
                    <a:moveTo>
                      <a:pt x="0" y="12700"/>
                    </a:moveTo>
                    <a:lnTo>
                      <a:pt x="0" y="0"/>
                    </a:lnTo>
                  </a:path>
                </a:pathLst>
              </a:custGeom>
              <a:noFill/>
              <a:ln w="25400">
                <a:solidFill>
                  <a:srgbClr val="6A52A3"/>
                </a:solidFill>
              </a:ln>
            </p:spPr>
          </p:sp>
          <p:sp>
            <p:nvSpPr>
              <p:cNvPr id="48" name="Freeform 48"/>
              <p:cNvSpPr/>
              <p:nvPr/>
            </p:nvSpPr>
            <p:spPr>
              <a:xfrm>
                <a:off x="9677400" y="1974850"/>
                <a:ext cx="9525" cy="25400"/>
              </a:xfrm>
              <a:custGeom>
                <a:avLst/>
                <a:gdLst/>
                <a:ahLst/>
                <a:cxnLst/>
                <a:rect l="l" t="t" r="r" b="b"/>
                <a:pathLst>
                  <a:path w="9525" h="25400">
                    <a:moveTo>
                      <a:pt x="0" y="25400"/>
                    </a:moveTo>
                    <a:lnTo>
                      <a:pt x="0" y="0"/>
                    </a:lnTo>
                  </a:path>
                </a:pathLst>
              </a:custGeom>
              <a:noFill/>
              <a:ln w="25400">
                <a:solidFill>
                  <a:srgbClr val="6A52A3"/>
                </a:solidFill>
              </a:ln>
            </p:spPr>
          </p:sp>
          <p:sp>
            <p:nvSpPr>
              <p:cNvPr id="49" name="Freeform 49"/>
              <p:cNvSpPr/>
              <p:nvPr/>
            </p:nvSpPr>
            <p:spPr>
              <a:xfrm>
                <a:off x="9639300" y="1987550"/>
                <a:ext cx="9525" cy="12700"/>
              </a:xfrm>
              <a:custGeom>
                <a:avLst/>
                <a:gdLst/>
                <a:ahLst/>
                <a:cxnLst/>
                <a:rect l="l" t="t" r="r" b="b"/>
                <a:pathLst>
                  <a:path w="9525" h="12700">
                    <a:moveTo>
                      <a:pt x="0" y="12700"/>
                    </a:moveTo>
                    <a:lnTo>
                      <a:pt x="0" y="0"/>
                    </a:lnTo>
                  </a:path>
                </a:pathLst>
              </a:custGeom>
              <a:noFill/>
              <a:ln w="25400">
                <a:solidFill>
                  <a:srgbClr val="6A52A3"/>
                </a:solidFill>
              </a:ln>
            </p:spPr>
          </p:sp>
        </p:grpSp>
        <p:sp>
          <p:nvSpPr>
            <p:cNvPr id="51" name="TextBox 51"/>
            <p:cNvSpPr txBox="1"/>
            <p:nvPr/>
          </p:nvSpPr>
          <p:spPr>
            <a:xfrm>
              <a:off x="9917811" y="1922621"/>
              <a:ext cx="587959" cy="278702"/>
            </a:xfrm>
            <a:prstGeom prst="rect">
              <a:avLst/>
            </a:prstGeom>
            <a:noFill/>
            <a:ln>
              <a:noFill/>
            </a:ln>
          </p:spPr>
          <p:txBody>
            <a:bodyPr wrap="none" lIns="0" tIns="0" rIns="0" bIns="0" anchor="t" anchorCtr="0">
              <a:spAutoFit/>
            </a:bodyPr>
            <a:lstStyle/>
            <a:p>
              <a:pPr algn="l"/>
              <a:r>
                <a:rPr lang="zh-CN" sz="1420" b="1" dirty="0">
                  <a:solidFill>
                    <a:srgbClr val="6A52A3"/>
                  </a:solidFill>
                  <a:latin typeface="+mn-lt"/>
                  <a:ea typeface="+mn-ea"/>
                  <a:cs typeface="+mn-cs"/>
                </a:rPr>
                <a:t>用户侧</a:t>
              </a:r>
            </a:p>
          </p:txBody>
        </p:sp>
        <p:sp>
          <p:nvSpPr>
            <p:cNvPr id="52" name="Rectangle 52"/>
            <p:cNvSpPr/>
            <p:nvPr/>
          </p:nvSpPr>
          <p:spPr>
            <a:xfrm>
              <a:off x="9486900" y="2457450"/>
              <a:ext cx="1924050" cy="514350"/>
            </a:xfrm>
            <a:prstGeom prst="roundRect">
              <a:avLst>
                <a:gd name="adj" fmla="val 14815"/>
              </a:avLst>
            </a:prstGeom>
            <a:solidFill>
              <a:schemeClr val="lt1"/>
            </a:solidFill>
            <a:ln>
              <a:noFill/>
            </a:ln>
          </p:spPr>
        </p:sp>
        <p:sp>
          <p:nvSpPr>
            <p:cNvPr id="53" name="TextBox 53"/>
            <p:cNvSpPr txBox="1"/>
            <p:nvPr/>
          </p:nvSpPr>
          <p:spPr>
            <a:xfrm>
              <a:off x="10019538" y="26489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风险管理终端</a:t>
              </a:r>
            </a:p>
          </p:txBody>
        </p:sp>
        <p:sp>
          <p:nvSpPr>
            <p:cNvPr id="54" name="Rectangle 54"/>
            <p:cNvSpPr/>
            <p:nvPr/>
          </p:nvSpPr>
          <p:spPr>
            <a:xfrm>
              <a:off x="9486900" y="3124200"/>
              <a:ext cx="1924050" cy="514350"/>
            </a:xfrm>
            <a:prstGeom prst="roundRect">
              <a:avLst>
                <a:gd name="adj" fmla="val 14815"/>
              </a:avLst>
            </a:prstGeom>
            <a:solidFill>
              <a:schemeClr val="lt1"/>
            </a:solidFill>
            <a:ln>
              <a:noFill/>
            </a:ln>
          </p:spPr>
        </p:sp>
        <p:sp>
          <p:nvSpPr>
            <p:cNvPr id="55" name="TextBox 55"/>
            <p:cNvSpPr txBox="1"/>
            <p:nvPr/>
          </p:nvSpPr>
          <p:spPr>
            <a:xfrm>
              <a:off x="10160889" y="33156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监控大屏</a:t>
              </a:r>
            </a:p>
          </p:txBody>
        </p:sp>
        <p:sp>
          <p:nvSpPr>
            <p:cNvPr id="56" name="Rectangle 56"/>
            <p:cNvSpPr/>
            <p:nvPr/>
          </p:nvSpPr>
          <p:spPr>
            <a:xfrm>
              <a:off x="9486900" y="3790950"/>
              <a:ext cx="1924050" cy="514350"/>
            </a:xfrm>
            <a:prstGeom prst="roundRect">
              <a:avLst>
                <a:gd name="adj" fmla="val 14815"/>
              </a:avLst>
            </a:prstGeom>
            <a:solidFill>
              <a:schemeClr val="lt1"/>
            </a:solidFill>
            <a:ln>
              <a:noFill/>
            </a:ln>
          </p:spPr>
        </p:sp>
        <p:sp>
          <p:nvSpPr>
            <p:cNvPr id="57" name="TextBox 57"/>
            <p:cNvSpPr txBox="1"/>
            <p:nvPr/>
          </p:nvSpPr>
          <p:spPr>
            <a:xfrm>
              <a:off x="10160889" y="39824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移动终端</a:t>
              </a:r>
            </a:p>
          </p:txBody>
        </p:sp>
      </p:grpSp>
      <p:grpSp>
        <p:nvGrpSpPr>
          <p:cNvPr id="61" name="Group 61"/>
          <p:cNvGrpSpPr/>
          <p:nvPr/>
        </p:nvGrpSpPr>
        <p:grpSpPr>
          <a:xfrm>
            <a:off x="2914650" y="3028950"/>
            <a:ext cx="6324600" cy="1"/>
            <a:chOff x="2914650" y="3028950"/>
            <a:chExt cx="6324600" cy="1"/>
          </a:xfrm>
        </p:grpSpPr>
        <p:sp>
          <p:nvSpPr>
            <p:cNvPr id="59" name="Line 59"/>
            <p:cNvSpPr/>
            <p:nvPr/>
          </p:nvSpPr>
          <p:spPr>
            <a:xfrm>
              <a:off x="2914650" y="3028950"/>
              <a:ext cx="495300" cy="1"/>
            </a:xfrm>
            <a:prstGeom prst="line">
              <a:avLst/>
            </a:prstGeom>
            <a:noFill/>
            <a:ln w="28575">
              <a:solidFill>
                <a:schemeClr val="accent1"/>
              </a:solidFill>
              <a:tailEnd type="triangle" w="lg" len="lg"/>
            </a:ln>
          </p:spPr>
        </p:sp>
        <p:sp>
          <p:nvSpPr>
            <p:cNvPr id="60" name="Line 60"/>
            <p:cNvSpPr/>
            <p:nvPr/>
          </p:nvSpPr>
          <p:spPr>
            <a:xfrm>
              <a:off x="8743950" y="3028950"/>
              <a:ext cx="495300" cy="1"/>
            </a:xfrm>
            <a:prstGeom prst="line">
              <a:avLst/>
            </a:prstGeom>
            <a:noFill/>
            <a:ln w="28575">
              <a:solidFill>
                <a:schemeClr val="accent2"/>
              </a:solidFill>
              <a:tailEnd type="triangle" w="lg" len="lg"/>
            </a:ln>
          </p:spPr>
        </p:sp>
      </p:grpSp>
      <p:grpSp>
        <p:nvGrpSpPr>
          <p:cNvPr id="71" name="Group 71"/>
          <p:cNvGrpSpPr/>
          <p:nvPr/>
        </p:nvGrpSpPr>
        <p:grpSpPr>
          <a:xfrm>
            <a:off x="533400" y="4933950"/>
            <a:ext cx="11125200" cy="1028700"/>
            <a:chOff x="533400" y="4933950"/>
            <a:chExt cx="11125200" cy="1028700"/>
          </a:xfrm>
        </p:grpSpPr>
        <p:sp>
          <p:nvSpPr>
            <p:cNvPr id="62" name="Rectangle 62"/>
            <p:cNvSpPr/>
            <p:nvPr/>
          </p:nvSpPr>
          <p:spPr>
            <a:xfrm>
              <a:off x="533400" y="4933950"/>
              <a:ext cx="3524250" cy="1028700"/>
            </a:xfrm>
            <a:prstGeom prst="roundRect">
              <a:avLst>
                <a:gd name="adj" fmla="val 9259"/>
              </a:avLst>
            </a:prstGeom>
            <a:solidFill>
              <a:schemeClr val="lt2"/>
            </a:solidFill>
            <a:ln>
              <a:noFill/>
            </a:ln>
          </p:spPr>
        </p:sp>
        <p:sp>
          <p:nvSpPr>
            <p:cNvPr id="63" name="TextBox 63"/>
            <p:cNvSpPr txBox="1"/>
            <p:nvPr/>
          </p:nvSpPr>
          <p:spPr>
            <a:xfrm>
              <a:off x="737616" y="5106352"/>
              <a:ext cx="576072"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数据边界</a:t>
              </a:r>
            </a:p>
          </p:txBody>
        </p:sp>
        <p:sp>
          <p:nvSpPr>
            <p:cNvPr id="64" name="TextBox 64"/>
            <p:cNvSpPr txBox="1"/>
            <p:nvPr/>
          </p:nvSpPr>
          <p:spPr>
            <a:xfrm>
              <a:off x="737616" y="5373052"/>
              <a:ext cx="22776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工程资料和监测数据保留在项目内网，</a:t>
              </a:r>
              <a:br/>
              <a:r>
                <a:rPr lang="zh-CN" sz="1050" dirty="0">
                  <a:solidFill>
                    <a:schemeClr val="dk1"/>
                  </a:solidFill>
                  <a:latin typeface="+mn-lt"/>
                  <a:ea typeface="+mn-ea"/>
                  <a:cs typeface="+mn-cs"/>
                </a:rPr>
                <a:t>外部通知在结果可靠入库后执行</a:t>
              </a:r>
            </a:p>
          </p:txBody>
        </p:sp>
        <p:sp>
          <p:nvSpPr>
            <p:cNvPr id="65" name="Rectangle 65"/>
            <p:cNvSpPr/>
            <p:nvPr/>
          </p:nvSpPr>
          <p:spPr>
            <a:xfrm>
              <a:off x="4229100" y="4933950"/>
              <a:ext cx="3524250" cy="1028700"/>
            </a:xfrm>
            <a:prstGeom prst="roundRect">
              <a:avLst>
                <a:gd name="adj" fmla="val 9259"/>
              </a:avLst>
            </a:prstGeom>
            <a:solidFill>
              <a:schemeClr val="lt2"/>
            </a:solidFill>
            <a:ln>
              <a:noFill/>
            </a:ln>
          </p:spPr>
        </p:sp>
        <p:sp>
          <p:nvSpPr>
            <p:cNvPr id="66" name="TextBox 66"/>
            <p:cNvSpPr txBox="1"/>
            <p:nvPr/>
          </p:nvSpPr>
          <p:spPr>
            <a:xfrm>
              <a:off x="4433316" y="5106352"/>
              <a:ext cx="576072"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服务分区</a:t>
              </a:r>
            </a:p>
          </p:txBody>
        </p:sp>
        <p:sp>
          <p:nvSpPr>
            <p:cNvPr id="67" name="TextBox 67"/>
            <p:cNvSpPr txBox="1"/>
            <p:nvPr/>
          </p:nvSpPr>
          <p:spPr>
            <a:xfrm>
              <a:off x="4433316" y="5373052"/>
              <a:ext cx="25443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业务应用、流程编排、模型推理和数据存储</a:t>
              </a:r>
              <a:br/>
              <a:r>
                <a:rPr lang="zh-CN" sz="1050" dirty="0">
                  <a:solidFill>
                    <a:schemeClr val="dk1"/>
                  </a:solidFill>
                  <a:latin typeface="+mn-lt"/>
                  <a:ea typeface="+mn-ea"/>
                  <a:cs typeface="+mn-cs"/>
                </a:rPr>
                <a:t>各自承担明确职责</a:t>
              </a:r>
            </a:p>
          </p:txBody>
        </p:sp>
        <p:sp>
          <p:nvSpPr>
            <p:cNvPr id="68" name="Rectangle 68"/>
            <p:cNvSpPr/>
            <p:nvPr/>
          </p:nvSpPr>
          <p:spPr>
            <a:xfrm>
              <a:off x="7924800" y="4933950"/>
              <a:ext cx="3733800" cy="1028700"/>
            </a:xfrm>
            <a:prstGeom prst="roundRect">
              <a:avLst>
                <a:gd name="adj" fmla="val 9259"/>
              </a:avLst>
            </a:prstGeom>
            <a:solidFill>
              <a:srgbClr val="FFF7EC"/>
            </a:solidFill>
            <a:ln>
              <a:noFill/>
            </a:ln>
          </p:spPr>
        </p:sp>
        <p:sp>
          <p:nvSpPr>
            <p:cNvPr id="69" name="TextBox 69"/>
            <p:cNvSpPr txBox="1"/>
            <p:nvPr/>
          </p:nvSpPr>
          <p:spPr>
            <a:xfrm>
              <a:off x="8129016" y="5106352"/>
              <a:ext cx="576072"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按需配置</a:t>
              </a:r>
            </a:p>
          </p:txBody>
        </p:sp>
        <p:sp>
          <p:nvSpPr>
            <p:cNvPr id="70" name="TextBox 70"/>
            <p:cNvSpPr txBox="1"/>
            <p:nvPr/>
          </p:nvSpPr>
          <p:spPr>
            <a:xfrm>
              <a:off x="8129016" y="5373052"/>
              <a:ext cx="25443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模型规模、算力、主备和备份方案依据实施</a:t>
              </a:r>
              <a:br/>
              <a:r>
                <a:rPr lang="zh-CN" sz="1050" dirty="0">
                  <a:solidFill>
                    <a:schemeClr val="dk1"/>
                  </a:solidFill>
                  <a:latin typeface="+mn-lt"/>
                  <a:ea typeface="+mn-ea"/>
                  <a:cs typeface="+mn-cs"/>
                </a:rPr>
                <a:t>条件确定，不在设计页固定型号</a:t>
              </a:r>
            </a:p>
          </p:txBody>
        </p:sp>
      </p:grpSp>
      <p:grpSp>
        <p:nvGrpSpPr>
          <p:cNvPr id="74" name="Group 74"/>
          <p:cNvGrpSpPr/>
          <p:nvPr/>
        </p:nvGrpSpPr>
        <p:grpSpPr>
          <a:xfrm>
            <a:off x="528638" y="6311741"/>
            <a:ext cx="11134724" cy="161925"/>
            <a:chOff x="528638" y="6311741"/>
            <a:chExt cx="11134724" cy="161925"/>
          </a:xfrm>
        </p:grpSpPr>
        <p:sp>
          <p:nvSpPr>
            <p:cNvPr id="72" name="TextBox 72"/>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73" name="TextBox 73"/>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883444"/>
            <a:ext cx="4827676" cy="366712"/>
            <a:chOff x="523875" y="883444"/>
            <a:chExt cx="4827676" cy="366712"/>
          </a:xfrm>
        </p:grpSpPr>
        <p:sp>
          <p:nvSpPr>
            <p:cNvPr id="6" name="TextBox 6"/>
            <p:cNvSpPr txBox="1"/>
            <p:nvPr/>
          </p:nvSpPr>
          <p:spPr>
            <a:xfrm>
              <a:off x="523875" y="883444"/>
              <a:ext cx="4827676"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系统演示（一）风险态势总览（演示原型）</a:t>
              </a:r>
            </a:p>
          </p:txBody>
        </p:sp>
      </p:grpSp>
      <p:grpSp>
        <p:nvGrpSpPr>
          <p:cNvPr id="11" name="Group 11"/>
          <p:cNvGrpSpPr/>
          <p:nvPr/>
        </p:nvGrpSpPr>
        <p:grpSpPr>
          <a:xfrm>
            <a:off x="533400" y="1371600"/>
            <a:ext cx="8096250" cy="4552950"/>
            <a:chOff x="533400" y="1371600"/>
            <a:chExt cx="8096250" cy="4552950"/>
          </a:xfrm>
        </p:grpSpPr>
        <p:sp>
          <p:nvSpPr>
            <p:cNvPr id="8" name="Rectangle 8"/>
            <p:cNvSpPr/>
            <p:nvPr/>
          </p:nvSpPr>
          <p:spPr>
            <a:xfrm>
              <a:off x="533400" y="1371600"/>
              <a:ext cx="8096250" cy="4552950"/>
            </a:xfrm>
            <a:prstGeom prst="roundRect">
              <a:avLst>
                <a:gd name="adj" fmla="val 2092"/>
              </a:avLst>
            </a:prstGeom>
            <a:solidFill>
              <a:schemeClr val="lt1"/>
            </a:solidFill>
            <a:ln>
              <a:noFill/>
            </a:ln>
            <a:effectLst>
              <a:outerShdw blurRad="114300" dist="38100" dir="5400000" algn="ctr" rotWithShape="0">
                <a:srgbClr val="163B63">
                  <a:alpha val="7500"/>
                </a:srgbClr>
              </a:outerShdw>
            </a:effectLst>
          </p:spPr>
        </p:sp>
        <p:pic>
          <p:nvPicPr>
            <p:cNvPr id="9" name="Image 9"/>
            <p:cNvPicPr>
              <a:picLocks noChangeAspect="1"/>
            </p:cNvPicPr>
            <p:nvPr/>
          </p:nvPicPr>
          <p:blipFill>
            <a:blip r:embed="rId2"/>
            <a:stretch>
              <a:fillRect/>
            </a:stretch>
          </p:blipFill>
          <p:spPr>
            <a:xfrm>
              <a:off x="533400" y="1371600"/>
              <a:ext cx="8096250" cy="4552950"/>
            </a:xfrm>
            <a:prstGeom prst="rect">
              <a:avLst/>
            </a:prstGeom>
          </p:spPr>
        </p:pic>
        <p:sp>
          <p:nvSpPr>
            <p:cNvPr id="10" name="Rectangle 10"/>
            <p:cNvSpPr/>
            <p:nvPr/>
          </p:nvSpPr>
          <p:spPr>
            <a:xfrm>
              <a:off x="533400" y="1371600"/>
              <a:ext cx="8096250" cy="4552950"/>
            </a:xfrm>
            <a:prstGeom prst="roundRect">
              <a:avLst>
                <a:gd name="adj" fmla="val 2092"/>
              </a:avLst>
            </a:prstGeom>
            <a:noFill/>
            <a:ln w="9525">
              <a:solidFill>
                <a:schemeClr val="accent5"/>
              </a:solidFill>
            </a:ln>
          </p:spPr>
        </p:sp>
      </p:grpSp>
      <p:grpSp>
        <p:nvGrpSpPr>
          <p:cNvPr id="15" name="Group 15"/>
          <p:cNvGrpSpPr/>
          <p:nvPr/>
        </p:nvGrpSpPr>
        <p:grpSpPr>
          <a:xfrm>
            <a:off x="8896350" y="1371600"/>
            <a:ext cx="2762250" cy="1352550"/>
            <a:chOff x="8896350" y="1371600"/>
            <a:chExt cx="2762250" cy="1352550"/>
          </a:xfrm>
        </p:grpSpPr>
        <p:sp>
          <p:nvSpPr>
            <p:cNvPr id="12" name="Rectangle 12"/>
            <p:cNvSpPr/>
            <p:nvPr/>
          </p:nvSpPr>
          <p:spPr>
            <a:xfrm>
              <a:off x="8896350" y="1371600"/>
              <a:ext cx="2762250" cy="1352550"/>
            </a:xfrm>
            <a:prstGeom prst="roundRect">
              <a:avLst>
                <a:gd name="adj" fmla="val 7042"/>
              </a:avLst>
            </a:prstGeom>
            <a:solidFill>
              <a:schemeClr val="lt2"/>
            </a:solidFill>
            <a:ln>
              <a:noFill/>
            </a:ln>
          </p:spPr>
        </p:sp>
        <p:sp>
          <p:nvSpPr>
            <p:cNvPr id="13" name="TextBox 13"/>
            <p:cNvSpPr txBox="1"/>
            <p:nvPr/>
          </p:nvSpPr>
          <p:spPr>
            <a:xfrm>
              <a:off x="9118473" y="1576864"/>
              <a:ext cx="702208"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mn-lt"/>
                  <a:ea typeface="+mn-ea"/>
                  <a:cs typeface="+mn-cs"/>
                </a:rPr>
                <a:t>数据入口</a:t>
              </a:r>
            </a:p>
          </p:txBody>
        </p:sp>
        <p:sp>
          <p:nvSpPr>
            <p:cNvPr id="14" name="TextBox 14"/>
            <p:cNvSpPr txBox="1"/>
            <p:nvPr/>
          </p:nvSpPr>
          <p:spPr>
            <a:xfrm>
              <a:off x="9119616" y="1944052"/>
              <a:ext cx="1610868" cy="424434"/>
            </a:xfrm>
            <a:prstGeom prst="rect">
              <a:avLst/>
            </a:prstGeom>
            <a:noFill/>
            <a:ln>
              <a:noFill/>
            </a:ln>
          </p:spPr>
          <p:txBody>
            <a:bodyPr wrap="none" lIns="0" tIns="0" rIns="0" bIns="0" anchor="t" anchorCtr="0">
              <a:spAutoFit/>
            </a:bodyPr>
            <a:lstStyle/>
            <a:p>
              <a:pPr algn="l">
                <a:lnSpc>
                  <a:spcPts val="1725"/>
                </a:lnSpc>
              </a:pPr>
              <a:r>
                <a:rPr lang="zh-CN" sz="1050" dirty="0">
                  <a:solidFill>
                    <a:schemeClr val="dk1"/>
                  </a:solidFill>
                  <a:latin typeface="+mn-lt"/>
                  <a:ea typeface="+mn-ea"/>
                  <a:cs typeface="+mn-cs"/>
                </a:rPr>
                <a:t>风险评估记录、预警信息和</a:t>
              </a:r>
              <a:br/>
              <a:r>
                <a:rPr lang="zh-CN" sz="1050" dirty="0">
                  <a:solidFill>
                    <a:schemeClr val="dk1"/>
                  </a:solidFill>
                  <a:latin typeface="+mn-lt"/>
                  <a:ea typeface="+mn-ea"/>
                  <a:cs typeface="+mn-cs"/>
                </a:rPr>
                <a:t>监测摘要按当前版本汇总</a:t>
              </a:r>
            </a:p>
          </p:txBody>
        </p:sp>
      </p:grpSp>
      <p:grpSp>
        <p:nvGrpSpPr>
          <p:cNvPr id="19" name="Group 19"/>
          <p:cNvGrpSpPr/>
          <p:nvPr/>
        </p:nvGrpSpPr>
        <p:grpSpPr>
          <a:xfrm>
            <a:off x="8896350" y="2895600"/>
            <a:ext cx="2762250" cy="1352550"/>
            <a:chOff x="8896350" y="2895600"/>
            <a:chExt cx="2762250" cy="1352550"/>
          </a:xfrm>
        </p:grpSpPr>
        <p:sp>
          <p:nvSpPr>
            <p:cNvPr id="16" name="Rectangle 16"/>
            <p:cNvSpPr/>
            <p:nvPr/>
          </p:nvSpPr>
          <p:spPr>
            <a:xfrm>
              <a:off x="8896350" y="2895600"/>
              <a:ext cx="2762250" cy="1352550"/>
            </a:xfrm>
            <a:prstGeom prst="roundRect">
              <a:avLst>
                <a:gd name="adj" fmla="val 7042"/>
              </a:avLst>
            </a:prstGeom>
            <a:solidFill>
              <a:srgbClr val="EEF7F4"/>
            </a:solidFill>
            <a:ln>
              <a:noFill/>
            </a:ln>
          </p:spPr>
        </p:sp>
        <p:sp>
          <p:nvSpPr>
            <p:cNvPr id="17" name="TextBox 17"/>
            <p:cNvSpPr txBox="1"/>
            <p:nvPr/>
          </p:nvSpPr>
          <p:spPr>
            <a:xfrm>
              <a:off x="9118473" y="3100864"/>
              <a:ext cx="702208"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重点操作</a:t>
              </a:r>
            </a:p>
          </p:txBody>
        </p:sp>
        <p:sp>
          <p:nvSpPr>
            <p:cNvPr id="18" name="TextBox 18"/>
            <p:cNvSpPr txBox="1"/>
            <p:nvPr/>
          </p:nvSpPr>
          <p:spPr>
            <a:xfrm>
              <a:off x="9119616" y="3468052"/>
              <a:ext cx="2010918" cy="424434"/>
            </a:xfrm>
            <a:prstGeom prst="rect">
              <a:avLst/>
            </a:prstGeom>
            <a:noFill/>
            <a:ln>
              <a:noFill/>
            </a:ln>
          </p:spPr>
          <p:txBody>
            <a:bodyPr wrap="none" lIns="0" tIns="0" rIns="0" bIns="0" anchor="t" anchorCtr="0">
              <a:spAutoFit/>
            </a:bodyPr>
            <a:lstStyle/>
            <a:p>
              <a:pPr algn="l">
                <a:lnSpc>
                  <a:spcPts val="1725"/>
                </a:lnSpc>
              </a:pPr>
              <a:r>
                <a:rPr lang="zh-CN" sz="1050" dirty="0">
                  <a:solidFill>
                    <a:schemeClr val="dk1"/>
                  </a:solidFill>
                  <a:latin typeface="+mn-lt"/>
                  <a:ea typeface="+mn-ea"/>
                  <a:cs typeface="+mn-cs"/>
                </a:rPr>
                <a:t>筛选项目与工程阶段，查看</a:t>
              </a:r>
              <a:br/>
              <a:r>
                <a:rPr lang="zh-CN" sz="1050" dirty="0">
                  <a:solidFill>
                    <a:schemeClr val="dk1"/>
                  </a:solidFill>
                  <a:latin typeface="+mn-lt"/>
                  <a:ea typeface="+mn-ea"/>
                  <a:cs typeface="+mn-cs"/>
                </a:rPr>
                <a:t>风险分布、监测趋势和待处置事项</a:t>
              </a:r>
            </a:p>
          </p:txBody>
        </p:sp>
      </p:grpSp>
      <p:grpSp>
        <p:nvGrpSpPr>
          <p:cNvPr id="23" name="Group 23"/>
          <p:cNvGrpSpPr/>
          <p:nvPr/>
        </p:nvGrpSpPr>
        <p:grpSpPr>
          <a:xfrm>
            <a:off x="8896350" y="4419600"/>
            <a:ext cx="2762250" cy="1504950"/>
            <a:chOff x="8896350" y="4419600"/>
            <a:chExt cx="2762250" cy="1504950"/>
          </a:xfrm>
        </p:grpSpPr>
        <p:sp>
          <p:nvSpPr>
            <p:cNvPr id="20" name="Rectangle 20"/>
            <p:cNvSpPr/>
            <p:nvPr/>
          </p:nvSpPr>
          <p:spPr>
            <a:xfrm>
              <a:off x="8896350" y="4419600"/>
              <a:ext cx="2762250" cy="1504950"/>
            </a:xfrm>
            <a:prstGeom prst="roundRect">
              <a:avLst>
                <a:gd name="adj" fmla="val 6329"/>
              </a:avLst>
            </a:prstGeom>
            <a:solidFill>
              <a:srgbClr val="FFF7EC"/>
            </a:solidFill>
            <a:ln>
              <a:noFill/>
            </a:ln>
          </p:spPr>
        </p:sp>
        <p:sp>
          <p:nvSpPr>
            <p:cNvPr id="21" name="TextBox 21"/>
            <p:cNvSpPr txBox="1"/>
            <p:nvPr/>
          </p:nvSpPr>
          <p:spPr>
            <a:xfrm>
              <a:off x="9118473" y="4624864"/>
              <a:ext cx="702208"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业务输出</a:t>
              </a:r>
            </a:p>
          </p:txBody>
        </p:sp>
        <p:sp>
          <p:nvSpPr>
            <p:cNvPr id="22" name="TextBox 22"/>
            <p:cNvSpPr txBox="1"/>
            <p:nvPr/>
          </p:nvSpPr>
          <p:spPr>
            <a:xfrm>
              <a:off x="9119616" y="4992052"/>
              <a:ext cx="1877568" cy="424434"/>
            </a:xfrm>
            <a:prstGeom prst="rect">
              <a:avLst/>
            </a:prstGeom>
            <a:noFill/>
            <a:ln>
              <a:noFill/>
            </a:ln>
          </p:spPr>
          <p:txBody>
            <a:bodyPr wrap="none" lIns="0" tIns="0" rIns="0" bIns="0" anchor="t" anchorCtr="0">
              <a:spAutoFit/>
            </a:bodyPr>
            <a:lstStyle/>
            <a:p>
              <a:pPr algn="l">
                <a:lnSpc>
                  <a:spcPts val="1725"/>
                </a:lnSpc>
              </a:pPr>
              <a:r>
                <a:rPr lang="zh-CN" sz="1050" dirty="0">
                  <a:solidFill>
                    <a:schemeClr val="dk1"/>
                  </a:solidFill>
                  <a:latin typeface="+mn-lt"/>
                  <a:ea typeface="+mn-ea"/>
                  <a:cs typeface="+mn-cs"/>
                </a:rPr>
                <a:t>定位风险集中工序和越限指标，</a:t>
              </a:r>
              <a:br/>
              <a:r>
                <a:rPr lang="zh-CN" sz="1050" dirty="0">
                  <a:solidFill>
                    <a:schemeClr val="dk1"/>
                  </a:solidFill>
                  <a:latin typeface="+mn-lt"/>
                  <a:ea typeface="+mn-ea"/>
                  <a:cs typeface="+mn-cs"/>
                </a:rPr>
                <a:t>并进入评估、预警或证据详情</a:t>
              </a:r>
            </a:p>
          </p:txBody>
        </p:sp>
      </p:grpSp>
      <p:grpSp>
        <p:nvGrpSpPr>
          <p:cNvPr id="26" name="Group 26"/>
          <p:cNvGrpSpPr/>
          <p:nvPr/>
        </p:nvGrpSpPr>
        <p:grpSpPr>
          <a:xfrm>
            <a:off x="528638" y="6311741"/>
            <a:ext cx="11134724" cy="161925"/>
            <a:chOff x="528638" y="6311741"/>
            <a:chExt cx="11134724" cy="161925"/>
          </a:xfrm>
        </p:grpSpPr>
        <p:sp>
          <p:nvSpPr>
            <p:cNvPr id="24" name="TextBox 24"/>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25" name="TextBox 25"/>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883444"/>
            <a:ext cx="6038371" cy="366712"/>
            <a:chOff x="523875" y="883444"/>
            <a:chExt cx="6038371" cy="366712"/>
          </a:xfrm>
        </p:grpSpPr>
        <p:sp>
          <p:nvSpPr>
            <p:cNvPr id="6" name="TextBox 6"/>
            <p:cNvSpPr txBox="1"/>
            <p:nvPr/>
          </p:nvSpPr>
          <p:spPr>
            <a:xfrm>
              <a:off x="523875" y="883444"/>
              <a:ext cx="6038371"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系统演示（二）智能 Agent 与智能识别（演示原型）</a:t>
              </a:r>
            </a:p>
          </p:txBody>
        </p:sp>
      </p:grpSp>
      <p:grpSp>
        <p:nvGrpSpPr>
          <p:cNvPr id="11" name="Group 11"/>
          <p:cNvGrpSpPr/>
          <p:nvPr/>
        </p:nvGrpSpPr>
        <p:grpSpPr>
          <a:xfrm>
            <a:off x="533400" y="1390650"/>
            <a:ext cx="5410200" cy="3048000"/>
            <a:chOff x="533400" y="1390650"/>
            <a:chExt cx="5410200" cy="3048000"/>
          </a:xfrm>
        </p:grpSpPr>
        <p:sp>
          <p:nvSpPr>
            <p:cNvPr id="8" name="Rectangle 8"/>
            <p:cNvSpPr/>
            <p:nvPr/>
          </p:nvSpPr>
          <p:spPr>
            <a:xfrm>
              <a:off x="533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9" name="Image 9"/>
            <p:cNvPicPr>
              <a:picLocks noChangeAspect="1"/>
            </p:cNvPicPr>
            <p:nvPr/>
          </p:nvPicPr>
          <p:blipFill>
            <a:blip r:embed="rId2"/>
            <a:stretch>
              <a:fillRect/>
            </a:stretch>
          </p:blipFill>
          <p:spPr>
            <a:xfrm>
              <a:off x="533400" y="1393031"/>
              <a:ext cx="5410200" cy="3043238"/>
            </a:xfrm>
            <a:prstGeom prst="rect">
              <a:avLst/>
            </a:prstGeom>
          </p:spPr>
        </p:pic>
        <p:sp>
          <p:nvSpPr>
            <p:cNvPr id="10" name="Rectangle 10"/>
            <p:cNvSpPr/>
            <p:nvPr/>
          </p:nvSpPr>
          <p:spPr>
            <a:xfrm>
              <a:off x="533400" y="1390650"/>
              <a:ext cx="5410200" cy="3048000"/>
            </a:xfrm>
            <a:prstGeom prst="roundRect">
              <a:avLst>
                <a:gd name="adj" fmla="val 3125"/>
              </a:avLst>
            </a:prstGeom>
            <a:noFill/>
            <a:ln w="9525">
              <a:solidFill>
                <a:schemeClr val="accent5"/>
              </a:solidFill>
            </a:ln>
          </p:spPr>
        </p:sp>
      </p:grpSp>
      <p:grpSp>
        <p:nvGrpSpPr>
          <p:cNvPr id="15" name="Group 15"/>
          <p:cNvGrpSpPr/>
          <p:nvPr/>
        </p:nvGrpSpPr>
        <p:grpSpPr>
          <a:xfrm>
            <a:off x="6248400" y="1390650"/>
            <a:ext cx="5410200" cy="3048000"/>
            <a:chOff x="6248400" y="1390650"/>
            <a:chExt cx="5410200" cy="3048000"/>
          </a:xfrm>
        </p:grpSpPr>
        <p:sp>
          <p:nvSpPr>
            <p:cNvPr id="12" name="Rectangle 12"/>
            <p:cNvSpPr/>
            <p:nvPr/>
          </p:nvSpPr>
          <p:spPr>
            <a:xfrm>
              <a:off x="6248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13" name="Image 13"/>
            <p:cNvPicPr>
              <a:picLocks noChangeAspect="1"/>
            </p:cNvPicPr>
            <p:nvPr/>
          </p:nvPicPr>
          <p:blipFill>
            <a:blip r:embed="rId3"/>
            <a:stretch>
              <a:fillRect/>
            </a:stretch>
          </p:blipFill>
          <p:spPr>
            <a:xfrm>
              <a:off x="6248400" y="1393031"/>
              <a:ext cx="5410200" cy="3043238"/>
            </a:xfrm>
            <a:prstGeom prst="rect">
              <a:avLst/>
            </a:prstGeom>
          </p:spPr>
        </p:pic>
        <p:sp>
          <p:nvSpPr>
            <p:cNvPr id="14" name="Rectangle 14"/>
            <p:cNvSpPr/>
            <p:nvPr/>
          </p:nvSpPr>
          <p:spPr>
            <a:xfrm>
              <a:off x="6248400" y="1390650"/>
              <a:ext cx="5410200" cy="3048000"/>
            </a:xfrm>
            <a:prstGeom prst="roundRect">
              <a:avLst>
                <a:gd name="adj" fmla="val 3125"/>
              </a:avLst>
            </a:prstGeom>
            <a:noFill/>
            <a:ln w="9525">
              <a:solidFill>
                <a:schemeClr val="accent5"/>
              </a:solidFill>
            </a:ln>
          </p:spPr>
        </p:sp>
      </p:grpSp>
      <p:grpSp>
        <p:nvGrpSpPr>
          <p:cNvPr id="20" name="Group 20"/>
          <p:cNvGrpSpPr/>
          <p:nvPr/>
        </p:nvGrpSpPr>
        <p:grpSpPr>
          <a:xfrm>
            <a:off x="533400" y="4686300"/>
            <a:ext cx="5410200" cy="1238250"/>
            <a:chOff x="533400" y="4686300"/>
            <a:chExt cx="5410200" cy="1238250"/>
          </a:xfrm>
        </p:grpSpPr>
        <p:sp>
          <p:nvSpPr>
            <p:cNvPr id="16" name="Rectangle 16"/>
            <p:cNvSpPr/>
            <p:nvPr/>
          </p:nvSpPr>
          <p:spPr>
            <a:xfrm>
              <a:off x="533400" y="4686300"/>
              <a:ext cx="5410200" cy="1238250"/>
            </a:xfrm>
            <a:prstGeom prst="roundRect">
              <a:avLst>
                <a:gd name="adj" fmla="val 7692"/>
              </a:avLst>
            </a:prstGeom>
            <a:solidFill>
              <a:srgbClr val="FFF7EC"/>
            </a:solidFill>
            <a:ln>
              <a:noFill/>
            </a:ln>
          </p:spPr>
        </p:sp>
        <p:sp>
          <p:nvSpPr>
            <p:cNvPr id="17" name="TextBox 17"/>
            <p:cNvSpPr txBox="1"/>
            <p:nvPr/>
          </p:nvSpPr>
          <p:spPr>
            <a:xfrm>
              <a:off x="755523" y="4834414"/>
              <a:ext cx="1497250"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智能 Agent 工作台</a:t>
              </a:r>
            </a:p>
          </p:txBody>
        </p:sp>
        <p:sp>
          <p:nvSpPr>
            <p:cNvPr id="18" name="TextBox 18"/>
            <p:cNvSpPr txBox="1"/>
            <p:nvPr/>
          </p:nvSpPr>
          <p:spPr>
            <a:xfrm>
              <a:off x="756285" y="5174456"/>
              <a:ext cx="2695499"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输入：工程问题、关联项目和资料版本</a:t>
              </a:r>
            </a:p>
          </p:txBody>
        </p:sp>
        <p:sp>
          <p:nvSpPr>
            <p:cNvPr id="19" name="TextBox 19"/>
            <p:cNvSpPr txBox="1"/>
            <p:nvPr/>
          </p:nvSpPr>
          <p:spPr>
            <a:xfrm>
              <a:off x="756285" y="5498306"/>
              <a:ext cx="3629162"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输出：评估结论、P/C 分值、触发指标及证据引用</a:t>
              </a:r>
            </a:p>
          </p:txBody>
        </p:sp>
      </p:grpSp>
      <p:grpSp>
        <p:nvGrpSpPr>
          <p:cNvPr id="25" name="Group 25"/>
          <p:cNvGrpSpPr/>
          <p:nvPr/>
        </p:nvGrpSpPr>
        <p:grpSpPr>
          <a:xfrm>
            <a:off x="6248400" y="4686300"/>
            <a:ext cx="5410200" cy="1238250"/>
            <a:chOff x="6248400" y="4686300"/>
            <a:chExt cx="5410200" cy="1238250"/>
          </a:xfrm>
        </p:grpSpPr>
        <p:sp>
          <p:nvSpPr>
            <p:cNvPr id="21" name="Rectangle 21"/>
            <p:cNvSpPr/>
            <p:nvPr/>
          </p:nvSpPr>
          <p:spPr>
            <a:xfrm>
              <a:off x="6248400" y="4686300"/>
              <a:ext cx="5410200" cy="1238250"/>
            </a:xfrm>
            <a:prstGeom prst="roundRect">
              <a:avLst>
                <a:gd name="adj" fmla="val 7692"/>
              </a:avLst>
            </a:prstGeom>
            <a:solidFill>
              <a:srgbClr val="EEF7F4"/>
            </a:solidFill>
            <a:ln>
              <a:noFill/>
            </a:ln>
          </p:spPr>
        </p:sp>
        <p:sp>
          <p:nvSpPr>
            <p:cNvPr id="22" name="TextBox 22"/>
            <p:cNvSpPr txBox="1"/>
            <p:nvPr/>
          </p:nvSpPr>
          <p:spPr>
            <a:xfrm>
              <a:off x="6470523" y="4834414"/>
              <a:ext cx="1046836"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智能识别中心</a:t>
              </a:r>
            </a:p>
          </p:txBody>
        </p:sp>
        <p:sp>
          <p:nvSpPr>
            <p:cNvPr id="23" name="TextBox 23"/>
            <p:cNvSpPr txBox="1"/>
            <p:nvPr/>
          </p:nvSpPr>
          <p:spPr>
            <a:xfrm>
              <a:off x="6471285" y="5174456"/>
              <a:ext cx="36001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过程：按工序节点展示检索、推理和确定性校验状态</a:t>
              </a:r>
            </a:p>
          </p:txBody>
        </p:sp>
        <p:sp>
          <p:nvSpPr>
            <p:cNvPr id="24" name="TextBox 24"/>
            <p:cNvSpPr txBox="1"/>
            <p:nvPr/>
          </p:nvSpPr>
          <p:spPr>
            <a:xfrm>
              <a:off x="6471285" y="5498306"/>
              <a:ext cx="36001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输出：标准化风险记录、综合置信度和人工复核路由</a:t>
              </a:r>
            </a:p>
          </p:txBody>
        </p:sp>
      </p:grpSp>
      <p:grpSp>
        <p:nvGrpSpPr>
          <p:cNvPr id="28" name="Group 28"/>
          <p:cNvGrpSpPr/>
          <p:nvPr/>
        </p:nvGrpSpPr>
        <p:grpSpPr>
          <a:xfrm>
            <a:off x="528638" y="6311741"/>
            <a:ext cx="11134724" cy="161925"/>
            <a:chOff x="528638" y="6311741"/>
            <a:chExt cx="11134724" cy="161925"/>
          </a:xfrm>
        </p:grpSpPr>
        <p:sp>
          <p:nvSpPr>
            <p:cNvPr id="26" name="TextBox 2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27" name="TextBox 2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883444"/>
            <a:ext cx="6346190" cy="366712"/>
            <a:chOff x="523875" y="883444"/>
            <a:chExt cx="6346190" cy="366712"/>
          </a:xfrm>
        </p:grpSpPr>
        <p:sp>
          <p:nvSpPr>
            <p:cNvPr id="6" name="TextBox 6"/>
            <p:cNvSpPr txBox="1"/>
            <p:nvPr/>
          </p:nvSpPr>
          <p:spPr>
            <a:xfrm>
              <a:off x="523875" y="883444"/>
              <a:ext cx="6346190"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系统演示（三）风险评估、预警与处置追溯（演示原型）</a:t>
              </a:r>
            </a:p>
          </p:txBody>
        </p:sp>
      </p:grpSp>
      <p:grpSp>
        <p:nvGrpSpPr>
          <p:cNvPr id="11" name="Group 11"/>
          <p:cNvGrpSpPr/>
          <p:nvPr/>
        </p:nvGrpSpPr>
        <p:grpSpPr>
          <a:xfrm>
            <a:off x="533400" y="1390650"/>
            <a:ext cx="5410200" cy="3048000"/>
            <a:chOff x="533400" y="1390650"/>
            <a:chExt cx="5410200" cy="3048000"/>
          </a:xfrm>
        </p:grpSpPr>
        <p:sp>
          <p:nvSpPr>
            <p:cNvPr id="8" name="Rectangle 8"/>
            <p:cNvSpPr/>
            <p:nvPr/>
          </p:nvSpPr>
          <p:spPr>
            <a:xfrm>
              <a:off x="533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9" name="Image 9"/>
            <p:cNvPicPr>
              <a:picLocks noChangeAspect="1"/>
            </p:cNvPicPr>
            <p:nvPr/>
          </p:nvPicPr>
          <p:blipFill>
            <a:blip r:embed="rId2"/>
            <a:stretch>
              <a:fillRect/>
            </a:stretch>
          </p:blipFill>
          <p:spPr>
            <a:xfrm>
              <a:off x="533400" y="1393031"/>
              <a:ext cx="5410200" cy="3043238"/>
            </a:xfrm>
            <a:prstGeom prst="rect">
              <a:avLst/>
            </a:prstGeom>
          </p:spPr>
        </p:pic>
        <p:sp>
          <p:nvSpPr>
            <p:cNvPr id="10" name="Rectangle 10"/>
            <p:cNvSpPr/>
            <p:nvPr/>
          </p:nvSpPr>
          <p:spPr>
            <a:xfrm>
              <a:off x="533400" y="1390650"/>
              <a:ext cx="5410200" cy="3048000"/>
            </a:xfrm>
            <a:prstGeom prst="roundRect">
              <a:avLst>
                <a:gd name="adj" fmla="val 3125"/>
              </a:avLst>
            </a:prstGeom>
            <a:noFill/>
            <a:ln w="9525">
              <a:solidFill>
                <a:schemeClr val="accent5"/>
              </a:solidFill>
            </a:ln>
          </p:spPr>
        </p:sp>
      </p:grpSp>
      <p:grpSp>
        <p:nvGrpSpPr>
          <p:cNvPr id="15" name="Group 15"/>
          <p:cNvGrpSpPr/>
          <p:nvPr/>
        </p:nvGrpSpPr>
        <p:grpSpPr>
          <a:xfrm>
            <a:off x="6248400" y="1390650"/>
            <a:ext cx="5410200" cy="3048000"/>
            <a:chOff x="6248400" y="1390650"/>
            <a:chExt cx="5410200" cy="3048000"/>
          </a:xfrm>
        </p:grpSpPr>
        <p:sp>
          <p:nvSpPr>
            <p:cNvPr id="12" name="Rectangle 12"/>
            <p:cNvSpPr/>
            <p:nvPr/>
          </p:nvSpPr>
          <p:spPr>
            <a:xfrm>
              <a:off x="6248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13" name="Image 13"/>
            <p:cNvPicPr>
              <a:picLocks noChangeAspect="1"/>
            </p:cNvPicPr>
            <p:nvPr/>
          </p:nvPicPr>
          <p:blipFill>
            <a:blip r:embed="rId3"/>
            <a:stretch>
              <a:fillRect/>
            </a:stretch>
          </p:blipFill>
          <p:spPr>
            <a:xfrm>
              <a:off x="6248400" y="1393031"/>
              <a:ext cx="5410200" cy="3043238"/>
            </a:xfrm>
            <a:prstGeom prst="rect">
              <a:avLst/>
            </a:prstGeom>
          </p:spPr>
        </p:pic>
        <p:sp>
          <p:nvSpPr>
            <p:cNvPr id="14" name="Rectangle 14"/>
            <p:cNvSpPr/>
            <p:nvPr/>
          </p:nvSpPr>
          <p:spPr>
            <a:xfrm>
              <a:off x="6248400" y="1390650"/>
              <a:ext cx="5410200" cy="3048000"/>
            </a:xfrm>
            <a:prstGeom prst="roundRect">
              <a:avLst>
                <a:gd name="adj" fmla="val 3125"/>
              </a:avLst>
            </a:prstGeom>
            <a:noFill/>
            <a:ln w="9525">
              <a:solidFill>
                <a:schemeClr val="accent5"/>
              </a:solidFill>
            </a:ln>
          </p:spPr>
        </p:sp>
      </p:grpSp>
      <p:grpSp>
        <p:nvGrpSpPr>
          <p:cNvPr id="20" name="Group 20"/>
          <p:cNvGrpSpPr/>
          <p:nvPr/>
        </p:nvGrpSpPr>
        <p:grpSpPr>
          <a:xfrm>
            <a:off x="533400" y="4686300"/>
            <a:ext cx="5410200" cy="1238250"/>
            <a:chOff x="533400" y="4686300"/>
            <a:chExt cx="5410200" cy="1238250"/>
          </a:xfrm>
        </p:grpSpPr>
        <p:sp>
          <p:nvSpPr>
            <p:cNvPr id="16" name="Rectangle 16"/>
            <p:cNvSpPr/>
            <p:nvPr/>
          </p:nvSpPr>
          <p:spPr>
            <a:xfrm>
              <a:off x="533400" y="4686300"/>
              <a:ext cx="5410200" cy="1238250"/>
            </a:xfrm>
            <a:prstGeom prst="roundRect">
              <a:avLst>
                <a:gd name="adj" fmla="val 7692"/>
              </a:avLst>
            </a:prstGeom>
            <a:solidFill>
              <a:srgbClr val="FFF7EC"/>
            </a:solidFill>
            <a:ln>
              <a:noFill/>
            </a:ln>
          </p:spPr>
        </p:sp>
        <p:sp>
          <p:nvSpPr>
            <p:cNvPr id="17" name="TextBox 17"/>
            <p:cNvSpPr txBox="1"/>
            <p:nvPr/>
          </p:nvSpPr>
          <p:spPr>
            <a:xfrm>
              <a:off x="755523" y="4834414"/>
              <a:ext cx="1219149"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风险评估与预警</a:t>
              </a:r>
            </a:p>
          </p:txBody>
        </p:sp>
        <p:sp>
          <p:nvSpPr>
            <p:cNvPr id="18" name="TextBox 18"/>
            <p:cNvSpPr txBox="1"/>
            <p:nvPr/>
          </p:nvSpPr>
          <p:spPr>
            <a:xfrm>
              <a:off x="756285" y="5174456"/>
              <a:ext cx="4314190"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计算：指标实际取值形成 P/C 分值，映射当前风险矩阵版本</a:t>
              </a:r>
            </a:p>
          </p:txBody>
        </p:sp>
        <p:sp>
          <p:nvSpPr>
            <p:cNvPr id="19" name="TextBox 19"/>
            <p:cNvSpPr txBox="1"/>
            <p:nvPr/>
          </p:nvSpPr>
          <p:spPr>
            <a:xfrm>
              <a:off x="756285" y="5498306"/>
              <a:ext cx="344937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预警：记录触发类型、触发指标、证据和通知状态</a:t>
              </a:r>
            </a:p>
          </p:txBody>
        </p:sp>
      </p:grpSp>
      <p:grpSp>
        <p:nvGrpSpPr>
          <p:cNvPr id="25" name="Group 25"/>
          <p:cNvGrpSpPr/>
          <p:nvPr/>
        </p:nvGrpSpPr>
        <p:grpSpPr>
          <a:xfrm>
            <a:off x="6248400" y="4686300"/>
            <a:ext cx="5410200" cy="1238250"/>
            <a:chOff x="6248400" y="4686300"/>
            <a:chExt cx="5410200" cy="1238250"/>
          </a:xfrm>
        </p:grpSpPr>
        <p:sp>
          <p:nvSpPr>
            <p:cNvPr id="21" name="Rectangle 21"/>
            <p:cNvSpPr/>
            <p:nvPr/>
          </p:nvSpPr>
          <p:spPr>
            <a:xfrm>
              <a:off x="6248400" y="4686300"/>
              <a:ext cx="5410200" cy="1238250"/>
            </a:xfrm>
            <a:prstGeom prst="roundRect">
              <a:avLst>
                <a:gd name="adj" fmla="val 7692"/>
              </a:avLst>
            </a:prstGeom>
            <a:solidFill>
              <a:srgbClr val="EEF7F4"/>
            </a:solidFill>
            <a:ln>
              <a:noFill/>
            </a:ln>
          </p:spPr>
        </p:sp>
        <p:sp>
          <p:nvSpPr>
            <p:cNvPr id="22" name="TextBox 22"/>
            <p:cNvSpPr txBox="1"/>
            <p:nvPr/>
          </p:nvSpPr>
          <p:spPr>
            <a:xfrm>
              <a:off x="6470523" y="4834414"/>
              <a:ext cx="1219149"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处置与证据追溯</a:t>
              </a:r>
            </a:p>
          </p:txBody>
        </p:sp>
        <p:sp>
          <p:nvSpPr>
            <p:cNvPr id="23" name="TextBox 23"/>
            <p:cNvSpPr txBox="1"/>
            <p:nvPr/>
          </p:nvSpPr>
          <p:spPr>
            <a:xfrm>
              <a:off x="6471285" y="5174456"/>
              <a:ext cx="344937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处置：候选措施组合经过三项约束校验后提交采纳</a:t>
              </a:r>
            </a:p>
          </p:txBody>
        </p:sp>
        <p:sp>
          <p:nvSpPr>
            <p:cNvPr id="24" name="TextBox 24"/>
            <p:cNvSpPr txBox="1"/>
            <p:nvPr/>
          </p:nvSpPr>
          <p:spPr>
            <a:xfrm>
              <a:off x="6471285" y="5498306"/>
              <a:ext cx="3901694"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追溯：资料段、工序、机理、评估、预警和处置连续关联</a:t>
              </a:r>
            </a:p>
          </p:txBody>
        </p:sp>
      </p:grpSp>
      <p:grpSp>
        <p:nvGrpSpPr>
          <p:cNvPr id="28" name="Group 28"/>
          <p:cNvGrpSpPr/>
          <p:nvPr/>
        </p:nvGrpSpPr>
        <p:grpSpPr>
          <a:xfrm>
            <a:off x="528638" y="6311741"/>
            <a:ext cx="11134724" cy="161925"/>
            <a:chOff x="528638" y="6311741"/>
            <a:chExt cx="11134724" cy="161925"/>
          </a:xfrm>
        </p:grpSpPr>
        <p:sp>
          <p:nvSpPr>
            <p:cNvPr id="26" name="TextBox 2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27" name="TextBox 2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2802992" cy="366712"/>
            <a:chOff x="523875" y="921544"/>
            <a:chExt cx="2802992" cy="366712"/>
          </a:xfrm>
        </p:grpSpPr>
        <p:sp>
          <p:nvSpPr>
            <p:cNvPr id="6" name="TextBox 6"/>
            <p:cNvSpPr txBox="1"/>
            <p:nvPr/>
          </p:nvSpPr>
          <p:spPr>
            <a:xfrm>
              <a:off x="523875" y="921544"/>
              <a:ext cx="2802992"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阶段成果与近期验证重点</a:t>
              </a:r>
            </a:p>
          </p:txBody>
        </p:sp>
      </p:grpSp>
      <p:grpSp>
        <p:nvGrpSpPr>
          <p:cNvPr id="23" name="Group 23"/>
          <p:cNvGrpSpPr/>
          <p:nvPr/>
        </p:nvGrpSpPr>
        <p:grpSpPr>
          <a:xfrm>
            <a:off x="533400" y="1466850"/>
            <a:ext cx="3524250" cy="2343150"/>
            <a:chOff x="533400" y="1466850"/>
            <a:chExt cx="3524250" cy="2343150"/>
          </a:xfrm>
        </p:grpSpPr>
        <p:sp>
          <p:nvSpPr>
            <p:cNvPr id="8" name="Rectangle 8"/>
            <p:cNvSpPr/>
            <p:nvPr/>
          </p:nvSpPr>
          <p:spPr>
            <a:xfrm>
              <a:off x="533400" y="1466850"/>
              <a:ext cx="3524250" cy="2343150"/>
            </a:xfrm>
            <a:prstGeom prst="roundRect">
              <a:avLst>
                <a:gd name="adj" fmla="val 4878"/>
              </a:avLst>
            </a:prstGeom>
            <a:solidFill>
              <a:srgbClr val="EEF4FA"/>
            </a:solidFill>
            <a:ln w="9525">
              <a:solidFill>
                <a:schemeClr val="accent5"/>
              </a:solidFill>
            </a:ln>
          </p:spPr>
        </p:sp>
        <p:sp>
          <p:nvSpPr>
            <p:cNvPr id="9" name="Rectangle 9"/>
            <p:cNvSpPr/>
            <p:nvPr/>
          </p:nvSpPr>
          <p:spPr>
            <a:xfrm>
              <a:off x="533400" y="1466850"/>
              <a:ext cx="3524250" cy="76200"/>
            </a:xfrm>
            <a:prstGeom prst="roundRect">
              <a:avLst>
                <a:gd name="adj" fmla="val 50000"/>
              </a:avLst>
            </a:prstGeom>
            <a:solidFill>
              <a:schemeClr val="accent1"/>
            </a:solidFill>
            <a:ln>
              <a:noFill/>
            </a:ln>
          </p:spPr>
        </p:sp>
        <p:grpSp>
          <p:nvGrpSpPr>
            <p:cNvPr id="12" name="Group 12"/>
            <p:cNvGrpSpPr/>
            <p:nvPr/>
          </p:nvGrpSpPr>
          <p:grpSpPr>
            <a:xfrm>
              <a:off x="806442" y="1797050"/>
              <a:ext cx="177808" cy="177800"/>
              <a:chOff x="806442" y="1797050"/>
              <a:chExt cx="177808" cy="177800"/>
            </a:xfrm>
          </p:grpSpPr>
          <p:sp>
            <p:nvSpPr>
              <p:cNvPr id="10" name="Freeform 10"/>
              <p:cNvSpPr/>
              <p:nvPr/>
            </p:nvSpPr>
            <p:spPr>
              <a:xfrm>
                <a:off x="850900" y="1841500"/>
                <a:ext cx="133350" cy="133350"/>
              </a:xfrm>
              <a:custGeom>
                <a:avLst/>
                <a:gdLst/>
                <a:ahLst/>
                <a:cxnLst/>
                <a:rect l="l" t="t" r="r" b="b"/>
                <a:pathLst>
                  <a:path w="133350" h="133350">
                    <a:moveTo>
                      <a:pt x="122238" y="2978"/>
                    </a:moveTo>
                    <a:cubicBezTo>
                      <a:pt x="129114" y="6948"/>
                      <a:pt x="133350" y="14285"/>
                      <a:pt x="133350" y="22225"/>
                    </a:cubicBezTo>
                    <a:lnTo>
                      <a:pt x="133350" y="111125"/>
                    </a:lnTo>
                    <a:cubicBezTo>
                      <a:pt x="133350" y="123400"/>
                      <a:pt x="123400" y="133350"/>
                      <a:pt x="111125" y="133350"/>
                    </a:cubicBezTo>
                    <a:lnTo>
                      <a:pt x="22225" y="133350"/>
                    </a:lnTo>
                    <a:cubicBezTo>
                      <a:pt x="9950" y="133350"/>
                      <a:pt x="0" y="123400"/>
                      <a:pt x="0" y="111125"/>
                    </a:cubicBezTo>
                    <a:lnTo>
                      <a:pt x="0" y="22225"/>
                    </a:lnTo>
                    <a:cubicBezTo>
                      <a:pt x="0" y="9950"/>
                      <a:pt x="9950" y="0"/>
                      <a:pt x="22225" y="0"/>
                    </a:cubicBezTo>
                    <a:lnTo>
                      <a:pt x="55563" y="0"/>
                    </a:lnTo>
                  </a:path>
                </a:pathLst>
              </a:custGeom>
              <a:noFill/>
              <a:ln w="22225">
                <a:solidFill>
                  <a:schemeClr val="accent1"/>
                </a:solidFill>
              </a:ln>
            </p:spPr>
          </p:sp>
          <p:sp>
            <p:nvSpPr>
              <p:cNvPr id="11" name="Freeform 11"/>
              <p:cNvSpPr/>
              <p:nvPr/>
            </p:nvSpPr>
            <p:spPr>
              <a:xfrm>
                <a:off x="806442" y="1797050"/>
                <a:ext cx="133358" cy="133350"/>
              </a:xfrm>
              <a:custGeom>
                <a:avLst/>
                <a:gdLst/>
                <a:ahLst/>
                <a:cxnLst/>
                <a:rect l="l" t="t" r="r" b="b"/>
                <a:pathLst>
                  <a:path w="133358" h="133350">
                    <a:moveTo>
                      <a:pt x="11120" y="130394"/>
                    </a:moveTo>
                    <a:cubicBezTo>
                      <a:pt x="4237" y="126420"/>
                      <a:pt x="0" y="119073"/>
                      <a:pt x="8" y="111125"/>
                    </a:cubicBezTo>
                    <a:lnTo>
                      <a:pt x="8" y="22225"/>
                    </a:lnTo>
                    <a:cubicBezTo>
                      <a:pt x="8" y="9950"/>
                      <a:pt x="9958" y="0"/>
                      <a:pt x="22233" y="0"/>
                    </a:cubicBezTo>
                    <a:lnTo>
                      <a:pt x="111133" y="0"/>
                    </a:lnTo>
                    <a:cubicBezTo>
                      <a:pt x="123408" y="0"/>
                      <a:pt x="133358" y="9950"/>
                      <a:pt x="133358" y="22225"/>
                    </a:cubicBezTo>
                    <a:lnTo>
                      <a:pt x="133358" y="111125"/>
                    </a:lnTo>
                    <a:cubicBezTo>
                      <a:pt x="133358" y="123400"/>
                      <a:pt x="123408" y="133350"/>
                      <a:pt x="111133" y="133350"/>
                    </a:cubicBezTo>
                    <a:lnTo>
                      <a:pt x="77795" y="133350"/>
                    </a:lnTo>
                  </a:path>
                </a:pathLst>
              </a:custGeom>
              <a:noFill/>
              <a:ln w="22225">
                <a:solidFill>
                  <a:schemeClr val="accent1"/>
                </a:solidFill>
              </a:ln>
            </p:spPr>
          </p:sp>
        </p:grpSp>
        <p:sp>
          <p:nvSpPr>
            <p:cNvPr id="13" name="TextBox 13"/>
            <p:cNvSpPr txBox="1"/>
            <p:nvPr/>
          </p:nvSpPr>
          <p:spPr>
            <a:xfrm>
              <a:off x="1154811" y="1808321"/>
              <a:ext cx="1352601"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已形成设计基线</a:t>
              </a:r>
            </a:p>
          </p:txBody>
        </p:sp>
        <p:sp>
          <p:nvSpPr>
            <p:cNvPr id="14" name="Ellipse 14"/>
            <p:cNvSpPr/>
            <p:nvPr/>
          </p:nvSpPr>
          <p:spPr>
            <a:xfrm>
              <a:off x="714375" y="2295525"/>
              <a:ext cx="285750" cy="285750"/>
            </a:xfrm>
            <a:prstGeom prst="ellipse">
              <a:avLst/>
            </a:prstGeom>
            <a:solidFill>
              <a:schemeClr val="accent1"/>
            </a:solidFill>
            <a:ln>
              <a:noFill/>
            </a:ln>
          </p:spPr>
        </p:sp>
        <p:sp>
          <p:nvSpPr>
            <p:cNvPr id="15" name="TextBox 15"/>
            <p:cNvSpPr txBox="1"/>
            <p:nvPr/>
          </p:nvSpPr>
          <p:spPr>
            <a:xfrm>
              <a:off x="817503" y="23888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1</a:t>
              </a:r>
            </a:p>
          </p:txBody>
        </p:sp>
        <p:sp>
          <p:nvSpPr>
            <p:cNvPr id="16" name="TextBox 16"/>
            <p:cNvSpPr txBox="1"/>
            <p:nvPr/>
          </p:nvSpPr>
          <p:spPr>
            <a:xfrm>
              <a:off x="1118616" y="2372678"/>
              <a:ext cx="1565529"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统一领域术语与字段契约</a:t>
              </a:r>
            </a:p>
          </p:txBody>
        </p:sp>
        <p:sp>
          <p:nvSpPr>
            <p:cNvPr id="17" name="Ellipse 17"/>
            <p:cNvSpPr/>
            <p:nvPr/>
          </p:nvSpPr>
          <p:spPr>
            <a:xfrm>
              <a:off x="714375" y="2809875"/>
              <a:ext cx="285750" cy="285750"/>
            </a:xfrm>
            <a:prstGeom prst="ellipse">
              <a:avLst/>
            </a:prstGeom>
            <a:solidFill>
              <a:schemeClr val="accent1"/>
            </a:solidFill>
            <a:ln>
              <a:noFill/>
            </a:ln>
          </p:spPr>
        </p:sp>
        <p:sp>
          <p:nvSpPr>
            <p:cNvPr id="18" name="TextBox 18"/>
            <p:cNvSpPr txBox="1"/>
            <p:nvPr/>
          </p:nvSpPr>
          <p:spPr>
            <a:xfrm>
              <a:off x="817503" y="290322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2</a:t>
              </a:r>
            </a:p>
          </p:txBody>
        </p:sp>
        <p:sp>
          <p:nvSpPr>
            <p:cNvPr id="19" name="TextBox 19"/>
            <p:cNvSpPr txBox="1"/>
            <p:nvPr/>
          </p:nvSpPr>
          <p:spPr>
            <a:xfrm>
              <a:off x="1118616" y="2887028"/>
              <a:ext cx="1565529"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对应两项专利的方法步骤</a:t>
              </a:r>
            </a:p>
          </p:txBody>
        </p:sp>
        <p:sp>
          <p:nvSpPr>
            <p:cNvPr id="20" name="Ellipse 20"/>
            <p:cNvSpPr/>
            <p:nvPr/>
          </p:nvSpPr>
          <p:spPr>
            <a:xfrm>
              <a:off x="714375" y="3324225"/>
              <a:ext cx="285750" cy="285750"/>
            </a:xfrm>
            <a:prstGeom prst="ellipse">
              <a:avLst/>
            </a:prstGeom>
            <a:solidFill>
              <a:schemeClr val="accent1"/>
            </a:solidFill>
            <a:ln>
              <a:noFill/>
            </a:ln>
          </p:spPr>
        </p:sp>
        <p:sp>
          <p:nvSpPr>
            <p:cNvPr id="21" name="TextBox 21"/>
            <p:cNvSpPr txBox="1"/>
            <p:nvPr/>
          </p:nvSpPr>
          <p:spPr>
            <a:xfrm>
              <a:off x="817503" y="34175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3</a:t>
              </a:r>
            </a:p>
          </p:txBody>
        </p:sp>
        <p:sp>
          <p:nvSpPr>
            <p:cNvPr id="22" name="TextBox 22"/>
            <p:cNvSpPr txBox="1"/>
            <p:nvPr/>
          </p:nvSpPr>
          <p:spPr>
            <a:xfrm>
              <a:off x="1118616" y="3277552"/>
              <a:ext cx="1617536"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明确 Agent、确定性计算和</a:t>
              </a:r>
              <a:br/>
              <a:r>
                <a:rPr lang="zh-CN" sz="1050" dirty="0">
                  <a:solidFill>
                    <a:schemeClr val="dk1"/>
                  </a:solidFill>
                  <a:latin typeface="+mn-lt"/>
                  <a:ea typeface="+mn-ea"/>
                  <a:cs typeface="+mn-cs"/>
                </a:rPr>
                <a:t>人工审核边界</a:t>
              </a:r>
            </a:p>
          </p:txBody>
        </p:sp>
      </p:grpSp>
      <p:grpSp>
        <p:nvGrpSpPr>
          <p:cNvPr id="45" name="Group 45"/>
          <p:cNvGrpSpPr/>
          <p:nvPr/>
        </p:nvGrpSpPr>
        <p:grpSpPr>
          <a:xfrm>
            <a:off x="4333875" y="1466850"/>
            <a:ext cx="3524250" cy="2343150"/>
            <a:chOff x="4333875" y="1466850"/>
            <a:chExt cx="3524250" cy="2343150"/>
          </a:xfrm>
        </p:grpSpPr>
        <p:sp>
          <p:nvSpPr>
            <p:cNvPr id="24" name="Rectangle 24"/>
            <p:cNvSpPr/>
            <p:nvPr/>
          </p:nvSpPr>
          <p:spPr>
            <a:xfrm>
              <a:off x="4333875" y="1466850"/>
              <a:ext cx="3524250" cy="2343150"/>
            </a:xfrm>
            <a:prstGeom prst="roundRect">
              <a:avLst>
                <a:gd name="adj" fmla="val 4878"/>
              </a:avLst>
            </a:prstGeom>
            <a:solidFill>
              <a:srgbClr val="EEF7F4"/>
            </a:solidFill>
            <a:ln w="9525">
              <a:solidFill>
                <a:schemeClr val="accent5"/>
              </a:solidFill>
            </a:ln>
          </p:spPr>
        </p:sp>
        <p:sp>
          <p:nvSpPr>
            <p:cNvPr id="25" name="Rectangle 25"/>
            <p:cNvSpPr/>
            <p:nvPr/>
          </p:nvSpPr>
          <p:spPr>
            <a:xfrm>
              <a:off x="4333875" y="1466850"/>
              <a:ext cx="3524250" cy="76200"/>
            </a:xfrm>
            <a:prstGeom prst="roundRect">
              <a:avLst>
                <a:gd name="adj" fmla="val 50000"/>
              </a:avLst>
            </a:prstGeom>
            <a:solidFill>
              <a:schemeClr val="accent2"/>
            </a:solidFill>
            <a:ln>
              <a:noFill/>
            </a:ln>
          </p:spPr>
        </p:sp>
        <p:grpSp>
          <p:nvGrpSpPr>
            <p:cNvPr id="34" name="Group 34"/>
            <p:cNvGrpSpPr/>
            <p:nvPr/>
          </p:nvGrpSpPr>
          <p:grpSpPr>
            <a:xfrm>
              <a:off x="4595813" y="1797050"/>
              <a:ext cx="200026" cy="187326"/>
              <a:chOff x="4595813" y="1797050"/>
              <a:chExt cx="200026" cy="187326"/>
            </a:xfrm>
          </p:grpSpPr>
          <p:sp>
            <p:nvSpPr>
              <p:cNvPr id="26" name="Freeform 26"/>
              <p:cNvSpPr/>
              <p:nvPr/>
            </p:nvSpPr>
            <p:spPr>
              <a:xfrm>
                <a:off x="4595813" y="1797050"/>
                <a:ext cx="200026" cy="133350"/>
              </a:xfrm>
              <a:custGeom>
                <a:avLst/>
                <a:gdLst/>
                <a:ahLst/>
                <a:cxnLst/>
                <a:rect l="l" t="t" r="r" b="b"/>
                <a:pathLst>
                  <a:path w="200026" h="133350">
                    <a:moveTo>
                      <a:pt x="0" y="11113"/>
                    </a:moveTo>
                    <a:cubicBezTo>
                      <a:pt x="0" y="4975"/>
                      <a:pt x="4975" y="0"/>
                      <a:pt x="11113" y="0"/>
                    </a:cubicBezTo>
                    <a:lnTo>
                      <a:pt x="188913" y="0"/>
                    </a:lnTo>
                    <a:cubicBezTo>
                      <a:pt x="195050" y="0"/>
                      <a:pt x="200026" y="4975"/>
                      <a:pt x="200026" y="11113"/>
                    </a:cubicBezTo>
                    <a:lnTo>
                      <a:pt x="200026" y="122238"/>
                    </a:lnTo>
                    <a:cubicBezTo>
                      <a:pt x="200026" y="128375"/>
                      <a:pt x="195050" y="133350"/>
                      <a:pt x="188913" y="133350"/>
                    </a:cubicBezTo>
                    <a:lnTo>
                      <a:pt x="11113" y="133350"/>
                    </a:lnTo>
                    <a:cubicBezTo>
                      <a:pt x="4975" y="133350"/>
                      <a:pt x="0" y="128375"/>
                      <a:pt x="0" y="122238"/>
                    </a:cubicBezTo>
                    <a:lnTo>
                      <a:pt x="0" y="11113"/>
                    </a:lnTo>
                  </a:path>
                </a:pathLst>
              </a:custGeom>
              <a:noFill/>
              <a:ln w="22225">
                <a:solidFill>
                  <a:schemeClr val="accent2"/>
                </a:solidFill>
              </a:ln>
            </p:spPr>
          </p:sp>
          <p:sp>
            <p:nvSpPr>
              <p:cNvPr id="27" name="Freeform 27"/>
              <p:cNvSpPr/>
              <p:nvPr/>
            </p:nvSpPr>
            <p:spPr>
              <a:xfrm>
                <a:off x="4640263" y="1974851"/>
                <a:ext cx="111125" cy="9525"/>
              </a:xfrm>
              <a:custGeom>
                <a:avLst/>
                <a:gdLst/>
                <a:ahLst/>
                <a:cxnLst/>
                <a:rect l="l" t="t" r="r" b="b"/>
                <a:pathLst>
                  <a:path w="111125" h="9525">
                    <a:moveTo>
                      <a:pt x="0" y="0"/>
                    </a:moveTo>
                    <a:lnTo>
                      <a:pt x="111125" y="0"/>
                    </a:lnTo>
                  </a:path>
                </a:pathLst>
              </a:custGeom>
              <a:noFill/>
              <a:ln w="22225">
                <a:solidFill>
                  <a:schemeClr val="accent2"/>
                </a:solidFill>
              </a:ln>
            </p:spPr>
          </p:sp>
          <p:sp>
            <p:nvSpPr>
              <p:cNvPr id="28" name="Freeform 28"/>
              <p:cNvSpPr/>
              <p:nvPr/>
            </p:nvSpPr>
            <p:spPr>
              <a:xfrm>
                <a:off x="4662488" y="1930401"/>
                <a:ext cx="9525" cy="44450"/>
              </a:xfrm>
              <a:custGeom>
                <a:avLst/>
                <a:gdLst/>
                <a:ahLst/>
                <a:cxnLst/>
                <a:rect l="l" t="t" r="r" b="b"/>
                <a:pathLst>
                  <a:path w="9525" h="44450">
                    <a:moveTo>
                      <a:pt x="0" y="0"/>
                    </a:moveTo>
                    <a:lnTo>
                      <a:pt x="0" y="44450"/>
                    </a:lnTo>
                  </a:path>
                </a:pathLst>
              </a:custGeom>
              <a:noFill/>
              <a:ln w="22225">
                <a:solidFill>
                  <a:schemeClr val="accent2"/>
                </a:solidFill>
              </a:ln>
            </p:spPr>
          </p:sp>
          <p:sp>
            <p:nvSpPr>
              <p:cNvPr id="29" name="Freeform 29"/>
              <p:cNvSpPr/>
              <p:nvPr/>
            </p:nvSpPr>
            <p:spPr>
              <a:xfrm>
                <a:off x="4729163" y="1930401"/>
                <a:ext cx="9525" cy="44450"/>
              </a:xfrm>
              <a:custGeom>
                <a:avLst/>
                <a:gdLst/>
                <a:ahLst/>
                <a:cxnLst/>
                <a:rect l="l" t="t" r="r" b="b"/>
                <a:pathLst>
                  <a:path w="9525" h="44450">
                    <a:moveTo>
                      <a:pt x="0" y="0"/>
                    </a:moveTo>
                    <a:lnTo>
                      <a:pt x="0" y="44450"/>
                    </a:lnTo>
                  </a:path>
                </a:pathLst>
              </a:custGeom>
              <a:noFill/>
              <a:ln w="22225">
                <a:solidFill>
                  <a:schemeClr val="accent2"/>
                </a:solidFill>
              </a:ln>
            </p:spPr>
          </p:sp>
          <p:sp>
            <p:nvSpPr>
              <p:cNvPr id="30" name="Freeform 30"/>
              <p:cNvSpPr/>
              <p:nvPr/>
            </p:nvSpPr>
            <p:spPr>
              <a:xfrm>
                <a:off x="4662488" y="1841500"/>
                <a:ext cx="9525" cy="44450"/>
              </a:xfrm>
              <a:custGeom>
                <a:avLst/>
                <a:gdLst/>
                <a:ahLst/>
                <a:cxnLst/>
                <a:rect l="l" t="t" r="r" b="b"/>
                <a:pathLst>
                  <a:path w="9525" h="44450">
                    <a:moveTo>
                      <a:pt x="0" y="44450"/>
                    </a:moveTo>
                    <a:lnTo>
                      <a:pt x="0" y="0"/>
                    </a:lnTo>
                  </a:path>
                </a:pathLst>
              </a:custGeom>
              <a:noFill/>
              <a:ln w="22225">
                <a:solidFill>
                  <a:schemeClr val="accent2"/>
                </a:solidFill>
              </a:ln>
            </p:spPr>
          </p:sp>
          <p:sp>
            <p:nvSpPr>
              <p:cNvPr id="31" name="Freeform 31"/>
              <p:cNvSpPr/>
              <p:nvPr/>
            </p:nvSpPr>
            <p:spPr>
              <a:xfrm>
                <a:off x="4695825" y="1874838"/>
                <a:ext cx="9525" cy="11113"/>
              </a:xfrm>
              <a:custGeom>
                <a:avLst/>
                <a:gdLst/>
                <a:ahLst/>
                <a:cxnLst/>
                <a:rect l="l" t="t" r="r" b="b"/>
                <a:pathLst>
                  <a:path w="9525" h="11113">
                    <a:moveTo>
                      <a:pt x="0" y="11113"/>
                    </a:moveTo>
                    <a:lnTo>
                      <a:pt x="0" y="0"/>
                    </a:lnTo>
                  </a:path>
                </a:pathLst>
              </a:custGeom>
              <a:noFill/>
              <a:ln w="22225">
                <a:solidFill>
                  <a:schemeClr val="accent2"/>
                </a:solidFill>
              </a:ln>
            </p:spPr>
          </p:sp>
          <p:sp>
            <p:nvSpPr>
              <p:cNvPr id="32" name="Freeform 32"/>
              <p:cNvSpPr/>
              <p:nvPr/>
            </p:nvSpPr>
            <p:spPr>
              <a:xfrm>
                <a:off x="4729163" y="1863725"/>
                <a:ext cx="9525" cy="22225"/>
              </a:xfrm>
              <a:custGeom>
                <a:avLst/>
                <a:gdLst/>
                <a:ahLst/>
                <a:cxnLst/>
                <a:rect l="l" t="t" r="r" b="b"/>
                <a:pathLst>
                  <a:path w="9525" h="22225">
                    <a:moveTo>
                      <a:pt x="0" y="22225"/>
                    </a:moveTo>
                    <a:lnTo>
                      <a:pt x="0" y="0"/>
                    </a:lnTo>
                  </a:path>
                </a:pathLst>
              </a:custGeom>
              <a:noFill/>
              <a:ln w="22225">
                <a:solidFill>
                  <a:schemeClr val="accent2"/>
                </a:solidFill>
              </a:ln>
            </p:spPr>
          </p:sp>
          <p:sp>
            <p:nvSpPr>
              <p:cNvPr id="33" name="Freeform 33"/>
              <p:cNvSpPr/>
              <p:nvPr/>
            </p:nvSpPr>
            <p:spPr>
              <a:xfrm>
                <a:off x="4695825" y="1874838"/>
                <a:ext cx="9525" cy="11113"/>
              </a:xfrm>
              <a:custGeom>
                <a:avLst/>
                <a:gdLst/>
                <a:ahLst/>
                <a:cxnLst/>
                <a:rect l="l" t="t" r="r" b="b"/>
                <a:pathLst>
                  <a:path w="9525" h="11113">
                    <a:moveTo>
                      <a:pt x="0" y="11113"/>
                    </a:moveTo>
                    <a:lnTo>
                      <a:pt x="0" y="0"/>
                    </a:lnTo>
                  </a:path>
                </a:pathLst>
              </a:custGeom>
              <a:noFill/>
              <a:ln w="22225">
                <a:solidFill>
                  <a:schemeClr val="accent2"/>
                </a:solidFill>
              </a:ln>
            </p:spPr>
          </p:sp>
        </p:grpSp>
        <p:sp>
          <p:nvSpPr>
            <p:cNvPr id="35" name="TextBox 35"/>
            <p:cNvSpPr txBox="1"/>
            <p:nvPr/>
          </p:nvSpPr>
          <p:spPr>
            <a:xfrm>
              <a:off x="4955286" y="1808321"/>
              <a:ext cx="1352601"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已完成演示原型</a:t>
              </a:r>
            </a:p>
          </p:txBody>
        </p:sp>
        <p:sp>
          <p:nvSpPr>
            <p:cNvPr id="36" name="Ellipse 36"/>
            <p:cNvSpPr/>
            <p:nvPr/>
          </p:nvSpPr>
          <p:spPr>
            <a:xfrm>
              <a:off x="4514850" y="2295525"/>
              <a:ext cx="285750" cy="285750"/>
            </a:xfrm>
            <a:prstGeom prst="ellipse">
              <a:avLst/>
            </a:prstGeom>
            <a:solidFill>
              <a:schemeClr val="accent2"/>
            </a:solidFill>
            <a:ln>
              <a:noFill/>
            </a:ln>
          </p:spPr>
        </p:sp>
        <p:sp>
          <p:nvSpPr>
            <p:cNvPr id="37" name="TextBox 37"/>
            <p:cNvSpPr txBox="1"/>
            <p:nvPr/>
          </p:nvSpPr>
          <p:spPr>
            <a:xfrm>
              <a:off x="4617978" y="23888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1</a:t>
              </a:r>
            </a:p>
          </p:txBody>
        </p:sp>
        <p:sp>
          <p:nvSpPr>
            <p:cNvPr id="38" name="TextBox 38"/>
            <p:cNvSpPr txBox="1"/>
            <p:nvPr/>
          </p:nvSpPr>
          <p:spPr>
            <a:xfrm>
              <a:off x="4919091" y="2372678"/>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风险态势与监测趋势</a:t>
              </a:r>
            </a:p>
          </p:txBody>
        </p:sp>
        <p:sp>
          <p:nvSpPr>
            <p:cNvPr id="39" name="Ellipse 39"/>
            <p:cNvSpPr/>
            <p:nvPr/>
          </p:nvSpPr>
          <p:spPr>
            <a:xfrm>
              <a:off x="4514850" y="2809875"/>
              <a:ext cx="285750" cy="285750"/>
            </a:xfrm>
            <a:prstGeom prst="ellipse">
              <a:avLst/>
            </a:prstGeom>
            <a:solidFill>
              <a:schemeClr val="accent2"/>
            </a:solidFill>
            <a:ln>
              <a:noFill/>
            </a:ln>
          </p:spPr>
        </p:sp>
        <p:sp>
          <p:nvSpPr>
            <p:cNvPr id="40" name="TextBox 40"/>
            <p:cNvSpPr txBox="1"/>
            <p:nvPr/>
          </p:nvSpPr>
          <p:spPr>
            <a:xfrm>
              <a:off x="4617978" y="290322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2</a:t>
              </a:r>
            </a:p>
          </p:txBody>
        </p:sp>
        <p:sp>
          <p:nvSpPr>
            <p:cNvPr id="41" name="TextBox 41"/>
            <p:cNvSpPr txBox="1"/>
            <p:nvPr/>
          </p:nvSpPr>
          <p:spPr>
            <a:xfrm>
              <a:off x="4919091" y="2887028"/>
              <a:ext cx="149021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智能 Agent 与智能识别</a:t>
              </a:r>
            </a:p>
          </p:txBody>
        </p:sp>
        <p:sp>
          <p:nvSpPr>
            <p:cNvPr id="42" name="Ellipse 42"/>
            <p:cNvSpPr/>
            <p:nvPr/>
          </p:nvSpPr>
          <p:spPr>
            <a:xfrm>
              <a:off x="4514850" y="3324225"/>
              <a:ext cx="285750" cy="285750"/>
            </a:xfrm>
            <a:prstGeom prst="ellipse">
              <a:avLst/>
            </a:prstGeom>
            <a:solidFill>
              <a:schemeClr val="accent2"/>
            </a:solidFill>
            <a:ln>
              <a:noFill/>
            </a:ln>
          </p:spPr>
        </p:sp>
        <p:sp>
          <p:nvSpPr>
            <p:cNvPr id="43" name="TextBox 43"/>
            <p:cNvSpPr txBox="1"/>
            <p:nvPr/>
          </p:nvSpPr>
          <p:spPr>
            <a:xfrm>
              <a:off x="4617978" y="34175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3</a:t>
              </a:r>
            </a:p>
          </p:txBody>
        </p:sp>
        <p:sp>
          <p:nvSpPr>
            <p:cNvPr id="44" name="TextBox 44"/>
            <p:cNvSpPr txBox="1"/>
            <p:nvPr/>
          </p:nvSpPr>
          <p:spPr>
            <a:xfrm>
              <a:off x="4919091" y="3277552"/>
              <a:ext cx="13441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风险评估、预警处置与</a:t>
              </a:r>
              <a:br/>
              <a:r>
                <a:rPr lang="zh-CN" sz="1050" dirty="0">
                  <a:solidFill>
                    <a:schemeClr val="dk1"/>
                  </a:solidFill>
                  <a:latin typeface="+mn-lt"/>
                  <a:ea typeface="+mn-ea"/>
                  <a:cs typeface="+mn-cs"/>
                </a:rPr>
                <a:t>证据追溯</a:t>
              </a:r>
            </a:p>
          </p:txBody>
        </p:sp>
      </p:grpSp>
      <p:grpSp>
        <p:nvGrpSpPr>
          <p:cNvPr id="63" name="Group 63"/>
          <p:cNvGrpSpPr/>
          <p:nvPr/>
        </p:nvGrpSpPr>
        <p:grpSpPr>
          <a:xfrm>
            <a:off x="8134350" y="1466850"/>
            <a:ext cx="3524250" cy="2343150"/>
            <a:chOff x="8134350" y="1466850"/>
            <a:chExt cx="3524250" cy="2343150"/>
          </a:xfrm>
        </p:grpSpPr>
        <p:sp>
          <p:nvSpPr>
            <p:cNvPr id="46" name="Rectangle 46"/>
            <p:cNvSpPr/>
            <p:nvPr/>
          </p:nvSpPr>
          <p:spPr>
            <a:xfrm>
              <a:off x="8134350" y="1466850"/>
              <a:ext cx="3524250" cy="2343150"/>
            </a:xfrm>
            <a:prstGeom prst="roundRect">
              <a:avLst>
                <a:gd name="adj" fmla="val 4878"/>
              </a:avLst>
            </a:prstGeom>
            <a:solidFill>
              <a:srgbClr val="FFF7EC"/>
            </a:solidFill>
            <a:ln w="9525">
              <a:solidFill>
                <a:srgbClr val="E9D4B5"/>
              </a:solidFill>
            </a:ln>
          </p:spPr>
        </p:sp>
        <p:sp>
          <p:nvSpPr>
            <p:cNvPr id="47" name="Rectangle 47"/>
            <p:cNvSpPr/>
            <p:nvPr/>
          </p:nvSpPr>
          <p:spPr>
            <a:xfrm>
              <a:off x="8134350" y="1466850"/>
              <a:ext cx="3524250" cy="76200"/>
            </a:xfrm>
            <a:prstGeom prst="roundRect">
              <a:avLst>
                <a:gd name="adj" fmla="val 50000"/>
              </a:avLst>
            </a:prstGeom>
            <a:solidFill>
              <a:schemeClr val="accent3"/>
            </a:solidFill>
            <a:ln>
              <a:noFill/>
            </a:ln>
          </p:spPr>
        </p:sp>
        <p:grpSp>
          <p:nvGrpSpPr>
            <p:cNvPr id="52" name="Group 52"/>
            <p:cNvGrpSpPr/>
            <p:nvPr/>
          </p:nvGrpSpPr>
          <p:grpSpPr>
            <a:xfrm>
              <a:off x="8418513" y="1797050"/>
              <a:ext cx="166687" cy="188913"/>
              <a:chOff x="8418513" y="1797050"/>
              <a:chExt cx="166687" cy="188913"/>
            </a:xfrm>
          </p:grpSpPr>
          <p:sp>
            <p:nvSpPr>
              <p:cNvPr id="48" name="Freeform 48"/>
              <p:cNvSpPr/>
              <p:nvPr/>
            </p:nvSpPr>
            <p:spPr>
              <a:xfrm>
                <a:off x="8418513" y="1797050"/>
                <a:ext cx="133350" cy="177801"/>
              </a:xfrm>
              <a:custGeom>
                <a:avLst/>
                <a:gdLst/>
                <a:ahLst/>
                <a:cxnLst/>
                <a:rect l="l" t="t" r="r" b="b"/>
                <a:pathLst>
                  <a:path w="133350" h="177801">
                    <a:moveTo>
                      <a:pt x="51284" y="177801"/>
                    </a:moveTo>
                    <a:lnTo>
                      <a:pt x="22225" y="177801"/>
                    </a:lnTo>
                    <a:cubicBezTo>
                      <a:pt x="9950" y="177801"/>
                      <a:pt x="0" y="167850"/>
                      <a:pt x="0" y="155575"/>
                    </a:cubicBezTo>
                    <a:lnTo>
                      <a:pt x="0" y="22225"/>
                    </a:lnTo>
                    <a:cubicBezTo>
                      <a:pt x="0" y="9950"/>
                      <a:pt x="9950" y="0"/>
                      <a:pt x="22225" y="0"/>
                    </a:cubicBezTo>
                    <a:lnTo>
                      <a:pt x="111125" y="0"/>
                    </a:lnTo>
                    <a:cubicBezTo>
                      <a:pt x="123400" y="0"/>
                      <a:pt x="133350" y="9950"/>
                      <a:pt x="133350" y="22225"/>
                    </a:cubicBezTo>
                    <a:lnTo>
                      <a:pt x="133350" y="111125"/>
                    </a:lnTo>
                  </a:path>
                </a:pathLst>
              </a:custGeom>
              <a:noFill/>
              <a:ln w="22225">
                <a:solidFill>
                  <a:schemeClr val="accent3"/>
                </a:solidFill>
              </a:ln>
            </p:spPr>
          </p:sp>
          <p:sp>
            <p:nvSpPr>
              <p:cNvPr id="49" name="Freeform 49"/>
              <p:cNvSpPr/>
              <p:nvPr/>
            </p:nvSpPr>
            <p:spPr>
              <a:xfrm>
                <a:off x="8518525" y="1941513"/>
                <a:ext cx="66675" cy="44450"/>
              </a:xfrm>
              <a:custGeom>
                <a:avLst/>
                <a:gdLst/>
                <a:ahLst/>
                <a:cxnLst/>
                <a:rect l="l" t="t" r="r" b="b"/>
                <a:pathLst>
                  <a:path w="66675" h="44450">
                    <a:moveTo>
                      <a:pt x="0" y="22225"/>
                    </a:moveTo>
                    <a:lnTo>
                      <a:pt x="22225" y="44450"/>
                    </a:lnTo>
                    <a:lnTo>
                      <a:pt x="66675" y="0"/>
                    </a:lnTo>
                  </a:path>
                </a:pathLst>
              </a:custGeom>
              <a:noFill/>
              <a:ln w="22225">
                <a:solidFill>
                  <a:schemeClr val="accent3"/>
                </a:solidFill>
              </a:ln>
            </p:spPr>
          </p:sp>
          <p:sp>
            <p:nvSpPr>
              <p:cNvPr id="50" name="Freeform 50"/>
              <p:cNvSpPr/>
              <p:nvPr/>
            </p:nvSpPr>
            <p:spPr>
              <a:xfrm>
                <a:off x="8462963" y="1841500"/>
                <a:ext cx="44450" cy="9525"/>
              </a:xfrm>
              <a:custGeom>
                <a:avLst/>
                <a:gdLst/>
                <a:ahLst/>
                <a:cxnLst/>
                <a:rect l="l" t="t" r="r" b="b"/>
                <a:pathLst>
                  <a:path w="44450" h="9525">
                    <a:moveTo>
                      <a:pt x="0" y="0"/>
                    </a:moveTo>
                    <a:lnTo>
                      <a:pt x="44450" y="0"/>
                    </a:lnTo>
                  </a:path>
                </a:pathLst>
              </a:custGeom>
              <a:noFill/>
              <a:ln w="22225">
                <a:solidFill>
                  <a:schemeClr val="accent3"/>
                </a:solidFill>
              </a:ln>
            </p:spPr>
          </p:sp>
          <p:sp>
            <p:nvSpPr>
              <p:cNvPr id="51" name="Freeform 51"/>
              <p:cNvSpPr/>
              <p:nvPr/>
            </p:nvSpPr>
            <p:spPr>
              <a:xfrm>
                <a:off x="8462963" y="1885950"/>
                <a:ext cx="22225" cy="9525"/>
              </a:xfrm>
              <a:custGeom>
                <a:avLst/>
                <a:gdLst/>
                <a:ahLst/>
                <a:cxnLst/>
                <a:rect l="l" t="t" r="r" b="b"/>
                <a:pathLst>
                  <a:path w="22225" h="9525">
                    <a:moveTo>
                      <a:pt x="0" y="0"/>
                    </a:moveTo>
                    <a:lnTo>
                      <a:pt x="22225" y="0"/>
                    </a:lnTo>
                  </a:path>
                </a:pathLst>
              </a:custGeom>
              <a:noFill/>
              <a:ln w="22225">
                <a:solidFill>
                  <a:schemeClr val="accent3"/>
                </a:solidFill>
              </a:ln>
            </p:spPr>
          </p:sp>
        </p:grpSp>
        <p:sp>
          <p:nvSpPr>
            <p:cNvPr id="53" name="TextBox 53"/>
            <p:cNvSpPr txBox="1"/>
            <p:nvPr/>
          </p:nvSpPr>
          <p:spPr>
            <a:xfrm>
              <a:off x="8755761" y="1808321"/>
              <a:ext cx="1161440" cy="278702"/>
            </a:xfrm>
            <a:prstGeom prst="rect">
              <a:avLst/>
            </a:prstGeom>
            <a:noFill/>
            <a:ln>
              <a:noFill/>
            </a:ln>
          </p:spPr>
          <p:txBody>
            <a:bodyPr wrap="none" lIns="0" tIns="0" rIns="0" bIns="0" anchor="t" anchorCtr="0">
              <a:spAutoFit/>
            </a:bodyPr>
            <a:lstStyle/>
            <a:p>
              <a:pPr algn="l"/>
              <a:r>
                <a:rPr lang="zh-CN" sz="1420" b="1" dirty="0">
                  <a:solidFill>
                    <a:srgbClr val="C96B12"/>
                  </a:solidFill>
                  <a:latin typeface="+mn-lt"/>
                  <a:ea typeface="+mn-ea"/>
                  <a:cs typeface="+mn-cs"/>
                </a:rPr>
                <a:t>进入样例验证</a:t>
              </a:r>
            </a:p>
          </p:txBody>
        </p:sp>
        <p:sp>
          <p:nvSpPr>
            <p:cNvPr id="54" name="Ellipse 54"/>
            <p:cNvSpPr/>
            <p:nvPr/>
          </p:nvSpPr>
          <p:spPr>
            <a:xfrm>
              <a:off x="8315325" y="2295525"/>
              <a:ext cx="285750" cy="285750"/>
            </a:xfrm>
            <a:prstGeom prst="ellipse">
              <a:avLst/>
            </a:prstGeom>
            <a:solidFill>
              <a:schemeClr val="accent3"/>
            </a:solidFill>
            <a:ln>
              <a:noFill/>
            </a:ln>
          </p:spPr>
        </p:sp>
        <p:sp>
          <p:nvSpPr>
            <p:cNvPr id="55" name="TextBox 55"/>
            <p:cNvSpPr txBox="1"/>
            <p:nvPr/>
          </p:nvSpPr>
          <p:spPr>
            <a:xfrm>
              <a:off x="8418453" y="23888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1</a:t>
              </a:r>
            </a:p>
          </p:txBody>
        </p:sp>
        <p:sp>
          <p:nvSpPr>
            <p:cNvPr id="56" name="TextBox 56"/>
            <p:cNvSpPr txBox="1"/>
            <p:nvPr/>
          </p:nvSpPr>
          <p:spPr>
            <a:xfrm>
              <a:off x="8719566" y="2372678"/>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多源资料结构化转换</a:t>
              </a:r>
            </a:p>
          </p:txBody>
        </p:sp>
        <p:sp>
          <p:nvSpPr>
            <p:cNvPr id="57" name="Ellipse 57"/>
            <p:cNvSpPr/>
            <p:nvPr/>
          </p:nvSpPr>
          <p:spPr>
            <a:xfrm>
              <a:off x="8315325" y="2809875"/>
              <a:ext cx="285750" cy="285750"/>
            </a:xfrm>
            <a:prstGeom prst="ellipse">
              <a:avLst/>
            </a:prstGeom>
            <a:solidFill>
              <a:schemeClr val="accent3"/>
            </a:solidFill>
            <a:ln>
              <a:noFill/>
            </a:ln>
          </p:spPr>
        </p:sp>
        <p:sp>
          <p:nvSpPr>
            <p:cNvPr id="58" name="TextBox 58"/>
            <p:cNvSpPr txBox="1"/>
            <p:nvPr/>
          </p:nvSpPr>
          <p:spPr>
            <a:xfrm>
              <a:off x="8418453" y="290322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2</a:t>
              </a:r>
            </a:p>
          </p:txBody>
        </p:sp>
        <p:sp>
          <p:nvSpPr>
            <p:cNvPr id="59" name="TextBox 59"/>
            <p:cNvSpPr txBox="1"/>
            <p:nvPr/>
          </p:nvSpPr>
          <p:spPr>
            <a:xfrm>
              <a:off x="8719566" y="2887028"/>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检索与评分结果核对</a:t>
              </a:r>
            </a:p>
          </p:txBody>
        </p:sp>
        <p:sp>
          <p:nvSpPr>
            <p:cNvPr id="60" name="Ellipse 60"/>
            <p:cNvSpPr/>
            <p:nvPr/>
          </p:nvSpPr>
          <p:spPr>
            <a:xfrm>
              <a:off x="8315325" y="3324225"/>
              <a:ext cx="285750" cy="285750"/>
            </a:xfrm>
            <a:prstGeom prst="ellipse">
              <a:avLst/>
            </a:prstGeom>
            <a:solidFill>
              <a:schemeClr val="accent3"/>
            </a:solidFill>
            <a:ln>
              <a:noFill/>
            </a:ln>
          </p:spPr>
        </p:sp>
        <p:sp>
          <p:nvSpPr>
            <p:cNvPr id="61" name="TextBox 61"/>
            <p:cNvSpPr txBox="1"/>
            <p:nvPr/>
          </p:nvSpPr>
          <p:spPr>
            <a:xfrm>
              <a:off x="8418453" y="34175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3</a:t>
              </a:r>
            </a:p>
          </p:txBody>
        </p:sp>
        <p:sp>
          <p:nvSpPr>
            <p:cNvPr id="62" name="TextBox 62"/>
            <p:cNvSpPr txBox="1"/>
            <p:nvPr/>
          </p:nvSpPr>
          <p:spPr>
            <a:xfrm>
              <a:off x="8719566" y="3401378"/>
              <a:ext cx="1141476"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预警处置闭环联调</a:t>
              </a:r>
            </a:p>
          </p:txBody>
        </p:sp>
      </p:grpSp>
      <p:grpSp>
        <p:nvGrpSpPr>
          <p:cNvPr id="76" name="Group 76"/>
          <p:cNvGrpSpPr/>
          <p:nvPr/>
        </p:nvGrpSpPr>
        <p:grpSpPr>
          <a:xfrm>
            <a:off x="528066" y="4191952"/>
            <a:ext cx="11130534" cy="875348"/>
            <a:chOff x="528066" y="4191952"/>
            <a:chExt cx="11130534" cy="875348"/>
          </a:xfrm>
        </p:grpSpPr>
        <p:sp>
          <p:nvSpPr>
            <p:cNvPr id="64" name="TextBox 64"/>
            <p:cNvSpPr txBox="1"/>
            <p:nvPr/>
          </p:nvSpPr>
          <p:spPr>
            <a:xfrm>
              <a:off x="528066" y="4191952"/>
              <a:ext cx="858774"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近期验证路径</a:t>
              </a:r>
            </a:p>
          </p:txBody>
        </p:sp>
        <p:sp>
          <p:nvSpPr>
            <p:cNvPr id="65" name="Rectangle 65"/>
            <p:cNvSpPr/>
            <p:nvPr/>
          </p:nvSpPr>
          <p:spPr>
            <a:xfrm>
              <a:off x="533400" y="4514850"/>
              <a:ext cx="2324100" cy="552450"/>
            </a:xfrm>
            <a:prstGeom prst="roundRect">
              <a:avLst>
                <a:gd name="adj" fmla="val 17241"/>
              </a:avLst>
            </a:prstGeom>
            <a:solidFill>
              <a:schemeClr val="lt2"/>
            </a:solidFill>
            <a:ln>
              <a:noFill/>
            </a:ln>
          </p:spPr>
        </p:sp>
        <p:sp>
          <p:nvSpPr>
            <p:cNvPr id="66" name="TextBox 66"/>
            <p:cNvSpPr txBox="1"/>
            <p:nvPr/>
          </p:nvSpPr>
          <p:spPr>
            <a:xfrm>
              <a:off x="1266063" y="472535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样例资料到位</a:t>
              </a:r>
            </a:p>
          </p:txBody>
        </p:sp>
        <p:sp>
          <p:nvSpPr>
            <p:cNvPr id="67" name="Line 67"/>
            <p:cNvSpPr/>
            <p:nvPr/>
          </p:nvSpPr>
          <p:spPr>
            <a:xfrm>
              <a:off x="2857500" y="4791075"/>
              <a:ext cx="495300" cy="1"/>
            </a:xfrm>
            <a:prstGeom prst="line">
              <a:avLst/>
            </a:prstGeom>
            <a:noFill/>
            <a:ln w="19050">
              <a:solidFill>
                <a:schemeClr val="accent1"/>
              </a:solidFill>
              <a:tailEnd type="triangle" w="lg" len="lg"/>
            </a:ln>
          </p:spPr>
        </p:sp>
        <p:sp>
          <p:nvSpPr>
            <p:cNvPr id="68" name="Rectangle 68"/>
            <p:cNvSpPr/>
            <p:nvPr/>
          </p:nvSpPr>
          <p:spPr>
            <a:xfrm>
              <a:off x="3467100" y="4514850"/>
              <a:ext cx="2324100" cy="552450"/>
            </a:xfrm>
            <a:prstGeom prst="roundRect">
              <a:avLst>
                <a:gd name="adj" fmla="val 17241"/>
              </a:avLst>
            </a:prstGeom>
            <a:solidFill>
              <a:schemeClr val="lt2"/>
            </a:solidFill>
            <a:ln>
              <a:noFill/>
            </a:ln>
          </p:spPr>
        </p:sp>
        <p:sp>
          <p:nvSpPr>
            <p:cNvPr id="69" name="TextBox 69"/>
            <p:cNvSpPr txBox="1"/>
            <p:nvPr/>
          </p:nvSpPr>
          <p:spPr>
            <a:xfrm>
              <a:off x="4058412" y="47253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结构化与检索核对</a:t>
              </a:r>
            </a:p>
          </p:txBody>
        </p:sp>
        <p:sp>
          <p:nvSpPr>
            <p:cNvPr id="70" name="Line 70"/>
            <p:cNvSpPr/>
            <p:nvPr/>
          </p:nvSpPr>
          <p:spPr>
            <a:xfrm>
              <a:off x="5791200" y="4791075"/>
              <a:ext cx="495300" cy="1"/>
            </a:xfrm>
            <a:prstGeom prst="line">
              <a:avLst/>
            </a:prstGeom>
            <a:noFill/>
            <a:ln w="19050">
              <a:solidFill>
                <a:schemeClr val="accent1"/>
              </a:solidFill>
              <a:tailEnd type="triangle" w="lg" len="lg"/>
            </a:ln>
          </p:spPr>
        </p:sp>
        <p:sp>
          <p:nvSpPr>
            <p:cNvPr id="71" name="Rectangle 71"/>
            <p:cNvSpPr/>
            <p:nvPr/>
          </p:nvSpPr>
          <p:spPr>
            <a:xfrm>
              <a:off x="6400800" y="4514850"/>
              <a:ext cx="2324100" cy="552450"/>
            </a:xfrm>
            <a:prstGeom prst="roundRect">
              <a:avLst>
                <a:gd name="adj" fmla="val 17241"/>
              </a:avLst>
            </a:prstGeom>
            <a:solidFill>
              <a:schemeClr val="lt2"/>
            </a:solidFill>
            <a:ln>
              <a:noFill/>
            </a:ln>
          </p:spPr>
        </p:sp>
        <p:sp>
          <p:nvSpPr>
            <p:cNvPr id="72" name="TextBox 72"/>
            <p:cNvSpPr txBox="1"/>
            <p:nvPr/>
          </p:nvSpPr>
          <p:spPr>
            <a:xfrm>
              <a:off x="6889166" y="4725352"/>
              <a:ext cx="1347368"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P/C 与矩阵结果核对</a:t>
              </a:r>
            </a:p>
          </p:txBody>
        </p:sp>
        <p:sp>
          <p:nvSpPr>
            <p:cNvPr id="73" name="Line 73"/>
            <p:cNvSpPr/>
            <p:nvPr/>
          </p:nvSpPr>
          <p:spPr>
            <a:xfrm>
              <a:off x="8724900" y="4791075"/>
              <a:ext cx="495300" cy="1"/>
            </a:xfrm>
            <a:prstGeom prst="line">
              <a:avLst/>
            </a:prstGeom>
            <a:noFill/>
            <a:ln w="19050">
              <a:solidFill>
                <a:schemeClr val="accent3"/>
              </a:solidFill>
              <a:tailEnd type="triangle" w="lg" len="lg"/>
            </a:ln>
          </p:spPr>
        </p:sp>
        <p:sp>
          <p:nvSpPr>
            <p:cNvPr id="74" name="Rectangle 74"/>
            <p:cNvSpPr/>
            <p:nvPr/>
          </p:nvSpPr>
          <p:spPr>
            <a:xfrm>
              <a:off x="9334500" y="4514850"/>
              <a:ext cx="2324100" cy="552450"/>
            </a:xfrm>
            <a:prstGeom prst="roundRect">
              <a:avLst>
                <a:gd name="adj" fmla="val 17241"/>
              </a:avLst>
            </a:prstGeom>
            <a:solidFill>
              <a:srgbClr val="FFF7EC"/>
            </a:solidFill>
            <a:ln>
              <a:noFill/>
            </a:ln>
          </p:spPr>
        </p:sp>
        <p:sp>
          <p:nvSpPr>
            <p:cNvPr id="75" name="TextBox 75"/>
            <p:cNvSpPr txBox="1"/>
            <p:nvPr/>
          </p:nvSpPr>
          <p:spPr>
            <a:xfrm>
              <a:off x="9925812" y="47253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预警处置闭环联调</a:t>
              </a:r>
            </a:p>
          </p:txBody>
        </p:sp>
      </p:grpSp>
      <p:grpSp>
        <p:nvGrpSpPr>
          <p:cNvPr id="81" name="Group 81"/>
          <p:cNvGrpSpPr/>
          <p:nvPr/>
        </p:nvGrpSpPr>
        <p:grpSpPr>
          <a:xfrm>
            <a:off x="533400" y="5391150"/>
            <a:ext cx="11125200" cy="552450"/>
            <a:chOff x="533400" y="5391150"/>
            <a:chExt cx="11125200" cy="552450"/>
          </a:xfrm>
        </p:grpSpPr>
        <p:sp>
          <p:nvSpPr>
            <p:cNvPr id="77" name="Rectangle 77"/>
            <p:cNvSpPr/>
            <p:nvPr/>
          </p:nvSpPr>
          <p:spPr>
            <a:xfrm>
              <a:off x="533400" y="5391150"/>
              <a:ext cx="11125200" cy="552450"/>
            </a:xfrm>
            <a:prstGeom prst="roundRect">
              <a:avLst>
                <a:gd name="adj" fmla="val 17241"/>
              </a:avLst>
            </a:prstGeom>
            <a:solidFill>
              <a:srgbClr val="FFF7EC"/>
            </a:solidFill>
            <a:ln w="9525">
              <a:solidFill>
                <a:schemeClr val="accent3"/>
              </a:solidFill>
            </a:ln>
          </p:spPr>
        </p:sp>
        <p:sp>
          <p:nvSpPr>
            <p:cNvPr id="78" name="Ellipse 78"/>
            <p:cNvSpPr/>
            <p:nvPr/>
          </p:nvSpPr>
          <p:spPr>
            <a:xfrm>
              <a:off x="742950" y="5534025"/>
              <a:ext cx="247650" cy="247650"/>
            </a:xfrm>
            <a:prstGeom prst="ellipse">
              <a:avLst/>
            </a:prstGeom>
            <a:solidFill>
              <a:schemeClr val="accent3"/>
            </a:solidFill>
            <a:ln>
              <a:noFill/>
            </a:ln>
          </p:spPr>
        </p:sp>
        <p:sp>
          <p:nvSpPr>
            <p:cNvPr id="79" name="TextBox 79"/>
            <p:cNvSpPr txBox="1"/>
            <p:nvPr/>
          </p:nvSpPr>
          <p:spPr>
            <a:xfrm>
              <a:off x="833159" y="5577364"/>
              <a:ext cx="67233"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a:t>
              </a:r>
            </a:p>
          </p:txBody>
        </p:sp>
        <p:sp>
          <p:nvSpPr>
            <p:cNvPr id="80" name="TextBox 80"/>
            <p:cNvSpPr txBox="1"/>
            <p:nvPr/>
          </p:nvSpPr>
          <p:spPr>
            <a:xfrm>
              <a:off x="1137666" y="5620702"/>
              <a:ext cx="5099304"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验证使用甲方提供或审核的配置与脱敏样例；当前演示数据不作为正式评估结果。</a:t>
              </a:r>
            </a:p>
          </p:txBody>
        </p:sp>
      </p:grpSp>
      <p:grpSp>
        <p:nvGrpSpPr>
          <p:cNvPr id="84" name="Group 84"/>
          <p:cNvGrpSpPr/>
          <p:nvPr/>
        </p:nvGrpSpPr>
        <p:grpSpPr>
          <a:xfrm>
            <a:off x="528638" y="6311741"/>
            <a:ext cx="11134724" cy="161925"/>
            <a:chOff x="528638" y="6311741"/>
            <a:chExt cx="11134724" cy="161925"/>
          </a:xfrm>
        </p:grpSpPr>
        <p:sp>
          <p:nvSpPr>
            <p:cNvPr id="82" name="TextBox 82"/>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83" name="TextBox 83"/>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 name="Group 6"/>
          <p:cNvGrpSpPr/>
          <p:nvPr/>
        </p:nvGrpSpPr>
        <p:grpSpPr>
          <a:xfrm>
            <a:off x="0" y="-1143000"/>
            <a:ext cx="12763500" cy="8001000"/>
            <a:chOff x="0" y="-1143000"/>
            <a:chExt cx="12763500" cy="8001000"/>
          </a:xfrm>
        </p:grpSpPr>
        <p:sp>
          <p:nvSpPr>
            <p:cNvPr id="2" name="Ellipse 2"/>
            <p:cNvSpPr/>
            <p:nvPr/>
          </p:nvSpPr>
          <p:spPr>
            <a:xfrm>
              <a:off x="8382000" y="-1143000"/>
              <a:ext cx="4381500" cy="4381500"/>
            </a:xfrm>
            <a:prstGeom prst="ellipse">
              <a:avLst/>
            </a:prstGeom>
            <a:solidFill>
              <a:srgbClr val="1D4B7C">
                <a:alpha val="78000"/>
              </a:srgbClr>
            </a:solidFill>
            <a:ln>
              <a:noFill/>
            </a:ln>
          </p:spPr>
        </p:sp>
        <p:sp>
          <p:nvSpPr>
            <p:cNvPr id="3" name="Ellipse 3"/>
            <p:cNvSpPr/>
            <p:nvPr/>
          </p:nvSpPr>
          <p:spPr>
            <a:xfrm>
              <a:off x="9906000" y="-762000"/>
              <a:ext cx="2286000" cy="2286000"/>
            </a:xfrm>
            <a:prstGeom prst="ellipse">
              <a:avLst/>
            </a:prstGeom>
            <a:solidFill>
              <a:schemeClr val="accent2">
                <a:alpha val="28000"/>
              </a:schemeClr>
            </a:solidFill>
            <a:ln>
              <a:noFill/>
            </a:ln>
          </p:spPr>
        </p:sp>
        <p:sp>
          <p:nvSpPr>
            <p:cNvPr id="4" name="Freeform 4"/>
            <p:cNvSpPr/>
            <p:nvPr/>
          </p:nvSpPr>
          <p:spPr>
            <a:xfrm>
              <a:off x="0" y="4305300"/>
              <a:ext cx="12192000" cy="2552700"/>
            </a:xfrm>
            <a:custGeom>
              <a:avLst/>
              <a:gdLst/>
              <a:ahLst/>
              <a:cxnLst/>
              <a:rect l="l" t="t" r="r" b="b"/>
              <a:pathLst>
                <a:path w="12192000" h="2552700">
                  <a:moveTo>
                    <a:pt x="0" y="914400"/>
                  </a:moveTo>
                  <a:cubicBezTo>
                    <a:pt x="2190750" y="152400"/>
                    <a:pt x="4267200" y="1314450"/>
                    <a:pt x="6400800" y="647700"/>
                  </a:cubicBezTo>
                  <a:cubicBezTo>
                    <a:pt x="8458200" y="0"/>
                    <a:pt x="10058400" y="800100"/>
                    <a:pt x="12192000" y="57150"/>
                  </a:cubicBezTo>
                  <a:lnTo>
                    <a:pt x="12192000" y="2552700"/>
                  </a:lnTo>
                  <a:lnTo>
                    <a:pt x="0" y="2552700"/>
                  </a:lnTo>
                  <a:close/>
                </a:path>
              </a:pathLst>
            </a:custGeom>
            <a:solidFill>
              <a:srgbClr val="1D4B7C"/>
            </a:solidFill>
            <a:ln>
              <a:noFill/>
            </a:ln>
          </p:spPr>
        </p:sp>
        <p:sp>
          <p:nvSpPr>
            <p:cNvPr id="5" name="Freeform 5"/>
            <p:cNvSpPr/>
            <p:nvPr/>
          </p:nvSpPr>
          <p:spPr>
            <a:xfrm>
              <a:off x="0" y="4895850"/>
              <a:ext cx="12192000" cy="1238250"/>
            </a:xfrm>
            <a:custGeom>
              <a:avLst/>
              <a:gdLst/>
              <a:ahLst/>
              <a:cxnLst/>
              <a:rect l="l" t="t" r="r" b="b"/>
              <a:pathLst>
                <a:path w="12192000" h="1238250">
                  <a:moveTo>
                    <a:pt x="0" y="857250"/>
                  </a:moveTo>
                  <a:cubicBezTo>
                    <a:pt x="2324100" y="133350"/>
                    <a:pt x="4114800" y="1238250"/>
                    <a:pt x="6419850" y="609600"/>
                  </a:cubicBezTo>
                  <a:cubicBezTo>
                    <a:pt x="8629650" y="0"/>
                    <a:pt x="10153650" y="723900"/>
                    <a:pt x="12192000" y="114300"/>
                  </a:cubicBezTo>
                </a:path>
              </a:pathLst>
            </a:custGeom>
            <a:noFill/>
            <a:ln w="38100">
              <a:solidFill>
                <a:schemeClr val="accent2">
                  <a:alpha val="80000"/>
                </a:schemeClr>
              </a:solidFill>
            </a:ln>
          </p:spPr>
        </p:sp>
      </p:grpSp>
      <p:grpSp>
        <p:nvGrpSpPr>
          <p:cNvPr id="9" name="Group 9"/>
          <p:cNvGrpSpPr/>
          <p:nvPr/>
        </p:nvGrpSpPr>
        <p:grpSpPr>
          <a:xfrm>
            <a:off x="680085" y="656749"/>
            <a:ext cx="3328467" cy="470535"/>
            <a:chOff x="680085" y="656749"/>
            <a:chExt cx="3328467" cy="470535"/>
          </a:xfrm>
        </p:grpSpPr>
        <p:sp>
          <p:nvSpPr>
            <p:cNvPr id="7" name="TextBox 7"/>
            <p:cNvSpPr txBox="1"/>
            <p:nvPr/>
          </p:nvSpPr>
          <p:spPr>
            <a:xfrm>
              <a:off x="680847" y="656749"/>
              <a:ext cx="2912313" cy="190690"/>
            </a:xfrm>
            <a:prstGeom prst="rect">
              <a:avLst/>
            </a:prstGeom>
            <a:noFill/>
            <a:ln>
              <a:noFill/>
            </a:ln>
          </p:spPr>
          <p:txBody>
            <a:bodyPr wrap="none" lIns="0" tIns="0" rIns="0" bIns="0" anchor="t" anchorCtr="0">
              <a:spAutoFit/>
            </a:bodyPr>
            <a:lstStyle/>
            <a:p>
              <a:pPr algn="l"/>
              <a:r>
                <a:rPr lang="zh-CN" sz="980" dirty="0">
                  <a:solidFill>
                    <a:srgbClr val="C9D9E8"/>
                  </a:solidFill>
                  <a:latin typeface="+mn-lt"/>
                  <a:ea typeface="+mn-ea"/>
                  <a:cs typeface="+mn-cs"/>
                </a:rPr>
                <a:t>中国铁建股份有限公司科技研发计划项目重点课题</a:t>
              </a:r>
            </a:p>
          </p:txBody>
        </p:sp>
        <p:sp>
          <p:nvSpPr>
            <p:cNvPr id="8" name="TextBox 8"/>
            <p:cNvSpPr txBox="1"/>
            <p:nvPr/>
          </p:nvSpPr>
          <p:spPr>
            <a:xfrm>
              <a:off x="680085" y="907256"/>
              <a:ext cx="3328467"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mn-lt"/>
                  <a:ea typeface="+mn-ea"/>
                  <a:cs typeface="+mn-cs"/>
                </a:rPr>
                <a:t>基于变径盾构的轨道交通隧站一体化建造技术研究</a:t>
              </a:r>
            </a:p>
          </p:txBody>
        </p:sp>
      </p:grpSp>
      <p:grpSp>
        <p:nvGrpSpPr>
          <p:cNvPr id="12" name="Group 12"/>
          <p:cNvGrpSpPr/>
          <p:nvPr/>
        </p:nvGrpSpPr>
        <p:grpSpPr>
          <a:xfrm>
            <a:off x="666750" y="2042160"/>
            <a:ext cx="1815084" cy="2533650"/>
            <a:chOff x="666750" y="2042160"/>
            <a:chExt cx="1815084" cy="2533650"/>
          </a:xfrm>
        </p:grpSpPr>
        <p:sp>
          <p:nvSpPr>
            <p:cNvPr id="10" name="TextBox 10"/>
            <p:cNvSpPr txBox="1"/>
            <p:nvPr/>
          </p:nvSpPr>
          <p:spPr>
            <a:xfrm>
              <a:off x="666750" y="2042160"/>
              <a:ext cx="1815084" cy="2533650"/>
            </a:xfrm>
            <a:prstGeom prst="rect">
              <a:avLst/>
            </a:prstGeom>
            <a:noFill/>
            <a:ln>
              <a:noFill/>
            </a:ln>
          </p:spPr>
          <p:txBody>
            <a:bodyPr wrap="none" lIns="0" tIns="0" rIns="0" bIns="0" anchor="t" anchorCtr="0">
              <a:spAutoFit/>
            </a:bodyPr>
            <a:lstStyle/>
            <a:p>
              <a:pPr algn="l"/>
              <a:r>
                <a:rPr lang="zh-CN" sz="13200" b="1" dirty="0">
                  <a:solidFill>
                    <a:schemeClr val="accent2"/>
                  </a:solidFill>
                  <a:latin typeface="+mn-lt"/>
                  <a:ea typeface="+mn-ea"/>
                  <a:cs typeface="+mn-cs"/>
                </a:rPr>
                <a:t>四</a:t>
              </a:r>
            </a:p>
          </p:txBody>
        </p:sp>
        <p:sp>
          <p:nvSpPr>
            <p:cNvPr id="11" name="Rectangle 11"/>
            <p:cNvSpPr/>
            <p:nvPr/>
          </p:nvSpPr>
          <p:spPr>
            <a:xfrm>
              <a:off x="723900" y="3714750"/>
              <a:ext cx="914400" cy="57150"/>
            </a:xfrm>
            <a:prstGeom prst="roundRect">
              <a:avLst>
                <a:gd name="adj" fmla="val 50000"/>
              </a:avLst>
            </a:prstGeom>
            <a:solidFill>
              <a:schemeClr val="accent3"/>
            </a:solidFill>
            <a:ln>
              <a:noFill/>
            </a:ln>
          </p:spPr>
        </p:sp>
      </p:grpSp>
      <p:grpSp>
        <p:nvGrpSpPr>
          <p:cNvPr id="15" name="Group 15"/>
          <p:cNvGrpSpPr/>
          <p:nvPr/>
        </p:nvGrpSpPr>
        <p:grpSpPr>
          <a:xfrm>
            <a:off x="3126486" y="2722721"/>
            <a:ext cx="4031742" cy="1014508"/>
            <a:chOff x="3126486" y="2722721"/>
            <a:chExt cx="4031742" cy="1014508"/>
          </a:xfrm>
        </p:grpSpPr>
        <p:sp>
          <p:nvSpPr>
            <p:cNvPr id="13" name="TextBox 13"/>
            <p:cNvSpPr txBox="1"/>
            <p:nvPr/>
          </p:nvSpPr>
          <p:spPr>
            <a:xfrm>
              <a:off x="3136011" y="2722721"/>
              <a:ext cx="205638" cy="278702"/>
            </a:xfrm>
            <a:prstGeom prst="rect">
              <a:avLst/>
            </a:prstGeom>
            <a:noFill/>
            <a:ln>
              <a:noFill/>
            </a:ln>
          </p:spPr>
          <p:txBody>
            <a:bodyPr wrap="none" lIns="0" tIns="0" rIns="0" bIns="0" anchor="t" anchorCtr="0">
              <a:spAutoFit/>
            </a:bodyPr>
            <a:lstStyle/>
            <a:p>
              <a:pPr algn="l"/>
              <a:r>
                <a:rPr lang="zh-CN" sz="1420" dirty="0">
                  <a:solidFill>
                    <a:srgbClr val="C9D9E8"/>
                  </a:solidFill>
                  <a:latin typeface="+mn-lt"/>
                  <a:ea typeface="+mn-ea"/>
                  <a:cs typeface="+mn-cs"/>
                </a:rPr>
                <a:t>四</a:t>
              </a:r>
            </a:p>
          </p:txBody>
        </p:sp>
        <p:sp>
          <p:nvSpPr>
            <p:cNvPr id="14" name="TextBox 14"/>
            <p:cNvSpPr txBox="1"/>
            <p:nvPr/>
          </p:nvSpPr>
          <p:spPr>
            <a:xfrm>
              <a:off x="3126486" y="3091815"/>
              <a:ext cx="4031742" cy="645414"/>
            </a:xfrm>
            <a:prstGeom prst="rect">
              <a:avLst/>
            </a:prstGeom>
            <a:noFill/>
            <a:ln>
              <a:noFill/>
            </a:ln>
          </p:spPr>
          <p:txBody>
            <a:bodyPr wrap="none" lIns="0" tIns="0" rIns="0" bIns="0" anchor="t" anchorCtr="0">
              <a:spAutoFit/>
            </a:bodyPr>
            <a:lstStyle/>
            <a:p>
              <a:pPr algn="l"/>
              <a:r>
                <a:rPr lang="zh-CN" sz="3300" b="1" dirty="0">
                  <a:solidFill>
                    <a:srgbClr val="FFFFFF"/>
                  </a:solidFill>
                  <a:latin typeface="+mn-lt"/>
                  <a:ea typeface="+mn-ea"/>
                  <a:cs typeface="+mn-cs"/>
                </a:rPr>
                <a:t>四、下一步工作计划</a:t>
              </a:r>
            </a:p>
          </p:txBody>
        </p:sp>
      </p:grpSp>
      <p:grpSp>
        <p:nvGrpSpPr>
          <p:cNvPr id="18" name="Group 18"/>
          <p:cNvGrpSpPr/>
          <p:nvPr/>
        </p:nvGrpSpPr>
        <p:grpSpPr>
          <a:xfrm>
            <a:off x="685800" y="6115050"/>
            <a:ext cx="10825162" cy="320516"/>
            <a:chOff x="685800" y="6115050"/>
            <a:chExt cx="10825162" cy="320516"/>
          </a:xfrm>
        </p:grpSpPr>
        <p:sp>
          <p:nvSpPr>
            <p:cNvPr id="16" name="Line 16"/>
            <p:cNvSpPr/>
            <p:nvPr/>
          </p:nvSpPr>
          <p:spPr>
            <a:xfrm>
              <a:off x="685800" y="6115050"/>
              <a:ext cx="10820400" cy="9525"/>
            </a:xfrm>
            <a:custGeom>
              <a:avLst/>
              <a:gdLst/>
              <a:ahLst/>
              <a:cxnLst/>
              <a:rect l="l" t="t" r="r" b="b"/>
              <a:pathLst>
                <a:path w="10820400" h="9525">
                  <a:moveTo>
                    <a:pt x="0" y="0"/>
                  </a:moveTo>
                  <a:lnTo>
                    <a:pt x="10820400" y="0"/>
                  </a:lnTo>
                </a:path>
              </a:pathLst>
            </a:custGeom>
            <a:noFill/>
            <a:ln w="9525">
              <a:solidFill>
                <a:srgbClr val="547391"/>
              </a:solidFill>
            </a:ln>
          </p:spPr>
        </p:sp>
        <p:sp>
          <p:nvSpPr>
            <p:cNvPr id="17" name="TextBox 17"/>
            <p:cNvSpPr txBox="1"/>
            <p:nvPr/>
          </p:nvSpPr>
          <p:spPr>
            <a:xfrm>
              <a:off x="11380010" y="6273641"/>
              <a:ext cx="130952" cy="161925"/>
            </a:xfrm>
            <a:prstGeom prst="rect">
              <a:avLst/>
            </a:prstGeom>
            <a:noFill/>
            <a:ln>
              <a:noFill/>
            </a:ln>
          </p:spPr>
          <p:txBody>
            <a:bodyPr wrap="none" lIns="0" tIns="0" rIns="0" bIns="0" anchor="t" anchorCtr="0">
              <a:spAutoFit/>
            </a:bodyPr>
            <a:lstStyle/>
            <a:p>
              <a:pPr algn="r"/>
              <a:r>
                <a:rPr lang="zh-CN" sz="820" dirty="0">
                  <a:solidFill>
                    <a:srgbClr val="AFC3D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1127333"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04 下一步工作计划</a:t>
              </a:r>
            </a:p>
          </p:txBody>
        </p:sp>
        <p:sp>
          <p:nvSpPr>
            <p:cNvPr id="3" name="TextBox 3"/>
            <p:cNvSpPr txBox="1"/>
            <p:nvPr/>
          </p:nvSpPr>
          <p:spPr>
            <a:xfrm>
              <a:off x="10323657" y="358616"/>
              <a:ext cx="133970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04.01 研究计划与关键条件</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3056077" cy="366712"/>
            <a:chOff x="523875" y="921544"/>
            <a:chExt cx="3056077" cy="366712"/>
          </a:xfrm>
        </p:grpSpPr>
        <p:sp>
          <p:nvSpPr>
            <p:cNvPr id="6" name="TextBox 6"/>
            <p:cNvSpPr txBox="1"/>
            <p:nvPr/>
          </p:nvSpPr>
          <p:spPr>
            <a:xfrm>
              <a:off x="523875" y="921544"/>
              <a:ext cx="3056077"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下一步研究计划与关键条件</a:t>
              </a:r>
            </a:p>
          </p:txBody>
        </p:sp>
      </p:grpSp>
      <p:grpSp>
        <p:nvGrpSpPr>
          <p:cNvPr id="37" name="Group 37"/>
          <p:cNvGrpSpPr/>
          <p:nvPr/>
        </p:nvGrpSpPr>
        <p:grpSpPr>
          <a:xfrm>
            <a:off x="533400" y="1466850"/>
            <a:ext cx="6724650" cy="4438650"/>
            <a:chOff x="533400" y="1466850"/>
            <a:chExt cx="6724650" cy="4438650"/>
          </a:xfrm>
        </p:grpSpPr>
        <p:sp>
          <p:nvSpPr>
            <p:cNvPr id="8" name="Rectangle 8"/>
            <p:cNvSpPr/>
            <p:nvPr/>
          </p:nvSpPr>
          <p:spPr>
            <a:xfrm>
              <a:off x="533400" y="1466850"/>
              <a:ext cx="6724650" cy="4438650"/>
            </a:xfrm>
            <a:prstGeom prst="roundRect">
              <a:avLst>
                <a:gd name="adj" fmla="val 3004"/>
              </a:avLst>
            </a:prstGeom>
            <a:solidFill>
              <a:schemeClr val="lt2"/>
            </a:solidFill>
            <a:ln>
              <a:noFill/>
            </a:ln>
          </p:spPr>
        </p:sp>
        <p:grpSp>
          <p:nvGrpSpPr>
            <p:cNvPr id="14" name="Group 14"/>
            <p:cNvGrpSpPr/>
            <p:nvPr/>
          </p:nvGrpSpPr>
          <p:grpSpPr>
            <a:xfrm>
              <a:off x="816769" y="1762125"/>
              <a:ext cx="214312" cy="190500"/>
              <a:chOff x="816769" y="1762125"/>
              <a:chExt cx="214312" cy="190500"/>
            </a:xfrm>
          </p:grpSpPr>
          <p:sp>
            <p:nvSpPr>
              <p:cNvPr id="9" name="Freeform 9"/>
              <p:cNvSpPr/>
              <p:nvPr/>
            </p:nvSpPr>
            <p:spPr>
              <a:xfrm>
                <a:off x="816769" y="1762125"/>
                <a:ext cx="214312" cy="190500"/>
              </a:xfrm>
              <a:custGeom>
                <a:avLst/>
                <a:gdLst/>
                <a:ahLst/>
                <a:cxnLst/>
                <a:rect l="l" t="t" r="r" b="b"/>
                <a:pathLst>
                  <a:path w="214312" h="190500">
                    <a:moveTo>
                      <a:pt x="0" y="35719"/>
                    </a:moveTo>
                    <a:lnTo>
                      <a:pt x="71438" y="0"/>
                    </a:lnTo>
                    <a:lnTo>
                      <a:pt x="142875" y="35719"/>
                    </a:lnTo>
                    <a:lnTo>
                      <a:pt x="214312" y="0"/>
                    </a:lnTo>
                    <a:lnTo>
                      <a:pt x="214312" y="154781"/>
                    </a:lnTo>
                    <a:lnTo>
                      <a:pt x="142875" y="190500"/>
                    </a:lnTo>
                    <a:lnTo>
                      <a:pt x="71438" y="154781"/>
                    </a:lnTo>
                    <a:lnTo>
                      <a:pt x="0" y="190500"/>
                    </a:lnTo>
                    <a:lnTo>
                      <a:pt x="0" y="35719"/>
                    </a:lnTo>
                  </a:path>
                </a:pathLst>
              </a:custGeom>
              <a:noFill/>
              <a:ln w="23812">
                <a:solidFill>
                  <a:schemeClr val="accent1"/>
                </a:solidFill>
              </a:ln>
            </p:spPr>
          </p:sp>
          <p:sp>
            <p:nvSpPr>
              <p:cNvPr id="10" name="Freeform 10"/>
              <p:cNvSpPr/>
              <p:nvPr/>
            </p:nvSpPr>
            <p:spPr>
              <a:xfrm>
                <a:off x="888206" y="1857375"/>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11" name="Freeform 11"/>
              <p:cNvSpPr/>
              <p:nvPr/>
            </p:nvSpPr>
            <p:spPr>
              <a:xfrm>
                <a:off x="852488" y="1869281"/>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12" name="Freeform 12"/>
              <p:cNvSpPr/>
              <p:nvPr/>
            </p:nvSpPr>
            <p:spPr>
              <a:xfrm>
                <a:off x="935831" y="1845469"/>
                <a:ext cx="47625" cy="47625"/>
              </a:xfrm>
              <a:custGeom>
                <a:avLst/>
                <a:gdLst/>
                <a:ahLst/>
                <a:cxnLst/>
                <a:rect l="l" t="t" r="r" b="b"/>
                <a:pathLst>
                  <a:path w="47625" h="47625">
                    <a:moveTo>
                      <a:pt x="47625" y="47625"/>
                    </a:moveTo>
                    <a:lnTo>
                      <a:pt x="0" y="0"/>
                    </a:lnTo>
                  </a:path>
                </a:pathLst>
              </a:custGeom>
              <a:noFill/>
              <a:ln w="23812">
                <a:solidFill>
                  <a:schemeClr val="accent1"/>
                </a:solidFill>
              </a:ln>
            </p:spPr>
          </p:sp>
          <p:sp>
            <p:nvSpPr>
              <p:cNvPr id="13" name="Freeform 13"/>
              <p:cNvSpPr/>
              <p:nvPr/>
            </p:nvSpPr>
            <p:spPr>
              <a:xfrm>
                <a:off x="935831" y="1845469"/>
                <a:ext cx="47625" cy="47625"/>
              </a:xfrm>
              <a:custGeom>
                <a:avLst/>
                <a:gdLst/>
                <a:ahLst/>
                <a:cxnLst/>
                <a:rect l="l" t="t" r="r" b="b"/>
                <a:pathLst>
                  <a:path w="47625" h="47625">
                    <a:moveTo>
                      <a:pt x="0" y="47625"/>
                    </a:moveTo>
                    <a:lnTo>
                      <a:pt x="47625" y="0"/>
                    </a:lnTo>
                  </a:path>
                </a:pathLst>
              </a:custGeom>
              <a:noFill/>
              <a:ln w="23812">
                <a:solidFill>
                  <a:schemeClr val="accent1"/>
                </a:solidFill>
              </a:ln>
            </p:spPr>
          </p:sp>
        </p:grpSp>
        <p:sp>
          <p:nvSpPr>
            <p:cNvPr id="15" name="TextBox 15"/>
            <p:cNvSpPr txBox="1"/>
            <p:nvPr/>
          </p:nvSpPr>
          <p:spPr>
            <a:xfrm>
              <a:off x="1192911" y="1779746"/>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研究工作顺序</a:t>
              </a:r>
            </a:p>
          </p:txBody>
        </p:sp>
        <p:sp>
          <p:nvSpPr>
            <p:cNvPr id="16" name="Line 16"/>
            <p:cNvSpPr/>
            <p:nvPr/>
          </p:nvSpPr>
          <p:spPr>
            <a:xfrm>
              <a:off x="1238250" y="2466975"/>
              <a:ext cx="9525" cy="2705100"/>
            </a:xfrm>
            <a:custGeom>
              <a:avLst/>
              <a:gdLst/>
              <a:ahLst/>
              <a:cxnLst/>
              <a:rect l="l" t="t" r="r" b="b"/>
              <a:pathLst>
                <a:path w="9525" h="2705100">
                  <a:moveTo>
                    <a:pt x="0" y="0"/>
                  </a:moveTo>
                  <a:lnTo>
                    <a:pt x="0" y="2705100"/>
                  </a:lnTo>
                </a:path>
              </a:pathLst>
            </a:custGeom>
            <a:noFill/>
            <a:ln w="28575">
              <a:solidFill>
                <a:srgbClr val="B6C4D2"/>
              </a:solidFill>
            </a:ln>
          </p:spPr>
        </p:sp>
        <p:sp>
          <p:nvSpPr>
            <p:cNvPr id="17" name="Ellipse 17"/>
            <p:cNvSpPr/>
            <p:nvPr/>
          </p:nvSpPr>
          <p:spPr>
            <a:xfrm>
              <a:off x="1009650" y="2305050"/>
              <a:ext cx="457200" cy="457200"/>
            </a:xfrm>
            <a:prstGeom prst="ellipse">
              <a:avLst/>
            </a:prstGeom>
            <a:solidFill>
              <a:schemeClr val="accent1"/>
            </a:solidFill>
            <a:ln>
              <a:noFill/>
            </a:ln>
          </p:spPr>
        </p:sp>
        <p:sp>
          <p:nvSpPr>
            <p:cNvPr id="18" name="TextBox 18"/>
            <p:cNvSpPr txBox="1"/>
            <p:nvPr/>
          </p:nvSpPr>
          <p:spPr>
            <a:xfrm>
              <a:off x="1185508" y="24707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9" name="TextBox 19"/>
            <p:cNvSpPr txBox="1"/>
            <p:nvPr/>
          </p:nvSpPr>
          <p:spPr>
            <a:xfrm>
              <a:off x="1688973" y="2310289"/>
              <a:ext cx="1046836"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mn-lt"/>
                  <a:ea typeface="+mn-ea"/>
                  <a:cs typeface="+mn-cs"/>
                </a:rPr>
                <a:t>固化架构基线</a:t>
              </a:r>
            </a:p>
          </p:txBody>
        </p:sp>
        <p:sp>
          <p:nvSpPr>
            <p:cNvPr id="20" name="TextBox 20"/>
            <p:cNvSpPr txBox="1"/>
            <p:nvPr/>
          </p:nvSpPr>
          <p:spPr>
            <a:xfrm>
              <a:off x="1690116" y="2591752"/>
              <a:ext cx="2554986"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确定语言版本、检查点持久化和部署形态</a:t>
              </a:r>
            </a:p>
          </p:txBody>
        </p:sp>
        <p:sp>
          <p:nvSpPr>
            <p:cNvPr id="21" name="Line 21"/>
            <p:cNvSpPr/>
            <p:nvPr/>
          </p:nvSpPr>
          <p:spPr>
            <a:xfrm>
              <a:off x="4953000" y="2533650"/>
              <a:ext cx="1752600" cy="1"/>
            </a:xfrm>
            <a:prstGeom prst="line">
              <a:avLst/>
            </a:prstGeom>
            <a:noFill/>
            <a:ln w="14288">
              <a:solidFill>
                <a:schemeClr val="accent1"/>
              </a:solidFill>
              <a:tailEnd type="triangle" w="lg" len="lg"/>
            </a:ln>
          </p:spPr>
        </p:sp>
        <p:sp>
          <p:nvSpPr>
            <p:cNvPr id="22" name="Ellipse 22"/>
            <p:cNvSpPr/>
            <p:nvPr/>
          </p:nvSpPr>
          <p:spPr>
            <a:xfrm>
              <a:off x="1009650" y="3181350"/>
              <a:ext cx="457200" cy="457200"/>
            </a:xfrm>
            <a:prstGeom prst="ellipse">
              <a:avLst/>
            </a:prstGeom>
            <a:solidFill>
              <a:srgbClr val="1F5E96"/>
            </a:solidFill>
            <a:ln>
              <a:noFill/>
            </a:ln>
          </p:spPr>
        </p:sp>
        <p:sp>
          <p:nvSpPr>
            <p:cNvPr id="23" name="TextBox 23"/>
            <p:cNvSpPr txBox="1"/>
            <p:nvPr/>
          </p:nvSpPr>
          <p:spPr>
            <a:xfrm>
              <a:off x="1185508" y="33470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4" name="TextBox 24"/>
            <p:cNvSpPr txBox="1"/>
            <p:nvPr/>
          </p:nvSpPr>
          <p:spPr>
            <a:xfrm>
              <a:off x="1688973" y="3186589"/>
              <a:ext cx="1046836"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mn-lt"/>
                  <a:ea typeface="+mn-ea"/>
                  <a:cs typeface="+mn-cs"/>
                </a:rPr>
                <a:t>实现资料解析</a:t>
              </a:r>
            </a:p>
          </p:txBody>
        </p:sp>
        <p:sp>
          <p:nvSpPr>
            <p:cNvPr id="25" name="TextBox 25"/>
            <p:cNvSpPr txBox="1"/>
            <p:nvPr/>
          </p:nvSpPr>
          <p:spPr>
            <a:xfrm>
              <a:off x="1690116" y="3468052"/>
              <a:ext cx="2696337"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完成文本、表格、图纸标注和监测数据转换</a:t>
              </a:r>
            </a:p>
          </p:txBody>
        </p:sp>
        <p:sp>
          <p:nvSpPr>
            <p:cNvPr id="26" name="Line 26"/>
            <p:cNvSpPr/>
            <p:nvPr/>
          </p:nvSpPr>
          <p:spPr>
            <a:xfrm>
              <a:off x="4953000" y="3409950"/>
              <a:ext cx="1752600" cy="1"/>
            </a:xfrm>
            <a:prstGeom prst="line">
              <a:avLst/>
            </a:prstGeom>
            <a:noFill/>
            <a:ln w="14288">
              <a:solidFill>
                <a:schemeClr val="accent1"/>
              </a:solidFill>
              <a:tailEnd type="triangle" w="lg" len="lg"/>
            </a:ln>
          </p:spPr>
        </p:sp>
        <p:sp>
          <p:nvSpPr>
            <p:cNvPr id="27" name="Ellipse 27"/>
            <p:cNvSpPr/>
            <p:nvPr/>
          </p:nvSpPr>
          <p:spPr>
            <a:xfrm>
              <a:off x="1009650" y="4057650"/>
              <a:ext cx="457200" cy="457200"/>
            </a:xfrm>
            <a:prstGeom prst="ellipse">
              <a:avLst/>
            </a:prstGeom>
            <a:solidFill>
              <a:schemeClr val="accent2"/>
            </a:solidFill>
            <a:ln>
              <a:noFill/>
            </a:ln>
          </p:spPr>
        </p:sp>
        <p:sp>
          <p:nvSpPr>
            <p:cNvPr id="28" name="TextBox 28"/>
            <p:cNvSpPr txBox="1"/>
            <p:nvPr/>
          </p:nvSpPr>
          <p:spPr>
            <a:xfrm>
              <a:off x="1185508" y="42233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9" name="TextBox 29"/>
            <p:cNvSpPr txBox="1"/>
            <p:nvPr/>
          </p:nvSpPr>
          <p:spPr>
            <a:xfrm>
              <a:off x="1688973" y="4062889"/>
              <a:ext cx="1219149"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验证模型与检索</a:t>
              </a:r>
            </a:p>
          </p:txBody>
        </p:sp>
        <p:sp>
          <p:nvSpPr>
            <p:cNvPr id="30" name="TextBox 30"/>
            <p:cNvSpPr txBox="1"/>
            <p:nvPr/>
          </p:nvSpPr>
          <p:spPr>
            <a:xfrm>
              <a:off x="1690116" y="4344352"/>
              <a:ext cx="2554986"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完成模型选型、检索排序和识别结果复核</a:t>
              </a:r>
            </a:p>
          </p:txBody>
        </p:sp>
        <p:sp>
          <p:nvSpPr>
            <p:cNvPr id="31" name="Line 31"/>
            <p:cNvSpPr/>
            <p:nvPr/>
          </p:nvSpPr>
          <p:spPr>
            <a:xfrm>
              <a:off x="4953000" y="4286250"/>
              <a:ext cx="1752600" cy="1"/>
            </a:xfrm>
            <a:prstGeom prst="line">
              <a:avLst/>
            </a:prstGeom>
            <a:noFill/>
            <a:ln w="14288">
              <a:solidFill>
                <a:schemeClr val="accent2"/>
              </a:solidFill>
              <a:tailEnd type="triangle" w="lg" len="lg"/>
            </a:ln>
          </p:spPr>
        </p:sp>
        <p:sp>
          <p:nvSpPr>
            <p:cNvPr id="32" name="Ellipse 32"/>
            <p:cNvSpPr/>
            <p:nvPr/>
          </p:nvSpPr>
          <p:spPr>
            <a:xfrm>
              <a:off x="1009650" y="4933950"/>
              <a:ext cx="457200" cy="457200"/>
            </a:xfrm>
            <a:prstGeom prst="ellipse">
              <a:avLst/>
            </a:prstGeom>
            <a:solidFill>
              <a:schemeClr val="accent3"/>
            </a:solidFill>
            <a:ln>
              <a:noFill/>
            </a:ln>
          </p:spPr>
        </p:sp>
        <p:sp>
          <p:nvSpPr>
            <p:cNvPr id="33" name="TextBox 33"/>
            <p:cNvSpPr txBox="1"/>
            <p:nvPr/>
          </p:nvSpPr>
          <p:spPr>
            <a:xfrm>
              <a:off x="1185508" y="50996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4" name="TextBox 34"/>
            <p:cNvSpPr txBox="1"/>
            <p:nvPr/>
          </p:nvSpPr>
          <p:spPr>
            <a:xfrm>
              <a:off x="1688973" y="4939189"/>
              <a:ext cx="1046836" cy="249364"/>
            </a:xfrm>
            <a:prstGeom prst="rect">
              <a:avLst/>
            </a:prstGeom>
            <a:noFill/>
            <a:ln>
              <a:noFill/>
            </a:ln>
          </p:spPr>
          <p:txBody>
            <a:bodyPr wrap="none" lIns="0" tIns="0" rIns="0" bIns="0" anchor="t" anchorCtr="0">
              <a:spAutoFit/>
            </a:bodyPr>
            <a:lstStyle/>
            <a:p>
              <a:pPr algn="l"/>
              <a:r>
                <a:rPr lang="zh-CN" sz="1280" b="1" dirty="0">
                  <a:solidFill>
                    <a:srgbClr val="C96B12"/>
                  </a:solidFill>
                  <a:latin typeface="+mn-lt"/>
                  <a:ea typeface="+mn-ea"/>
                  <a:cs typeface="+mn-cs"/>
                </a:rPr>
                <a:t>开展系统联调</a:t>
              </a:r>
            </a:p>
          </p:txBody>
        </p:sp>
        <p:sp>
          <p:nvSpPr>
            <p:cNvPr id="35" name="TextBox 35"/>
            <p:cNvSpPr txBox="1"/>
            <p:nvPr/>
          </p:nvSpPr>
          <p:spPr>
            <a:xfrm>
              <a:off x="1690116" y="5220652"/>
              <a:ext cx="2696337"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接入现场数据，验证评估、预警和处置闭环</a:t>
              </a:r>
            </a:p>
          </p:txBody>
        </p:sp>
        <p:sp>
          <p:nvSpPr>
            <p:cNvPr id="36" name="Line 36"/>
            <p:cNvSpPr/>
            <p:nvPr/>
          </p:nvSpPr>
          <p:spPr>
            <a:xfrm>
              <a:off x="4953000" y="5162550"/>
              <a:ext cx="1752600" cy="1"/>
            </a:xfrm>
            <a:prstGeom prst="line">
              <a:avLst/>
            </a:prstGeom>
            <a:noFill/>
            <a:ln w="14288">
              <a:solidFill>
                <a:schemeClr val="accent3"/>
              </a:solidFill>
              <a:tailEnd type="triangle" w="lg" len="lg"/>
            </a:ln>
          </p:spPr>
        </p:sp>
      </p:grpSp>
      <p:grpSp>
        <p:nvGrpSpPr>
          <p:cNvPr id="57" name="Group 57"/>
          <p:cNvGrpSpPr/>
          <p:nvPr/>
        </p:nvGrpSpPr>
        <p:grpSpPr>
          <a:xfrm>
            <a:off x="7524750" y="1466850"/>
            <a:ext cx="4133850" cy="4438650"/>
            <a:chOff x="7524750" y="1466850"/>
            <a:chExt cx="4133850" cy="4438650"/>
          </a:xfrm>
        </p:grpSpPr>
        <p:sp>
          <p:nvSpPr>
            <p:cNvPr id="38" name="Rectangle 38"/>
            <p:cNvSpPr/>
            <p:nvPr/>
          </p:nvSpPr>
          <p:spPr>
            <a:xfrm>
              <a:off x="7524750" y="1466850"/>
              <a:ext cx="4133850" cy="4438650"/>
            </a:xfrm>
            <a:prstGeom prst="roundRect">
              <a:avLst>
                <a:gd name="adj" fmla="val 3226"/>
              </a:avLst>
            </a:prstGeom>
            <a:solidFill>
              <a:srgbClr val="EEF7F4"/>
            </a:solidFill>
            <a:ln w="9525">
              <a:solidFill>
                <a:srgbClr val="CDE2DC"/>
              </a:solidFill>
            </a:ln>
          </p:spPr>
        </p:sp>
        <p:grpSp>
          <p:nvGrpSpPr>
            <p:cNvPr id="43" name="Group 43"/>
            <p:cNvGrpSpPr/>
            <p:nvPr/>
          </p:nvGrpSpPr>
          <p:grpSpPr>
            <a:xfrm>
              <a:off x="7831931" y="1762125"/>
              <a:ext cx="178595" cy="202406"/>
              <a:chOff x="7831931" y="1762125"/>
              <a:chExt cx="178595" cy="202406"/>
            </a:xfrm>
          </p:grpSpPr>
          <p:sp>
            <p:nvSpPr>
              <p:cNvPr id="39" name="Freeform 39"/>
              <p:cNvSpPr/>
              <p:nvPr/>
            </p:nvSpPr>
            <p:spPr>
              <a:xfrm>
                <a:off x="7831931" y="1762125"/>
                <a:ext cx="142875" cy="190500"/>
              </a:xfrm>
              <a:custGeom>
                <a:avLst/>
                <a:gdLst/>
                <a:ahLst/>
                <a:cxnLst/>
                <a:rect l="l" t="t" r="r" b="b"/>
                <a:pathLst>
                  <a:path w="142875" h="190500">
                    <a:moveTo>
                      <a:pt x="54947" y="190500"/>
                    </a:moveTo>
                    <a:lnTo>
                      <a:pt x="23812" y="190500"/>
                    </a:lnTo>
                    <a:cubicBezTo>
                      <a:pt x="10661" y="190500"/>
                      <a:pt x="0" y="179839"/>
                      <a:pt x="0" y="166688"/>
                    </a:cubicBezTo>
                    <a:lnTo>
                      <a:pt x="0" y="23812"/>
                    </a:lnTo>
                    <a:cubicBezTo>
                      <a:pt x="0" y="10661"/>
                      <a:pt x="10661" y="0"/>
                      <a:pt x="23812" y="0"/>
                    </a:cubicBezTo>
                    <a:lnTo>
                      <a:pt x="119062" y="0"/>
                    </a:lnTo>
                    <a:cubicBezTo>
                      <a:pt x="132214" y="0"/>
                      <a:pt x="142875" y="10661"/>
                      <a:pt x="142875" y="23812"/>
                    </a:cubicBezTo>
                    <a:lnTo>
                      <a:pt x="142875" y="119062"/>
                    </a:lnTo>
                  </a:path>
                </a:pathLst>
              </a:custGeom>
              <a:noFill/>
              <a:ln w="23812">
                <a:solidFill>
                  <a:schemeClr val="accent2"/>
                </a:solidFill>
              </a:ln>
            </p:spPr>
          </p:sp>
          <p:sp>
            <p:nvSpPr>
              <p:cNvPr id="40" name="Freeform 40"/>
              <p:cNvSpPr/>
              <p:nvPr/>
            </p:nvSpPr>
            <p:spPr>
              <a:xfrm>
                <a:off x="7939088" y="1916906"/>
                <a:ext cx="71438" cy="47625"/>
              </a:xfrm>
              <a:custGeom>
                <a:avLst/>
                <a:gdLst/>
                <a:ahLst/>
                <a:cxnLst/>
                <a:rect l="l" t="t" r="r" b="b"/>
                <a:pathLst>
                  <a:path w="71438" h="47625">
                    <a:moveTo>
                      <a:pt x="0" y="23812"/>
                    </a:moveTo>
                    <a:lnTo>
                      <a:pt x="23812" y="47625"/>
                    </a:lnTo>
                    <a:lnTo>
                      <a:pt x="71438" y="0"/>
                    </a:lnTo>
                  </a:path>
                </a:pathLst>
              </a:custGeom>
              <a:noFill/>
              <a:ln w="23812">
                <a:solidFill>
                  <a:schemeClr val="accent2"/>
                </a:solidFill>
              </a:ln>
            </p:spPr>
          </p:sp>
          <p:sp>
            <p:nvSpPr>
              <p:cNvPr id="41" name="Freeform 41"/>
              <p:cNvSpPr/>
              <p:nvPr/>
            </p:nvSpPr>
            <p:spPr>
              <a:xfrm>
                <a:off x="7879556" y="1809750"/>
                <a:ext cx="47625" cy="9525"/>
              </a:xfrm>
              <a:custGeom>
                <a:avLst/>
                <a:gdLst/>
                <a:ahLst/>
                <a:cxnLst/>
                <a:rect l="l" t="t" r="r" b="b"/>
                <a:pathLst>
                  <a:path w="47625" h="9525">
                    <a:moveTo>
                      <a:pt x="0" y="0"/>
                    </a:moveTo>
                    <a:lnTo>
                      <a:pt x="47625" y="0"/>
                    </a:lnTo>
                  </a:path>
                </a:pathLst>
              </a:custGeom>
              <a:noFill/>
              <a:ln w="23812">
                <a:solidFill>
                  <a:schemeClr val="accent2"/>
                </a:solidFill>
              </a:ln>
            </p:spPr>
          </p:sp>
          <p:sp>
            <p:nvSpPr>
              <p:cNvPr id="42" name="Freeform 42"/>
              <p:cNvSpPr/>
              <p:nvPr/>
            </p:nvSpPr>
            <p:spPr>
              <a:xfrm>
                <a:off x="7879556" y="1857375"/>
                <a:ext cx="23812" cy="9525"/>
              </a:xfrm>
              <a:custGeom>
                <a:avLst/>
                <a:gdLst/>
                <a:ahLst/>
                <a:cxnLst/>
                <a:rect l="l" t="t" r="r" b="b"/>
                <a:pathLst>
                  <a:path w="23812" h="9525">
                    <a:moveTo>
                      <a:pt x="0" y="0"/>
                    </a:moveTo>
                    <a:lnTo>
                      <a:pt x="23812" y="0"/>
                    </a:lnTo>
                  </a:path>
                </a:pathLst>
              </a:custGeom>
              <a:noFill/>
              <a:ln w="23812">
                <a:solidFill>
                  <a:schemeClr val="accent2"/>
                </a:solidFill>
              </a:ln>
            </p:spPr>
          </p:sp>
        </p:grpSp>
        <p:sp>
          <p:nvSpPr>
            <p:cNvPr id="44" name="TextBox 44"/>
            <p:cNvSpPr txBox="1"/>
            <p:nvPr/>
          </p:nvSpPr>
          <p:spPr>
            <a:xfrm>
              <a:off x="8184261" y="1779746"/>
              <a:ext cx="1543761"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正式验证所需条件</a:t>
              </a:r>
            </a:p>
          </p:txBody>
        </p:sp>
        <p:sp>
          <p:nvSpPr>
            <p:cNvPr id="45" name="Rectangle 45"/>
            <p:cNvSpPr/>
            <p:nvPr/>
          </p:nvSpPr>
          <p:spPr>
            <a:xfrm>
              <a:off x="7772400" y="2247900"/>
              <a:ext cx="3638550" cy="685800"/>
            </a:xfrm>
            <a:prstGeom prst="roundRect">
              <a:avLst>
                <a:gd name="adj" fmla="val 12500"/>
              </a:avLst>
            </a:prstGeom>
            <a:solidFill>
              <a:schemeClr val="lt1"/>
            </a:solidFill>
            <a:ln>
              <a:noFill/>
            </a:ln>
          </p:spPr>
        </p:sp>
        <p:sp>
          <p:nvSpPr>
            <p:cNvPr id="46" name="TextBox 46"/>
            <p:cNvSpPr txBox="1"/>
            <p:nvPr/>
          </p:nvSpPr>
          <p:spPr>
            <a:xfrm>
              <a:off x="7956804" y="23469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甲方业务配置</a:t>
              </a:r>
            </a:p>
          </p:txBody>
        </p:sp>
        <p:sp>
          <p:nvSpPr>
            <p:cNvPr id="47" name="TextBox 47"/>
            <p:cNvSpPr txBox="1"/>
            <p:nvPr/>
          </p:nvSpPr>
          <p:spPr>
            <a:xfrm>
              <a:off x="7957566" y="2610802"/>
              <a:ext cx="2837688"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风险源清单、指标体系、量化标准和风险矩阵</a:t>
              </a:r>
            </a:p>
          </p:txBody>
        </p:sp>
        <p:sp>
          <p:nvSpPr>
            <p:cNvPr id="48" name="Rectangle 48"/>
            <p:cNvSpPr/>
            <p:nvPr/>
          </p:nvSpPr>
          <p:spPr>
            <a:xfrm>
              <a:off x="7772400" y="3086100"/>
              <a:ext cx="3638550" cy="685800"/>
            </a:xfrm>
            <a:prstGeom prst="roundRect">
              <a:avLst>
                <a:gd name="adj" fmla="val 12500"/>
              </a:avLst>
            </a:prstGeom>
            <a:solidFill>
              <a:schemeClr val="lt1"/>
            </a:solidFill>
            <a:ln>
              <a:noFill/>
            </a:ln>
          </p:spPr>
        </p:sp>
        <p:sp>
          <p:nvSpPr>
            <p:cNvPr id="49" name="TextBox 49"/>
            <p:cNvSpPr txBox="1"/>
            <p:nvPr/>
          </p:nvSpPr>
          <p:spPr>
            <a:xfrm>
              <a:off x="7956804" y="31851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脱敏工程样例</a:t>
              </a:r>
            </a:p>
          </p:txBody>
        </p:sp>
        <p:sp>
          <p:nvSpPr>
            <p:cNvPr id="50" name="TextBox 50"/>
            <p:cNvSpPr txBox="1"/>
            <p:nvPr/>
          </p:nvSpPr>
          <p:spPr>
            <a:xfrm>
              <a:off x="7957566" y="3449002"/>
              <a:ext cx="2696337"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设计资料、专项方案、施工日志和监测数据</a:t>
              </a:r>
            </a:p>
          </p:txBody>
        </p:sp>
        <p:sp>
          <p:nvSpPr>
            <p:cNvPr id="51" name="Rectangle 51"/>
            <p:cNvSpPr/>
            <p:nvPr/>
          </p:nvSpPr>
          <p:spPr>
            <a:xfrm>
              <a:off x="7772400" y="3924300"/>
              <a:ext cx="3638550" cy="762000"/>
            </a:xfrm>
            <a:prstGeom prst="roundRect">
              <a:avLst>
                <a:gd name="adj" fmla="val 11250"/>
              </a:avLst>
            </a:prstGeom>
            <a:solidFill>
              <a:schemeClr val="lt1"/>
            </a:solidFill>
            <a:ln>
              <a:noFill/>
            </a:ln>
          </p:spPr>
        </p:sp>
        <p:sp>
          <p:nvSpPr>
            <p:cNvPr id="52" name="TextBox 52"/>
            <p:cNvSpPr txBox="1"/>
            <p:nvPr/>
          </p:nvSpPr>
          <p:spPr>
            <a:xfrm>
              <a:off x="7956804" y="402336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合并与入库规则</a:t>
              </a:r>
            </a:p>
          </p:txBody>
        </p:sp>
        <p:sp>
          <p:nvSpPr>
            <p:cNvPr id="53" name="TextBox 53"/>
            <p:cNvSpPr txBox="1"/>
            <p:nvPr/>
          </p:nvSpPr>
          <p:spPr>
            <a:xfrm>
              <a:off x="7957566" y="4287202"/>
              <a:ext cx="1877568"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4A5568"/>
                  </a:solidFill>
                  <a:latin typeface="+mn-lt"/>
                  <a:ea typeface="+mn-ea"/>
                  <a:cs typeface="+mn-cs"/>
                </a:rPr>
                <a:t>多来源风险记录的判重、合并和</a:t>
              </a:r>
              <a:br/>
              <a:r>
                <a:rPr lang="zh-CN" sz="1050" dirty="0">
                  <a:solidFill>
                    <a:srgbClr val="4A5568"/>
                  </a:solidFill>
                  <a:latin typeface="+mn-lt"/>
                  <a:ea typeface="+mn-ea"/>
                  <a:cs typeface="+mn-cs"/>
                </a:rPr>
                <a:t>综合置信度规则</a:t>
              </a:r>
            </a:p>
          </p:txBody>
        </p:sp>
        <p:sp>
          <p:nvSpPr>
            <p:cNvPr id="54" name="Rectangle 54"/>
            <p:cNvSpPr/>
            <p:nvPr/>
          </p:nvSpPr>
          <p:spPr>
            <a:xfrm>
              <a:off x="7772400" y="4838700"/>
              <a:ext cx="3638550" cy="762000"/>
            </a:xfrm>
            <a:prstGeom prst="roundRect">
              <a:avLst>
                <a:gd name="adj" fmla="val 11250"/>
              </a:avLst>
            </a:prstGeom>
            <a:solidFill>
              <a:srgbClr val="FFF7EC"/>
            </a:solidFill>
            <a:ln>
              <a:noFill/>
            </a:ln>
          </p:spPr>
        </p:sp>
        <p:sp>
          <p:nvSpPr>
            <p:cNvPr id="55" name="TextBox 55"/>
            <p:cNvSpPr txBox="1"/>
            <p:nvPr/>
          </p:nvSpPr>
          <p:spPr>
            <a:xfrm>
              <a:off x="7956804" y="4937760"/>
              <a:ext cx="981456" cy="234696"/>
            </a:xfrm>
            <a:prstGeom prst="rect">
              <a:avLst/>
            </a:prstGeom>
            <a:noFill/>
            <a:ln>
              <a:noFill/>
            </a:ln>
          </p:spPr>
          <p:txBody>
            <a:bodyPr wrap="none" lIns="0" tIns="0" rIns="0" bIns="0" anchor="t" anchorCtr="0">
              <a:spAutoFit/>
            </a:bodyPr>
            <a:lstStyle/>
            <a:p>
              <a:pPr algn="l"/>
              <a:r>
                <a:rPr lang="zh-CN" sz="1200" b="1" dirty="0">
                  <a:solidFill>
                    <a:srgbClr val="C96B12"/>
                  </a:solidFill>
                  <a:latin typeface="+mn-lt"/>
                  <a:ea typeface="+mn-ea"/>
                  <a:cs typeface="+mn-cs"/>
                </a:rPr>
                <a:t>识别评价指标</a:t>
              </a:r>
            </a:p>
          </p:txBody>
        </p:sp>
        <p:sp>
          <p:nvSpPr>
            <p:cNvPr id="56" name="TextBox 56"/>
            <p:cNvSpPr txBox="1"/>
            <p:nvPr/>
          </p:nvSpPr>
          <p:spPr>
            <a:xfrm>
              <a:off x="7957566" y="5201602"/>
              <a:ext cx="1744218"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4A5568"/>
                  </a:solidFill>
                  <a:latin typeface="+mn-lt"/>
                  <a:ea typeface="+mn-ea"/>
                  <a:cs typeface="+mn-cs"/>
                </a:rPr>
                <a:t>准确性、完整性、可解释性与</a:t>
              </a:r>
              <a:br/>
              <a:r>
                <a:rPr lang="zh-CN" sz="1050" dirty="0">
                  <a:solidFill>
                    <a:srgbClr val="4A5568"/>
                  </a:solidFill>
                  <a:latin typeface="+mn-lt"/>
                  <a:ea typeface="+mn-ea"/>
                  <a:cs typeface="+mn-cs"/>
                </a:rPr>
                <a:t>可追溯性评价方法</a:t>
              </a:r>
            </a:p>
          </p:txBody>
        </p:sp>
      </p:grpSp>
      <p:grpSp>
        <p:nvGrpSpPr>
          <p:cNvPr id="60" name="Group 60"/>
          <p:cNvGrpSpPr/>
          <p:nvPr/>
        </p:nvGrpSpPr>
        <p:grpSpPr>
          <a:xfrm>
            <a:off x="528638" y="6311741"/>
            <a:ext cx="11134724" cy="161925"/>
            <a:chOff x="528638" y="6311741"/>
            <a:chExt cx="11134724" cy="161925"/>
          </a:xfrm>
        </p:grpSpPr>
        <p:sp>
          <p:nvSpPr>
            <p:cNvPr id="58" name="TextBox 58"/>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59" name="TextBox 59"/>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 name="Group 6"/>
          <p:cNvGrpSpPr/>
          <p:nvPr/>
        </p:nvGrpSpPr>
        <p:grpSpPr>
          <a:xfrm>
            <a:off x="0" y="-1905000"/>
            <a:ext cx="13144500" cy="8763000"/>
            <a:chOff x="0" y="-1905000"/>
            <a:chExt cx="13144500" cy="8763000"/>
          </a:xfrm>
        </p:grpSpPr>
        <p:sp>
          <p:nvSpPr>
            <p:cNvPr id="2" name="Ellipse 2"/>
            <p:cNvSpPr/>
            <p:nvPr/>
          </p:nvSpPr>
          <p:spPr>
            <a:xfrm>
              <a:off x="8001000" y="-1905000"/>
              <a:ext cx="5143500" cy="5143500"/>
            </a:xfrm>
            <a:prstGeom prst="ellipse">
              <a:avLst/>
            </a:prstGeom>
            <a:solidFill>
              <a:srgbClr val="1D4B7C"/>
            </a:solidFill>
            <a:ln>
              <a:noFill/>
            </a:ln>
          </p:spPr>
        </p:sp>
        <p:sp>
          <p:nvSpPr>
            <p:cNvPr id="3" name="Ellipse 3"/>
            <p:cNvSpPr/>
            <p:nvPr/>
          </p:nvSpPr>
          <p:spPr>
            <a:xfrm>
              <a:off x="9858375" y="-1619250"/>
              <a:ext cx="2857500" cy="2857500"/>
            </a:xfrm>
            <a:prstGeom prst="ellipse">
              <a:avLst/>
            </a:prstGeom>
            <a:solidFill>
              <a:schemeClr val="accent2">
                <a:alpha val="34000"/>
              </a:schemeClr>
            </a:solidFill>
            <a:ln>
              <a:noFill/>
            </a:ln>
          </p:spPr>
        </p:sp>
        <p:sp>
          <p:nvSpPr>
            <p:cNvPr id="4" name="Freeform 4"/>
            <p:cNvSpPr/>
            <p:nvPr/>
          </p:nvSpPr>
          <p:spPr>
            <a:xfrm>
              <a:off x="0" y="4562475"/>
              <a:ext cx="12192000" cy="2295525"/>
            </a:xfrm>
            <a:custGeom>
              <a:avLst/>
              <a:gdLst/>
              <a:ahLst/>
              <a:cxnLst/>
              <a:rect l="l" t="t" r="r" b="b"/>
              <a:pathLst>
                <a:path w="12192000" h="2295525">
                  <a:moveTo>
                    <a:pt x="0" y="847725"/>
                  </a:moveTo>
                  <a:cubicBezTo>
                    <a:pt x="2476500" y="123825"/>
                    <a:pt x="4095750" y="1552575"/>
                    <a:pt x="6610350" y="733425"/>
                  </a:cubicBezTo>
                  <a:cubicBezTo>
                    <a:pt x="8877300" y="0"/>
                    <a:pt x="10229850" y="847725"/>
                    <a:pt x="12192000" y="180975"/>
                  </a:cubicBezTo>
                  <a:lnTo>
                    <a:pt x="12192000" y="2295525"/>
                  </a:lnTo>
                  <a:lnTo>
                    <a:pt x="0" y="2295525"/>
                  </a:lnTo>
                  <a:close/>
                </a:path>
              </a:pathLst>
            </a:custGeom>
            <a:solidFill>
              <a:srgbClr val="1D4B7C"/>
            </a:solidFill>
            <a:ln>
              <a:noFill/>
            </a:ln>
          </p:spPr>
        </p:sp>
        <p:sp>
          <p:nvSpPr>
            <p:cNvPr id="5" name="Freeform 5"/>
            <p:cNvSpPr/>
            <p:nvPr/>
          </p:nvSpPr>
          <p:spPr>
            <a:xfrm>
              <a:off x="0" y="5229225"/>
              <a:ext cx="12192000" cy="1304925"/>
            </a:xfrm>
            <a:custGeom>
              <a:avLst/>
              <a:gdLst/>
              <a:ahLst/>
              <a:cxnLst/>
              <a:rect l="l" t="t" r="r" b="b"/>
              <a:pathLst>
                <a:path w="12192000" h="1304925">
                  <a:moveTo>
                    <a:pt x="0" y="752475"/>
                  </a:moveTo>
                  <a:cubicBezTo>
                    <a:pt x="2495550" y="28575"/>
                    <a:pt x="4267200" y="1304925"/>
                    <a:pt x="6705600" y="619125"/>
                  </a:cubicBezTo>
                  <a:cubicBezTo>
                    <a:pt x="8915400" y="0"/>
                    <a:pt x="10287000" y="733425"/>
                    <a:pt x="12192000" y="123825"/>
                  </a:cubicBezTo>
                </a:path>
              </a:pathLst>
            </a:custGeom>
            <a:noFill/>
            <a:ln w="38100">
              <a:solidFill>
                <a:schemeClr val="accent2">
                  <a:alpha val="80000"/>
                </a:schemeClr>
              </a:solidFill>
            </a:ln>
          </p:spPr>
        </p:sp>
      </p:grpSp>
      <p:grpSp>
        <p:nvGrpSpPr>
          <p:cNvPr id="10" name="Group 10"/>
          <p:cNvGrpSpPr/>
          <p:nvPr/>
        </p:nvGrpSpPr>
        <p:grpSpPr>
          <a:xfrm>
            <a:off x="679704" y="675799"/>
            <a:ext cx="10831449" cy="553307"/>
            <a:chOff x="679704" y="675799"/>
            <a:chExt cx="10831449" cy="553307"/>
          </a:xfrm>
        </p:grpSpPr>
        <p:sp>
          <p:nvSpPr>
            <p:cNvPr id="7" name="TextBox 7"/>
            <p:cNvSpPr txBox="1"/>
            <p:nvPr/>
          </p:nvSpPr>
          <p:spPr>
            <a:xfrm>
              <a:off x="680847" y="675799"/>
              <a:ext cx="3176168" cy="190690"/>
            </a:xfrm>
            <a:prstGeom prst="rect">
              <a:avLst/>
            </a:prstGeom>
            <a:noFill/>
            <a:ln>
              <a:noFill/>
            </a:ln>
          </p:spPr>
          <p:txBody>
            <a:bodyPr wrap="none" lIns="0" tIns="0" rIns="0" bIns="0" anchor="t" anchorCtr="0">
              <a:spAutoFit/>
            </a:bodyPr>
            <a:lstStyle/>
            <a:p>
              <a:pPr algn="l"/>
              <a:r>
                <a:rPr lang="zh-CN" sz="980" dirty="0">
                  <a:solidFill>
                    <a:srgbClr val="C9D9E8"/>
                  </a:solidFill>
                  <a:latin typeface="+mn-lt"/>
                  <a:ea typeface="+mn-ea"/>
                  <a:cs typeface="+mn-cs"/>
                </a:rPr>
                <a:t>中国铁建股份有限公司地下空间利用领域科研计划项目</a:t>
              </a:r>
            </a:p>
          </p:txBody>
        </p:sp>
        <p:sp>
          <p:nvSpPr>
            <p:cNvPr id="8" name="TextBox 8"/>
            <p:cNvSpPr txBox="1"/>
            <p:nvPr/>
          </p:nvSpPr>
          <p:spPr>
            <a:xfrm>
              <a:off x="10121235" y="675799"/>
              <a:ext cx="1389918" cy="190690"/>
            </a:xfrm>
            <a:prstGeom prst="rect">
              <a:avLst/>
            </a:prstGeom>
            <a:noFill/>
            <a:ln>
              <a:noFill/>
            </a:ln>
          </p:spPr>
          <p:txBody>
            <a:bodyPr wrap="none" lIns="0" tIns="0" rIns="0" bIns="0" anchor="t" anchorCtr="0">
              <a:spAutoFit/>
            </a:bodyPr>
            <a:lstStyle/>
            <a:p>
              <a:pPr algn="r"/>
              <a:r>
                <a:rPr lang="zh-CN" sz="980" dirty="0">
                  <a:solidFill>
                    <a:srgbClr val="C9D9E8"/>
                  </a:solidFill>
                  <a:latin typeface="+mn-lt"/>
                  <a:ea typeface="+mn-ea"/>
                  <a:cs typeface="+mn-cs"/>
                </a:rPr>
                <a:t>合同编号： 2024-W08</a:t>
              </a:r>
            </a:p>
          </p:txBody>
        </p:sp>
        <p:sp>
          <p:nvSpPr>
            <p:cNvPr id="9" name="TextBox 9"/>
            <p:cNvSpPr txBox="1"/>
            <p:nvPr/>
          </p:nvSpPr>
          <p:spPr>
            <a:xfrm>
              <a:off x="679704" y="994410"/>
              <a:ext cx="3889248"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mn-lt"/>
                  <a:ea typeface="+mn-ea"/>
                  <a:cs typeface="+mn-cs"/>
                </a:rPr>
                <a:t>变径盾构站隧一体化建造风险评估及安全控制技术研究</a:t>
              </a:r>
            </a:p>
          </p:txBody>
        </p:sp>
      </p:grpSp>
      <p:grpSp>
        <p:nvGrpSpPr>
          <p:cNvPr id="13" name="Group 13"/>
          <p:cNvGrpSpPr/>
          <p:nvPr/>
        </p:nvGrpSpPr>
        <p:grpSpPr>
          <a:xfrm>
            <a:off x="666750" y="2019300"/>
            <a:ext cx="2521839" cy="1745933"/>
            <a:chOff x="666750" y="2019300"/>
            <a:chExt cx="2521839" cy="1745933"/>
          </a:xfrm>
        </p:grpSpPr>
        <p:sp>
          <p:nvSpPr>
            <p:cNvPr id="11" name="Rectangle 11"/>
            <p:cNvSpPr/>
            <p:nvPr/>
          </p:nvSpPr>
          <p:spPr>
            <a:xfrm>
              <a:off x="685800" y="2019300"/>
              <a:ext cx="742950" cy="57150"/>
            </a:xfrm>
            <a:prstGeom prst="roundRect">
              <a:avLst>
                <a:gd name="adj" fmla="val 50000"/>
              </a:avLst>
            </a:prstGeom>
            <a:solidFill>
              <a:schemeClr val="accent3"/>
            </a:solidFill>
            <a:ln>
              <a:noFill/>
            </a:ln>
          </p:spPr>
        </p:sp>
        <p:sp>
          <p:nvSpPr>
            <p:cNvPr id="12" name="TextBox 12"/>
            <p:cNvSpPr txBox="1"/>
            <p:nvPr/>
          </p:nvSpPr>
          <p:spPr>
            <a:xfrm>
              <a:off x="666750" y="2574608"/>
              <a:ext cx="2521839" cy="1190625"/>
            </a:xfrm>
            <a:prstGeom prst="rect">
              <a:avLst/>
            </a:prstGeom>
            <a:noFill/>
            <a:ln>
              <a:noFill/>
            </a:ln>
          </p:spPr>
          <p:txBody>
            <a:bodyPr wrap="none" lIns="0" tIns="0" rIns="0" bIns="0" anchor="t" anchorCtr="0">
              <a:spAutoFit/>
            </a:bodyPr>
            <a:lstStyle/>
            <a:p>
              <a:pPr algn="l"/>
              <a:r>
                <a:rPr lang="zh-CN" sz="6150" b="1" dirty="0">
                  <a:solidFill>
                    <a:srgbClr val="FFFFFF"/>
                  </a:solidFill>
                  <a:latin typeface="+mn-lt"/>
                  <a:ea typeface="+mn-ea"/>
                  <a:cs typeface="+mn-cs"/>
                </a:rPr>
                <a:t>谢谢！</a:t>
              </a:r>
            </a:p>
          </p:txBody>
        </p:sp>
      </p:grpSp>
      <p:grpSp>
        <p:nvGrpSpPr>
          <p:cNvPr id="17" name="Group 17"/>
          <p:cNvGrpSpPr/>
          <p:nvPr/>
        </p:nvGrpSpPr>
        <p:grpSpPr>
          <a:xfrm>
            <a:off x="685800" y="4542978"/>
            <a:ext cx="4733894" cy="705745"/>
            <a:chOff x="685800" y="4542978"/>
            <a:chExt cx="4733894" cy="705745"/>
          </a:xfrm>
        </p:grpSpPr>
        <p:pic>
          <p:nvPicPr>
            <p:cNvPr id="14" name="Image 14"/>
            <p:cNvPicPr>
              <a:picLocks noChangeAspect="1"/>
            </p:cNvPicPr>
            <p:nvPr/>
          </p:nvPicPr>
          <p:blipFill>
            <a:blip r:embed="rId2"/>
            <a:stretch>
              <a:fillRect/>
            </a:stretch>
          </p:blipFill>
          <p:spPr>
            <a:xfrm>
              <a:off x="685800" y="4542978"/>
              <a:ext cx="876300" cy="705745"/>
            </a:xfrm>
            <a:prstGeom prst="rect">
              <a:avLst/>
            </a:prstGeom>
          </p:spPr>
        </p:pic>
        <p:sp>
          <p:nvSpPr>
            <p:cNvPr id="15" name="TextBox 15"/>
            <p:cNvSpPr txBox="1"/>
            <p:nvPr/>
          </p:nvSpPr>
          <p:spPr>
            <a:xfrm>
              <a:off x="1783842" y="4731068"/>
              <a:ext cx="201282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中铁建华南建设有限公司</a:t>
              </a:r>
            </a:p>
          </p:txBody>
        </p:sp>
        <p:sp>
          <p:nvSpPr>
            <p:cNvPr id="16" name="TextBox 16"/>
            <p:cNvSpPr txBox="1"/>
            <p:nvPr/>
          </p:nvSpPr>
          <p:spPr>
            <a:xfrm>
              <a:off x="1785938" y="5065395"/>
              <a:ext cx="3633756" cy="176212"/>
            </a:xfrm>
            <a:prstGeom prst="rect">
              <a:avLst/>
            </a:prstGeom>
            <a:noFill/>
            <a:ln>
              <a:noFill/>
            </a:ln>
          </p:spPr>
          <p:txBody>
            <a:bodyPr wrap="none" lIns="0" tIns="0" rIns="0" bIns="0" anchor="t" anchorCtr="0">
              <a:spAutoFit/>
            </a:bodyPr>
            <a:lstStyle/>
            <a:p>
              <a:pPr algn="l"/>
              <a:r>
                <a:rPr lang="zh-CN" sz="900" dirty="0">
                  <a:solidFill>
                    <a:srgbClr val="C9D9E8"/>
                  </a:solidFill>
                  <a:latin typeface="+mn-lt"/>
                  <a:ea typeface="+mn-ea"/>
                  <a:cs typeface="+mn-cs"/>
                </a:rPr>
                <a:t>China Railway Construction South China Construction Co.,Ltd</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riskflow_20260828_visual_rebuild">
  <a:themeElements>
    <a:clrScheme name="riskflow_20260828_visual_rebuild">
      <a:dk1>
        <a:srgbClr val="1C2733"/>
      </a:dk1>
      <a:lt1>
        <a:srgbClr val="FFFFFF"/>
      </a:lt1>
      <a:dk2>
        <a:srgbClr val="1F497D"/>
      </a:dk2>
      <a:lt2>
        <a:srgbClr val="F4F7FA"/>
      </a:lt2>
      <a:accent1>
        <a:srgbClr val="163B63"/>
      </a:accent1>
      <a:accent2>
        <a:srgbClr val="2F8F7A"/>
      </a:accent2>
      <a:accent3>
        <a:srgbClr val="F2994A"/>
      </a:accent3>
      <a:accent4>
        <a:srgbClr val="163B63"/>
      </a:accent4>
      <a:accent5>
        <a:srgbClr val="D5DCE4"/>
      </a:accent5>
      <a:accent6>
        <a:srgbClr val="F79646"/>
      </a:accent6>
      <a:hlink>
        <a:srgbClr val="2F8F7A"/>
      </a:hlink>
      <a:folHlink>
        <a:srgbClr val="F2994A"/>
      </a:folHlink>
    </a:clrScheme>
    <a:fontScheme name="riskflow_20260828_visual_rebuild">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iskflow_20260828_visual_rebuil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iskflow_20260828_visual_rebuild">
  <a:themeElements>
    <a:clrScheme name="riskflow_20260828_visual_rebuild">
      <a:dk1>
        <a:srgbClr val="1C2733"/>
      </a:dk1>
      <a:lt1>
        <a:srgbClr val="FFFFFF"/>
      </a:lt1>
      <a:dk2>
        <a:srgbClr val="1F497D"/>
      </a:dk2>
      <a:lt2>
        <a:srgbClr val="F4F7FA"/>
      </a:lt2>
      <a:accent1>
        <a:srgbClr val="163B63"/>
      </a:accent1>
      <a:accent2>
        <a:srgbClr val="2F8F7A"/>
      </a:accent2>
      <a:accent3>
        <a:srgbClr val="F2994A"/>
      </a:accent3>
      <a:accent4>
        <a:srgbClr val="163B63"/>
      </a:accent4>
      <a:accent5>
        <a:srgbClr val="D5DCE4"/>
      </a:accent5>
      <a:accent6>
        <a:srgbClr val="F79646"/>
      </a:accent6>
      <a:hlink>
        <a:srgbClr val="2F8F7A"/>
      </a:hlink>
      <a:folHlink>
        <a:srgbClr val="F2994A"/>
      </a:folHlink>
    </a:clrScheme>
    <a:fontScheme name="riskflow_20260828_visual_rebuild">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iskflow_20260828_visual_rebuil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2026-08-28T15:57:28Z</dcterms:created>
  <dcterms:modified xsi:type="dcterms:W3CDTF">2026-08-28T15:57:28Z</dcterms:modified>
  <cp:category/>
  <cp:contentStatus/>
</cp:coreProperties>
</file>