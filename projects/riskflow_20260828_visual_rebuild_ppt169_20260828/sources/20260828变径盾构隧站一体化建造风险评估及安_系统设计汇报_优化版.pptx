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  <p:sldMasterId id="2147483664" r:id="rId3"/>
    <p:sldMasterId id="2147483666" r:id="rId4"/>
    <p:sldMasterId id="2147483669" r:id="rId5"/>
    <p:sldMasterId id="2147483682" r:id="rId6"/>
  </p:sldMasterIdLst>
  <p:notesMasterIdLst>
    <p:notesMasterId r:id="rId17"/>
  </p:notesMasterIdLst>
  <p:handoutMasterIdLst>
    <p:handoutMasterId r:id="rId18"/>
  </p:handoutMasterIdLst>
  <p:sldIdLst>
    <p:sldId id="618" r:id="rId7"/>
    <p:sldId id="5980" r:id="rId8"/>
    <p:sldId id="989" r:id="rId9"/>
    <p:sldId id="5981" r:id="rId10"/>
    <p:sldId id="6069" r:id="rId11"/>
    <p:sldId id="6070" r:id="rId12"/>
    <p:sldId id="6084" r:id="rId14"/>
    <p:sldId id="6085" r:id="rId13"/>
    <p:sldId id="6086" r:id="rId34"/>
    <p:sldId id="6087" r:id="rId35"/>
    <p:sldId id="6088" r:id="rId36"/>
    <p:sldId id="6089" r:id="rId37"/>
    <p:sldId id="6090" r:id="rId38"/>
    <p:sldId id="6091" r:id="rId39"/>
    <p:sldId id="6092" r:id="rId40"/>
    <p:sldId id="6093" r:id="rId41"/>
    <p:sldId id="6032" r:id="rId15"/>
    <p:sldId id="6094" r:id="rId42"/>
    <p:sldId id="704" r:id="rId16"/>
  </p:sldIdLst>
  <p:sldSz cx="9144000" cy="5143500" type="screen16x9"/>
  <p:notesSz cx="6735763" cy="98663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0">
          <p15:clr>
            <a:srgbClr val="A4A3A4"/>
          </p15:clr>
        </p15:guide>
        <p15:guide id="2" pos="340">
          <p15:clr>
            <a:srgbClr val="A4A3A4"/>
          </p15:clr>
        </p15:guide>
        <p15:guide id="3" pos="5681">
          <p15:clr>
            <a:srgbClr val="A4A3A4"/>
          </p15:clr>
        </p15:guide>
        <p15:guide id="4" orient="horz" pos="2828">
          <p15:clr>
            <a:srgbClr val="A4A3A4"/>
          </p15:clr>
        </p15:guide>
        <p15:guide id="5" pos="303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Qiang Gao" initials="" lastIdx="0" clrIdx="0"/>
  <p:cmAuthor id="1" name="Lenovo-user" initials="L" lastIdx="9" clrIdx="0"/>
  <p:cmAuthor id="2" name="Administrator" initials="A" lastIdx="2" clrIdx="1"/>
  <p:cmAuthor id="3" name="lenovo" initials="l" lastIdx="3" clrIdx="2"/>
  <p:cmAuthor id="4" name="叶 晋" initials="叶" lastIdx="1" clrIdx="3"/>
  <p:cmAuthor id="5" name="刘飞香" initials="刘" lastIdx="3" clrIdx="3"/>
  <p:cmAuthor id="6" name="lfx" initials="l" lastIdx="0" clrIdx="4"/>
  <p:cmAuthor id="7" name="王利" initials="王" lastIdx="6" clrIdx="0"/>
  <p:cmAuthor id="8" name="曾婷[E2]" initials="曾" lastIdx="2" clrIdx="7"/>
  <p:cmAuthor id="9" name="haoweiqi" initials="hwq" lastIdx="1" clrIdx="8"/>
  <p:cmAuthor id="10" name="灵 冥" initials="" lastIdx="4" clrIdx="7"/>
  <p:cmAuthor id="11" name="liuqing" initials="l" lastIdx="1" clrIdx="10"/>
  <p:cmAuthor id="12" name="艾艳波[D1]" initials="艾艳波[D1]" lastIdx="2" clrIdx="11"/>
  <p:cmAuthor id="13" name="weiguoliang" initials="w" lastIdx="2" clrIdx="11"/>
  <p:cmAuthor id="15" name="肖京" initials="肖京" lastIdx="1" clrIdx="25"/>
  <p:cmAuthor id="16" name="Lenovo" initials="L" lastIdx="1" clrIdx="15"/>
  <p:cmAuthor id="75" name="作者" initials="A" lastIdx="0" clrIdx="24"/>
  <p:cmAuthor id="76" name="刘 振宇" initials="刘" lastIdx="3" clrIdx="25"/>
  <p:cmAuthor id="18" name="涛涛涛吖" initials="涛" lastIdx="1" clrIdx="17"/>
  <p:cmAuthor id="77" name="绪宇 夏" initials="绪夏" lastIdx="1" clrIdx="2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0000"/>
    <a:srgbClr val="FFFFFF"/>
    <a:srgbClr val="005BAC"/>
    <a:srgbClr val="DCE6F2"/>
    <a:srgbClr val="376092"/>
    <a:srgbClr val="0070C0"/>
    <a:srgbClr val="A1A5AD"/>
    <a:srgbClr val="C0504D"/>
    <a:srgbClr val="FA8D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89286" autoAdjust="0"/>
  </p:normalViewPr>
  <p:slideViewPr>
    <p:cSldViewPr snapToGrid="0" showGuides="1">
      <p:cViewPr varScale="1">
        <p:scale>
          <a:sx n="190" d="100"/>
          <a:sy n="190" d="100"/>
        </p:scale>
        <p:origin x="1218" y="174"/>
      </p:cViewPr>
      <p:guideLst>
        <p:guide orient="horz" pos="1520"/>
        <p:guide pos="340"/>
        <p:guide pos="5681"/>
        <p:guide orient="horz" pos="2828"/>
        <p:guide pos="303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20.xml"/><Relationship Id="rId14" Type="http://schemas.openxmlformats.org/officeDocument/2006/relationships/slide" Target="slides/slide19.xml"/><Relationship Id="rId15" Type="http://schemas.openxmlformats.org/officeDocument/2006/relationships/slide" Target="slides/slide16.xml"/><Relationship Id="rId16" Type="http://schemas.openxmlformats.org/officeDocument/2006/relationships/slide" Target="slides/slide18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 typeface="Arial" panose="020B0604020202020204" pitchFamily="34" charset="0"/>
              <a:buNone/>
              <a:defRPr sz="1200"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 typeface="Arial" panose="020B0604020202020204" pitchFamily="34" charset="0"/>
              <a:buNone/>
              <a:defRPr sz="1200"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 typeface="Arial" panose="020B0604020202020204" pitchFamily="34" charset="0"/>
              <a:buNone/>
              <a:defRPr sz="1200"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5029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z="1200" strike="noStrike" noProof="1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831" cy="4933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814" y="0"/>
            <a:ext cx="2918831" cy="4933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89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72018" y="4686499"/>
            <a:ext cx="5390170" cy="44398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571"/>
            <a:ext cx="2918831" cy="4933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814" y="9369571"/>
            <a:ext cx="2918831" cy="4933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5200">
              <a:defRPr/>
            </a:pPr>
            <a:endParaRPr lang="en-US" altLang="zh-CN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84018E-6DCC-414D-A317-1F56C1CA38A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EEB08-6B98-02E3-EDE7-CB1225573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>
            <a:extLst>
              <a:ext uri="{FF2B5EF4-FFF2-40B4-BE49-F238E27FC236}">
                <a16:creationId xmlns:a16="http://schemas.microsoft.com/office/drawing/2014/main" id="{0FFFCBAA-CE55-C957-80C4-0CF2A746F4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338" name="文本占位符 2">
            <a:extLst>
              <a:ext uri="{FF2B5EF4-FFF2-40B4-BE49-F238E27FC236}">
                <a16:creationId xmlns:a16="http://schemas.microsoft.com/office/drawing/2014/main" id="{AE50ACE6-5A3D-BAB3-DECD-7E71382CE04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2018" y="4686499"/>
            <a:ext cx="5390169" cy="4439841"/>
          </a:xfrm>
        </p:spPr>
        <p:txBody>
          <a:bodyPr wrap="square" lIns="91440" tIns="45720" rIns="91440" bIns="45720" anchor="ctr" anchorCtr="0"/>
          <a:lstStyle/>
          <a:p>
            <a:pPr lvl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本项研究的目标是把站隧一体化施工智能风险识别与评估的需求，落到一套可以运行、可以迭代的软件系统里。整体推进思路是先明确系统的业务需求和应用边界，比如系统服务什么场景、接收哪些工程资料、最终输出什么风险识别和评估结果；然后梳理工程资料、工序信息、机理知识和风险记录之间的流转关系，形成系统架构和接口关系；最后通过样例资料接入、接口联调和结果复核来验证系统是否可用。目前已经完成了需求明确、资料梳理、框架形成和验证准备等基础工作，后续可以进入原型开发和系统联调阶段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385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327C0-D3C6-93E7-A76A-584EB06B3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>
            <a:extLst>
              <a:ext uri="{FF2B5EF4-FFF2-40B4-BE49-F238E27FC236}">
                <a16:creationId xmlns:a16="http://schemas.microsoft.com/office/drawing/2014/main" id="{C185230B-0D56-4F90-49B8-6C2C181951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338" name="文本占位符 2">
            <a:extLst>
              <a:ext uri="{FF2B5EF4-FFF2-40B4-BE49-F238E27FC236}">
                <a16:creationId xmlns:a16="http://schemas.microsoft.com/office/drawing/2014/main" id="{648E7677-05CA-D958-35D8-E4F41200908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2018" y="4686499"/>
            <a:ext cx="5390169" cy="4439841"/>
          </a:xfrm>
        </p:spPr>
        <p:txBody>
          <a:bodyPr wrap="square" lIns="91440" tIns="45720" rIns="91440" bIns="45720" anchor="ctr" anchorCtr="0"/>
          <a:lstStyle/>
          <a:p>
            <a:pPr lvl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系统整体分为四个层次：数据接入、知识建模、智能推理和应用输出。数据接入层主要处理工程资料、专项方案、装备设计、地勘监测和施工日志等多源信息；知识建模层负责形成施工工序模型、风险机理库、规范标准库和类比案例库；智能推理层通过检索增强、机理驱动提示和大语言模型推理识别潜在风险，并结合规则或仿真校验提高结果可靠性；最后在应用输出层生成标准化风险记录和工序风险关联图谱，并对接风险管理系统。整个系统强调四个能力：对象能贯通、机理有约束、证据可追溯、结果能动态入库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0326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系统沿数据接入、知识建模、智能推理和应用输出四层组织。识别与评估共享工程对象、版本信息和证据链，但各自保持独立流程。智能推理负责流程编排和人工复核路由，评分公式、风险矩阵、阈值判断和业务入库由确定性领域模块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变径盾构站隧一体化施工缺少同类型工程先例，风险识别不能只依赖历史清单。系统以施工工序和风险机理为识别依据，以版本化规则、指标和风险矩阵完成量化评估。监测更新、预警处置和效果反馈进入同一业务闭环，所有结论保留证据与版本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5200">
              <a:defRPr/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84018E-6DCC-414D-A317-1F56C1CA38A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Agent 只参与需要语义判断、证据取舍或受限工具行动的环节。字段校验、规则校验、P/C 评分、风险矩阵映射、阈值判断和业务入库由确定性模块完成。规则冲突、知识发布、处置采纳和校准生效仍由人决定。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风险智能识别按识别专利 S1 至 S6 处理工程资料、构建工序模型和风险机理库，再通过检索增强与启发式推理形成标准化风险记录。风险智能评估按评估专利 S1 至 S7完成规则适配、P/C 评分、风险矩阵映射、预警和处置反馈。两条流程通过标准化风险记录衔接。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技术实现分为流程编排、模型与检索、应用与领域工具三个部分。流程支持暂停、恢复、失败重试和人工复核；模型推理受工程上下文与证据约束；现场数据仍通过文件上传、数据库直连或 API 接入，领域工具接口用于约束 Agent 可执行的操作。工程侧通过规格、版本、审计和重放四项机制保证结果可核对。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建议将现场数据采集、应用服务、流程编排、模型推理和数据存储部署在项目内网。工程资料可通过文件上传、数据库直连或 API 接入，监测数据通过内网数据接口接入。模型规模、GPU 数量、主备与备份策略在实施设计阶段根据数据量和并发需求确定。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风险态势总览汇集当前风险数量、预警等级、工序分布、监测趋势和待处置事项。管理人员可按项目、阶段和风险等级筛选，定位越限趋势后进入风险评估记录、预警信息或证据追溯页面。该页面用于日常巡检和汇报，不替代具体风险记录的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智能 Agent 工作台承接有边界的分析任务，展示任务状态、结论、指标和证据引用。智能识别中心按工序节点呈现识别步骤，模型输出经过字段与完整性校验后形成标准化风险记录。低置信度、证据不足或字段不完整的结果进入人工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风险评估页面保存适用性元数据快照、指标评分明细、P/C 分值、风险等级和所用版本。风险等级超过风险可接受阈值，或监测数值、趋势及联合规则越限时生成预警信息。处置建议在候选措施集内组合排序，通过触发指标一致性、规范合规性和现场可执行性校验后供人员采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当前成果主要分为设计基线和演示原型。设计基线已统一识别与评估的领域术语、字段契约、流程边界和追溯要求；演示原型覆盖态势总览、智能 Agent、识别、评估、预警处置等主要界面。下一阶段需要使用甲方资料、指标体系、风险矩阵和脱敏监测样例验证数据转换、检索、评分和闭环联调。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4294967295" sz="quarter"/>
          </p:nvPr>
        </p:nvSpPr>
        <p:spPr/>
        <p:txBody>
          <a:bodyPr/>
          <a:lstStyle/>
          <a:p>
            <a:r>
              <a:t>下一阶段先固化流程编排的语言版本、检查点持久化和部署形态，再实现多源资料解析、模型选型与检索验证，最后结合现场监测数据开展系统联调。甲方指标体系、风险矩阵、量化标准和脱敏监测样例是正式验证的必要输入；合并规则和识别评价指标需与专家复核机制同步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622"/>
            <a:ext cx="7772400" cy="1103188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160"/>
            <a:ext cx="6400800" cy="13146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9435" indent="0" algn="ctr">
              <a:buNone/>
              <a:defRPr/>
            </a:lvl5pPr>
            <a:lvl6pPr marL="2286635" indent="0" algn="ctr">
              <a:buNone/>
              <a:defRPr/>
            </a:lvl6pPr>
            <a:lvl7pPr marL="2743835" indent="0" algn="ctr">
              <a:buNone/>
              <a:defRPr/>
            </a:lvl7pPr>
            <a:lvl8pPr marL="3201035" indent="0" algn="ctr">
              <a:buNone/>
              <a:defRPr/>
            </a:lvl8pPr>
            <a:lvl9pPr marL="3658235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8600" cy="3395304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360"/>
            <a:ext cx="4038600" cy="3395304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50"/>
          <p:cNvSpPr txBox="1">
            <a:spLocks noChangeAspect="1"/>
          </p:cNvSpPr>
          <p:nvPr userDrawn="1"/>
        </p:nvSpPr>
        <p:spPr>
          <a:xfrm>
            <a:off x="3989256" y="38040"/>
            <a:ext cx="455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450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PART1 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项目总体情况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50"/>
          <p:cNvSpPr txBox="1">
            <a:spLocks noChangeAspect="1"/>
          </p:cNvSpPr>
          <p:nvPr userDrawn="1"/>
        </p:nvSpPr>
        <p:spPr>
          <a:xfrm>
            <a:off x="3989256" y="38040"/>
            <a:ext cx="455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450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PART2 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课题组织管理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50"/>
          <p:cNvSpPr txBox="1">
            <a:spLocks noChangeAspect="1"/>
          </p:cNvSpPr>
          <p:nvPr userDrawn="1"/>
        </p:nvSpPr>
        <p:spPr>
          <a:xfrm>
            <a:off x="3989256" y="38040"/>
            <a:ext cx="455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450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PART3 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预期成果及效益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bg>
      <p:bgPr>
        <a:gradFill rotWithShape="0">
          <a:gsLst>
            <a:gs pos="0">
              <a:srgbClr val="F7FAFD"/>
            </a:gs>
            <a:gs pos="100000">
              <a:srgbClr val="F2F2F2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8850"/>
            <a:ext cx="2057400" cy="274638"/>
          </a:xfrm>
        </p:spPr>
        <p:txBody>
          <a:bodyPr/>
          <a:lstStyle>
            <a:lvl1pPr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微软雅黑" panose="020B0503020204020204" pitchFamily="34" charset="-122"/>
              <a:buNone/>
              <a:defRPr/>
            </a:pPr>
            <a:fld id="{22B84290-3E62-46D4-B9F1-5130AD7AD7E5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2026/5/27</a:t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8850"/>
            <a:ext cx="3086100" cy="274638"/>
          </a:xfrm>
        </p:spPr>
        <p:txBody>
          <a:bodyPr/>
          <a:lstStyle>
            <a:lvl1pPr>
              <a:defRPr noProof="1">
                <a:latin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8850"/>
            <a:ext cx="2057400" cy="274638"/>
          </a:xfr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T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istrator\Desktop\6.png"/>
          <p:cNvPicPr>
            <a:picLocks noChangeAspect="1" noChangeArrowheads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 bwMode="auto">
          <a:xfrm>
            <a:off x="-2053" y="445392"/>
            <a:ext cx="9099000" cy="107711"/>
          </a:xfrm>
          <a:prstGeom prst="rect">
            <a:avLst/>
          </a:prstGeom>
          <a:noFill/>
        </p:spPr>
      </p:pic>
      <p:pic>
        <p:nvPicPr>
          <p:cNvPr id="9" name="Picture 2" descr="D:\PPT~综合PPT-新\全国五百强\7+多\11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16681" y="61768"/>
            <a:ext cx="464333" cy="37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733173"/>
            <a:ext cx="9144238" cy="438570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15000"/>
                </a:schemeClr>
              </a:gs>
              <a:gs pos="78000">
                <a:schemeClr val="accent1">
                  <a:lumMod val="45000"/>
                  <a:lumOff val="55000"/>
                  <a:alpha val="85000"/>
                </a:schemeClr>
              </a:gs>
              <a:gs pos="98000">
                <a:schemeClr val="accent1">
                  <a:lumMod val="30000"/>
                  <a:lumOff val="7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微软雅黑" panose="020B0503020204020204" pitchFamily="34" charset="-122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300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:\Users\zhangshengping\Desktop\盾构法隧道智能装备.png盾构法隧道智能装备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28821" b="15523"/>
          <a:stretch>
            <a:fillRect/>
          </a:stretch>
        </p:blipFill>
        <p:spPr>
          <a:xfrm>
            <a:off x="0" y="2119163"/>
            <a:ext cx="9145428" cy="302433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0" y="757793"/>
            <a:ext cx="9144238" cy="438570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15000"/>
                </a:schemeClr>
              </a:gs>
              <a:gs pos="78000">
                <a:schemeClr val="accent1">
                  <a:lumMod val="45000"/>
                  <a:lumOff val="55000"/>
                  <a:alpha val="85000"/>
                </a:schemeClr>
              </a:gs>
              <a:gs pos="98000">
                <a:schemeClr val="accent1">
                  <a:lumMod val="30000"/>
                  <a:lumOff val="7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微软雅黑" panose="020B0503020204020204" pitchFamily="34" charset="-122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iṩ1iḓè"/>
          <p:cNvSpPr/>
          <p:nvPr userDrawn="1"/>
        </p:nvSpPr>
        <p:spPr>
          <a:xfrm>
            <a:off x="-4447" y="756978"/>
            <a:ext cx="9153132" cy="24300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txBody>
          <a:bodyPr wrap="square">
            <a:noAutofit/>
          </a:bodyPr>
          <a:lstStyle/>
          <a:p>
            <a:pPr algn="ctr" defTabSz="457200" rtl="0" eaLnBrk="1" fontAlgn="auto" hangingPunct="1">
              <a:spcBef>
                <a:spcPts val="0"/>
              </a:spcBef>
              <a:spcAft>
                <a:spcPts val="0"/>
              </a:spcAft>
              <a:buFontTx/>
            </a:pPr>
            <a:endParaRPr lang="zh-CN" altLang="en-US" sz="21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6" name="iṡḻîdê"/>
          <p:cNvSpPr/>
          <p:nvPr userDrawn="1"/>
        </p:nvSpPr>
        <p:spPr>
          <a:xfrm>
            <a:off x="7983406" y="3374180"/>
            <a:ext cx="492819" cy="473946"/>
          </a:xfrm>
          <a:prstGeom prst="ellipse">
            <a:avLst/>
          </a:prstGeom>
          <a:noFill/>
          <a:ln w="19050">
            <a:solidFill>
              <a:srgbClr val="41464A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" name="îṧlíḓè"/>
          <p:cNvSpPr/>
          <p:nvPr userDrawn="1"/>
        </p:nvSpPr>
        <p:spPr>
          <a:xfrm>
            <a:off x="8111826" y="3513244"/>
            <a:ext cx="235979" cy="195818"/>
          </a:xfrm>
          <a:custGeom>
            <a:avLst/>
            <a:gdLst>
              <a:gd name="T0" fmla="*/ 1294 w 1302"/>
              <a:gd name="T1" fmla="*/ 264 h 1125"/>
              <a:gd name="T2" fmla="*/ 1030 w 1302"/>
              <a:gd name="T3" fmla="*/ 782 h 1125"/>
              <a:gd name="T4" fmla="*/ 583 w 1302"/>
              <a:gd name="T5" fmla="*/ 1125 h 1125"/>
              <a:gd name="T6" fmla="*/ 392 w 1302"/>
              <a:gd name="T7" fmla="*/ 916 h 1125"/>
              <a:gd name="T8" fmla="*/ 287 w 1302"/>
              <a:gd name="T9" fmla="*/ 533 h 1125"/>
              <a:gd name="T10" fmla="*/ 162 w 1302"/>
              <a:gd name="T11" fmla="*/ 324 h 1125"/>
              <a:gd name="T12" fmla="*/ 61 w 1302"/>
              <a:gd name="T13" fmla="*/ 385 h 1125"/>
              <a:gd name="T14" fmla="*/ 0 w 1302"/>
              <a:gd name="T15" fmla="*/ 306 h 1125"/>
              <a:gd name="T16" fmla="*/ 189 w 1302"/>
              <a:gd name="T17" fmla="*/ 138 h 1125"/>
              <a:gd name="T18" fmla="*/ 381 w 1302"/>
              <a:gd name="T19" fmla="*/ 22 h 1125"/>
              <a:gd name="T20" fmla="*/ 567 w 1302"/>
              <a:gd name="T21" fmla="*/ 228 h 1125"/>
              <a:gd name="T22" fmla="*/ 619 w 1302"/>
              <a:gd name="T23" fmla="*/ 525 h 1125"/>
              <a:gd name="T24" fmla="*/ 715 w 1302"/>
              <a:gd name="T25" fmla="*/ 723 h 1125"/>
              <a:gd name="T26" fmla="*/ 837 w 1302"/>
              <a:gd name="T27" fmla="*/ 595 h 1125"/>
              <a:gd name="T28" fmla="*/ 924 w 1302"/>
              <a:gd name="T29" fmla="*/ 399 h 1125"/>
              <a:gd name="T30" fmla="*/ 837 w 1302"/>
              <a:gd name="T31" fmla="*/ 288 h 1125"/>
              <a:gd name="T32" fmla="*/ 741 w 1302"/>
              <a:gd name="T33" fmla="*/ 309 h 1125"/>
              <a:gd name="T34" fmla="*/ 1106 w 1302"/>
              <a:gd name="T35" fmla="*/ 5 h 1125"/>
              <a:gd name="T36" fmla="*/ 1294 w 1302"/>
              <a:gd name="T37" fmla="*/ 264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2" h="1125">
                <a:moveTo>
                  <a:pt x="1294" y="264"/>
                </a:moveTo>
                <a:cubicBezTo>
                  <a:pt x="1288" y="390"/>
                  <a:pt x="1200" y="563"/>
                  <a:pt x="1030" y="782"/>
                </a:cubicBezTo>
                <a:cubicBezTo>
                  <a:pt x="854" y="1011"/>
                  <a:pt x="705" y="1125"/>
                  <a:pt x="583" y="1125"/>
                </a:cubicBezTo>
                <a:cubicBezTo>
                  <a:pt x="508" y="1125"/>
                  <a:pt x="444" y="1056"/>
                  <a:pt x="392" y="916"/>
                </a:cubicBezTo>
                <a:cubicBezTo>
                  <a:pt x="357" y="789"/>
                  <a:pt x="322" y="661"/>
                  <a:pt x="287" y="533"/>
                </a:cubicBezTo>
                <a:cubicBezTo>
                  <a:pt x="248" y="394"/>
                  <a:pt x="207" y="324"/>
                  <a:pt x="162" y="324"/>
                </a:cubicBezTo>
                <a:cubicBezTo>
                  <a:pt x="153" y="324"/>
                  <a:pt x="119" y="344"/>
                  <a:pt x="61" y="385"/>
                </a:cubicBezTo>
                <a:lnTo>
                  <a:pt x="0" y="306"/>
                </a:lnTo>
                <a:cubicBezTo>
                  <a:pt x="64" y="250"/>
                  <a:pt x="127" y="194"/>
                  <a:pt x="189" y="138"/>
                </a:cubicBezTo>
                <a:cubicBezTo>
                  <a:pt x="274" y="64"/>
                  <a:pt x="338" y="26"/>
                  <a:pt x="381" y="22"/>
                </a:cubicBezTo>
                <a:cubicBezTo>
                  <a:pt x="482" y="12"/>
                  <a:pt x="544" y="81"/>
                  <a:pt x="567" y="228"/>
                </a:cubicBezTo>
                <a:cubicBezTo>
                  <a:pt x="592" y="387"/>
                  <a:pt x="609" y="486"/>
                  <a:pt x="619" y="525"/>
                </a:cubicBezTo>
                <a:cubicBezTo>
                  <a:pt x="648" y="657"/>
                  <a:pt x="680" y="723"/>
                  <a:pt x="715" y="723"/>
                </a:cubicBezTo>
                <a:cubicBezTo>
                  <a:pt x="742" y="723"/>
                  <a:pt x="783" y="680"/>
                  <a:pt x="837" y="595"/>
                </a:cubicBezTo>
                <a:cubicBezTo>
                  <a:pt x="891" y="509"/>
                  <a:pt x="920" y="444"/>
                  <a:pt x="924" y="399"/>
                </a:cubicBezTo>
                <a:cubicBezTo>
                  <a:pt x="932" y="325"/>
                  <a:pt x="903" y="288"/>
                  <a:pt x="837" y="288"/>
                </a:cubicBezTo>
                <a:cubicBezTo>
                  <a:pt x="806" y="288"/>
                  <a:pt x="774" y="295"/>
                  <a:pt x="741" y="309"/>
                </a:cubicBezTo>
                <a:cubicBezTo>
                  <a:pt x="805" y="101"/>
                  <a:pt x="926" y="0"/>
                  <a:pt x="1106" y="5"/>
                </a:cubicBezTo>
                <a:cubicBezTo>
                  <a:pt x="1239" y="9"/>
                  <a:pt x="1302" y="96"/>
                  <a:pt x="1294" y="264"/>
                </a:cubicBezTo>
                <a:close/>
              </a:path>
            </a:pathLst>
          </a:custGeom>
          <a:solidFill>
            <a:schemeClr val="tx1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 fontScale="6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828848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3657696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5486544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7315392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ïś1iḑe"/>
          <p:cNvSpPr/>
          <p:nvPr userDrawn="1"/>
        </p:nvSpPr>
        <p:spPr>
          <a:xfrm>
            <a:off x="668015" y="3374180"/>
            <a:ext cx="492819" cy="473946"/>
          </a:xfrm>
          <a:prstGeom prst="ellipse">
            <a:avLst/>
          </a:prstGeom>
          <a:noFill/>
          <a:ln w="19050">
            <a:solidFill>
              <a:srgbClr val="41464A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îṡ1iḋè"/>
          <p:cNvSpPr/>
          <p:nvPr userDrawn="1"/>
        </p:nvSpPr>
        <p:spPr>
          <a:xfrm>
            <a:off x="796435" y="3498036"/>
            <a:ext cx="235979" cy="226232"/>
          </a:xfrm>
          <a:custGeom>
            <a:avLst/>
            <a:gdLst>
              <a:gd name="connsiteX0" fmla="*/ 465103 w 608697"/>
              <a:gd name="connsiteY0" fmla="*/ 519503 h 606792"/>
              <a:gd name="connsiteX1" fmla="*/ 511670 w 608697"/>
              <a:gd name="connsiteY1" fmla="*/ 525386 h 606792"/>
              <a:gd name="connsiteX2" fmla="*/ 435177 w 608697"/>
              <a:gd name="connsiteY2" fmla="*/ 577367 h 606792"/>
              <a:gd name="connsiteX3" fmla="*/ 437118 w 608697"/>
              <a:gd name="connsiteY3" fmla="*/ 540355 h 606792"/>
              <a:gd name="connsiteX4" fmla="*/ 465103 w 608697"/>
              <a:gd name="connsiteY4" fmla="*/ 519503 h 606792"/>
              <a:gd name="connsiteX5" fmla="*/ 72433 w 608697"/>
              <a:gd name="connsiteY5" fmla="*/ 354027 h 606792"/>
              <a:gd name="connsiteX6" fmla="*/ 115251 w 608697"/>
              <a:gd name="connsiteY6" fmla="*/ 376071 h 606792"/>
              <a:gd name="connsiteX7" fmla="*/ 135541 w 608697"/>
              <a:gd name="connsiteY7" fmla="*/ 372050 h 606792"/>
              <a:gd name="connsiteX8" fmla="*/ 272424 w 608697"/>
              <a:gd name="connsiteY8" fmla="*/ 463132 h 606792"/>
              <a:gd name="connsiteX9" fmla="*/ 369399 w 608697"/>
              <a:gd name="connsiteY9" fmla="*/ 498954 h 606792"/>
              <a:gd name="connsiteX10" fmla="*/ 393120 w 608697"/>
              <a:gd name="connsiteY10" fmla="*/ 534552 h 606792"/>
              <a:gd name="connsiteX11" fmla="*/ 389614 w 608697"/>
              <a:gd name="connsiteY11" fmla="*/ 594727 h 606792"/>
              <a:gd name="connsiteX12" fmla="*/ 304351 w 608697"/>
              <a:gd name="connsiteY12" fmla="*/ 606792 h 606792"/>
              <a:gd name="connsiteX13" fmla="*/ 5222 w 608697"/>
              <a:gd name="connsiteY13" fmla="*/ 359017 h 606792"/>
              <a:gd name="connsiteX14" fmla="*/ 72433 w 608697"/>
              <a:gd name="connsiteY14" fmla="*/ 354027 h 606792"/>
              <a:gd name="connsiteX15" fmla="*/ 359474 w 608697"/>
              <a:gd name="connsiteY15" fmla="*/ 280850 h 606792"/>
              <a:gd name="connsiteX16" fmla="*/ 377897 w 608697"/>
              <a:gd name="connsiteY16" fmla="*/ 289639 h 606792"/>
              <a:gd name="connsiteX17" fmla="*/ 393261 w 608697"/>
              <a:gd name="connsiteY17" fmla="*/ 445676 h 606792"/>
              <a:gd name="connsiteX18" fmla="*/ 380731 w 608697"/>
              <a:gd name="connsiteY18" fmla="*/ 456699 h 606792"/>
              <a:gd name="connsiteX19" fmla="*/ 165405 w 608697"/>
              <a:gd name="connsiteY19" fmla="*/ 339764 h 606792"/>
              <a:gd name="connsiteX20" fmla="*/ 165405 w 608697"/>
              <a:gd name="connsiteY20" fmla="*/ 339690 h 606792"/>
              <a:gd name="connsiteX21" fmla="*/ 183454 w 608697"/>
              <a:gd name="connsiteY21" fmla="*/ 335966 h 606792"/>
              <a:gd name="connsiteX22" fmla="*/ 359474 w 608697"/>
              <a:gd name="connsiteY22" fmla="*/ 280850 h 606792"/>
              <a:gd name="connsiteX23" fmla="*/ 16111 w 608697"/>
              <a:gd name="connsiteY23" fmla="*/ 205063 h 606792"/>
              <a:gd name="connsiteX24" fmla="*/ 69366 w 608697"/>
              <a:gd name="connsiteY24" fmla="*/ 297581 h 606792"/>
              <a:gd name="connsiteX25" fmla="*/ 64219 w 608697"/>
              <a:gd name="connsiteY25" fmla="*/ 310319 h 606792"/>
              <a:gd name="connsiteX26" fmla="*/ 224 w 608697"/>
              <a:gd name="connsiteY26" fmla="*/ 314863 h 606792"/>
              <a:gd name="connsiteX27" fmla="*/ 0 w 608697"/>
              <a:gd name="connsiteY27" fmla="*/ 302870 h 606792"/>
              <a:gd name="connsiteX28" fmla="*/ 16111 w 608697"/>
              <a:gd name="connsiteY28" fmla="*/ 205063 h 606792"/>
              <a:gd name="connsiteX29" fmla="*/ 571702 w 608697"/>
              <a:gd name="connsiteY29" fmla="*/ 157643 h 606792"/>
              <a:gd name="connsiteX30" fmla="*/ 608697 w 608697"/>
              <a:gd name="connsiteY30" fmla="*/ 302904 h 606792"/>
              <a:gd name="connsiteX31" fmla="*/ 548655 w 608697"/>
              <a:gd name="connsiteY31" fmla="*/ 484220 h 606792"/>
              <a:gd name="connsiteX32" fmla="*/ 472128 w 608697"/>
              <a:gd name="connsiteY32" fmla="*/ 476249 h 606792"/>
              <a:gd name="connsiteX33" fmla="*/ 437520 w 608697"/>
              <a:gd name="connsiteY33" fmla="*/ 440120 h 606792"/>
              <a:gd name="connsiteX34" fmla="*/ 431702 w 608697"/>
              <a:gd name="connsiteY34" fmla="*/ 355794 h 606792"/>
              <a:gd name="connsiteX35" fmla="*/ 421558 w 608697"/>
              <a:gd name="connsiteY35" fmla="*/ 281301 h 606792"/>
              <a:gd name="connsiteX36" fmla="*/ 443412 w 608697"/>
              <a:gd name="connsiteY36" fmla="*/ 241001 h 606792"/>
              <a:gd name="connsiteX37" fmla="*/ 571702 w 608697"/>
              <a:gd name="connsiteY37" fmla="*/ 157643 h 606792"/>
              <a:gd name="connsiteX38" fmla="*/ 278458 w 608697"/>
              <a:gd name="connsiteY38" fmla="*/ 71 h 606792"/>
              <a:gd name="connsiteX39" fmla="*/ 339401 w 608697"/>
              <a:gd name="connsiteY39" fmla="*/ 135726 h 606792"/>
              <a:gd name="connsiteX40" fmla="*/ 358049 w 608697"/>
              <a:gd name="connsiteY40" fmla="*/ 197407 h 606792"/>
              <a:gd name="connsiteX41" fmla="*/ 338058 w 608697"/>
              <a:gd name="connsiteY41" fmla="*/ 238603 h 606792"/>
              <a:gd name="connsiteX42" fmla="*/ 338208 w 608697"/>
              <a:gd name="connsiteY42" fmla="*/ 241657 h 606792"/>
              <a:gd name="connsiteX43" fmla="*/ 175594 w 608697"/>
              <a:gd name="connsiteY43" fmla="*/ 292462 h 606792"/>
              <a:gd name="connsiteX44" fmla="*/ 160079 w 608697"/>
              <a:gd name="connsiteY44" fmla="*/ 295740 h 606792"/>
              <a:gd name="connsiteX45" fmla="*/ 115249 w 608697"/>
              <a:gd name="connsiteY45" fmla="*/ 270784 h 606792"/>
              <a:gd name="connsiteX46" fmla="*/ 105253 w 608697"/>
              <a:gd name="connsiteY46" fmla="*/ 271753 h 606792"/>
              <a:gd name="connsiteX47" fmla="*/ 41775 w 608697"/>
              <a:gd name="connsiteY47" fmla="*/ 149135 h 606792"/>
              <a:gd name="connsiteX48" fmla="*/ 278458 w 608697"/>
              <a:gd name="connsiteY48" fmla="*/ 71 h 606792"/>
              <a:gd name="connsiteX49" fmla="*/ 329046 w 608697"/>
              <a:gd name="connsiteY49" fmla="*/ 0 h 606792"/>
              <a:gd name="connsiteX50" fmla="*/ 547587 w 608697"/>
              <a:gd name="connsiteY50" fmla="*/ 120297 h 606792"/>
              <a:gd name="connsiteX51" fmla="*/ 426308 w 608697"/>
              <a:gd name="connsiteY51" fmla="*/ 199700 h 606792"/>
              <a:gd name="connsiteX52" fmla="*/ 401098 w 608697"/>
              <a:gd name="connsiteY52" fmla="*/ 186963 h 606792"/>
              <a:gd name="connsiteX53" fmla="*/ 380362 w 608697"/>
              <a:gd name="connsiteY53" fmla="*/ 118882 h 606792"/>
              <a:gd name="connsiteX54" fmla="*/ 329046 w 608697"/>
              <a:gd name="connsiteY54" fmla="*/ 0 h 60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08697" h="606792">
                <a:moveTo>
                  <a:pt x="465103" y="519503"/>
                </a:moveTo>
                <a:cubicBezTo>
                  <a:pt x="480327" y="521812"/>
                  <a:pt x="495849" y="523822"/>
                  <a:pt x="511670" y="525386"/>
                </a:cubicBezTo>
                <a:cubicBezTo>
                  <a:pt x="489133" y="546313"/>
                  <a:pt x="463386" y="563962"/>
                  <a:pt x="435177" y="577367"/>
                </a:cubicBezTo>
                <a:cubicBezTo>
                  <a:pt x="435998" y="564930"/>
                  <a:pt x="436670" y="552643"/>
                  <a:pt x="437118" y="540355"/>
                </a:cubicBezTo>
                <a:cubicBezTo>
                  <a:pt x="448610" y="536706"/>
                  <a:pt x="458461" y="529259"/>
                  <a:pt x="465103" y="519503"/>
                </a:cubicBezTo>
                <a:close/>
                <a:moveTo>
                  <a:pt x="72433" y="354027"/>
                </a:moveTo>
                <a:cubicBezTo>
                  <a:pt x="81981" y="367358"/>
                  <a:pt x="97646" y="376071"/>
                  <a:pt x="115251" y="376071"/>
                </a:cubicBezTo>
                <a:cubicBezTo>
                  <a:pt x="122412" y="376071"/>
                  <a:pt x="129275" y="374656"/>
                  <a:pt x="135541" y="372050"/>
                </a:cubicBezTo>
                <a:cubicBezTo>
                  <a:pt x="175076" y="408542"/>
                  <a:pt x="220878" y="439002"/>
                  <a:pt x="272424" y="463132"/>
                </a:cubicBezTo>
                <a:cubicBezTo>
                  <a:pt x="302784" y="477282"/>
                  <a:pt x="335159" y="489272"/>
                  <a:pt x="369399" y="498954"/>
                </a:cubicBezTo>
                <a:cubicBezTo>
                  <a:pt x="371935" y="513923"/>
                  <a:pt x="380812" y="526658"/>
                  <a:pt x="393120" y="534552"/>
                </a:cubicBezTo>
                <a:cubicBezTo>
                  <a:pt x="392374" y="554064"/>
                  <a:pt x="391255" y="574172"/>
                  <a:pt x="389614" y="594727"/>
                </a:cubicBezTo>
                <a:cubicBezTo>
                  <a:pt x="362536" y="602547"/>
                  <a:pt x="333966" y="606792"/>
                  <a:pt x="304351" y="606792"/>
                </a:cubicBezTo>
                <a:cubicBezTo>
                  <a:pt x="155458" y="606792"/>
                  <a:pt x="31554" y="500071"/>
                  <a:pt x="5222" y="359017"/>
                </a:cubicBezTo>
                <a:cubicBezTo>
                  <a:pt x="24691" y="358198"/>
                  <a:pt x="47294" y="356708"/>
                  <a:pt x="72433" y="354027"/>
                </a:cubicBezTo>
                <a:close/>
                <a:moveTo>
                  <a:pt x="359474" y="280850"/>
                </a:moveTo>
                <a:cubicBezTo>
                  <a:pt x="364919" y="284872"/>
                  <a:pt x="371184" y="287926"/>
                  <a:pt x="377897" y="289639"/>
                </a:cubicBezTo>
                <a:cubicBezTo>
                  <a:pt x="385728" y="336040"/>
                  <a:pt x="391397" y="388102"/>
                  <a:pt x="393261" y="445676"/>
                </a:cubicBezTo>
                <a:cubicBezTo>
                  <a:pt x="388562" y="448655"/>
                  <a:pt x="384311" y="452379"/>
                  <a:pt x="380731" y="456699"/>
                </a:cubicBezTo>
                <a:cubicBezTo>
                  <a:pt x="295182" y="432493"/>
                  <a:pt x="223282" y="393465"/>
                  <a:pt x="165405" y="339764"/>
                </a:cubicBezTo>
                <a:cubicBezTo>
                  <a:pt x="165405" y="339690"/>
                  <a:pt x="165405" y="339690"/>
                  <a:pt x="165405" y="339690"/>
                </a:cubicBezTo>
                <a:cubicBezTo>
                  <a:pt x="171372" y="338498"/>
                  <a:pt x="177413" y="337307"/>
                  <a:pt x="183454" y="335966"/>
                </a:cubicBezTo>
                <a:cubicBezTo>
                  <a:pt x="244539" y="322708"/>
                  <a:pt x="303461" y="304237"/>
                  <a:pt x="359474" y="280850"/>
                </a:cubicBezTo>
                <a:close/>
                <a:moveTo>
                  <a:pt x="16111" y="205063"/>
                </a:moveTo>
                <a:cubicBezTo>
                  <a:pt x="29089" y="234189"/>
                  <a:pt x="46393" y="265773"/>
                  <a:pt x="69366" y="297581"/>
                </a:cubicBezTo>
                <a:cubicBezTo>
                  <a:pt x="67128" y="301529"/>
                  <a:pt x="65413" y="305850"/>
                  <a:pt x="64219" y="310319"/>
                </a:cubicBezTo>
                <a:cubicBezTo>
                  <a:pt x="40202" y="312852"/>
                  <a:pt x="18647" y="314193"/>
                  <a:pt x="224" y="314863"/>
                </a:cubicBezTo>
                <a:cubicBezTo>
                  <a:pt x="74" y="310915"/>
                  <a:pt x="0" y="306893"/>
                  <a:pt x="0" y="302870"/>
                </a:cubicBezTo>
                <a:cubicBezTo>
                  <a:pt x="0" y="268679"/>
                  <a:pt x="5668" y="235753"/>
                  <a:pt x="16111" y="205063"/>
                </a:cubicBezTo>
                <a:close/>
                <a:moveTo>
                  <a:pt x="571702" y="157643"/>
                </a:moveTo>
                <a:cubicBezTo>
                  <a:pt x="595272" y="200775"/>
                  <a:pt x="608697" y="250312"/>
                  <a:pt x="608697" y="302904"/>
                </a:cubicBezTo>
                <a:cubicBezTo>
                  <a:pt x="608697" y="370842"/>
                  <a:pt x="586396" y="433639"/>
                  <a:pt x="548655" y="484220"/>
                </a:cubicBezTo>
                <a:cubicBezTo>
                  <a:pt x="522251" y="482581"/>
                  <a:pt x="496742" y="479900"/>
                  <a:pt x="472128" y="476249"/>
                </a:cubicBezTo>
                <a:cubicBezTo>
                  <a:pt x="467429" y="459116"/>
                  <a:pt x="454302" y="445484"/>
                  <a:pt x="437520" y="440120"/>
                </a:cubicBezTo>
                <a:cubicBezTo>
                  <a:pt x="436476" y="411590"/>
                  <a:pt x="434611" y="383431"/>
                  <a:pt x="431702" y="355794"/>
                </a:cubicBezTo>
                <a:cubicBezTo>
                  <a:pt x="429092" y="330541"/>
                  <a:pt x="425661" y="305735"/>
                  <a:pt x="421558" y="281301"/>
                </a:cubicBezTo>
                <a:cubicBezTo>
                  <a:pt x="434163" y="272139"/>
                  <a:pt x="442666" y="257613"/>
                  <a:pt x="443412" y="241001"/>
                </a:cubicBezTo>
                <a:cubicBezTo>
                  <a:pt x="488687" y="216716"/>
                  <a:pt x="531500" y="188856"/>
                  <a:pt x="571702" y="157643"/>
                </a:cubicBezTo>
                <a:close/>
                <a:moveTo>
                  <a:pt x="278458" y="71"/>
                </a:moveTo>
                <a:cubicBezTo>
                  <a:pt x="296062" y="30390"/>
                  <a:pt x="318813" y="75758"/>
                  <a:pt x="339401" y="135726"/>
                </a:cubicBezTo>
                <a:cubicBezTo>
                  <a:pt x="345741" y="154200"/>
                  <a:pt x="352082" y="174761"/>
                  <a:pt x="358049" y="197407"/>
                </a:cubicBezTo>
                <a:cubicBezTo>
                  <a:pt x="345891" y="207017"/>
                  <a:pt x="338058" y="221916"/>
                  <a:pt x="338058" y="238603"/>
                </a:cubicBezTo>
                <a:cubicBezTo>
                  <a:pt x="338058" y="239646"/>
                  <a:pt x="338133" y="240689"/>
                  <a:pt x="338208" y="241657"/>
                </a:cubicBezTo>
                <a:cubicBezTo>
                  <a:pt x="279129" y="266091"/>
                  <a:pt x="223409" y="282033"/>
                  <a:pt x="175594" y="292462"/>
                </a:cubicBezTo>
                <a:cubicBezTo>
                  <a:pt x="170373" y="293654"/>
                  <a:pt x="165226" y="294697"/>
                  <a:pt x="160079" y="295740"/>
                </a:cubicBezTo>
                <a:cubicBezTo>
                  <a:pt x="150755" y="280767"/>
                  <a:pt x="134195" y="270784"/>
                  <a:pt x="115249" y="270784"/>
                </a:cubicBezTo>
                <a:cubicBezTo>
                  <a:pt x="111818" y="270784"/>
                  <a:pt x="108461" y="271157"/>
                  <a:pt x="105253" y="271753"/>
                </a:cubicBezTo>
                <a:cubicBezTo>
                  <a:pt x="73775" y="228323"/>
                  <a:pt x="54083" y="184892"/>
                  <a:pt x="41775" y="149135"/>
                </a:cubicBezTo>
                <a:cubicBezTo>
                  <a:pt x="90559" y="66297"/>
                  <a:pt x="177459" y="8564"/>
                  <a:pt x="278458" y="71"/>
                </a:cubicBezTo>
                <a:close/>
                <a:moveTo>
                  <a:pt x="329046" y="0"/>
                </a:moveTo>
                <a:cubicBezTo>
                  <a:pt x="418327" y="7151"/>
                  <a:pt x="496719" y="52737"/>
                  <a:pt x="547587" y="120297"/>
                </a:cubicBezTo>
                <a:cubicBezTo>
                  <a:pt x="507534" y="151581"/>
                  <a:pt x="466660" y="177801"/>
                  <a:pt x="426308" y="199700"/>
                </a:cubicBezTo>
                <a:cubicBezTo>
                  <a:pt x="419297" y="193369"/>
                  <a:pt x="410645" y="188825"/>
                  <a:pt x="401098" y="186963"/>
                </a:cubicBezTo>
                <a:cubicBezTo>
                  <a:pt x="394907" y="163723"/>
                  <a:pt x="387970" y="141079"/>
                  <a:pt x="380362" y="118882"/>
                </a:cubicBezTo>
                <a:cubicBezTo>
                  <a:pt x="363356" y="69869"/>
                  <a:pt x="345157" y="30242"/>
                  <a:pt x="329046" y="0"/>
                </a:cubicBezTo>
                <a:close/>
              </a:path>
            </a:pathLst>
          </a:custGeom>
          <a:solidFill>
            <a:schemeClr val="accent1"/>
          </a:solidFill>
          <a:ln w="3175">
            <a:solidFill>
              <a:srgbClr val="FF0000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 fontScale="82500" lnSpcReduction="20000"/>
          </a:bodyPr>
          <a:lstStyle>
            <a:defPPr>
              <a:defRPr lang="zh-CN"/>
            </a:defPPr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4" name="î$ļïḍe"/>
          <p:cNvSpPr/>
          <p:nvPr userDrawn="1"/>
        </p:nvSpPr>
        <p:spPr>
          <a:xfrm>
            <a:off x="2497021" y="3374219"/>
            <a:ext cx="492739" cy="473869"/>
          </a:xfrm>
          <a:prstGeom prst="ellipse">
            <a:avLst/>
          </a:prstGeom>
          <a:noFill/>
          <a:ln w="19050">
            <a:solidFill>
              <a:srgbClr val="41464A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5" name="图片 14" descr="极限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610327" y="3478041"/>
            <a:ext cx="266127" cy="266224"/>
          </a:xfrm>
          <a:prstGeom prst="rect">
            <a:avLst/>
          </a:prstGeom>
          <a:ln>
            <a:noFill/>
          </a:ln>
        </p:spPr>
      </p:pic>
      <p:sp>
        <p:nvSpPr>
          <p:cNvPr id="16" name="islîḓé"/>
          <p:cNvSpPr/>
          <p:nvPr userDrawn="1"/>
        </p:nvSpPr>
        <p:spPr>
          <a:xfrm>
            <a:off x="6154955" y="3374456"/>
            <a:ext cx="492739" cy="473869"/>
          </a:xfrm>
          <a:prstGeom prst="ellipse">
            <a:avLst/>
          </a:prstGeom>
          <a:noFill/>
          <a:ln w="19050">
            <a:solidFill>
              <a:srgbClr val="41464A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7" name="图片 16" descr="应用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281116" y="3487804"/>
            <a:ext cx="246608" cy="246698"/>
          </a:xfrm>
          <a:prstGeom prst="rect">
            <a:avLst/>
          </a:prstGeom>
          <a:ln>
            <a:noFill/>
          </a:ln>
        </p:spPr>
      </p:pic>
      <p:sp>
        <p:nvSpPr>
          <p:cNvPr id="18" name="ïSḷiḑé"/>
          <p:cNvSpPr/>
          <p:nvPr userDrawn="1"/>
        </p:nvSpPr>
        <p:spPr>
          <a:xfrm>
            <a:off x="4325948" y="3374180"/>
            <a:ext cx="492819" cy="473946"/>
          </a:xfrm>
          <a:prstGeom prst="ellipse">
            <a:avLst/>
          </a:prstGeom>
          <a:noFill/>
          <a:ln w="19050">
            <a:solidFill>
              <a:srgbClr val="41464A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9" name="íŝļïďê"/>
          <p:cNvSpPr/>
          <p:nvPr userDrawn="1"/>
        </p:nvSpPr>
        <p:spPr>
          <a:xfrm>
            <a:off x="4468174" y="3497872"/>
            <a:ext cx="235979" cy="226560"/>
          </a:xfrm>
          <a:custGeom>
            <a:avLst/>
            <a:gdLst>
              <a:gd name="connsiteX0" fmla="*/ 0 w 607744"/>
              <a:gd name="connsiteY0" fmla="*/ 424734 h 606722"/>
              <a:gd name="connsiteX1" fmla="*/ 162018 w 607744"/>
              <a:gd name="connsiteY1" fmla="*/ 424734 h 606722"/>
              <a:gd name="connsiteX2" fmla="*/ 162018 w 607744"/>
              <a:gd name="connsiteY2" fmla="*/ 505602 h 606722"/>
              <a:gd name="connsiteX3" fmla="*/ 30356 w 607744"/>
              <a:gd name="connsiteY3" fmla="*/ 505602 h 606722"/>
              <a:gd name="connsiteX4" fmla="*/ 0 w 607744"/>
              <a:gd name="connsiteY4" fmla="*/ 475210 h 606722"/>
              <a:gd name="connsiteX5" fmla="*/ 371949 w 607744"/>
              <a:gd name="connsiteY5" fmla="*/ 404476 h 606722"/>
              <a:gd name="connsiteX6" fmla="*/ 381383 w 607744"/>
              <a:gd name="connsiteY6" fmla="*/ 424736 h 606722"/>
              <a:gd name="connsiteX7" fmla="*/ 381650 w 607744"/>
              <a:gd name="connsiteY7" fmla="*/ 424736 h 606722"/>
              <a:gd name="connsiteX8" fmla="*/ 382451 w 607744"/>
              <a:gd name="connsiteY8" fmla="*/ 404476 h 606722"/>
              <a:gd name="connsiteX9" fmla="*/ 0 w 607744"/>
              <a:gd name="connsiteY9" fmla="*/ 343795 h 606722"/>
              <a:gd name="connsiteX10" fmla="*/ 101261 w 607744"/>
              <a:gd name="connsiteY10" fmla="*/ 343795 h 606722"/>
              <a:gd name="connsiteX11" fmla="*/ 101261 w 607744"/>
              <a:gd name="connsiteY11" fmla="*/ 404481 h 606722"/>
              <a:gd name="connsiteX12" fmla="*/ 0 w 607744"/>
              <a:gd name="connsiteY12" fmla="*/ 404481 h 606722"/>
              <a:gd name="connsiteX13" fmla="*/ 473583 w 607744"/>
              <a:gd name="connsiteY13" fmla="*/ 268076 h 606722"/>
              <a:gd name="connsiteX14" fmla="*/ 427483 w 607744"/>
              <a:gd name="connsiteY14" fmla="*/ 323613 h 606722"/>
              <a:gd name="connsiteX15" fmla="*/ 427305 w 607744"/>
              <a:gd name="connsiteY15" fmla="*/ 323613 h 606722"/>
              <a:gd name="connsiteX16" fmla="*/ 417248 w 607744"/>
              <a:gd name="connsiteY16" fmla="*/ 343785 h 606722"/>
              <a:gd name="connsiteX17" fmla="*/ 417515 w 607744"/>
              <a:gd name="connsiteY17" fmla="*/ 343785 h 606722"/>
              <a:gd name="connsiteX18" fmla="*/ 402831 w 607744"/>
              <a:gd name="connsiteY18" fmla="*/ 404476 h 606722"/>
              <a:gd name="connsiteX19" fmla="*/ 402653 w 607744"/>
              <a:gd name="connsiteY19" fmla="*/ 404476 h 606722"/>
              <a:gd name="connsiteX20" fmla="*/ 401852 w 607744"/>
              <a:gd name="connsiteY20" fmla="*/ 424736 h 606722"/>
              <a:gd name="connsiteX21" fmla="*/ 402030 w 607744"/>
              <a:gd name="connsiteY21" fmla="*/ 424736 h 606722"/>
              <a:gd name="connsiteX22" fmla="*/ 402297 w 607744"/>
              <a:gd name="connsiteY22" fmla="*/ 435844 h 606722"/>
              <a:gd name="connsiteX23" fmla="*/ 402208 w 607744"/>
              <a:gd name="connsiteY23" fmla="*/ 436466 h 606722"/>
              <a:gd name="connsiteX24" fmla="*/ 405056 w 607744"/>
              <a:gd name="connsiteY24" fmla="*/ 463568 h 606722"/>
              <a:gd name="connsiteX25" fmla="*/ 405145 w 607744"/>
              <a:gd name="connsiteY25" fmla="*/ 464457 h 606722"/>
              <a:gd name="connsiteX26" fmla="*/ 396779 w 607744"/>
              <a:gd name="connsiteY26" fmla="*/ 475209 h 606722"/>
              <a:gd name="connsiteX27" fmla="*/ 386634 w 607744"/>
              <a:gd name="connsiteY27" fmla="*/ 470766 h 606722"/>
              <a:gd name="connsiteX28" fmla="*/ 352904 w 607744"/>
              <a:gd name="connsiteY28" fmla="*/ 411318 h 606722"/>
              <a:gd name="connsiteX29" fmla="*/ 348899 w 607744"/>
              <a:gd name="connsiteY29" fmla="*/ 424736 h 606722"/>
              <a:gd name="connsiteX30" fmla="*/ 349255 w 607744"/>
              <a:gd name="connsiteY30" fmla="*/ 492892 h 606722"/>
              <a:gd name="connsiteX31" fmla="*/ 349255 w 607744"/>
              <a:gd name="connsiteY31" fmla="*/ 493070 h 606722"/>
              <a:gd name="connsiteX32" fmla="*/ 375865 w 607744"/>
              <a:gd name="connsiteY32" fmla="*/ 543276 h 606722"/>
              <a:gd name="connsiteX33" fmla="*/ 470557 w 607744"/>
              <a:gd name="connsiteY33" fmla="*/ 586462 h 606722"/>
              <a:gd name="connsiteX34" fmla="*/ 471269 w 607744"/>
              <a:gd name="connsiteY34" fmla="*/ 586462 h 606722"/>
              <a:gd name="connsiteX35" fmla="*/ 565694 w 607744"/>
              <a:gd name="connsiteY35" fmla="*/ 544520 h 606722"/>
              <a:gd name="connsiteX36" fmla="*/ 552611 w 607744"/>
              <a:gd name="connsiteY36" fmla="*/ 347339 h 606722"/>
              <a:gd name="connsiteX37" fmla="*/ 524845 w 607744"/>
              <a:gd name="connsiteY37" fmla="*/ 410074 h 606722"/>
              <a:gd name="connsiteX38" fmla="*/ 513542 w 607744"/>
              <a:gd name="connsiteY38" fmla="*/ 414162 h 606722"/>
              <a:gd name="connsiteX39" fmla="*/ 506333 w 607744"/>
              <a:gd name="connsiteY39" fmla="*/ 404476 h 606722"/>
              <a:gd name="connsiteX40" fmla="*/ 473583 w 607744"/>
              <a:gd name="connsiteY40" fmla="*/ 268076 h 606722"/>
              <a:gd name="connsiteX41" fmla="*/ 182270 w 607744"/>
              <a:gd name="connsiteY41" fmla="*/ 262927 h 606722"/>
              <a:gd name="connsiteX42" fmla="*/ 364540 w 607744"/>
              <a:gd name="connsiteY42" fmla="*/ 262927 h 606722"/>
              <a:gd name="connsiteX43" fmla="*/ 364540 w 607744"/>
              <a:gd name="connsiteY43" fmla="*/ 323613 h 606722"/>
              <a:gd name="connsiteX44" fmla="*/ 182270 w 607744"/>
              <a:gd name="connsiteY44" fmla="*/ 323613 h 606722"/>
              <a:gd name="connsiteX45" fmla="*/ 0 w 607744"/>
              <a:gd name="connsiteY45" fmla="*/ 262927 h 606722"/>
              <a:gd name="connsiteX46" fmla="*/ 162018 w 607744"/>
              <a:gd name="connsiteY46" fmla="*/ 262927 h 606722"/>
              <a:gd name="connsiteX47" fmla="*/ 162018 w 607744"/>
              <a:gd name="connsiteY47" fmla="*/ 323613 h 606722"/>
              <a:gd name="connsiteX48" fmla="*/ 0 w 607744"/>
              <a:gd name="connsiteY48" fmla="*/ 323613 h 606722"/>
              <a:gd name="connsiteX49" fmla="*/ 0 w 607744"/>
              <a:gd name="connsiteY49" fmla="*/ 182059 h 606722"/>
              <a:gd name="connsiteX50" fmla="*/ 101261 w 607744"/>
              <a:gd name="connsiteY50" fmla="*/ 182059 h 606722"/>
              <a:gd name="connsiteX51" fmla="*/ 101261 w 607744"/>
              <a:gd name="connsiteY51" fmla="*/ 242745 h 606722"/>
              <a:gd name="connsiteX52" fmla="*/ 0 w 607744"/>
              <a:gd name="connsiteY52" fmla="*/ 242745 h 606722"/>
              <a:gd name="connsiteX53" fmla="*/ 324069 w 607744"/>
              <a:gd name="connsiteY53" fmla="*/ 182059 h 606722"/>
              <a:gd name="connsiteX54" fmla="*/ 374708 w 607744"/>
              <a:gd name="connsiteY54" fmla="*/ 182059 h 606722"/>
              <a:gd name="connsiteX55" fmla="*/ 486042 w 607744"/>
              <a:gd name="connsiteY55" fmla="*/ 182059 h 606722"/>
              <a:gd name="connsiteX56" fmla="*/ 486042 w 607744"/>
              <a:gd name="connsiteY56" fmla="*/ 249682 h 606722"/>
              <a:gd name="connsiteX57" fmla="*/ 524578 w 607744"/>
              <a:gd name="connsiteY57" fmla="*/ 366888 h 606722"/>
              <a:gd name="connsiteX58" fmla="*/ 536770 w 607744"/>
              <a:gd name="connsiteY58" fmla="*/ 322458 h 606722"/>
              <a:gd name="connsiteX59" fmla="*/ 543534 w 607744"/>
              <a:gd name="connsiteY59" fmla="*/ 314016 h 606722"/>
              <a:gd name="connsiteX60" fmla="*/ 554035 w 607744"/>
              <a:gd name="connsiteY60" fmla="*/ 316505 h 606722"/>
              <a:gd name="connsiteX61" fmla="*/ 580734 w 607744"/>
              <a:gd name="connsiteY61" fmla="*/ 558027 h 606722"/>
              <a:gd name="connsiteX62" fmla="*/ 471269 w 607744"/>
              <a:gd name="connsiteY62" fmla="*/ 606722 h 606722"/>
              <a:gd name="connsiteX63" fmla="*/ 470379 w 607744"/>
              <a:gd name="connsiteY63" fmla="*/ 606722 h 606722"/>
              <a:gd name="connsiteX64" fmla="*/ 360647 w 607744"/>
              <a:gd name="connsiteY64" fmla="*/ 556694 h 606722"/>
              <a:gd name="connsiteX65" fmla="*/ 331812 w 607744"/>
              <a:gd name="connsiteY65" fmla="*/ 505599 h 606722"/>
              <a:gd name="connsiteX66" fmla="*/ 182298 w 607744"/>
              <a:gd name="connsiteY66" fmla="*/ 505599 h 606722"/>
              <a:gd name="connsiteX67" fmla="*/ 182298 w 607744"/>
              <a:gd name="connsiteY67" fmla="*/ 424736 h 606722"/>
              <a:gd name="connsiteX68" fmla="*/ 328074 w 607744"/>
              <a:gd name="connsiteY68" fmla="*/ 424736 h 606722"/>
              <a:gd name="connsiteX69" fmla="*/ 333948 w 607744"/>
              <a:gd name="connsiteY69" fmla="*/ 404476 h 606722"/>
              <a:gd name="connsiteX70" fmla="*/ 121514 w 607744"/>
              <a:gd name="connsiteY70" fmla="*/ 404476 h 606722"/>
              <a:gd name="connsiteX71" fmla="*/ 121514 w 607744"/>
              <a:gd name="connsiteY71" fmla="*/ 343785 h 606722"/>
              <a:gd name="connsiteX72" fmla="*/ 395800 w 607744"/>
              <a:gd name="connsiteY72" fmla="*/ 343785 h 606722"/>
              <a:gd name="connsiteX73" fmla="*/ 404611 w 607744"/>
              <a:gd name="connsiteY73" fmla="*/ 323613 h 606722"/>
              <a:gd name="connsiteX74" fmla="*/ 384854 w 607744"/>
              <a:gd name="connsiteY74" fmla="*/ 323613 h 606722"/>
              <a:gd name="connsiteX75" fmla="*/ 384854 w 607744"/>
              <a:gd name="connsiteY75" fmla="*/ 262922 h 606722"/>
              <a:gd name="connsiteX76" fmla="*/ 449198 w 607744"/>
              <a:gd name="connsiteY76" fmla="*/ 262922 h 606722"/>
              <a:gd name="connsiteX77" fmla="*/ 469667 w 607744"/>
              <a:gd name="connsiteY77" fmla="*/ 244883 h 606722"/>
              <a:gd name="connsiteX78" fmla="*/ 476075 w 607744"/>
              <a:gd name="connsiteY78" fmla="*/ 242839 h 606722"/>
              <a:gd name="connsiteX79" fmla="*/ 475986 w 607744"/>
              <a:gd name="connsiteY79" fmla="*/ 242751 h 606722"/>
              <a:gd name="connsiteX80" fmla="*/ 324069 w 607744"/>
              <a:gd name="connsiteY80" fmla="*/ 242751 h 606722"/>
              <a:gd name="connsiteX81" fmla="*/ 121514 w 607744"/>
              <a:gd name="connsiteY81" fmla="*/ 182059 h 606722"/>
              <a:gd name="connsiteX82" fmla="*/ 172154 w 607744"/>
              <a:gd name="connsiteY82" fmla="*/ 182059 h 606722"/>
              <a:gd name="connsiteX83" fmla="*/ 303784 w 607744"/>
              <a:gd name="connsiteY83" fmla="*/ 182059 h 606722"/>
              <a:gd name="connsiteX84" fmla="*/ 303784 w 607744"/>
              <a:gd name="connsiteY84" fmla="*/ 242745 h 606722"/>
              <a:gd name="connsiteX85" fmla="*/ 121514 w 607744"/>
              <a:gd name="connsiteY85" fmla="*/ 242745 h 606722"/>
              <a:gd name="connsiteX86" fmla="*/ 0 w 607744"/>
              <a:gd name="connsiteY86" fmla="*/ 101191 h 606722"/>
              <a:gd name="connsiteX87" fmla="*/ 162018 w 607744"/>
              <a:gd name="connsiteY87" fmla="*/ 101191 h 606722"/>
              <a:gd name="connsiteX88" fmla="*/ 162018 w 607744"/>
              <a:gd name="connsiteY88" fmla="*/ 161736 h 606722"/>
              <a:gd name="connsiteX89" fmla="*/ 0 w 607744"/>
              <a:gd name="connsiteY89" fmla="*/ 161736 h 606722"/>
              <a:gd name="connsiteX90" fmla="*/ 384864 w 607744"/>
              <a:gd name="connsiteY90" fmla="*/ 101191 h 606722"/>
              <a:gd name="connsiteX91" fmla="*/ 486055 w 607744"/>
              <a:gd name="connsiteY91" fmla="*/ 101191 h 606722"/>
              <a:gd name="connsiteX92" fmla="*/ 486055 w 607744"/>
              <a:gd name="connsiteY92" fmla="*/ 161736 h 606722"/>
              <a:gd name="connsiteX93" fmla="*/ 384864 w 607744"/>
              <a:gd name="connsiteY93" fmla="*/ 161736 h 606722"/>
              <a:gd name="connsiteX94" fmla="*/ 182270 w 607744"/>
              <a:gd name="connsiteY94" fmla="*/ 101191 h 606722"/>
              <a:gd name="connsiteX95" fmla="*/ 364540 w 607744"/>
              <a:gd name="connsiteY95" fmla="*/ 101191 h 606722"/>
              <a:gd name="connsiteX96" fmla="*/ 364540 w 607744"/>
              <a:gd name="connsiteY96" fmla="*/ 161736 h 606722"/>
              <a:gd name="connsiteX97" fmla="*/ 182270 w 607744"/>
              <a:gd name="connsiteY97" fmla="*/ 161736 h 606722"/>
              <a:gd name="connsiteX98" fmla="*/ 324036 w 607744"/>
              <a:gd name="connsiteY98" fmla="*/ 0 h 606722"/>
              <a:gd name="connsiteX99" fmla="*/ 455698 w 607744"/>
              <a:gd name="connsiteY99" fmla="*/ 0 h 606722"/>
              <a:gd name="connsiteX100" fmla="*/ 486054 w 607744"/>
              <a:gd name="connsiteY100" fmla="*/ 30303 h 606722"/>
              <a:gd name="connsiteX101" fmla="*/ 486054 w 607744"/>
              <a:gd name="connsiteY101" fmla="*/ 80868 h 606722"/>
              <a:gd name="connsiteX102" fmla="*/ 374689 w 607744"/>
              <a:gd name="connsiteY102" fmla="*/ 80868 h 606722"/>
              <a:gd name="connsiteX103" fmla="*/ 324036 w 607744"/>
              <a:gd name="connsiteY103" fmla="*/ 80868 h 606722"/>
              <a:gd name="connsiteX104" fmla="*/ 121514 w 607744"/>
              <a:gd name="connsiteY104" fmla="*/ 0 h 606722"/>
              <a:gd name="connsiteX105" fmla="*/ 303784 w 607744"/>
              <a:gd name="connsiteY105" fmla="*/ 0 h 606722"/>
              <a:gd name="connsiteX106" fmla="*/ 303784 w 607744"/>
              <a:gd name="connsiteY106" fmla="*/ 80868 h 606722"/>
              <a:gd name="connsiteX107" fmla="*/ 172154 w 607744"/>
              <a:gd name="connsiteY107" fmla="*/ 80868 h 606722"/>
              <a:gd name="connsiteX108" fmla="*/ 121514 w 607744"/>
              <a:gd name="connsiteY108" fmla="*/ 80868 h 606722"/>
              <a:gd name="connsiteX109" fmla="*/ 30343 w 607744"/>
              <a:gd name="connsiteY109" fmla="*/ 0 h 606722"/>
              <a:gd name="connsiteX110" fmla="*/ 101261 w 607744"/>
              <a:gd name="connsiteY110" fmla="*/ 0 h 606722"/>
              <a:gd name="connsiteX111" fmla="*/ 101261 w 607744"/>
              <a:gd name="connsiteY111" fmla="*/ 80868 h 606722"/>
              <a:gd name="connsiteX112" fmla="*/ 0 w 607744"/>
              <a:gd name="connsiteY112" fmla="*/ 80868 h 606722"/>
              <a:gd name="connsiteX113" fmla="*/ 0 w 607744"/>
              <a:gd name="connsiteY113" fmla="*/ 30303 h 606722"/>
              <a:gd name="connsiteX114" fmla="*/ 30343 w 607744"/>
              <a:gd name="connsiteY114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607744" h="606722">
                <a:moveTo>
                  <a:pt x="0" y="424734"/>
                </a:moveTo>
                <a:lnTo>
                  <a:pt x="162018" y="424734"/>
                </a:lnTo>
                <a:lnTo>
                  <a:pt x="162018" y="505602"/>
                </a:lnTo>
                <a:lnTo>
                  <a:pt x="30356" y="505602"/>
                </a:lnTo>
                <a:cubicBezTo>
                  <a:pt x="13620" y="505602"/>
                  <a:pt x="0" y="492006"/>
                  <a:pt x="0" y="475210"/>
                </a:cubicBezTo>
                <a:close/>
                <a:moveTo>
                  <a:pt x="371949" y="404476"/>
                </a:moveTo>
                <a:cubicBezTo>
                  <a:pt x="374975" y="411674"/>
                  <a:pt x="378179" y="418516"/>
                  <a:pt x="381383" y="424736"/>
                </a:cubicBezTo>
                <a:lnTo>
                  <a:pt x="381650" y="424736"/>
                </a:lnTo>
                <a:cubicBezTo>
                  <a:pt x="381650" y="417894"/>
                  <a:pt x="381917" y="411141"/>
                  <a:pt x="382451" y="404476"/>
                </a:cubicBezTo>
                <a:close/>
                <a:moveTo>
                  <a:pt x="0" y="343795"/>
                </a:moveTo>
                <a:lnTo>
                  <a:pt x="101261" y="343795"/>
                </a:lnTo>
                <a:lnTo>
                  <a:pt x="101261" y="404481"/>
                </a:lnTo>
                <a:lnTo>
                  <a:pt x="0" y="404481"/>
                </a:lnTo>
                <a:close/>
                <a:moveTo>
                  <a:pt x="473583" y="268076"/>
                </a:moveTo>
                <a:cubicBezTo>
                  <a:pt x="454449" y="284870"/>
                  <a:pt x="438963" y="303442"/>
                  <a:pt x="427483" y="323613"/>
                </a:cubicBezTo>
                <a:lnTo>
                  <a:pt x="427305" y="323613"/>
                </a:lnTo>
                <a:cubicBezTo>
                  <a:pt x="423567" y="330189"/>
                  <a:pt x="420185" y="336854"/>
                  <a:pt x="417248" y="343785"/>
                </a:cubicBezTo>
                <a:lnTo>
                  <a:pt x="417515" y="343785"/>
                </a:lnTo>
                <a:cubicBezTo>
                  <a:pt x="409506" y="362712"/>
                  <a:pt x="404611" y="382972"/>
                  <a:pt x="402831" y="404476"/>
                </a:cubicBezTo>
                <a:lnTo>
                  <a:pt x="402653" y="404476"/>
                </a:lnTo>
                <a:cubicBezTo>
                  <a:pt x="402030" y="411052"/>
                  <a:pt x="401852" y="417805"/>
                  <a:pt x="401852" y="424736"/>
                </a:cubicBezTo>
                <a:lnTo>
                  <a:pt x="402030" y="424736"/>
                </a:lnTo>
                <a:cubicBezTo>
                  <a:pt x="402030" y="428380"/>
                  <a:pt x="402119" y="432112"/>
                  <a:pt x="402297" y="435844"/>
                </a:cubicBezTo>
                <a:cubicBezTo>
                  <a:pt x="402297" y="436110"/>
                  <a:pt x="402208" y="436199"/>
                  <a:pt x="402208" y="436466"/>
                </a:cubicBezTo>
                <a:cubicBezTo>
                  <a:pt x="402653" y="445263"/>
                  <a:pt x="403632" y="454327"/>
                  <a:pt x="405056" y="463568"/>
                </a:cubicBezTo>
                <a:cubicBezTo>
                  <a:pt x="405056" y="463835"/>
                  <a:pt x="405145" y="464190"/>
                  <a:pt x="405145" y="464457"/>
                </a:cubicBezTo>
                <a:cubicBezTo>
                  <a:pt x="405501" y="469611"/>
                  <a:pt x="401941" y="474320"/>
                  <a:pt x="396779" y="475209"/>
                </a:cubicBezTo>
                <a:cubicBezTo>
                  <a:pt x="392774" y="476009"/>
                  <a:pt x="388770" y="474054"/>
                  <a:pt x="386634" y="470766"/>
                </a:cubicBezTo>
                <a:cubicBezTo>
                  <a:pt x="383341" y="466589"/>
                  <a:pt x="365630" y="442953"/>
                  <a:pt x="352904" y="411318"/>
                </a:cubicBezTo>
                <a:cubicBezTo>
                  <a:pt x="351302" y="415761"/>
                  <a:pt x="349967" y="420204"/>
                  <a:pt x="348899" y="424736"/>
                </a:cubicBezTo>
                <a:cubicBezTo>
                  <a:pt x="343381" y="446862"/>
                  <a:pt x="343292" y="470499"/>
                  <a:pt x="349255" y="492892"/>
                </a:cubicBezTo>
                <a:cubicBezTo>
                  <a:pt x="349255" y="492892"/>
                  <a:pt x="349255" y="492981"/>
                  <a:pt x="349255" y="493070"/>
                </a:cubicBezTo>
                <a:cubicBezTo>
                  <a:pt x="354239" y="511464"/>
                  <a:pt x="363050" y="528792"/>
                  <a:pt x="375865" y="543276"/>
                </a:cubicBezTo>
                <a:cubicBezTo>
                  <a:pt x="399805" y="570467"/>
                  <a:pt x="434247" y="586195"/>
                  <a:pt x="470557" y="586462"/>
                </a:cubicBezTo>
                <a:lnTo>
                  <a:pt x="471269" y="586462"/>
                </a:lnTo>
                <a:cubicBezTo>
                  <a:pt x="507223" y="586462"/>
                  <a:pt x="541576" y="571178"/>
                  <a:pt x="565694" y="544520"/>
                </a:cubicBezTo>
                <a:cubicBezTo>
                  <a:pt x="604496" y="501512"/>
                  <a:pt x="585985" y="398789"/>
                  <a:pt x="552611" y="347339"/>
                </a:cubicBezTo>
                <a:cubicBezTo>
                  <a:pt x="543623" y="381639"/>
                  <a:pt x="525824" y="408741"/>
                  <a:pt x="524845" y="410074"/>
                </a:cubicBezTo>
                <a:cubicBezTo>
                  <a:pt x="522442" y="413806"/>
                  <a:pt x="517814" y="415495"/>
                  <a:pt x="513542" y="414162"/>
                </a:cubicBezTo>
                <a:cubicBezTo>
                  <a:pt x="509270" y="412829"/>
                  <a:pt x="506333" y="408919"/>
                  <a:pt x="506333" y="404476"/>
                </a:cubicBezTo>
                <a:cubicBezTo>
                  <a:pt x="506333" y="334099"/>
                  <a:pt x="484351" y="287003"/>
                  <a:pt x="473583" y="268076"/>
                </a:cubicBezTo>
                <a:close/>
                <a:moveTo>
                  <a:pt x="182270" y="262927"/>
                </a:moveTo>
                <a:lnTo>
                  <a:pt x="364540" y="262927"/>
                </a:lnTo>
                <a:lnTo>
                  <a:pt x="364540" y="323613"/>
                </a:lnTo>
                <a:lnTo>
                  <a:pt x="182270" y="323613"/>
                </a:lnTo>
                <a:close/>
                <a:moveTo>
                  <a:pt x="0" y="262927"/>
                </a:moveTo>
                <a:lnTo>
                  <a:pt x="162018" y="262927"/>
                </a:lnTo>
                <a:lnTo>
                  <a:pt x="162018" y="323613"/>
                </a:lnTo>
                <a:lnTo>
                  <a:pt x="0" y="323613"/>
                </a:lnTo>
                <a:close/>
                <a:moveTo>
                  <a:pt x="0" y="182059"/>
                </a:moveTo>
                <a:lnTo>
                  <a:pt x="101261" y="182059"/>
                </a:lnTo>
                <a:lnTo>
                  <a:pt x="101261" y="242745"/>
                </a:lnTo>
                <a:lnTo>
                  <a:pt x="0" y="242745"/>
                </a:lnTo>
                <a:close/>
                <a:moveTo>
                  <a:pt x="324069" y="182059"/>
                </a:moveTo>
                <a:lnTo>
                  <a:pt x="374708" y="182059"/>
                </a:lnTo>
                <a:lnTo>
                  <a:pt x="486042" y="182059"/>
                </a:lnTo>
                <a:lnTo>
                  <a:pt x="486042" y="249682"/>
                </a:lnTo>
                <a:cubicBezTo>
                  <a:pt x="493251" y="260434"/>
                  <a:pt x="517458" y="301043"/>
                  <a:pt x="524578" y="366888"/>
                </a:cubicBezTo>
                <a:cubicBezTo>
                  <a:pt x="529917" y="354004"/>
                  <a:pt x="534990" y="338453"/>
                  <a:pt x="536770" y="322458"/>
                </a:cubicBezTo>
                <a:cubicBezTo>
                  <a:pt x="537215" y="318637"/>
                  <a:pt x="539796" y="315349"/>
                  <a:pt x="543534" y="314016"/>
                </a:cubicBezTo>
                <a:cubicBezTo>
                  <a:pt x="547183" y="312772"/>
                  <a:pt x="551366" y="313750"/>
                  <a:pt x="554035" y="316505"/>
                </a:cubicBezTo>
                <a:cubicBezTo>
                  <a:pt x="602004" y="365378"/>
                  <a:pt x="632619" y="500445"/>
                  <a:pt x="580734" y="558027"/>
                </a:cubicBezTo>
                <a:cubicBezTo>
                  <a:pt x="552789" y="588950"/>
                  <a:pt x="513008" y="606722"/>
                  <a:pt x="471269" y="606722"/>
                </a:cubicBezTo>
                <a:lnTo>
                  <a:pt x="470379" y="606722"/>
                </a:lnTo>
                <a:cubicBezTo>
                  <a:pt x="428373" y="606455"/>
                  <a:pt x="388414" y="588150"/>
                  <a:pt x="360647" y="556694"/>
                </a:cubicBezTo>
                <a:cubicBezTo>
                  <a:pt x="347475" y="541676"/>
                  <a:pt x="337864" y="524260"/>
                  <a:pt x="331812" y="505599"/>
                </a:cubicBezTo>
                <a:lnTo>
                  <a:pt x="182298" y="505599"/>
                </a:lnTo>
                <a:lnTo>
                  <a:pt x="182298" y="424736"/>
                </a:lnTo>
                <a:lnTo>
                  <a:pt x="328074" y="424736"/>
                </a:lnTo>
                <a:cubicBezTo>
                  <a:pt x="329498" y="417894"/>
                  <a:pt x="331545" y="411141"/>
                  <a:pt x="333948" y="404476"/>
                </a:cubicBezTo>
                <a:lnTo>
                  <a:pt x="121514" y="404476"/>
                </a:lnTo>
                <a:lnTo>
                  <a:pt x="121514" y="343785"/>
                </a:lnTo>
                <a:lnTo>
                  <a:pt x="395800" y="343785"/>
                </a:lnTo>
                <a:cubicBezTo>
                  <a:pt x="398381" y="336942"/>
                  <a:pt x="401318" y="330189"/>
                  <a:pt x="404611" y="323613"/>
                </a:cubicBezTo>
                <a:lnTo>
                  <a:pt x="384854" y="323613"/>
                </a:lnTo>
                <a:lnTo>
                  <a:pt x="384854" y="262922"/>
                </a:lnTo>
                <a:lnTo>
                  <a:pt x="449198" y="262922"/>
                </a:lnTo>
                <a:cubicBezTo>
                  <a:pt x="455606" y="256702"/>
                  <a:pt x="462369" y="250659"/>
                  <a:pt x="469667" y="244883"/>
                </a:cubicBezTo>
                <a:cubicBezTo>
                  <a:pt x="471447" y="243461"/>
                  <a:pt x="473761" y="242839"/>
                  <a:pt x="476075" y="242839"/>
                </a:cubicBezTo>
                <a:lnTo>
                  <a:pt x="475986" y="242751"/>
                </a:lnTo>
                <a:lnTo>
                  <a:pt x="324069" y="242751"/>
                </a:lnTo>
                <a:close/>
                <a:moveTo>
                  <a:pt x="121514" y="182059"/>
                </a:moveTo>
                <a:lnTo>
                  <a:pt x="172154" y="182059"/>
                </a:lnTo>
                <a:lnTo>
                  <a:pt x="303784" y="182059"/>
                </a:lnTo>
                <a:lnTo>
                  <a:pt x="303784" y="242745"/>
                </a:lnTo>
                <a:lnTo>
                  <a:pt x="121514" y="242745"/>
                </a:lnTo>
                <a:close/>
                <a:moveTo>
                  <a:pt x="0" y="101191"/>
                </a:moveTo>
                <a:lnTo>
                  <a:pt x="162018" y="101191"/>
                </a:lnTo>
                <a:lnTo>
                  <a:pt x="162018" y="161736"/>
                </a:lnTo>
                <a:lnTo>
                  <a:pt x="0" y="161736"/>
                </a:lnTo>
                <a:close/>
                <a:moveTo>
                  <a:pt x="384864" y="101191"/>
                </a:moveTo>
                <a:lnTo>
                  <a:pt x="486055" y="101191"/>
                </a:lnTo>
                <a:lnTo>
                  <a:pt x="486055" y="161736"/>
                </a:lnTo>
                <a:lnTo>
                  <a:pt x="384864" y="161736"/>
                </a:lnTo>
                <a:close/>
                <a:moveTo>
                  <a:pt x="182270" y="101191"/>
                </a:moveTo>
                <a:lnTo>
                  <a:pt x="364540" y="101191"/>
                </a:lnTo>
                <a:lnTo>
                  <a:pt x="364540" y="161736"/>
                </a:lnTo>
                <a:lnTo>
                  <a:pt x="182270" y="161736"/>
                </a:lnTo>
                <a:close/>
                <a:moveTo>
                  <a:pt x="324036" y="0"/>
                </a:moveTo>
                <a:lnTo>
                  <a:pt x="455698" y="0"/>
                </a:lnTo>
                <a:cubicBezTo>
                  <a:pt x="472434" y="0"/>
                  <a:pt x="486054" y="13597"/>
                  <a:pt x="486054" y="30303"/>
                </a:cubicBezTo>
                <a:lnTo>
                  <a:pt x="486054" y="80868"/>
                </a:lnTo>
                <a:lnTo>
                  <a:pt x="374689" y="80868"/>
                </a:lnTo>
                <a:lnTo>
                  <a:pt x="324036" y="80868"/>
                </a:lnTo>
                <a:close/>
                <a:moveTo>
                  <a:pt x="121514" y="0"/>
                </a:moveTo>
                <a:lnTo>
                  <a:pt x="303784" y="0"/>
                </a:lnTo>
                <a:lnTo>
                  <a:pt x="303784" y="80868"/>
                </a:lnTo>
                <a:lnTo>
                  <a:pt x="172154" y="80868"/>
                </a:lnTo>
                <a:lnTo>
                  <a:pt x="121514" y="80868"/>
                </a:lnTo>
                <a:close/>
                <a:moveTo>
                  <a:pt x="30343" y="0"/>
                </a:moveTo>
                <a:lnTo>
                  <a:pt x="101261" y="0"/>
                </a:lnTo>
                <a:lnTo>
                  <a:pt x="101261" y="80868"/>
                </a:lnTo>
                <a:lnTo>
                  <a:pt x="0" y="80868"/>
                </a:lnTo>
                <a:lnTo>
                  <a:pt x="0" y="30303"/>
                </a:lnTo>
                <a:cubicBezTo>
                  <a:pt x="0" y="13597"/>
                  <a:pt x="13614" y="0"/>
                  <a:pt x="30343" y="0"/>
                </a:cubicBezTo>
                <a:close/>
              </a:path>
            </a:pathLst>
          </a:custGeom>
          <a:solidFill>
            <a:schemeClr val="accent1"/>
          </a:solidFill>
          <a:ln w="3175">
            <a:solidFill>
              <a:srgbClr val="FF0000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 fontScale="82500" lnSpcReduction="20000"/>
          </a:bodyPr>
          <a:lstStyle>
            <a:defPPr>
              <a:defRPr lang="zh-CN"/>
            </a:defPPr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300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:\Users\zhangshengping\Desktop\盾构法隧道智能装备.png盾构法隧道智能装备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28821" b="15523"/>
          <a:stretch>
            <a:fillRect/>
          </a:stretch>
        </p:blipFill>
        <p:spPr>
          <a:xfrm>
            <a:off x="0" y="2119163"/>
            <a:ext cx="9145428" cy="302433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0" y="757793"/>
            <a:ext cx="9144238" cy="438570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15000"/>
                </a:schemeClr>
              </a:gs>
              <a:gs pos="78000">
                <a:schemeClr val="accent1">
                  <a:lumMod val="45000"/>
                  <a:lumOff val="55000"/>
                  <a:alpha val="85000"/>
                </a:schemeClr>
              </a:gs>
              <a:gs pos="98000">
                <a:schemeClr val="accent1">
                  <a:lumMod val="30000"/>
                  <a:lumOff val="7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微软雅黑" panose="020B0503020204020204" pitchFamily="34" charset="-122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iṩ1iḓè"/>
          <p:cNvSpPr/>
          <p:nvPr userDrawn="1"/>
        </p:nvSpPr>
        <p:spPr>
          <a:xfrm>
            <a:off x="-4447" y="756978"/>
            <a:ext cx="9153132" cy="24300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txBody>
          <a:bodyPr wrap="square">
            <a:noAutofit/>
          </a:bodyPr>
          <a:lstStyle/>
          <a:p>
            <a:pPr algn="ctr" defTabSz="457200" rtl="0" eaLnBrk="1" fontAlgn="auto" hangingPunct="1">
              <a:spcBef>
                <a:spcPts val="0"/>
              </a:spcBef>
              <a:spcAft>
                <a:spcPts val="0"/>
              </a:spcAft>
              <a:buFontTx/>
            </a:pPr>
            <a:endParaRPr lang="zh-CN" altLang="en-US" sz="21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7754799" y="3374180"/>
            <a:ext cx="492819" cy="473946"/>
            <a:chOff x="10648422" y="4498906"/>
            <a:chExt cx="657331" cy="631928"/>
          </a:xfrm>
        </p:grpSpPr>
        <p:sp>
          <p:nvSpPr>
            <p:cNvPr id="6" name="iṡḻîdê"/>
            <p:cNvSpPr/>
            <p:nvPr userDrawn="1"/>
          </p:nvSpPr>
          <p:spPr>
            <a:xfrm>
              <a:off x="10648422" y="4498906"/>
              <a:ext cx="657331" cy="631928"/>
            </a:xfrm>
            <a:prstGeom prst="ellipse">
              <a:avLst/>
            </a:prstGeom>
            <a:noFill/>
            <a:ln w="19050">
              <a:solidFill>
                <a:srgbClr val="41464A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7" name="îṧlíḓè"/>
            <p:cNvSpPr/>
            <p:nvPr userDrawn="1"/>
          </p:nvSpPr>
          <p:spPr>
            <a:xfrm>
              <a:off x="10819711" y="4684325"/>
              <a:ext cx="314754" cy="261090"/>
            </a:xfrm>
            <a:custGeom>
              <a:avLst/>
              <a:gdLst>
                <a:gd name="T0" fmla="*/ 1294 w 1302"/>
                <a:gd name="T1" fmla="*/ 264 h 1125"/>
                <a:gd name="T2" fmla="*/ 1030 w 1302"/>
                <a:gd name="T3" fmla="*/ 782 h 1125"/>
                <a:gd name="T4" fmla="*/ 583 w 1302"/>
                <a:gd name="T5" fmla="*/ 1125 h 1125"/>
                <a:gd name="T6" fmla="*/ 392 w 1302"/>
                <a:gd name="T7" fmla="*/ 916 h 1125"/>
                <a:gd name="T8" fmla="*/ 287 w 1302"/>
                <a:gd name="T9" fmla="*/ 533 h 1125"/>
                <a:gd name="T10" fmla="*/ 162 w 1302"/>
                <a:gd name="T11" fmla="*/ 324 h 1125"/>
                <a:gd name="T12" fmla="*/ 61 w 1302"/>
                <a:gd name="T13" fmla="*/ 385 h 1125"/>
                <a:gd name="T14" fmla="*/ 0 w 1302"/>
                <a:gd name="T15" fmla="*/ 306 h 1125"/>
                <a:gd name="T16" fmla="*/ 189 w 1302"/>
                <a:gd name="T17" fmla="*/ 138 h 1125"/>
                <a:gd name="T18" fmla="*/ 381 w 1302"/>
                <a:gd name="T19" fmla="*/ 22 h 1125"/>
                <a:gd name="T20" fmla="*/ 567 w 1302"/>
                <a:gd name="T21" fmla="*/ 228 h 1125"/>
                <a:gd name="T22" fmla="*/ 619 w 1302"/>
                <a:gd name="T23" fmla="*/ 525 h 1125"/>
                <a:gd name="T24" fmla="*/ 715 w 1302"/>
                <a:gd name="T25" fmla="*/ 723 h 1125"/>
                <a:gd name="T26" fmla="*/ 837 w 1302"/>
                <a:gd name="T27" fmla="*/ 595 h 1125"/>
                <a:gd name="T28" fmla="*/ 924 w 1302"/>
                <a:gd name="T29" fmla="*/ 399 h 1125"/>
                <a:gd name="T30" fmla="*/ 837 w 1302"/>
                <a:gd name="T31" fmla="*/ 288 h 1125"/>
                <a:gd name="T32" fmla="*/ 741 w 1302"/>
                <a:gd name="T33" fmla="*/ 309 h 1125"/>
                <a:gd name="T34" fmla="*/ 1106 w 1302"/>
                <a:gd name="T35" fmla="*/ 5 h 1125"/>
                <a:gd name="T36" fmla="*/ 1294 w 1302"/>
                <a:gd name="T37" fmla="*/ 264 h 1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02" h="1125">
                  <a:moveTo>
                    <a:pt x="1294" y="264"/>
                  </a:moveTo>
                  <a:cubicBezTo>
                    <a:pt x="1288" y="390"/>
                    <a:pt x="1200" y="563"/>
                    <a:pt x="1030" y="782"/>
                  </a:cubicBezTo>
                  <a:cubicBezTo>
                    <a:pt x="854" y="1011"/>
                    <a:pt x="705" y="1125"/>
                    <a:pt x="583" y="1125"/>
                  </a:cubicBezTo>
                  <a:cubicBezTo>
                    <a:pt x="508" y="1125"/>
                    <a:pt x="444" y="1056"/>
                    <a:pt x="392" y="916"/>
                  </a:cubicBezTo>
                  <a:cubicBezTo>
                    <a:pt x="357" y="789"/>
                    <a:pt x="322" y="661"/>
                    <a:pt x="287" y="533"/>
                  </a:cubicBezTo>
                  <a:cubicBezTo>
                    <a:pt x="248" y="394"/>
                    <a:pt x="207" y="324"/>
                    <a:pt x="162" y="324"/>
                  </a:cubicBezTo>
                  <a:cubicBezTo>
                    <a:pt x="153" y="324"/>
                    <a:pt x="119" y="344"/>
                    <a:pt x="61" y="385"/>
                  </a:cubicBezTo>
                  <a:lnTo>
                    <a:pt x="0" y="306"/>
                  </a:lnTo>
                  <a:cubicBezTo>
                    <a:pt x="64" y="250"/>
                    <a:pt x="127" y="194"/>
                    <a:pt x="189" y="138"/>
                  </a:cubicBezTo>
                  <a:cubicBezTo>
                    <a:pt x="274" y="64"/>
                    <a:pt x="338" y="26"/>
                    <a:pt x="381" y="22"/>
                  </a:cubicBezTo>
                  <a:cubicBezTo>
                    <a:pt x="482" y="12"/>
                    <a:pt x="544" y="81"/>
                    <a:pt x="567" y="228"/>
                  </a:cubicBezTo>
                  <a:cubicBezTo>
                    <a:pt x="592" y="387"/>
                    <a:pt x="609" y="486"/>
                    <a:pt x="619" y="525"/>
                  </a:cubicBezTo>
                  <a:cubicBezTo>
                    <a:pt x="648" y="657"/>
                    <a:pt x="680" y="723"/>
                    <a:pt x="715" y="723"/>
                  </a:cubicBezTo>
                  <a:cubicBezTo>
                    <a:pt x="742" y="723"/>
                    <a:pt x="783" y="680"/>
                    <a:pt x="837" y="595"/>
                  </a:cubicBezTo>
                  <a:cubicBezTo>
                    <a:pt x="891" y="509"/>
                    <a:pt x="920" y="444"/>
                    <a:pt x="924" y="399"/>
                  </a:cubicBezTo>
                  <a:cubicBezTo>
                    <a:pt x="932" y="325"/>
                    <a:pt x="903" y="288"/>
                    <a:pt x="837" y="288"/>
                  </a:cubicBezTo>
                  <a:cubicBezTo>
                    <a:pt x="806" y="288"/>
                    <a:pt x="774" y="295"/>
                    <a:pt x="741" y="309"/>
                  </a:cubicBezTo>
                  <a:cubicBezTo>
                    <a:pt x="805" y="101"/>
                    <a:pt x="926" y="0"/>
                    <a:pt x="1106" y="5"/>
                  </a:cubicBezTo>
                  <a:cubicBezTo>
                    <a:pt x="1239" y="9"/>
                    <a:pt x="1302" y="96"/>
                    <a:pt x="1294" y="264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2286060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4572120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6858179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 userDrawn="1"/>
        </p:nvGrpSpPr>
        <p:grpSpPr>
          <a:xfrm>
            <a:off x="896621" y="3374180"/>
            <a:ext cx="492819" cy="473946"/>
            <a:chOff x="891011" y="4498906"/>
            <a:chExt cx="657331" cy="631928"/>
          </a:xfrm>
        </p:grpSpPr>
        <p:sp>
          <p:nvSpPr>
            <p:cNvPr id="12" name="ïś1iḑe"/>
            <p:cNvSpPr/>
            <p:nvPr userDrawn="1"/>
          </p:nvSpPr>
          <p:spPr>
            <a:xfrm>
              <a:off x="891011" y="4498906"/>
              <a:ext cx="657331" cy="631928"/>
            </a:xfrm>
            <a:prstGeom prst="ellipse">
              <a:avLst/>
            </a:prstGeom>
            <a:noFill/>
            <a:ln w="19050">
              <a:solidFill>
                <a:srgbClr val="41464A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lvl="0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" name="îṡ1iḋè"/>
            <p:cNvSpPr/>
            <p:nvPr userDrawn="1"/>
          </p:nvSpPr>
          <p:spPr>
            <a:xfrm>
              <a:off x="1062300" y="4664048"/>
              <a:ext cx="314754" cy="301642"/>
            </a:xfrm>
            <a:custGeom>
              <a:avLst/>
              <a:gdLst>
                <a:gd name="connsiteX0" fmla="*/ 465103 w 608697"/>
                <a:gd name="connsiteY0" fmla="*/ 519503 h 606792"/>
                <a:gd name="connsiteX1" fmla="*/ 511670 w 608697"/>
                <a:gd name="connsiteY1" fmla="*/ 525386 h 606792"/>
                <a:gd name="connsiteX2" fmla="*/ 435177 w 608697"/>
                <a:gd name="connsiteY2" fmla="*/ 577367 h 606792"/>
                <a:gd name="connsiteX3" fmla="*/ 437118 w 608697"/>
                <a:gd name="connsiteY3" fmla="*/ 540355 h 606792"/>
                <a:gd name="connsiteX4" fmla="*/ 465103 w 608697"/>
                <a:gd name="connsiteY4" fmla="*/ 519503 h 606792"/>
                <a:gd name="connsiteX5" fmla="*/ 72433 w 608697"/>
                <a:gd name="connsiteY5" fmla="*/ 354027 h 606792"/>
                <a:gd name="connsiteX6" fmla="*/ 115251 w 608697"/>
                <a:gd name="connsiteY6" fmla="*/ 376071 h 606792"/>
                <a:gd name="connsiteX7" fmla="*/ 135541 w 608697"/>
                <a:gd name="connsiteY7" fmla="*/ 372050 h 606792"/>
                <a:gd name="connsiteX8" fmla="*/ 272424 w 608697"/>
                <a:gd name="connsiteY8" fmla="*/ 463132 h 606792"/>
                <a:gd name="connsiteX9" fmla="*/ 369399 w 608697"/>
                <a:gd name="connsiteY9" fmla="*/ 498954 h 606792"/>
                <a:gd name="connsiteX10" fmla="*/ 393120 w 608697"/>
                <a:gd name="connsiteY10" fmla="*/ 534552 h 606792"/>
                <a:gd name="connsiteX11" fmla="*/ 389614 w 608697"/>
                <a:gd name="connsiteY11" fmla="*/ 594727 h 606792"/>
                <a:gd name="connsiteX12" fmla="*/ 304351 w 608697"/>
                <a:gd name="connsiteY12" fmla="*/ 606792 h 606792"/>
                <a:gd name="connsiteX13" fmla="*/ 5222 w 608697"/>
                <a:gd name="connsiteY13" fmla="*/ 359017 h 606792"/>
                <a:gd name="connsiteX14" fmla="*/ 72433 w 608697"/>
                <a:gd name="connsiteY14" fmla="*/ 354027 h 606792"/>
                <a:gd name="connsiteX15" fmla="*/ 359474 w 608697"/>
                <a:gd name="connsiteY15" fmla="*/ 280850 h 606792"/>
                <a:gd name="connsiteX16" fmla="*/ 377897 w 608697"/>
                <a:gd name="connsiteY16" fmla="*/ 289639 h 606792"/>
                <a:gd name="connsiteX17" fmla="*/ 393261 w 608697"/>
                <a:gd name="connsiteY17" fmla="*/ 445676 h 606792"/>
                <a:gd name="connsiteX18" fmla="*/ 380731 w 608697"/>
                <a:gd name="connsiteY18" fmla="*/ 456699 h 606792"/>
                <a:gd name="connsiteX19" fmla="*/ 165405 w 608697"/>
                <a:gd name="connsiteY19" fmla="*/ 339764 h 606792"/>
                <a:gd name="connsiteX20" fmla="*/ 165405 w 608697"/>
                <a:gd name="connsiteY20" fmla="*/ 339690 h 606792"/>
                <a:gd name="connsiteX21" fmla="*/ 183454 w 608697"/>
                <a:gd name="connsiteY21" fmla="*/ 335966 h 606792"/>
                <a:gd name="connsiteX22" fmla="*/ 359474 w 608697"/>
                <a:gd name="connsiteY22" fmla="*/ 280850 h 606792"/>
                <a:gd name="connsiteX23" fmla="*/ 16111 w 608697"/>
                <a:gd name="connsiteY23" fmla="*/ 205063 h 606792"/>
                <a:gd name="connsiteX24" fmla="*/ 69366 w 608697"/>
                <a:gd name="connsiteY24" fmla="*/ 297581 h 606792"/>
                <a:gd name="connsiteX25" fmla="*/ 64219 w 608697"/>
                <a:gd name="connsiteY25" fmla="*/ 310319 h 606792"/>
                <a:gd name="connsiteX26" fmla="*/ 224 w 608697"/>
                <a:gd name="connsiteY26" fmla="*/ 314863 h 606792"/>
                <a:gd name="connsiteX27" fmla="*/ 0 w 608697"/>
                <a:gd name="connsiteY27" fmla="*/ 302870 h 606792"/>
                <a:gd name="connsiteX28" fmla="*/ 16111 w 608697"/>
                <a:gd name="connsiteY28" fmla="*/ 205063 h 606792"/>
                <a:gd name="connsiteX29" fmla="*/ 571702 w 608697"/>
                <a:gd name="connsiteY29" fmla="*/ 157643 h 606792"/>
                <a:gd name="connsiteX30" fmla="*/ 608697 w 608697"/>
                <a:gd name="connsiteY30" fmla="*/ 302904 h 606792"/>
                <a:gd name="connsiteX31" fmla="*/ 548655 w 608697"/>
                <a:gd name="connsiteY31" fmla="*/ 484220 h 606792"/>
                <a:gd name="connsiteX32" fmla="*/ 472128 w 608697"/>
                <a:gd name="connsiteY32" fmla="*/ 476249 h 606792"/>
                <a:gd name="connsiteX33" fmla="*/ 437520 w 608697"/>
                <a:gd name="connsiteY33" fmla="*/ 440120 h 606792"/>
                <a:gd name="connsiteX34" fmla="*/ 431702 w 608697"/>
                <a:gd name="connsiteY34" fmla="*/ 355794 h 606792"/>
                <a:gd name="connsiteX35" fmla="*/ 421558 w 608697"/>
                <a:gd name="connsiteY35" fmla="*/ 281301 h 606792"/>
                <a:gd name="connsiteX36" fmla="*/ 443412 w 608697"/>
                <a:gd name="connsiteY36" fmla="*/ 241001 h 606792"/>
                <a:gd name="connsiteX37" fmla="*/ 571702 w 608697"/>
                <a:gd name="connsiteY37" fmla="*/ 157643 h 606792"/>
                <a:gd name="connsiteX38" fmla="*/ 278458 w 608697"/>
                <a:gd name="connsiteY38" fmla="*/ 71 h 606792"/>
                <a:gd name="connsiteX39" fmla="*/ 339401 w 608697"/>
                <a:gd name="connsiteY39" fmla="*/ 135726 h 606792"/>
                <a:gd name="connsiteX40" fmla="*/ 358049 w 608697"/>
                <a:gd name="connsiteY40" fmla="*/ 197407 h 606792"/>
                <a:gd name="connsiteX41" fmla="*/ 338058 w 608697"/>
                <a:gd name="connsiteY41" fmla="*/ 238603 h 606792"/>
                <a:gd name="connsiteX42" fmla="*/ 338208 w 608697"/>
                <a:gd name="connsiteY42" fmla="*/ 241657 h 606792"/>
                <a:gd name="connsiteX43" fmla="*/ 175594 w 608697"/>
                <a:gd name="connsiteY43" fmla="*/ 292462 h 606792"/>
                <a:gd name="connsiteX44" fmla="*/ 160079 w 608697"/>
                <a:gd name="connsiteY44" fmla="*/ 295740 h 606792"/>
                <a:gd name="connsiteX45" fmla="*/ 115249 w 608697"/>
                <a:gd name="connsiteY45" fmla="*/ 270784 h 606792"/>
                <a:gd name="connsiteX46" fmla="*/ 105253 w 608697"/>
                <a:gd name="connsiteY46" fmla="*/ 271753 h 606792"/>
                <a:gd name="connsiteX47" fmla="*/ 41775 w 608697"/>
                <a:gd name="connsiteY47" fmla="*/ 149135 h 606792"/>
                <a:gd name="connsiteX48" fmla="*/ 278458 w 608697"/>
                <a:gd name="connsiteY48" fmla="*/ 71 h 606792"/>
                <a:gd name="connsiteX49" fmla="*/ 329046 w 608697"/>
                <a:gd name="connsiteY49" fmla="*/ 0 h 606792"/>
                <a:gd name="connsiteX50" fmla="*/ 547587 w 608697"/>
                <a:gd name="connsiteY50" fmla="*/ 120297 h 606792"/>
                <a:gd name="connsiteX51" fmla="*/ 426308 w 608697"/>
                <a:gd name="connsiteY51" fmla="*/ 199700 h 606792"/>
                <a:gd name="connsiteX52" fmla="*/ 401098 w 608697"/>
                <a:gd name="connsiteY52" fmla="*/ 186963 h 606792"/>
                <a:gd name="connsiteX53" fmla="*/ 380362 w 608697"/>
                <a:gd name="connsiteY53" fmla="*/ 118882 h 606792"/>
                <a:gd name="connsiteX54" fmla="*/ 329046 w 608697"/>
                <a:gd name="connsiteY54" fmla="*/ 0 h 60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8697" h="606792">
                  <a:moveTo>
                    <a:pt x="465103" y="519503"/>
                  </a:moveTo>
                  <a:cubicBezTo>
                    <a:pt x="480327" y="521812"/>
                    <a:pt x="495849" y="523822"/>
                    <a:pt x="511670" y="525386"/>
                  </a:cubicBezTo>
                  <a:cubicBezTo>
                    <a:pt x="489133" y="546313"/>
                    <a:pt x="463386" y="563962"/>
                    <a:pt x="435177" y="577367"/>
                  </a:cubicBezTo>
                  <a:cubicBezTo>
                    <a:pt x="435998" y="564930"/>
                    <a:pt x="436670" y="552643"/>
                    <a:pt x="437118" y="540355"/>
                  </a:cubicBezTo>
                  <a:cubicBezTo>
                    <a:pt x="448610" y="536706"/>
                    <a:pt x="458461" y="529259"/>
                    <a:pt x="465103" y="519503"/>
                  </a:cubicBezTo>
                  <a:close/>
                  <a:moveTo>
                    <a:pt x="72433" y="354027"/>
                  </a:moveTo>
                  <a:cubicBezTo>
                    <a:pt x="81981" y="367358"/>
                    <a:pt x="97646" y="376071"/>
                    <a:pt x="115251" y="376071"/>
                  </a:cubicBezTo>
                  <a:cubicBezTo>
                    <a:pt x="122412" y="376071"/>
                    <a:pt x="129275" y="374656"/>
                    <a:pt x="135541" y="372050"/>
                  </a:cubicBezTo>
                  <a:cubicBezTo>
                    <a:pt x="175076" y="408542"/>
                    <a:pt x="220878" y="439002"/>
                    <a:pt x="272424" y="463132"/>
                  </a:cubicBezTo>
                  <a:cubicBezTo>
                    <a:pt x="302784" y="477282"/>
                    <a:pt x="335159" y="489272"/>
                    <a:pt x="369399" y="498954"/>
                  </a:cubicBezTo>
                  <a:cubicBezTo>
                    <a:pt x="371935" y="513923"/>
                    <a:pt x="380812" y="526658"/>
                    <a:pt x="393120" y="534552"/>
                  </a:cubicBezTo>
                  <a:cubicBezTo>
                    <a:pt x="392374" y="554064"/>
                    <a:pt x="391255" y="574172"/>
                    <a:pt x="389614" y="594727"/>
                  </a:cubicBezTo>
                  <a:cubicBezTo>
                    <a:pt x="362536" y="602547"/>
                    <a:pt x="333966" y="606792"/>
                    <a:pt x="304351" y="606792"/>
                  </a:cubicBezTo>
                  <a:cubicBezTo>
                    <a:pt x="155458" y="606792"/>
                    <a:pt x="31554" y="500071"/>
                    <a:pt x="5222" y="359017"/>
                  </a:cubicBezTo>
                  <a:cubicBezTo>
                    <a:pt x="24691" y="358198"/>
                    <a:pt x="47294" y="356708"/>
                    <a:pt x="72433" y="354027"/>
                  </a:cubicBezTo>
                  <a:close/>
                  <a:moveTo>
                    <a:pt x="359474" y="280850"/>
                  </a:moveTo>
                  <a:cubicBezTo>
                    <a:pt x="364919" y="284872"/>
                    <a:pt x="371184" y="287926"/>
                    <a:pt x="377897" y="289639"/>
                  </a:cubicBezTo>
                  <a:cubicBezTo>
                    <a:pt x="385728" y="336040"/>
                    <a:pt x="391397" y="388102"/>
                    <a:pt x="393261" y="445676"/>
                  </a:cubicBezTo>
                  <a:cubicBezTo>
                    <a:pt x="388562" y="448655"/>
                    <a:pt x="384311" y="452379"/>
                    <a:pt x="380731" y="456699"/>
                  </a:cubicBezTo>
                  <a:cubicBezTo>
                    <a:pt x="295182" y="432493"/>
                    <a:pt x="223282" y="393465"/>
                    <a:pt x="165405" y="339764"/>
                  </a:cubicBezTo>
                  <a:cubicBezTo>
                    <a:pt x="165405" y="339690"/>
                    <a:pt x="165405" y="339690"/>
                    <a:pt x="165405" y="339690"/>
                  </a:cubicBezTo>
                  <a:cubicBezTo>
                    <a:pt x="171372" y="338498"/>
                    <a:pt x="177413" y="337307"/>
                    <a:pt x="183454" y="335966"/>
                  </a:cubicBezTo>
                  <a:cubicBezTo>
                    <a:pt x="244539" y="322708"/>
                    <a:pt x="303461" y="304237"/>
                    <a:pt x="359474" y="280850"/>
                  </a:cubicBezTo>
                  <a:close/>
                  <a:moveTo>
                    <a:pt x="16111" y="205063"/>
                  </a:moveTo>
                  <a:cubicBezTo>
                    <a:pt x="29089" y="234189"/>
                    <a:pt x="46393" y="265773"/>
                    <a:pt x="69366" y="297581"/>
                  </a:cubicBezTo>
                  <a:cubicBezTo>
                    <a:pt x="67128" y="301529"/>
                    <a:pt x="65413" y="305850"/>
                    <a:pt x="64219" y="310319"/>
                  </a:cubicBezTo>
                  <a:cubicBezTo>
                    <a:pt x="40202" y="312852"/>
                    <a:pt x="18647" y="314193"/>
                    <a:pt x="224" y="314863"/>
                  </a:cubicBezTo>
                  <a:cubicBezTo>
                    <a:pt x="74" y="310915"/>
                    <a:pt x="0" y="306893"/>
                    <a:pt x="0" y="302870"/>
                  </a:cubicBezTo>
                  <a:cubicBezTo>
                    <a:pt x="0" y="268679"/>
                    <a:pt x="5668" y="235753"/>
                    <a:pt x="16111" y="205063"/>
                  </a:cubicBezTo>
                  <a:close/>
                  <a:moveTo>
                    <a:pt x="571702" y="157643"/>
                  </a:moveTo>
                  <a:cubicBezTo>
                    <a:pt x="595272" y="200775"/>
                    <a:pt x="608697" y="250312"/>
                    <a:pt x="608697" y="302904"/>
                  </a:cubicBezTo>
                  <a:cubicBezTo>
                    <a:pt x="608697" y="370842"/>
                    <a:pt x="586396" y="433639"/>
                    <a:pt x="548655" y="484220"/>
                  </a:cubicBezTo>
                  <a:cubicBezTo>
                    <a:pt x="522251" y="482581"/>
                    <a:pt x="496742" y="479900"/>
                    <a:pt x="472128" y="476249"/>
                  </a:cubicBezTo>
                  <a:cubicBezTo>
                    <a:pt x="467429" y="459116"/>
                    <a:pt x="454302" y="445484"/>
                    <a:pt x="437520" y="440120"/>
                  </a:cubicBezTo>
                  <a:cubicBezTo>
                    <a:pt x="436476" y="411590"/>
                    <a:pt x="434611" y="383431"/>
                    <a:pt x="431702" y="355794"/>
                  </a:cubicBezTo>
                  <a:cubicBezTo>
                    <a:pt x="429092" y="330541"/>
                    <a:pt x="425661" y="305735"/>
                    <a:pt x="421558" y="281301"/>
                  </a:cubicBezTo>
                  <a:cubicBezTo>
                    <a:pt x="434163" y="272139"/>
                    <a:pt x="442666" y="257613"/>
                    <a:pt x="443412" y="241001"/>
                  </a:cubicBezTo>
                  <a:cubicBezTo>
                    <a:pt x="488687" y="216716"/>
                    <a:pt x="531500" y="188856"/>
                    <a:pt x="571702" y="157643"/>
                  </a:cubicBezTo>
                  <a:close/>
                  <a:moveTo>
                    <a:pt x="278458" y="71"/>
                  </a:moveTo>
                  <a:cubicBezTo>
                    <a:pt x="296062" y="30390"/>
                    <a:pt x="318813" y="75758"/>
                    <a:pt x="339401" y="135726"/>
                  </a:cubicBezTo>
                  <a:cubicBezTo>
                    <a:pt x="345741" y="154200"/>
                    <a:pt x="352082" y="174761"/>
                    <a:pt x="358049" y="197407"/>
                  </a:cubicBezTo>
                  <a:cubicBezTo>
                    <a:pt x="345891" y="207017"/>
                    <a:pt x="338058" y="221916"/>
                    <a:pt x="338058" y="238603"/>
                  </a:cubicBezTo>
                  <a:cubicBezTo>
                    <a:pt x="338058" y="239646"/>
                    <a:pt x="338133" y="240689"/>
                    <a:pt x="338208" y="241657"/>
                  </a:cubicBezTo>
                  <a:cubicBezTo>
                    <a:pt x="279129" y="266091"/>
                    <a:pt x="223409" y="282033"/>
                    <a:pt x="175594" y="292462"/>
                  </a:cubicBezTo>
                  <a:cubicBezTo>
                    <a:pt x="170373" y="293654"/>
                    <a:pt x="165226" y="294697"/>
                    <a:pt x="160079" y="295740"/>
                  </a:cubicBezTo>
                  <a:cubicBezTo>
                    <a:pt x="150755" y="280767"/>
                    <a:pt x="134195" y="270784"/>
                    <a:pt x="115249" y="270784"/>
                  </a:cubicBezTo>
                  <a:cubicBezTo>
                    <a:pt x="111818" y="270784"/>
                    <a:pt x="108461" y="271157"/>
                    <a:pt x="105253" y="271753"/>
                  </a:cubicBezTo>
                  <a:cubicBezTo>
                    <a:pt x="73775" y="228323"/>
                    <a:pt x="54083" y="184892"/>
                    <a:pt x="41775" y="149135"/>
                  </a:cubicBezTo>
                  <a:cubicBezTo>
                    <a:pt x="90559" y="66297"/>
                    <a:pt x="177459" y="8564"/>
                    <a:pt x="278458" y="71"/>
                  </a:cubicBezTo>
                  <a:close/>
                  <a:moveTo>
                    <a:pt x="329046" y="0"/>
                  </a:moveTo>
                  <a:cubicBezTo>
                    <a:pt x="418327" y="7151"/>
                    <a:pt x="496719" y="52737"/>
                    <a:pt x="547587" y="120297"/>
                  </a:cubicBezTo>
                  <a:cubicBezTo>
                    <a:pt x="507534" y="151581"/>
                    <a:pt x="466660" y="177801"/>
                    <a:pt x="426308" y="199700"/>
                  </a:cubicBezTo>
                  <a:cubicBezTo>
                    <a:pt x="419297" y="193369"/>
                    <a:pt x="410645" y="188825"/>
                    <a:pt x="401098" y="186963"/>
                  </a:cubicBezTo>
                  <a:cubicBezTo>
                    <a:pt x="394907" y="163723"/>
                    <a:pt x="387970" y="141079"/>
                    <a:pt x="380362" y="118882"/>
                  </a:cubicBezTo>
                  <a:cubicBezTo>
                    <a:pt x="363356" y="69869"/>
                    <a:pt x="345157" y="30242"/>
                    <a:pt x="329046" y="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FF0000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 fontScale="82500" lnSpcReduction="20000"/>
            </a:bodyPr>
            <a:lstStyle>
              <a:defPPr>
                <a:defRPr lang="zh-CN"/>
              </a:defPPr>
              <a:lvl1pPr marL="0" lvl="0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5468793" y="3374456"/>
            <a:ext cx="492739" cy="473869"/>
            <a:chOff x="8209599" y="4499275"/>
            <a:chExt cx="657225" cy="631825"/>
          </a:xfrm>
        </p:grpSpPr>
        <p:sp>
          <p:nvSpPr>
            <p:cNvPr id="16" name="islîḓé"/>
            <p:cNvSpPr/>
            <p:nvPr userDrawn="1"/>
          </p:nvSpPr>
          <p:spPr>
            <a:xfrm>
              <a:off x="8209599" y="4499275"/>
              <a:ext cx="657225" cy="631825"/>
            </a:xfrm>
            <a:prstGeom prst="ellipse">
              <a:avLst/>
            </a:prstGeom>
            <a:noFill/>
            <a:ln w="19050">
              <a:solidFill>
                <a:srgbClr val="41464A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lvl="0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7" name="图片 16" descr="应用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8377874" y="4650405"/>
              <a:ext cx="328930" cy="32893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2" name="组合 21"/>
          <p:cNvGrpSpPr/>
          <p:nvPr userDrawn="1"/>
        </p:nvGrpSpPr>
        <p:grpSpPr>
          <a:xfrm>
            <a:off x="3182707" y="3374180"/>
            <a:ext cx="492819" cy="473946"/>
            <a:chOff x="5770034" y="4498906"/>
            <a:chExt cx="657331" cy="631928"/>
          </a:xfrm>
        </p:grpSpPr>
        <p:sp>
          <p:nvSpPr>
            <p:cNvPr id="18" name="ïSḷiḑé"/>
            <p:cNvSpPr/>
            <p:nvPr userDrawn="1"/>
          </p:nvSpPr>
          <p:spPr>
            <a:xfrm>
              <a:off x="5770034" y="4498906"/>
              <a:ext cx="657331" cy="631928"/>
            </a:xfrm>
            <a:prstGeom prst="ellipse">
              <a:avLst/>
            </a:prstGeom>
            <a:noFill/>
            <a:ln w="19050">
              <a:solidFill>
                <a:srgbClr val="41464A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lvl="0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" name="íŝļïďê"/>
            <p:cNvSpPr/>
            <p:nvPr userDrawn="1"/>
          </p:nvSpPr>
          <p:spPr>
            <a:xfrm>
              <a:off x="5959738" y="4663829"/>
              <a:ext cx="314754" cy="302080"/>
            </a:xfrm>
            <a:custGeom>
              <a:avLst/>
              <a:gdLst>
                <a:gd name="connsiteX0" fmla="*/ 0 w 607744"/>
                <a:gd name="connsiteY0" fmla="*/ 424734 h 606722"/>
                <a:gd name="connsiteX1" fmla="*/ 162018 w 607744"/>
                <a:gd name="connsiteY1" fmla="*/ 424734 h 606722"/>
                <a:gd name="connsiteX2" fmla="*/ 162018 w 607744"/>
                <a:gd name="connsiteY2" fmla="*/ 505602 h 606722"/>
                <a:gd name="connsiteX3" fmla="*/ 30356 w 607744"/>
                <a:gd name="connsiteY3" fmla="*/ 505602 h 606722"/>
                <a:gd name="connsiteX4" fmla="*/ 0 w 607744"/>
                <a:gd name="connsiteY4" fmla="*/ 475210 h 606722"/>
                <a:gd name="connsiteX5" fmla="*/ 371949 w 607744"/>
                <a:gd name="connsiteY5" fmla="*/ 404476 h 606722"/>
                <a:gd name="connsiteX6" fmla="*/ 381383 w 607744"/>
                <a:gd name="connsiteY6" fmla="*/ 424736 h 606722"/>
                <a:gd name="connsiteX7" fmla="*/ 381650 w 607744"/>
                <a:gd name="connsiteY7" fmla="*/ 424736 h 606722"/>
                <a:gd name="connsiteX8" fmla="*/ 382451 w 607744"/>
                <a:gd name="connsiteY8" fmla="*/ 404476 h 606722"/>
                <a:gd name="connsiteX9" fmla="*/ 0 w 607744"/>
                <a:gd name="connsiteY9" fmla="*/ 343795 h 606722"/>
                <a:gd name="connsiteX10" fmla="*/ 101261 w 607744"/>
                <a:gd name="connsiteY10" fmla="*/ 343795 h 606722"/>
                <a:gd name="connsiteX11" fmla="*/ 101261 w 607744"/>
                <a:gd name="connsiteY11" fmla="*/ 404481 h 606722"/>
                <a:gd name="connsiteX12" fmla="*/ 0 w 607744"/>
                <a:gd name="connsiteY12" fmla="*/ 404481 h 606722"/>
                <a:gd name="connsiteX13" fmla="*/ 473583 w 607744"/>
                <a:gd name="connsiteY13" fmla="*/ 268076 h 606722"/>
                <a:gd name="connsiteX14" fmla="*/ 427483 w 607744"/>
                <a:gd name="connsiteY14" fmla="*/ 323613 h 606722"/>
                <a:gd name="connsiteX15" fmla="*/ 427305 w 607744"/>
                <a:gd name="connsiteY15" fmla="*/ 323613 h 606722"/>
                <a:gd name="connsiteX16" fmla="*/ 417248 w 607744"/>
                <a:gd name="connsiteY16" fmla="*/ 343785 h 606722"/>
                <a:gd name="connsiteX17" fmla="*/ 417515 w 607744"/>
                <a:gd name="connsiteY17" fmla="*/ 343785 h 606722"/>
                <a:gd name="connsiteX18" fmla="*/ 402831 w 607744"/>
                <a:gd name="connsiteY18" fmla="*/ 404476 h 606722"/>
                <a:gd name="connsiteX19" fmla="*/ 402653 w 607744"/>
                <a:gd name="connsiteY19" fmla="*/ 404476 h 606722"/>
                <a:gd name="connsiteX20" fmla="*/ 401852 w 607744"/>
                <a:gd name="connsiteY20" fmla="*/ 424736 h 606722"/>
                <a:gd name="connsiteX21" fmla="*/ 402030 w 607744"/>
                <a:gd name="connsiteY21" fmla="*/ 424736 h 606722"/>
                <a:gd name="connsiteX22" fmla="*/ 402297 w 607744"/>
                <a:gd name="connsiteY22" fmla="*/ 435844 h 606722"/>
                <a:gd name="connsiteX23" fmla="*/ 402208 w 607744"/>
                <a:gd name="connsiteY23" fmla="*/ 436466 h 606722"/>
                <a:gd name="connsiteX24" fmla="*/ 405056 w 607744"/>
                <a:gd name="connsiteY24" fmla="*/ 463568 h 606722"/>
                <a:gd name="connsiteX25" fmla="*/ 405145 w 607744"/>
                <a:gd name="connsiteY25" fmla="*/ 464457 h 606722"/>
                <a:gd name="connsiteX26" fmla="*/ 396779 w 607744"/>
                <a:gd name="connsiteY26" fmla="*/ 475209 h 606722"/>
                <a:gd name="connsiteX27" fmla="*/ 386634 w 607744"/>
                <a:gd name="connsiteY27" fmla="*/ 470766 h 606722"/>
                <a:gd name="connsiteX28" fmla="*/ 352904 w 607744"/>
                <a:gd name="connsiteY28" fmla="*/ 411318 h 606722"/>
                <a:gd name="connsiteX29" fmla="*/ 348899 w 607744"/>
                <a:gd name="connsiteY29" fmla="*/ 424736 h 606722"/>
                <a:gd name="connsiteX30" fmla="*/ 349255 w 607744"/>
                <a:gd name="connsiteY30" fmla="*/ 492892 h 606722"/>
                <a:gd name="connsiteX31" fmla="*/ 349255 w 607744"/>
                <a:gd name="connsiteY31" fmla="*/ 493070 h 606722"/>
                <a:gd name="connsiteX32" fmla="*/ 375865 w 607744"/>
                <a:gd name="connsiteY32" fmla="*/ 543276 h 606722"/>
                <a:gd name="connsiteX33" fmla="*/ 470557 w 607744"/>
                <a:gd name="connsiteY33" fmla="*/ 586462 h 606722"/>
                <a:gd name="connsiteX34" fmla="*/ 471269 w 607744"/>
                <a:gd name="connsiteY34" fmla="*/ 586462 h 606722"/>
                <a:gd name="connsiteX35" fmla="*/ 565694 w 607744"/>
                <a:gd name="connsiteY35" fmla="*/ 544520 h 606722"/>
                <a:gd name="connsiteX36" fmla="*/ 552611 w 607744"/>
                <a:gd name="connsiteY36" fmla="*/ 347339 h 606722"/>
                <a:gd name="connsiteX37" fmla="*/ 524845 w 607744"/>
                <a:gd name="connsiteY37" fmla="*/ 410074 h 606722"/>
                <a:gd name="connsiteX38" fmla="*/ 513542 w 607744"/>
                <a:gd name="connsiteY38" fmla="*/ 414162 h 606722"/>
                <a:gd name="connsiteX39" fmla="*/ 506333 w 607744"/>
                <a:gd name="connsiteY39" fmla="*/ 404476 h 606722"/>
                <a:gd name="connsiteX40" fmla="*/ 473583 w 607744"/>
                <a:gd name="connsiteY40" fmla="*/ 268076 h 606722"/>
                <a:gd name="connsiteX41" fmla="*/ 182270 w 607744"/>
                <a:gd name="connsiteY41" fmla="*/ 262927 h 606722"/>
                <a:gd name="connsiteX42" fmla="*/ 364540 w 607744"/>
                <a:gd name="connsiteY42" fmla="*/ 262927 h 606722"/>
                <a:gd name="connsiteX43" fmla="*/ 364540 w 607744"/>
                <a:gd name="connsiteY43" fmla="*/ 323613 h 606722"/>
                <a:gd name="connsiteX44" fmla="*/ 182270 w 607744"/>
                <a:gd name="connsiteY44" fmla="*/ 323613 h 606722"/>
                <a:gd name="connsiteX45" fmla="*/ 0 w 607744"/>
                <a:gd name="connsiteY45" fmla="*/ 262927 h 606722"/>
                <a:gd name="connsiteX46" fmla="*/ 162018 w 607744"/>
                <a:gd name="connsiteY46" fmla="*/ 262927 h 606722"/>
                <a:gd name="connsiteX47" fmla="*/ 162018 w 607744"/>
                <a:gd name="connsiteY47" fmla="*/ 323613 h 606722"/>
                <a:gd name="connsiteX48" fmla="*/ 0 w 607744"/>
                <a:gd name="connsiteY48" fmla="*/ 323613 h 606722"/>
                <a:gd name="connsiteX49" fmla="*/ 0 w 607744"/>
                <a:gd name="connsiteY49" fmla="*/ 182059 h 606722"/>
                <a:gd name="connsiteX50" fmla="*/ 101261 w 607744"/>
                <a:gd name="connsiteY50" fmla="*/ 182059 h 606722"/>
                <a:gd name="connsiteX51" fmla="*/ 101261 w 607744"/>
                <a:gd name="connsiteY51" fmla="*/ 242745 h 606722"/>
                <a:gd name="connsiteX52" fmla="*/ 0 w 607744"/>
                <a:gd name="connsiteY52" fmla="*/ 242745 h 606722"/>
                <a:gd name="connsiteX53" fmla="*/ 324069 w 607744"/>
                <a:gd name="connsiteY53" fmla="*/ 182059 h 606722"/>
                <a:gd name="connsiteX54" fmla="*/ 374708 w 607744"/>
                <a:gd name="connsiteY54" fmla="*/ 182059 h 606722"/>
                <a:gd name="connsiteX55" fmla="*/ 486042 w 607744"/>
                <a:gd name="connsiteY55" fmla="*/ 182059 h 606722"/>
                <a:gd name="connsiteX56" fmla="*/ 486042 w 607744"/>
                <a:gd name="connsiteY56" fmla="*/ 249682 h 606722"/>
                <a:gd name="connsiteX57" fmla="*/ 524578 w 607744"/>
                <a:gd name="connsiteY57" fmla="*/ 366888 h 606722"/>
                <a:gd name="connsiteX58" fmla="*/ 536770 w 607744"/>
                <a:gd name="connsiteY58" fmla="*/ 322458 h 606722"/>
                <a:gd name="connsiteX59" fmla="*/ 543534 w 607744"/>
                <a:gd name="connsiteY59" fmla="*/ 314016 h 606722"/>
                <a:gd name="connsiteX60" fmla="*/ 554035 w 607744"/>
                <a:gd name="connsiteY60" fmla="*/ 316505 h 606722"/>
                <a:gd name="connsiteX61" fmla="*/ 580734 w 607744"/>
                <a:gd name="connsiteY61" fmla="*/ 558027 h 606722"/>
                <a:gd name="connsiteX62" fmla="*/ 471269 w 607744"/>
                <a:gd name="connsiteY62" fmla="*/ 606722 h 606722"/>
                <a:gd name="connsiteX63" fmla="*/ 470379 w 607744"/>
                <a:gd name="connsiteY63" fmla="*/ 606722 h 606722"/>
                <a:gd name="connsiteX64" fmla="*/ 360647 w 607744"/>
                <a:gd name="connsiteY64" fmla="*/ 556694 h 606722"/>
                <a:gd name="connsiteX65" fmla="*/ 331812 w 607744"/>
                <a:gd name="connsiteY65" fmla="*/ 505599 h 606722"/>
                <a:gd name="connsiteX66" fmla="*/ 182298 w 607744"/>
                <a:gd name="connsiteY66" fmla="*/ 505599 h 606722"/>
                <a:gd name="connsiteX67" fmla="*/ 182298 w 607744"/>
                <a:gd name="connsiteY67" fmla="*/ 424736 h 606722"/>
                <a:gd name="connsiteX68" fmla="*/ 328074 w 607744"/>
                <a:gd name="connsiteY68" fmla="*/ 424736 h 606722"/>
                <a:gd name="connsiteX69" fmla="*/ 333948 w 607744"/>
                <a:gd name="connsiteY69" fmla="*/ 404476 h 606722"/>
                <a:gd name="connsiteX70" fmla="*/ 121514 w 607744"/>
                <a:gd name="connsiteY70" fmla="*/ 404476 h 606722"/>
                <a:gd name="connsiteX71" fmla="*/ 121514 w 607744"/>
                <a:gd name="connsiteY71" fmla="*/ 343785 h 606722"/>
                <a:gd name="connsiteX72" fmla="*/ 395800 w 607744"/>
                <a:gd name="connsiteY72" fmla="*/ 343785 h 606722"/>
                <a:gd name="connsiteX73" fmla="*/ 404611 w 607744"/>
                <a:gd name="connsiteY73" fmla="*/ 323613 h 606722"/>
                <a:gd name="connsiteX74" fmla="*/ 384854 w 607744"/>
                <a:gd name="connsiteY74" fmla="*/ 323613 h 606722"/>
                <a:gd name="connsiteX75" fmla="*/ 384854 w 607744"/>
                <a:gd name="connsiteY75" fmla="*/ 262922 h 606722"/>
                <a:gd name="connsiteX76" fmla="*/ 449198 w 607744"/>
                <a:gd name="connsiteY76" fmla="*/ 262922 h 606722"/>
                <a:gd name="connsiteX77" fmla="*/ 469667 w 607744"/>
                <a:gd name="connsiteY77" fmla="*/ 244883 h 606722"/>
                <a:gd name="connsiteX78" fmla="*/ 476075 w 607744"/>
                <a:gd name="connsiteY78" fmla="*/ 242839 h 606722"/>
                <a:gd name="connsiteX79" fmla="*/ 475986 w 607744"/>
                <a:gd name="connsiteY79" fmla="*/ 242751 h 606722"/>
                <a:gd name="connsiteX80" fmla="*/ 324069 w 607744"/>
                <a:gd name="connsiteY80" fmla="*/ 242751 h 606722"/>
                <a:gd name="connsiteX81" fmla="*/ 121514 w 607744"/>
                <a:gd name="connsiteY81" fmla="*/ 182059 h 606722"/>
                <a:gd name="connsiteX82" fmla="*/ 172154 w 607744"/>
                <a:gd name="connsiteY82" fmla="*/ 182059 h 606722"/>
                <a:gd name="connsiteX83" fmla="*/ 303784 w 607744"/>
                <a:gd name="connsiteY83" fmla="*/ 182059 h 606722"/>
                <a:gd name="connsiteX84" fmla="*/ 303784 w 607744"/>
                <a:gd name="connsiteY84" fmla="*/ 242745 h 606722"/>
                <a:gd name="connsiteX85" fmla="*/ 121514 w 607744"/>
                <a:gd name="connsiteY85" fmla="*/ 242745 h 606722"/>
                <a:gd name="connsiteX86" fmla="*/ 0 w 607744"/>
                <a:gd name="connsiteY86" fmla="*/ 101191 h 606722"/>
                <a:gd name="connsiteX87" fmla="*/ 162018 w 607744"/>
                <a:gd name="connsiteY87" fmla="*/ 101191 h 606722"/>
                <a:gd name="connsiteX88" fmla="*/ 162018 w 607744"/>
                <a:gd name="connsiteY88" fmla="*/ 161736 h 606722"/>
                <a:gd name="connsiteX89" fmla="*/ 0 w 607744"/>
                <a:gd name="connsiteY89" fmla="*/ 161736 h 606722"/>
                <a:gd name="connsiteX90" fmla="*/ 384864 w 607744"/>
                <a:gd name="connsiteY90" fmla="*/ 101191 h 606722"/>
                <a:gd name="connsiteX91" fmla="*/ 486055 w 607744"/>
                <a:gd name="connsiteY91" fmla="*/ 101191 h 606722"/>
                <a:gd name="connsiteX92" fmla="*/ 486055 w 607744"/>
                <a:gd name="connsiteY92" fmla="*/ 161736 h 606722"/>
                <a:gd name="connsiteX93" fmla="*/ 384864 w 607744"/>
                <a:gd name="connsiteY93" fmla="*/ 161736 h 606722"/>
                <a:gd name="connsiteX94" fmla="*/ 182270 w 607744"/>
                <a:gd name="connsiteY94" fmla="*/ 101191 h 606722"/>
                <a:gd name="connsiteX95" fmla="*/ 364540 w 607744"/>
                <a:gd name="connsiteY95" fmla="*/ 101191 h 606722"/>
                <a:gd name="connsiteX96" fmla="*/ 364540 w 607744"/>
                <a:gd name="connsiteY96" fmla="*/ 161736 h 606722"/>
                <a:gd name="connsiteX97" fmla="*/ 182270 w 607744"/>
                <a:gd name="connsiteY97" fmla="*/ 161736 h 606722"/>
                <a:gd name="connsiteX98" fmla="*/ 324036 w 607744"/>
                <a:gd name="connsiteY98" fmla="*/ 0 h 606722"/>
                <a:gd name="connsiteX99" fmla="*/ 455698 w 607744"/>
                <a:gd name="connsiteY99" fmla="*/ 0 h 606722"/>
                <a:gd name="connsiteX100" fmla="*/ 486054 w 607744"/>
                <a:gd name="connsiteY100" fmla="*/ 30303 h 606722"/>
                <a:gd name="connsiteX101" fmla="*/ 486054 w 607744"/>
                <a:gd name="connsiteY101" fmla="*/ 80868 h 606722"/>
                <a:gd name="connsiteX102" fmla="*/ 374689 w 607744"/>
                <a:gd name="connsiteY102" fmla="*/ 80868 h 606722"/>
                <a:gd name="connsiteX103" fmla="*/ 324036 w 607744"/>
                <a:gd name="connsiteY103" fmla="*/ 80868 h 606722"/>
                <a:gd name="connsiteX104" fmla="*/ 121514 w 607744"/>
                <a:gd name="connsiteY104" fmla="*/ 0 h 606722"/>
                <a:gd name="connsiteX105" fmla="*/ 303784 w 607744"/>
                <a:gd name="connsiteY105" fmla="*/ 0 h 606722"/>
                <a:gd name="connsiteX106" fmla="*/ 303784 w 607744"/>
                <a:gd name="connsiteY106" fmla="*/ 80868 h 606722"/>
                <a:gd name="connsiteX107" fmla="*/ 172154 w 607744"/>
                <a:gd name="connsiteY107" fmla="*/ 80868 h 606722"/>
                <a:gd name="connsiteX108" fmla="*/ 121514 w 607744"/>
                <a:gd name="connsiteY108" fmla="*/ 80868 h 606722"/>
                <a:gd name="connsiteX109" fmla="*/ 30343 w 607744"/>
                <a:gd name="connsiteY109" fmla="*/ 0 h 606722"/>
                <a:gd name="connsiteX110" fmla="*/ 101261 w 607744"/>
                <a:gd name="connsiteY110" fmla="*/ 0 h 606722"/>
                <a:gd name="connsiteX111" fmla="*/ 101261 w 607744"/>
                <a:gd name="connsiteY111" fmla="*/ 80868 h 606722"/>
                <a:gd name="connsiteX112" fmla="*/ 0 w 607744"/>
                <a:gd name="connsiteY112" fmla="*/ 80868 h 606722"/>
                <a:gd name="connsiteX113" fmla="*/ 0 w 607744"/>
                <a:gd name="connsiteY113" fmla="*/ 30303 h 606722"/>
                <a:gd name="connsiteX114" fmla="*/ 30343 w 607744"/>
                <a:gd name="connsiteY1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607744" h="606722">
                  <a:moveTo>
                    <a:pt x="0" y="424734"/>
                  </a:moveTo>
                  <a:lnTo>
                    <a:pt x="162018" y="424734"/>
                  </a:lnTo>
                  <a:lnTo>
                    <a:pt x="162018" y="505602"/>
                  </a:lnTo>
                  <a:lnTo>
                    <a:pt x="30356" y="505602"/>
                  </a:lnTo>
                  <a:cubicBezTo>
                    <a:pt x="13620" y="505602"/>
                    <a:pt x="0" y="492006"/>
                    <a:pt x="0" y="475210"/>
                  </a:cubicBezTo>
                  <a:close/>
                  <a:moveTo>
                    <a:pt x="371949" y="404476"/>
                  </a:moveTo>
                  <a:cubicBezTo>
                    <a:pt x="374975" y="411674"/>
                    <a:pt x="378179" y="418516"/>
                    <a:pt x="381383" y="424736"/>
                  </a:cubicBezTo>
                  <a:lnTo>
                    <a:pt x="381650" y="424736"/>
                  </a:lnTo>
                  <a:cubicBezTo>
                    <a:pt x="381650" y="417894"/>
                    <a:pt x="381917" y="411141"/>
                    <a:pt x="382451" y="404476"/>
                  </a:cubicBezTo>
                  <a:close/>
                  <a:moveTo>
                    <a:pt x="0" y="343795"/>
                  </a:moveTo>
                  <a:lnTo>
                    <a:pt x="101261" y="343795"/>
                  </a:lnTo>
                  <a:lnTo>
                    <a:pt x="101261" y="404481"/>
                  </a:lnTo>
                  <a:lnTo>
                    <a:pt x="0" y="404481"/>
                  </a:lnTo>
                  <a:close/>
                  <a:moveTo>
                    <a:pt x="473583" y="268076"/>
                  </a:moveTo>
                  <a:cubicBezTo>
                    <a:pt x="454449" y="284870"/>
                    <a:pt x="438963" y="303442"/>
                    <a:pt x="427483" y="323613"/>
                  </a:cubicBezTo>
                  <a:lnTo>
                    <a:pt x="427305" y="323613"/>
                  </a:lnTo>
                  <a:cubicBezTo>
                    <a:pt x="423567" y="330189"/>
                    <a:pt x="420185" y="336854"/>
                    <a:pt x="417248" y="343785"/>
                  </a:cubicBezTo>
                  <a:lnTo>
                    <a:pt x="417515" y="343785"/>
                  </a:lnTo>
                  <a:cubicBezTo>
                    <a:pt x="409506" y="362712"/>
                    <a:pt x="404611" y="382972"/>
                    <a:pt x="402831" y="404476"/>
                  </a:cubicBezTo>
                  <a:lnTo>
                    <a:pt x="402653" y="404476"/>
                  </a:lnTo>
                  <a:cubicBezTo>
                    <a:pt x="402030" y="411052"/>
                    <a:pt x="401852" y="417805"/>
                    <a:pt x="401852" y="424736"/>
                  </a:cubicBezTo>
                  <a:lnTo>
                    <a:pt x="402030" y="424736"/>
                  </a:lnTo>
                  <a:cubicBezTo>
                    <a:pt x="402030" y="428380"/>
                    <a:pt x="402119" y="432112"/>
                    <a:pt x="402297" y="435844"/>
                  </a:cubicBezTo>
                  <a:cubicBezTo>
                    <a:pt x="402297" y="436110"/>
                    <a:pt x="402208" y="436199"/>
                    <a:pt x="402208" y="436466"/>
                  </a:cubicBezTo>
                  <a:cubicBezTo>
                    <a:pt x="402653" y="445263"/>
                    <a:pt x="403632" y="454327"/>
                    <a:pt x="405056" y="463568"/>
                  </a:cubicBezTo>
                  <a:cubicBezTo>
                    <a:pt x="405056" y="463835"/>
                    <a:pt x="405145" y="464190"/>
                    <a:pt x="405145" y="464457"/>
                  </a:cubicBezTo>
                  <a:cubicBezTo>
                    <a:pt x="405501" y="469611"/>
                    <a:pt x="401941" y="474320"/>
                    <a:pt x="396779" y="475209"/>
                  </a:cubicBezTo>
                  <a:cubicBezTo>
                    <a:pt x="392774" y="476009"/>
                    <a:pt x="388770" y="474054"/>
                    <a:pt x="386634" y="470766"/>
                  </a:cubicBezTo>
                  <a:cubicBezTo>
                    <a:pt x="383341" y="466589"/>
                    <a:pt x="365630" y="442953"/>
                    <a:pt x="352904" y="411318"/>
                  </a:cubicBezTo>
                  <a:cubicBezTo>
                    <a:pt x="351302" y="415761"/>
                    <a:pt x="349967" y="420204"/>
                    <a:pt x="348899" y="424736"/>
                  </a:cubicBezTo>
                  <a:cubicBezTo>
                    <a:pt x="343381" y="446862"/>
                    <a:pt x="343292" y="470499"/>
                    <a:pt x="349255" y="492892"/>
                  </a:cubicBezTo>
                  <a:cubicBezTo>
                    <a:pt x="349255" y="492892"/>
                    <a:pt x="349255" y="492981"/>
                    <a:pt x="349255" y="493070"/>
                  </a:cubicBezTo>
                  <a:cubicBezTo>
                    <a:pt x="354239" y="511464"/>
                    <a:pt x="363050" y="528792"/>
                    <a:pt x="375865" y="543276"/>
                  </a:cubicBezTo>
                  <a:cubicBezTo>
                    <a:pt x="399805" y="570467"/>
                    <a:pt x="434247" y="586195"/>
                    <a:pt x="470557" y="586462"/>
                  </a:cubicBezTo>
                  <a:lnTo>
                    <a:pt x="471269" y="586462"/>
                  </a:lnTo>
                  <a:cubicBezTo>
                    <a:pt x="507223" y="586462"/>
                    <a:pt x="541576" y="571178"/>
                    <a:pt x="565694" y="544520"/>
                  </a:cubicBezTo>
                  <a:cubicBezTo>
                    <a:pt x="604496" y="501512"/>
                    <a:pt x="585985" y="398789"/>
                    <a:pt x="552611" y="347339"/>
                  </a:cubicBezTo>
                  <a:cubicBezTo>
                    <a:pt x="543623" y="381639"/>
                    <a:pt x="525824" y="408741"/>
                    <a:pt x="524845" y="410074"/>
                  </a:cubicBezTo>
                  <a:cubicBezTo>
                    <a:pt x="522442" y="413806"/>
                    <a:pt x="517814" y="415495"/>
                    <a:pt x="513542" y="414162"/>
                  </a:cubicBezTo>
                  <a:cubicBezTo>
                    <a:pt x="509270" y="412829"/>
                    <a:pt x="506333" y="408919"/>
                    <a:pt x="506333" y="404476"/>
                  </a:cubicBezTo>
                  <a:cubicBezTo>
                    <a:pt x="506333" y="334099"/>
                    <a:pt x="484351" y="287003"/>
                    <a:pt x="473583" y="268076"/>
                  </a:cubicBezTo>
                  <a:close/>
                  <a:moveTo>
                    <a:pt x="182270" y="262927"/>
                  </a:moveTo>
                  <a:lnTo>
                    <a:pt x="364540" y="262927"/>
                  </a:lnTo>
                  <a:lnTo>
                    <a:pt x="364540" y="323613"/>
                  </a:lnTo>
                  <a:lnTo>
                    <a:pt x="182270" y="323613"/>
                  </a:lnTo>
                  <a:close/>
                  <a:moveTo>
                    <a:pt x="0" y="262927"/>
                  </a:moveTo>
                  <a:lnTo>
                    <a:pt x="162018" y="262927"/>
                  </a:lnTo>
                  <a:lnTo>
                    <a:pt x="162018" y="323613"/>
                  </a:lnTo>
                  <a:lnTo>
                    <a:pt x="0" y="323613"/>
                  </a:lnTo>
                  <a:close/>
                  <a:moveTo>
                    <a:pt x="0" y="182059"/>
                  </a:moveTo>
                  <a:lnTo>
                    <a:pt x="101261" y="182059"/>
                  </a:lnTo>
                  <a:lnTo>
                    <a:pt x="101261" y="242745"/>
                  </a:lnTo>
                  <a:lnTo>
                    <a:pt x="0" y="242745"/>
                  </a:lnTo>
                  <a:close/>
                  <a:moveTo>
                    <a:pt x="324069" y="182059"/>
                  </a:moveTo>
                  <a:lnTo>
                    <a:pt x="374708" y="182059"/>
                  </a:lnTo>
                  <a:lnTo>
                    <a:pt x="486042" y="182059"/>
                  </a:lnTo>
                  <a:lnTo>
                    <a:pt x="486042" y="249682"/>
                  </a:lnTo>
                  <a:cubicBezTo>
                    <a:pt x="493251" y="260434"/>
                    <a:pt x="517458" y="301043"/>
                    <a:pt x="524578" y="366888"/>
                  </a:cubicBezTo>
                  <a:cubicBezTo>
                    <a:pt x="529917" y="354004"/>
                    <a:pt x="534990" y="338453"/>
                    <a:pt x="536770" y="322458"/>
                  </a:cubicBezTo>
                  <a:cubicBezTo>
                    <a:pt x="537215" y="318637"/>
                    <a:pt x="539796" y="315349"/>
                    <a:pt x="543534" y="314016"/>
                  </a:cubicBezTo>
                  <a:cubicBezTo>
                    <a:pt x="547183" y="312772"/>
                    <a:pt x="551366" y="313750"/>
                    <a:pt x="554035" y="316505"/>
                  </a:cubicBezTo>
                  <a:cubicBezTo>
                    <a:pt x="602004" y="365378"/>
                    <a:pt x="632619" y="500445"/>
                    <a:pt x="580734" y="558027"/>
                  </a:cubicBezTo>
                  <a:cubicBezTo>
                    <a:pt x="552789" y="588950"/>
                    <a:pt x="513008" y="606722"/>
                    <a:pt x="471269" y="606722"/>
                  </a:cubicBezTo>
                  <a:lnTo>
                    <a:pt x="470379" y="606722"/>
                  </a:lnTo>
                  <a:cubicBezTo>
                    <a:pt x="428373" y="606455"/>
                    <a:pt x="388414" y="588150"/>
                    <a:pt x="360647" y="556694"/>
                  </a:cubicBezTo>
                  <a:cubicBezTo>
                    <a:pt x="347475" y="541676"/>
                    <a:pt x="337864" y="524260"/>
                    <a:pt x="331812" y="505599"/>
                  </a:cubicBezTo>
                  <a:lnTo>
                    <a:pt x="182298" y="505599"/>
                  </a:lnTo>
                  <a:lnTo>
                    <a:pt x="182298" y="424736"/>
                  </a:lnTo>
                  <a:lnTo>
                    <a:pt x="328074" y="424736"/>
                  </a:lnTo>
                  <a:cubicBezTo>
                    <a:pt x="329498" y="417894"/>
                    <a:pt x="331545" y="411141"/>
                    <a:pt x="333948" y="404476"/>
                  </a:cubicBezTo>
                  <a:lnTo>
                    <a:pt x="121514" y="404476"/>
                  </a:lnTo>
                  <a:lnTo>
                    <a:pt x="121514" y="343785"/>
                  </a:lnTo>
                  <a:lnTo>
                    <a:pt x="395800" y="343785"/>
                  </a:lnTo>
                  <a:cubicBezTo>
                    <a:pt x="398381" y="336942"/>
                    <a:pt x="401318" y="330189"/>
                    <a:pt x="404611" y="323613"/>
                  </a:cubicBezTo>
                  <a:lnTo>
                    <a:pt x="384854" y="323613"/>
                  </a:lnTo>
                  <a:lnTo>
                    <a:pt x="384854" y="262922"/>
                  </a:lnTo>
                  <a:lnTo>
                    <a:pt x="449198" y="262922"/>
                  </a:lnTo>
                  <a:cubicBezTo>
                    <a:pt x="455606" y="256702"/>
                    <a:pt x="462369" y="250659"/>
                    <a:pt x="469667" y="244883"/>
                  </a:cubicBezTo>
                  <a:cubicBezTo>
                    <a:pt x="471447" y="243461"/>
                    <a:pt x="473761" y="242839"/>
                    <a:pt x="476075" y="242839"/>
                  </a:cubicBezTo>
                  <a:lnTo>
                    <a:pt x="475986" y="242751"/>
                  </a:lnTo>
                  <a:lnTo>
                    <a:pt x="324069" y="242751"/>
                  </a:lnTo>
                  <a:close/>
                  <a:moveTo>
                    <a:pt x="121514" y="182059"/>
                  </a:moveTo>
                  <a:lnTo>
                    <a:pt x="172154" y="182059"/>
                  </a:lnTo>
                  <a:lnTo>
                    <a:pt x="303784" y="182059"/>
                  </a:lnTo>
                  <a:lnTo>
                    <a:pt x="303784" y="242745"/>
                  </a:lnTo>
                  <a:lnTo>
                    <a:pt x="121514" y="242745"/>
                  </a:lnTo>
                  <a:close/>
                  <a:moveTo>
                    <a:pt x="0" y="101191"/>
                  </a:moveTo>
                  <a:lnTo>
                    <a:pt x="162018" y="101191"/>
                  </a:lnTo>
                  <a:lnTo>
                    <a:pt x="162018" y="161736"/>
                  </a:lnTo>
                  <a:lnTo>
                    <a:pt x="0" y="161736"/>
                  </a:lnTo>
                  <a:close/>
                  <a:moveTo>
                    <a:pt x="384864" y="101191"/>
                  </a:moveTo>
                  <a:lnTo>
                    <a:pt x="486055" y="101191"/>
                  </a:lnTo>
                  <a:lnTo>
                    <a:pt x="486055" y="161736"/>
                  </a:lnTo>
                  <a:lnTo>
                    <a:pt x="384864" y="161736"/>
                  </a:lnTo>
                  <a:close/>
                  <a:moveTo>
                    <a:pt x="182270" y="101191"/>
                  </a:moveTo>
                  <a:lnTo>
                    <a:pt x="364540" y="101191"/>
                  </a:lnTo>
                  <a:lnTo>
                    <a:pt x="364540" y="161736"/>
                  </a:lnTo>
                  <a:lnTo>
                    <a:pt x="182270" y="161736"/>
                  </a:lnTo>
                  <a:close/>
                  <a:moveTo>
                    <a:pt x="324036" y="0"/>
                  </a:moveTo>
                  <a:lnTo>
                    <a:pt x="455698" y="0"/>
                  </a:lnTo>
                  <a:cubicBezTo>
                    <a:pt x="472434" y="0"/>
                    <a:pt x="486054" y="13597"/>
                    <a:pt x="486054" y="30303"/>
                  </a:cubicBezTo>
                  <a:lnTo>
                    <a:pt x="486054" y="80868"/>
                  </a:lnTo>
                  <a:lnTo>
                    <a:pt x="374689" y="80868"/>
                  </a:lnTo>
                  <a:lnTo>
                    <a:pt x="324036" y="80868"/>
                  </a:lnTo>
                  <a:close/>
                  <a:moveTo>
                    <a:pt x="121514" y="0"/>
                  </a:moveTo>
                  <a:lnTo>
                    <a:pt x="303784" y="0"/>
                  </a:lnTo>
                  <a:lnTo>
                    <a:pt x="303784" y="80868"/>
                  </a:lnTo>
                  <a:lnTo>
                    <a:pt x="172154" y="80868"/>
                  </a:lnTo>
                  <a:lnTo>
                    <a:pt x="121514" y="80868"/>
                  </a:lnTo>
                  <a:close/>
                  <a:moveTo>
                    <a:pt x="30343" y="0"/>
                  </a:moveTo>
                  <a:lnTo>
                    <a:pt x="101261" y="0"/>
                  </a:lnTo>
                  <a:lnTo>
                    <a:pt x="101261" y="80868"/>
                  </a:lnTo>
                  <a:lnTo>
                    <a:pt x="0" y="80868"/>
                  </a:lnTo>
                  <a:lnTo>
                    <a:pt x="0" y="30303"/>
                  </a:lnTo>
                  <a:cubicBezTo>
                    <a:pt x="0" y="13597"/>
                    <a:pt x="13614" y="0"/>
                    <a:pt x="30343" y="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FF0000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 fontScale="82500" lnSpcReduction="20000"/>
            </a:bodyPr>
            <a:lstStyle>
              <a:defPPr>
                <a:defRPr lang="zh-CN"/>
              </a:defPPr>
              <a:lvl1pPr marL="0" lvl="0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 advTm="300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300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30" y="841772"/>
            <a:ext cx="6858179" cy="1790700"/>
          </a:xfrm>
        </p:spPr>
        <p:txBody>
          <a:bodyPr anchor="b"/>
          <a:lstStyle>
            <a:lvl1pPr algn="ctr">
              <a:defRPr sz="4500"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30" y="2701529"/>
            <a:ext cx="6858179" cy="1241822"/>
          </a:xfrm>
        </p:spPr>
        <p:txBody>
          <a:bodyPr/>
          <a:lstStyle>
            <a:lvl1pPr marL="0" indent="0" algn="ctr">
              <a:buNone/>
              <a:defRPr sz="1800"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065" indent="0" algn="ctr">
              <a:buNone/>
              <a:defRPr sz="1200"/>
            </a:lvl4pPr>
            <a:lvl5pPr marL="1370965" indent="0" algn="ctr">
              <a:buNone/>
              <a:defRPr sz="1200"/>
            </a:lvl5pPr>
            <a:lvl6pPr marL="1713865" indent="0" algn="ctr">
              <a:buNone/>
              <a:defRPr sz="1200"/>
            </a:lvl6pPr>
            <a:lvl7pPr marL="2056765" indent="0" algn="ctr">
              <a:buNone/>
              <a:defRPr sz="1200"/>
            </a:lvl7pPr>
            <a:lvl8pPr marL="2399665" indent="0" algn="ctr">
              <a:buNone/>
              <a:defRPr sz="1200"/>
            </a:lvl8pPr>
            <a:lvl9pPr marL="274193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66" y="4767263"/>
            <a:ext cx="2057454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9029" y="4767263"/>
            <a:ext cx="3086181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8118" y="4767263"/>
            <a:ext cx="2057454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0" y="556022"/>
            <a:ext cx="914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3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</a:ln>
        </p:spPr>
        <p:txBody>
          <a:bodyPr/>
          <a:lstStyle>
            <a:lvl1pPr eaLnBrk="1" hangingPunct="1">
              <a:defRPr/>
            </a:lvl1pPr>
          </a:lstStyle>
          <a:p>
            <a:fld id="{E52969C8-315B-418B-B0C9-31E457E70613}" type="slidenum">
              <a:rPr lang="zh-CN" altLang="en-US"/>
              <a:t>‹#›</a:t>
            </a:fld>
            <a:r>
              <a:rPr lang="en-US" altLang="zh-CN"/>
              <a:t>/50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556022"/>
            <a:ext cx="914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3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</a:ln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370382E-D154-428C-B732-AC549F573D54}" type="slidenum">
              <a:rPr lang="zh-CN" altLang="en-US"/>
              <a:t>‹#›</a:t>
            </a:fld>
            <a:r>
              <a:rPr lang="en-US" altLang="zh-CN"/>
              <a:t>/50</a:t>
            </a:r>
          </a:p>
        </p:txBody>
      </p:sp>
      <p:sp>
        <p:nvSpPr>
          <p:cNvPr id="4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+mn-lt"/>
                <a:ea typeface="+mn-ea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b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7652CD4D-8D8E-482E-8E9B-EF493C1B222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260" y="0"/>
            <a:ext cx="6894740" cy="51435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1"/>
            <a:ext cx="114300" cy="492919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514350"/>
            <a:ext cx="114300" cy="462915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260" y="0"/>
            <a:ext cx="6894740" cy="51435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1"/>
            <a:ext cx="114300" cy="492919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514350"/>
            <a:ext cx="114300" cy="462915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jpeg"/><Relationship Id="rId12" Type="http://schemas.openxmlformats.org/officeDocument/2006/relationships/image" Target="../media/image2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/>
          <p:nvPr userDrawn="1"/>
        </p:nvPicPr>
        <p:blipFill>
          <a:blip r:embed="rId11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" name="图片 8" descr="中国铁建重工集团有限公司logo - 中英文全称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59538" y="0"/>
            <a:ext cx="2684462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5235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2435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635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835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transition spd="slow" advTm="3000">
    <p:rand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57175" indent="-257175" algn="l" rtl="0" eaLnBrk="0" fontAlgn="base" hangingPunct="0">
        <a:spcBef>
          <a:spcPct val="15000"/>
        </a:spcBef>
        <a:spcAft>
          <a:spcPct val="0"/>
        </a:spcAft>
        <a:buChar char="•"/>
        <a:defRPr sz="1500">
          <a:solidFill>
            <a:schemeClr val="tx2"/>
          </a:solidFill>
          <a:latin typeface="+mn-lt"/>
          <a:ea typeface="+mn-ea"/>
          <a:cs typeface="+mn-cs"/>
        </a:defRPr>
      </a:lvl1pPr>
      <a:lvl2pPr marL="556895" indent="-213995" algn="l" rtl="0" eaLnBrk="0" fontAlgn="base" hangingPunct="0">
        <a:spcBef>
          <a:spcPct val="15000"/>
        </a:spcBef>
        <a:spcAft>
          <a:spcPct val="0"/>
        </a:spcAft>
        <a:buChar char="–"/>
        <a:defRPr sz="1500">
          <a:solidFill>
            <a:schemeClr val="tx2"/>
          </a:solidFill>
          <a:latin typeface="+mn-lt"/>
          <a:ea typeface="仿宋_GB2312" panose="02010609030101010101" pitchFamily="49" charset="-122"/>
        </a:defRPr>
      </a:lvl2pPr>
      <a:lvl3pPr marL="857250" indent="-171450" algn="l" rtl="0" eaLnBrk="0" fontAlgn="base" hangingPunct="0">
        <a:spcBef>
          <a:spcPct val="15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199515" indent="-171450" algn="l" rtl="0" eaLnBrk="0" fontAlgn="base" hangingPunct="0">
        <a:spcBef>
          <a:spcPct val="15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1542415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1885315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228215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2571115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2913380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0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09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38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7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6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193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727" tIns="33863" rIns="67727" bIns="33863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727" tIns="33863" rIns="67727" bIns="33863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67727" tIns="33863" rIns="67727" bIns="33863" rtlCol="0" anchor="ctr"/>
          <a:lstStyle>
            <a:lvl1pPr algn="ctr" eaLnBrk="0" hangingPunct="0">
              <a:defRPr sz="675" b="1">
                <a:solidFill>
                  <a:prstClr val="black">
                    <a:tint val="75000"/>
                  </a:prstClr>
                </a:solidFill>
                <a:latin typeface="微软雅黑" panose="020B0503020204020204" pitchFamily="34" charset="-122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5475" y="4844654"/>
            <a:ext cx="2133600" cy="273844"/>
          </a:xfrm>
          <a:prstGeom prst="rect">
            <a:avLst/>
          </a:prstGeom>
        </p:spPr>
        <p:txBody>
          <a:bodyPr vert="horz" wrap="square" lIns="67727" tIns="33863" rIns="67727" bIns="33863" numCol="1" anchor="ctr" anchorCtr="0" compatLnSpc="1"/>
          <a:lstStyle>
            <a:lvl1pPr algn="r" eaLnBrk="0" hangingPunct="0">
              <a:defRPr sz="75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5E8069-E9C2-4C8F-8F13-CA83A2A3E5B5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507365" rtl="0" eaLnBrk="0" fontAlgn="base" hangingPunct="0"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189865" indent="-189230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2115" indent="-158750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888365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2365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397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05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59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54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508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62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1016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70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524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78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2032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727" tIns="33863" rIns="67727" bIns="33863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727" tIns="33863" rIns="67727" bIns="33863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67727" tIns="33863" rIns="67727" bIns="33863" rtlCol="0" anchor="ctr"/>
          <a:lstStyle>
            <a:lvl1pPr algn="ctr" eaLnBrk="0" hangingPunct="0">
              <a:buFontTx/>
              <a:buNone/>
              <a:defRPr sz="675" b="1">
                <a:solidFill>
                  <a:prstClr val="black">
                    <a:tint val="75000"/>
                  </a:prstClr>
                </a:solidFill>
                <a:latin typeface="微软雅黑" panose="020B0503020204020204" pitchFamily="34" charset="-122"/>
                <a:ea typeface="+mn-ea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5475" y="4844654"/>
            <a:ext cx="2133600" cy="273844"/>
          </a:xfrm>
          <a:prstGeom prst="rect">
            <a:avLst/>
          </a:prstGeom>
        </p:spPr>
        <p:txBody>
          <a:bodyPr vert="horz" wrap="square" lIns="67727" tIns="33863" rIns="67727" bIns="33863" numCol="1" anchor="ctr" anchorCtr="0" compatLnSpc="1"/>
          <a:lstStyle>
            <a:lvl1pPr algn="r" eaLnBrk="0" hangingPunct="0">
              <a:buFontTx/>
              <a:buNone/>
              <a:defRPr sz="75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fld id="{6F9AAB21-5EDE-4CCC-B134-AFB56633CE2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ctr" defTabSz="507365" rtl="0" eaLnBrk="0" fontAlgn="base" hangingPunct="0"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+mj-lt"/>
          <a:ea typeface="+mj-ea"/>
          <a:cs typeface="微软雅黑" panose="020B0503020204020204" pitchFamily="34" charset="-122"/>
        </a:defRPr>
      </a:lvl1pPr>
      <a:lvl2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189865" indent="-189230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1pPr>
      <a:lvl2pPr marL="412115" indent="-158750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2pPr>
      <a:lvl3pPr marL="635000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3pPr>
      <a:lvl4pPr marL="888365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4pPr>
      <a:lvl5pPr marL="1142365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5pPr>
      <a:lvl6pPr marL="1397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05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59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54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508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62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1016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70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524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78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2032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tags" Target="../tags/tag9.xml"/><Relationship Id="rId9" Type="http://schemas.openxmlformats.org/officeDocument/2006/relationships/tags" Target="../tags/tag10.xml"/><Relationship Id="rId10" Type="http://schemas.openxmlformats.org/officeDocument/2006/relationships/tags" Target="../tags/tag11.xml"/><Relationship Id="rId11" Type="http://schemas.openxmlformats.org/officeDocument/2006/relationships/tags" Target="../tags/tag12.xml"/><Relationship Id="rId12" Type="http://schemas.openxmlformats.org/officeDocument/2006/relationships/tags" Target="../tags/tag13.xml"/><Relationship Id="rId13" Type="http://schemas.openxmlformats.org/officeDocument/2006/relationships/tags" Target="../tags/tag14.xml"/><Relationship Id="rId14" Type="http://schemas.openxmlformats.org/officeDocument/2006/relationships/tags" Target="../tags/tag15.xml"/><Relationship Id="rId15" Type="http://schemas.openxmlformats.org/officeDocument/2006/relationships/tags" Target="../tags/tag16.xml"/><Relationship Id="rId16" Type="http://schemas.openxmlformats.org/officeDocument/2006/relationships/tags" Target="../tags/tag17.xml"/><Relationship Id="rId17" Type="http://schemas.openxmlformats.org/officeDocument/2006/relationships/tags" Target="../tags/tag18.xml"/><Relationship Id="rId18" Type="http://schemas.openxmlformats.org/officeDocument/2006/relationships/tags" Target="../tags/tag19.xml"/><Relationship Id="rId19" Type="http://schemas.openxmlformats.org/officeDocument/2006/relationships/tags" Target="../tags/tag20.xml"/><Relationship Id="rId20" Type="http://schemas.openxmlformats.org/officeDocument/2006/relationships/tags" Target="../tags/tag21.xml"/><Relationship Id="rId21" Type="http://schemas.openxmlformats.org/officeDocument/2006/relationships/tags" Target="../tags/tag22.xml"/><Relationship Id="rId22" Type="http://schemas.openxmlformats.org/officeDocument/2006/relationships/tags" Target="../tags/tag23.xml"/><Relationship Id="rId23" Type="http://schemas.openxmlformats.org/officeDocument/2006/relationships/tags" Target="../tags/tag24.xml"/><Relationship Id="rId24" Type="http://schemas.openxmlformats.org/officeDocument/2006/relationships/tags" Target="../tags/tag25.xml"/><Relationship Id="rId25" Type="http://schemas.openxmlformats.org/officeDocument/2006/relationships/slideLayout" Target="../slideLayouts/slideLayout36.xml"/><Relationship Id="rId26" Type="http://schemas.openxmlformats.org/officeDocument/2006/relationships/notesSlide" Target="../notesSlides/notesSlide2.xml"/><Relationship Id="rId27" Type="http://schemas.openxmlformats.org/officeDocument/2006/relationships/image" Target="../media/image10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Relationship Id="rId6" Type="http://schemas.openxmlformats.org/officeDocument/2006/relationships/image" Target="../media/image1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Relationship Id="rId6" Type="http://schemas.openxmlformats.org/officeDocument/2006/relationships/image" Target="../media/image9.jpeg"/><Relationship Id="rId7" Type="http://schemas.openxmlformats.org/officeDocument/2006/relationships/image" Target="../media/image1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1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tags" Target="../tags/tag36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5142865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839243" y="2685624"/>
            <a:ext cx="760015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403413" y="1803862"/>
            <a:ext cx="615884" cy="1809161"/>
            <a:chOff x="514831" y="2674043"/>
            <a:chExt cx="821179" cy="2226587"/>
          </a:xfrm>
        </p:grpSpPr>
        <p:sp>
          <p:nvSpPr>
            <p:cNvPr id="9" name="L 形 8"/>
            <p:cNvSpPr/>
            <p:nvPr/>
          </p:nvSpPr>
          <p:spPr>
            <a:xfrm>
              <a:off x="514831" y="2674044"/>
              <a:ext cx="821178" cy="2226586"/>
            </a:xfrm>
            <a:prstGeom prst="corner">
              <a:avLst>
                <a:gd name="adj1" fmla="val 11158"/>
                <a:gd name="adj2" fmla="val 11797"/>
              </a:avLst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14832" y="2674043"/>
              <a:ext cx="821178" cy="10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1" name="标题 3"/>
          <p:cNvSpPr txBox="1"/>
          <p:nvPr>
            <p:custDataLst>
              <p:tags r:id="rId1"/>
            </p:custDataLst>
          </p:nvPr>
        </p:nvSpPr>
        <p:spPr>
          <a:xfrm>
            <a:off x="1019176" y="1805244"/>
            <a:ext cx="7831931" cy="738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75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变径盾构站隧一体化建造风险风险评估及安全控制技术研究</a:t>
            </a:r>
          </a:p>
        </p:txBody>
      </p:sp>
      <p:sp>
        <p:nvSpPr>
          <p:cNvPr id="17" name="文本框 8"/>
          <p:cNvSpPr txBox="1"/>
          <p:nvPr/>
        </p:nvSpPr>
        <p:spPr>
          <a:xfrm>
            <a:off x="127000" y="1319530"/>
            <a:ext cx="7798435" cy="783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中国铁建股份有限公司地下空间利用领域科研计划项目  合同编号：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2024-W08</a:t>
            </a:r>
          </a:p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3"/>
          <p:cNvSpPr/>
          <p:nvPr/>
        </p:nvSpPr>
        <p:spPr>
          <a:xfrm>
            <a:off x="1852295" y="2705735"/>
            <a:ext cx="5195570" cy="516890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algn="ctr">
              <a:lnSpc>
                <a:spcPts val="3750"/>
              </a:lnSpc>
              <a:spcBef>
                <a:spcPct val="0"/>
              </a:spcBef>
              <a:buNone/>
            </a:pPr>
            <a:r>
              <a:rPr lang="en-US" altLang="zh-CN" sz="3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2026</a:t>
            </a:r>
            <a:r>
              <a:rPr lang="zh-CN" altLang="en-US" sz="3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年度执行情况汇报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263956" y="3546828"/>
            <a:ext cx="2217420" cy="427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defTabSz="914400">
              <a:lnSpc>
                <a:spcPct val="120000"/>
              </a:lnSpc>
              <a:buClrTx/>
              <a:buSzTx/>
              <a:buFontTx/>
            </a:pPr>
            <a:endParaRPr lang="zh-CN" altLang="en-US" b="1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94614" y="3472831"/>
            <a:ext cx="4606188" cy="40248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defTabSz="914400">
              <a:lnSpc>
                <a:spcPct val="12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课题参研单位：中铁建华南建设有限公司</a:t>
            </a:r>
            <a:endParaRPr lang="en-US" altLang="zh-CN" b="1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pic>
        <p:nvPicPr>
          <p:cNvPr id="2" name="Picture 2" descr="D:\PPT~综合PPT-新\全国五百强\7+多\11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60408" y="156366"/>
            <a:ext cx="590699" cy="47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/>
          <p:cNvSpPr txBox="1"/>
          <p:nvPr/>
        </p:nvSpPr>
        <p:spPr>
          <a:xfrm>
            <a:off x="2138889" y="3813936"/>
            <a:ext cx="1548000" cy="443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dist" defTabSz="914400">
              <a:lnSpc>
                <a:spcPct val="12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子课题负责人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521051" y="3793769"/>
            <a:ext cx="273487" cy="443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dist" defTabSz="914400">
              <a:lnSpc>
                <a:spcPct val="12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：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754656" y="3793769"/>
            <a:ext cx="942387" cy="443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dist" defTabSz="914400">
              <a:lnSpc>
                <a:spcPct val="12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姜军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42970" y="4201795"/>
            <a:ext cx="1421765" cy="44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dist" defTabSz="914400">
              <a:lnSpc>
                <a:spcPct val="120000"/>
              </a:lnSpc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2026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  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398904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0" y="1"/>
            <a:ext cx="9143988" cy="2411291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35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iṥḻiḍê"/>
          <p:cNvSpPr/>
          <p:nvPr/>
        </p:nvSpPr>
        <p:spPr bwMode="auto">
          <a:xfrm flipV="1">
            <a:off x="3748478" y="1"/>
            <a:ext cx="1404156" cy="1208978"/>
          </a:xfrm>
          <a:prstGeom prst="round2SameRect">
            <a:avLst/>
          </a:prstGeom>
          <a:solidFill>
            <a:schemeClr val="tx1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rm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ïśľíḍê"/>
          <p:cNvSpPr/>
          <p:nvPr/>
        </p:nvSpPr>
        <p:spPr>
          <a:xfrm>
            <a:off x="3748478" y="559182"/>
            <a:ext cx="1404156" cy="611408"/>
          </a:xfrm>
          <a:prstGeom prst="rect">
            <a:avLst/>
          </a:prstGeom>
        </p:spPr>
        <p:txBody>
          <a:bodyPr wrap="square" lIns="68580" tIns="34290" rIns="68580" bIns="34290" anchor="ctr">
            <a:norm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CONTE</a:t>
            </a:r>
            <a:r>
              <a:rPr lang="en-US" altLang="zh-CN" sz="100" b="1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NTS</a:t>
            </a:r>
            <a:endParaRPr lang="en-US" altLang="zh-CN" sz="1200" b="1" dirty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2314911" y="2916366"/>
            <a:ext cx="0" cy="113412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4665492" y="2868106"/>
            <a:ext cx="0" cy="113412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ïśľíḍê"/>
          <p:cNvSpPr/>
          <p:nvPr/>
        </p:nvSpPr>
        <p:spPr>
          <a:xfrm>
            <a:off x="3748478" y="133203"/>
            <a:ext cx="1404156" cy="611408"/>
          </a:xfrm>
          <a:prstGeom prst="rect">
            <a:avLst/>
          </a:prstGeom>
        </p:spPr>
        <p:txBody>
          <a:bodyPr wrap="square" lIns="68580" tIns="34290" rIns="68580" bIns="34290" anchor="ctr">
            <a:norm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3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目录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" name="işlïḋe"/>
          <p:cNvGrpSpPr/>
          <p:nvPr>
            <p:custDataLst>
              <p:tags r:id="rId4"/>
            </p:custDataLst>
          </p:nvPr>
        </p:nvGrpSpPr>
        <p:grpSpPr>
          <a:xfrm>
            <a:off x="979646" y="2196465"/>
            <a:ext cx="782955" cy="671989"/>
            <a:chOff x="1276729" y="3652119"/>
            <a:chExt cx="1044116" cy="896148"/>
          </a:xfrm>
        </p:grpSpPr>
        <p:sp>
          <p:nvSpPr>
            <p:cNvPr id="51" name="íṩ1íḍé"/>
            <p:cNvSpPr/>
            <p:nvPr>
              <p:custDataLst>
                <p:tags r:id="rId22"/>
              </p:custDataLst>
            </p:nvPr>
          </p:nvSpPr>
          <p:spPr bwMode="auto">
            <a:xfrm>
              <a:off x="1276729" y="3652119"/>
              <a:ext cx="1044116" cy="280129"/>
            </a:xfrm>
            <a:prstGeom prst="trapezoid">
              <a:avLst>
                <a:gd name="adj" fmla="val 50654"/>
              </a:avLst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anchor="ctr">
              <a:normAutofit fontScale="72500" lnSpcReduction="200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îsḻïḓe"/>
            <p:cNvSpPr/>
            <p:nvPr>
              <p:custDataLst>
                <p:tags r:id="rId23"/>
              </p:custDataLst>
            </p:nvPr>
          </p:nvSpPr>
          <p:spPr bwMode="auto">
            <a:xfrm>
              <a:off x="1420745" y="3652119"/>
              <a:ext cx="756084" cy="532156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wrap="square" lIns="68580" tIns="34290" rIns="68580" bIns="34290" anchor="ctr">
              <a:norm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işľïḋê"/>
            <p:cNvSpPr/>
            <p:nvPr>
              <p:custDataLst>
                <p:tags r:id="rId24"/>
              </p:custDataLst>
            </p:nvPr>
          </p:nvSpPr>
          <p:spPr bwMode="auto">
            <a:xfrm>
              <a:off x="1420745" y="3792183"/>
              <a:ext cx="756084" cy="7560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rot="0" spcFirstLastPara="0" vert="horz" wrap="square" lIns="68580" tIns="34290" rIns="68580" bIns="34290" anchor="ctr" anchorCtr="1" forceAA="0" compatLnSpc="1">
              <a:normAutofit fontScale="95000" lnSpcReduction="100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400" b="1" dirty="0">
                  <a:solidFill>
                    <a:srgbClr val="FFFFFF">
                      <a:lumMod val="100000"/>
                    </a:srgbClr>
                  </a:solidFill>
                  <a:latin typeface="微软雅黑" panose="020B0503020204020204" pitchFamily="34" charset="-122"/>
                </a:rPr>
                <a:t>一</a:t>
              </a:r>
              <a:endParaRPr lang="en-US" altLang="zh-CN" sz="2400" b="1" dirty="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27" name="文本框 126"/>
          <p:cNvSpPr txBox="1"/>
          <p:nvPr>
            <p:custDataLst>
              <p:tags r:id="rId5"/>
            </p:custDataLst>
          </p:nvPr>
        </p:nvSpPr>
        <p:spPr>
          <a:xfrm>
            <a:off x="358775" y="3102134"/>
            <a:ext cx="1849279" cy="414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30000"/>
              </a:lnSpc>
              <a:buFont typeface="Wingdings" panose="05000000000000000000" pitchFamily="2" charset="2"/>
              <a:buChar char="Ø"/>
              <a:defRPr sz="2800" b="1">
                <a:solidFill>
                  <a:srgbClr val="003C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olidFill>
                  <a:srgbClr val="000000"/>
                </a:solidFill>
              </a:rPr>
              <a:t>课题总体情况</a:t>
            </a:r>
          </a:p>
        </p:txBody>
      </p:sp>
      <p:grpSp>
        <p:nvGrpSpPr>
          <p:cNvPr id="13" name="î$ļîḑè"/>
          <p:cNvGrpSpPr/>
          <p:nvPr>
            <p:custDataLst>
              <p:tags r:id="rId6"/>
            </p:custDataLst>
          </p:nvPr>
        </p:nvGrpSpPr>
        <p:grpSpPr>
          <a:xfrm>
            <a:off x="3121660" y="2196465"/>
            <a:ext cx="782955" cy="671989"/>
            <a:chOff x="4159173" y="3652119"/>
            <a:chExt cx="1044116" cy="896148"/>
          </a:xfrm>
        </p:grpSpPr>
        <p:sp>
          <p:nvSpPr>
            <p:cNvPr id="46" name="i$ḻiḓê"/>
            <p:cNvSpPr/>
            <p:nvPr>
              <p:custDataLst>
                <p:tags r:id="rId19"/>
              </p:custDataLst>
            </p:nvPr>
          </p:nvSpPr>
          <p:spPr bwMode="auto">
            <a:xfrm>
              <a:off x="4159173" y="3652119"/>
              <a:ext cx="1044116" cy="280129"/>
            </a:xfrm>
            <a:prstGeom prst="trapezoid">
              <a:avLst>
                <a:gd name="adj" fmla="val 50654"/>
              </a:avLst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anchor="ctr">
              <a:normAutofit fontScale="72500" lnSpcReduction="200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íṥľidé"/>
            <p:cNvSpPr/>
            <p:nvPr>
              <p:custDataLst>
                <p:tags r:id="rId20"/>
              </p:custDataLst>
            </p:nvPr>
          </p:nvSpPr>
          <p:spPr bwMode="auto">
            <a:xfrm>
              <a:off x="4303189" y="3652119"/>
              <a:ext cx="756084" cy="532156"/>
            </a:xfrm>
            <a:prstGeom prst="rect">
              <a:avLst/>
            </a:prstGeom>
            <a:solidFill>
              <a:srgbClr val="68AFFD"/>
            </a:solidFill>
            <a:ln w="19050">
              <a:noFill/>
              <a:round/>
            </a:ln>
          </p:spPr>
          <p:txBody>
            <a:bodyPr wrap="square" lIns="68580" tIns="34290" rIns="68580" bIns="34290" anchor="ctr">
              <a:norm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8" name="îsḷïdè"/>
            <p:cNvSpPr/>
            <p:nvPr>
              <p:custDataLst>
                <p:tags r:id="rId21"/>
              </p:custDataLst>
            </p:nvPr>
          </p:nvSpPr>
          <p:spPr bwMode="auto">
            <a:xfrm>
              <a:off x="4303189" y="3792183"/>
              <a:ext cx="756084" cy="756084"/>
            </a:xfrm>
            <a:prstGeom prst="ellipse">
              <a:avLst/>
            </a:prstGeom>
            <a:solidFill>
              <a:srgbClr val="68AFFD"/>
            </a:solidFill>
            <a:ln w="19050">
              <a:noFill/>
              <a:round/>
            </a:ln>
          </p:spPr>
          <p:txBody>
            <a:bodyPr rot="0" spcFirstLastPara="0" vert="horz" wrap="square" lIns="68580" tIns="34290" rIns="68580" bIns="34290" anchor="ctr" anchorCtr="1" forceAA="0" compatLnSpc="1">
              <a:normAutofit fontScale="975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1" dirty="0">
                  <a:solidFill>
                    <a:srgbClr val="FFFFFF">
                      <a:lumMod val="100000"/>
                    </a:srgbClr>
                  </a:solidFill>
                  <a:latin typeface="微软雅黑" panose="020B0503020204020204" pitchFamily="34" charset="-122"/>
                </a:rPr>
                <a:t>二</a:t>
              </a:r>
              <a:endParaRPr lang="en-US" altLang="zh-CN" sz="2100" b="1" dirty="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33" name="文本框 132"/>
          <p:cNvSpPr txBox="1"/>
          <p:nvPr>
            <p:custDataLst>
              <p:tags r:id="rId7"/>
            </p:custDataLst>
          </p:nvPr>
        </p:nvSpPr>
        <p:spPr>
          <a:xfrm>
            <a:off x="2493010" y="3103880"/>
            <a:ext cx="2039620" cy="414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30000"/>
              </a:lnSpc>
              <a:buFont typeface="Wingdings" panose="05000000000000000000" pitchFamily="2" charset="2"/>
              <a:buChar char="Ø"/>
              <a:defRPr sz="2800" b="1">
                <a:solidFill>
                  <a:srgbClr val="003C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olidFill>
                  <a:srgbClr val="000000"/>
                </a:solidFill>
                <a:sym typeface="+mn-lt"/>
              </a:rPr>
              <a:t>课题研发进展</a:t>
            </a:r>
          </a:p>
        </p:txBody>
      </p:sp>
      <p:grpSp>
        <p:nvGrpSpPr>
          <p:cNvPr id="17" name="işlïdê"/>
          <p:cNvGrpSpPr/>
          <p:nvPr>
            <p:custDataLst>
              <p:tags r:id="rId8"/>
            </p:custDataLst>
          </p:nvPr>
        </p:nvGrpSpPr>
        <p:grpSpPr>
          <a:xfrm>
            <a:off x="5432252" y="2196465"/>
            <a:ext cx="782955" cy="671989"/>
            <a:chOff x="9869501" y="3652119"/>
            <a:chExt cx="1044116" cy="896148"/>
          </a:xfrm>
        </p:grpSpPr>
        <p:sp>
          <p:nvSpPr>
            <p:cNvPr id="36" name="íšḷîḑê"/>
            <p:cNvSpPr/>
            <p:nvPr>
              <p:custDataLst>
                <p:tags r:id="rId16"/>
              </p:custDataLst>
            </p:nvPr>
          </p:nvSpPr>
          <p:spPr bwMode="auto">
            <a:xfrm>
              <a:off x="9869501" y="3652119"/>
              <a:ext cx="1044116" cy="280129"/>
            </a:xfrm>
            <a:prstGeom prst="trapezoid">
              <a:avLst>
                <a:gd name="adj" fmla="val 50654"/>
              </a:avLst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anchor="ctr">
              <a:normAutofit fontScale="72500" lnSpcReduction="200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îsľiḑè"/>
            <p:cNvSpPr/>
            <p:nvPr>
              <p:custDataLst>
                <p:tags r:id="rId17"/>
              </p:custDataLst>
            </p:nvPr>
          </p:nvSpPr>
          <p:spPr bwMode="auto">
            <a:xfrm>
              <a:off x="10013517" y="3652119"/>
              <a:ext cx="756084" cy="532156"/>
            </a:xfrm>
            <a:prstGeom prst="rect">
              <a:avLst/>
            </a:prstGeom>
            <a:solidFill>
              <a:srgbClr val="4472C4"/>
            </a:solidFill>
            <a:ln w="19050">
              <a:noFill/>
              <a:round/>
            </a:ln>
          </p:spPr>
          <p:txBody>
            <a:bodyPr wrap="square" lIns="68580" tIns="34290" rIns="68580" bIns="34290" anchor="ctr">
              <a:norm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" name="iSḷíďé"/>
            <p:cNvSpPr/>
            <p:nvPr>
              <p:custDataLst>
                <p:tags r:id="rId18"/>
              </p:custDataLst>
            </p:nvPr>
          </p:nvSpPr>
          <p:spPr bwMode="auto">
            <a:xfrm>
              <a:off x="10013517" y="3792183"/>
              <a:ext cx="756084" cy="756084"/>
            </a:xfrm>
            <a:prstGeom prst="ellipse">
              <a:avLst/>
            </a:prstGeom>
            <a:solidFill>
              <a:srgbClr val="4472C4"/>
            </a:solidFill>
            <a:ln w="19050">
              <a:noFill/>
              <a:round/>
            </a:ln>
          </p:spPr>
          <p:txBody>
            <a:bodyPr rot="0" spcFirstLastPara="0" vert="horz" wrap="square" lIns="68580" tIns="34290" rIns="68580" bIns="34290" anchor="ctr" anchorCtr="1" forceAA="0" compatLnSpc="1">
              <a:normAutofit fontScale="975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1" dirty="0">
                  <a:solidFill>
                    <a:srgbClr val="FFFFFF">
                      <a:lumMod val="100000"/>
                    </a:srgbClr>
                  </a:solidFill>
                  <a:latin typeface="微软雅黑" panose="020B0503020204020204" pitchFamily="34" charset="-122"/>
                </a:rPr>
                <a:t>三</a:t>
              </a:r>
              <a:endParaRPr lang="en-US" altLang="zh-CN" sz="2100" b="1" dirty="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35" name="文本框 134"/>
          <p:cNvSpPr txBox="1"/>
          <p:nvPr>
            <p:custDataLst>
              <p:tags r:id="rId9"/>
            </p:custDataLst>
          </p:nvPr>
        </p:nvSpPr>
        <p:spPr>
          <a:xfrm>
            <a:off x="4810404" y="3102134"/>
            <a:ext cx="2060599" cy="414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30000"/>
              </a:lnSpc>
              <a:buFont typeface="Wingdings" panose="05000000000000000000" pitchFamily="2" charset="2"/>
              <a:buChar char="Ø"/>
              <a:defRPr sz="2800" b="1">
                <a:solidFill>
                  <a:srgbClr val="003C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olidFill>
                  <a:srgbClr val="000000"/>
                </a:solidFill>
              </a:rPr>
              <a:t>经费使用情况</a:t>
            </a:r>
          </a:p>
        </p:txBody>
      </p:sp>
      <p:sp>
        <p:nvSpPr>
          <p:cNvPr id="49" name="矩形 48"/>
          <p:cNvSpPr/>
          <p:nvPr/>
        </p:nvSpPr>
        <p:spPr>
          <a:xfrm>
            <a:off x="487734" y="1276060"/>
            <a:ext cx="4584523" cy="30008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基于变径盾构的轨道交通隧站一体化建造技术研究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87734" y="1300130"/>
            <a:ext cx="0" cy="70464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3"/>
          <p:cNvSpPr/>
          <p:nvPr/>
        </p:nvSpPr>
        <p:spPr>
          <a:xfrm>
            <a:off x="533840" y="1637322"/>
            <a:ext cx="3050681" cy="414020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</a:pPr>
            <a:r>
              <a:rPr lang="en-US" altLang="zh-CN" sz="21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2025</a:t>
            </a:r>
            <a:r>
              <a:rPr lang="zh-CN" altLang="en-US" sz="21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年度执行情况汇报</a:t>
            </a:r>
            <a:endParaRPr lang="en-US" altLang="zh-CN" sz="21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94129" y="4901136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1</a:t>
            </a:r>
            <a:endParaRPr lang="zh-CN" altLang="en-US" sz="900" dirty="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12" name="î$ļîḑè"/>
          <p:cNvGrpSpPr/>
          <p:nvPr>
            <p:custDataLst>
              <p:tags r:id="rId10"/>
            </p:custDataLst>
          </p:nvPr>
        </p:nvGrpSpPr>
        <p:grpSpPr>
          <a:xfrm>
            <a:off x="7659370" y="2196465"/>
            <a:ext cx="782955" cy="671989"/>
            <a:chOff x="4159173" y="3652119"/>
            <a:chExt cx="1044116" cy="896148"/>
          </a:xfrm>
        </p:grpSpPr>
        <p:sp>
          <p:nvSpPr>
            <p:cNvPr id="14" name="i$ḻiḓê"/>
            <p:cNvSpPr/>
            <p:nvPr>
              <p:custDataLst>
                <p:tags r:id="rId13"/>
              </p:custDataLst>
            </p:nvPr>
          </p:nvSpPr>
          <p:spPr bwMode="auto">
            <a:xfrm>
              <a:off x="4159173" y="3652119"/>
              <a:ext cx="1044116" cy="280129"/>
            </a:xfrm>
            <a:prstGeom prst="trapezoid">
              <a:avLst>
                <a:gd name="adj" fmla="val 50654"/>
              </a:avLst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anchor="ctr">
              <a:normAutofit fontScale="72500" lnSpcReduction="200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íṥľidé"/>
            <p:cNvSpPr/>
            <p:nvPr>
              <p:custDataLst>
                <p:tags r:id="rId14"/>
              </p:custDataLst>
            </p:nvPr>
          </p:nvSpPr>
          <p:spPr bwMode="auto">
            <a:xfrm>
              <a:off x="4303189" y="3652119"/>
              <a:ext cx="756084" cy="532156"/>
            </a:xfrm>
            <a:prstGeom prst="rect">
              <a:avLst/>
            </a:prstGeom>
            <a:solidFill>
              <a:srgbClr val="68AFFD"/>
            </a:solidFill>
            <a:ln w="19050">
              <a:noFill/>
              <a:round/>
            </a:ln>
          </p:spPr>
          <p:txBody>
            <a:bodyPr wrap="square" lIns="68580" tIns="34290" rIns="68580" bIns="34290" anchor="ctr">
              <a:norm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" name="îsḷïdè"/>
            <p:cNvSpPr/>
            <p:nvPr>
              <p:custDataLst>
                <p:tags r:id="rId15"/>
              </p:custDataLst>
            </p:nvPr>
          </p:nvSpPr>
          <p:spPr bwMode="auto">
            <a:xfrm>
              <a:off x="4303189" y="3792183"/>
              <a:ext cx="756084" cy="756084"/>
            </a:xfrm>
            <a:prstGeom prst="ellipse">
              <a:avLst/>
            </a:prstGeom>
            <a:solidFill>
              <a:srgbClr val="68AFFD"/>
            </a:solidFill>
            <a:ln w="19050">
              <a:noFill/>
              <a:round/>
            </a:ln>
          </p:spPr>
          <p:txBody>
            <a:bodyPr rot="0" spcFirstLastPara="0" vert="horz" wrap="square" lIns="68580" tIns="34290" rIns="68580" bIns="34290" anchor="ctr" anchorCtr="1" forceAA="0" compatLnSpc="1">
              <a:normAutofit fontScale="975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1" dirty="0">
                  <a:solidFill>
                    <a:srgbClr val="FFFFFF">
                      <a:lumMod val="100000"/>
                    </a:srgbClr>
                  </a:solidFill>
                  <a:latin typeface="微软雅黑" panose="020B0503020204020204" pitchFamily="34" charset="-122"/>
                </a:rPr>
                <a:t>四</a:t>
              </a:r>
              <a:endParaRPr lang="en-US" altLang="zh-CN" sz="2100" b="1" dirty="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</a:endParaRPr>
            </a:p>
          </p:txBody>
        </p:sp>
      </p:grpSp>
      <p:cxnSp>
        <p:nvCxnSpPr>
          <p:cNvPr id="18" name="直接连接符 17"/>
          <p:cNvCxnSpPr/>
          <p:nvPr>
            <p:custDataLst>
              <p:tags r:id="rId11"/>
            </p:custDataLst>
          </p:nvPr>
        </p:nvCxnSpPr>
        <p:spPr>
          <a:xfrm>
            <a:off x="6947682" y="2916366"/>
            <a:ext cx="0" cy="113412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7015759" y="3102134"/>
            <a:ext cx="2060599" cy="414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30000"/>
              </a:lnSpc>
              <a:buFont typeface="Wingdings" panose="05000000000000000000" pitchFamily="2" charset="2"/>
              <a:buChar char="Ø"/>
              <a:defRPr sz="2800" b="1">
                <a:solidFill>
                  <a:srgbClr val="003C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olidFill>
                  <a:srgbClr val="000000"/>
                </a:solidFill>
              </a:rPr>
              <a:t>下一步工作计划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>
            <p:custDataLst>
              <p:tags r:id="rId2"/>
            </p:custDataLst>
          </p:nvPr>
        </p:nvSpPr>
        <p:spPr>
          <a:xfrm>
            <a:off x="1313128" y="933390"/>
            <a:ext cx="656912" cy="13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一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552700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0" y="0"/>
            <a:ext cx="9143988" cy="2552700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488632" y="516136"/>
            <a:ext cx="4213054" cy="3693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</a:rPr>
              <a:t>中国铁建股份有限公司科技研发计划项目重点课题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基于变径盾构的轨道交通隧站一体化建造技术研究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05621" y="560012"/>
            <a:ext cx="0" cy="28142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2460308" y="1270159"/>
            <a:ext cx="5427821" cy="991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4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500" dirty="0">
                <a:effectLst/>
                <a:sym typeface="+mn-ea"/>
              </a:rPr>
              <a:t>一、课题总体情况</a:t>
            </a:r>
            <a:endParaRPr lang="zh-CN" altLang="en-US" sz="4500" dirty="0">
              <a:effectLst/>
            </a:endParaRPr>
          </a:p>
        </p:txBody>
      </p:sp>
      <p:cxnSp>
        <p:nvCxnSpPr>
          <p:cNvPr id="64" name="直接连接符 63"/>
          <p:cNvCxnSpPr/>
          <p:nvPr>
            <p:custDataLst>
              <p:tags r:id="rId3"/>
            </p:custDataLst>
          </p:nvPr>
        </p:nvCxnSpPr>
        <p:spPr>
          <a:xfrm>
            <a:off x="2251059" y="1373859"/>
            <a:ext cx="0" cy="86039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332572" y="2553000"/>
            <a:ext cx="3951492" cy="835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课题概况</a:t>
            </a:r>
            <a:endParaRPr lang="zh-CN" altLang="en-US" dirty="0">
              <a:solidFill>
                <a:srgbClr val="1147A3"/>
              </a:solidFill>
              <a:latin typeface="微软雅黑" panose="020B0503020204020204" pitchFamily="34" charset="-122"/>
            </a:endParaRPr>
          </a:p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</a:rPr>
              <a:t>2. </a:t>
            </a:r>
            <a:r>
              <a:rPr lang="zh-CN" dirty="0">
                <a:solidFill>
                  <a:srgbClr val="1147A3"/>
                </a:solidFill>
                <a:latin typeface="微软雅黑" panose="020B0503020204020204" pitchFamily="34" charset="-122"/>
              </a:rPr>
              <a:t>团队组成及分工</a:t>
            </a:r>
            <a:endParaRPr lang="zh-CN" dirty="0">
              <a:solidFill>
                <a:srgbClr val="1147A3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260" y="0"/>
            <a:ext cx="6894740" cy="5143500"/>
          </a:xfrm>
          <a:prstGeom prst="rect">
            <a:avLst/>
          </a:prstGeom>
        </p:spPr>
      </p:pic>
      <p:sp>
        <p:nvSpPr>
          <p:cNvPr id="63" name="矩形 62"/>
          <p:cNvSpPr/>
          <p:nvPr>
            <p:custDataLst>
              <p:tags r:id="rId2"/>
            </p:custDataLst>
          </p:nvPr>
        </p:nvSpPr>
        <p:spPr>
          <a:xfrm>
            <a:off x="1313128" y="933390"/>
            <a:ext cx="656912" cy="13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一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552700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0" y="0"/>
            <a:ext cx="9143988" cy="2552700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488632" y="516136"/>
            <a:ext cx="4213054" cy="3693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</a:rPr>
              <a:t>中国铁建股份有限公司科技研发计划项目重点课题）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基于变径盾构的轨道交通隧站一体化建造技术研究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05621" y="560012"/>
            <a:ext cx="0" cy="28142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2460308" y="1270159"/>
            <a:ext cx="6168303" cy="991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4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500" dirty="0">
                <a:effectLst/>
                <a:sym typeface="+mn-ea"/>
              </a:rPr>
              <a:t>二、项目研发进展</a:t>
            </a:r>
            <a:endParaRPr lang="zh-CN" altLang="en-US" sz="4500" dirty="0">
              <a:effectLst/>
            </a:endParaRPr>
          </a:p>
        </p:txBody>
      </p:sp>
      <p:cxnSp>
        <p:nvCxnSpPr>
          <p:cNvPr id="64" name="直接连接符 63"/>
          <p:cNvCxnSpPr/>
          <p:nvPr>
            <p:custDataLst>
              <p:tags r:id="rId3"/>
            </p:custDataLst>
          </p:nvPr>
        </p:nvCxnSpPr>
        <p:spPr>
          <a:xfrm>
            <a:off x="2251059" y="1373859"/>
            <a:ext cx="0" cy="86039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332572" y="2556175"/>
            <a:ext cx="3951492" cy="1950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</a:rPr>
              <a:t>组织管理机构</a:t>
            </a:r>
          </a:p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目标计划分解</a:t>
            </a:r>
          </a:p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3.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年度任务完成情况</a:t>
            </a:r>
            <a:endParaRPr lang="en-US" altLang="zh-CN" dirty="0">
              <a:solidFill>
                <a:srgbClr val="1147A3"/>
              </a:solidFill>
              <a:latin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4.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各子课题工作进展</a:t>
            </a:r>
            <a:endParaRPr lang="en-US" altLang="zh-CN" dirty="0">
              <a:solidFill>
                <a:srgbClr val="1147A3"/>
              </a:solidFill>
              <a:latin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5.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年度工作成果</a:t>
            </a:r>
            <a:endParaRPr lang="en-US" altLang="zh-CN" dirty="0">
              <a:solidFill>
                <a:srgbClr val="1147A3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E849E-9C85-5393-7A6A-478E1366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10">
            <a:extLst>
              <a:ext uri="{FF2B5EF4-FFF2-40B4-BE49-F238E27FC236}">
                <a16:creationId xmlns:a16="http://schemas.microsoft.com/office/drawing/2014/main" id="{290D22F2-1B08-D1C4-1381-783CE87CC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38" y="86398"/>
            <a:ext cx="374485" cy="299378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D8CF28EE-68F8-9816-B370-DFCF5137C0F8}"/>
              </a:ext>
            </a:extLst>
          </p:cNvPr>
          <p:cNvGrpSpPr/>
          <p:nvPr/>
        </p:nvGrpSpPr>
        <p:grpSpPr>
          <a:xfrm>
            <a:off x="25717" y="503238"/>
            <a:ext cx="7183975" cy="339725"/>
            <a:chOff x="25717" y="503238"/>
            <a:chExt cx="7183975" cy="339725"/>
          </a:xfrm>
        </p:grpSpPr>
        <p:sp>
          <p:nvSpPr>
            <p:cNvPr id="13321" name="矩形 13320">
              <a:extLst>
                <a:ext uri="{FF2B5EF4-FFF2-40B4-BE49-F238E27FC236}">
                  <a16:creationId xmlns:a16="http://schemas.microsoft.com/office/drawing/2014/main" id="{630DBBAF-4137-7DE1-E383-867F1DAB7781}"/>
                </a:ext>
              </a:extLst>
            </p:cNvPr>
            <p:cNvSpPr/>
            <p:nvPr/>
          </p:nvSpPr>
          <p:spPr>
            <a:xfrm>
              <a:off x="25717" y="503238"/>
              <a:ext cx="174625" cy="33972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auto"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</a:t>
              </a:r>
            </a:p>
          </p:txBody>
        </p:sp>
        <p:sp>
          <p:nvSpPr>
            <p:cNvPr id="13322" name="矩形 13321">
              <a:extLst>
                <a:ext uri="{FF2B5EF4-FFF2-40B4-BE49-F238E27FC236}">
                  <a16:creationId xmlns:a16="http://schemas.microsoft.com/office/drawing/2014/main" id="{77F9EC1D-9735-2220-E879-3E0BF8B5B724}"/>
                </a:ext>
              </a:extLst>
            </p:cNvPr>
            <p:cNvSpPr/>
            <p:nvPr/>
          </p:nvSpPr>
          <p:spPr>
            <a:xfrm>
              <a:off x="284162" y="503238"/>
              <a:ext cx="6925530" cy="33845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 fontAlgn="auto">
                <a:buClrTx/>
                <a:buSzTx/>
                <a:buFontTx/>
              </a:pP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 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各子课题工作进展</a:t>
              </a: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--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子课题一（站隧一体化建造风险智能识别与评估技术）</a:t>
              </a:r>
            </a:p>
          </p:txBody>
        </p:sp>
      </p:grpSp>
      <p:sp>
        <p:nvSpPr>
          <p:cNvPr id="2" name="TextBox 50">
            <a:extLst>
              <a:ext uri="{FF2B5EF4-FFF2-40B4-BE49-F238E27FC236}">
                <a16:creationId xmlns:a16="http://schemas.microsoft.com/office/drawing/2014/main" id="{F7B4A9CD-FBBC-0FC8-273D-27568BBF6AF8}"/>
              </a:ext>
            </a:extLst>
          </p:cNvPr>
          <p:cNvSpPr txBox="1">
            <a:spLocks noChangeAspect="1"/>
          </p:cNvSpPr>
          <p:nvPr/>
        </p:nvSpPr>
        <p:spPr>
          <a:xfrm>
            <a:off x="36830" y="-19685"/>
            <a:ext cx="4937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项目研发进展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B97F0C-B937-099F-E630-8F244A4763AB}"/>
              </a:ext>
            </a:extLst>
          </p:cNvPr>
          <p:cNvSpPr txBox="1"/>
          <p:nvPr/>
        </p:nvSpPr>
        <p:spPr>
          <a:xfrm>
            <a:off x="6036310" y="160020"/>
            <a:ext cx="3048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endParaRPr lang="zh-CN" altLang="en-US" sz="1600" dirty="0">
              <a:latin typeface="+mj-ea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0B0D09B-ED51-7C95-776F-37C8DF2AD01D}"/>
              </a:ext>
            </a:extLst>
          </p:cNvPr>
          <p:cNvSpPr txBox="1"/>
          <p:nvPr/>
        </p:nvSpPr>
        <p:spPr>
          <a:xfrm>
            <a:off x="-2540" y="84709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sym typeface="+mn-lt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）站隧一体化建造风险智能识别与评估技术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29635857-EDF6-9B52-638F-69724E2BA4BF}"/>
              </a:ext>
            </a:extLst>
          </p:cNvPr>
          <p:cNvGrpSpPr/>
          <p:nvPr/>
        </p:nvGrpSpPr>
        <p:grpSpPr>
          <a:xfrm>
            <a:off x="2918207" y="1321474"/>
            <a:ext cx="6043414" cy="1753051"/>
            <a:chOff x="2918207" y="1321474"/>
            <a:chExt cx="6043414" cy="1753051"/>
          </a:xfrm>
        </p:grpSpPr>
        <p:sp>
          <p:nvSpPr>
            <p:cNvPr id="19" name="Rounded Rectangle 25">
              <a:extLst>
                <a:ext uri="{FF2B5EF4-FFF2-40B4-BE49-F238E27FC236}">
                  <a16:creationId xmlns:a16="http://schemas.microsoft.com/office/drawing/2014/main" id="{C19021DB-A93C-82F7-AE19-85903BCECF2F}"/>
                </a:ext>
              </a:extLst>
            </p:cNvPr>
            <p:cNvSpPr/>
            <p:nvPr/>
          </p:nvSpPr>
          <p:spPr>
            <a:xfrm>
              <a:off x="2918207" y="1321474"/>
              <a:ext cx="6043414" cy="1753051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0" name="TextBox 26">
              <a:extLst>
                <a:ext uri="{FF2B5EF4-FFF2-40B4-BE49-F238E27FC236}">
                  <a16:creationId xmlns:a16="http://schemas.microsoft.com/office/drawing/2014/main" id="{D1922879-F02E-581D-A813-B5EB52AD39D8}"/>
                </a:ext>
              </a:extLst>
            </p:cNvPr>
            <p:cNvSpPr txBox="1"/>
            <p:nvPr/>
          </p:nvSpPr>
          <p:spPr>
            <a:xfrm>
              <a:off x="4978811" y="1429845"/>
              <a:ext cx="1922206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800" b="1" dirty="0" err="1">
                  <a:solidFill>
                    <a:srgbClr val="163B63"/>
                  </a:solidFill>
                  <a:latin typeface="Microsoft YaHei"/>
                </a:rPr>
                <a:t>研发路线</a:t>
              </a:r>
              <a:endParaRPr sz="18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21" name="Oval 27">
              <a:extLst>
                <a:ext uri="{FF2B5EF4-FFF2-40B4-BE49-F238E27FC236}">
                  <a16:creationId xmlns:a16="http://schemas.microsoft.com/office/drawing/2014/main" id="{A1F4DDE0-BA25-0D5F-CEB1-4E0488D3A828}"/>
                </a:ext>
              </a:extLst>
            </p:cNvPr>
            <p:cNvSpPr/>
            <p:nvPr/>
          </p:nvSpPr>
          <p:spPr>
            <a:xfrm>
              <a:off x="3102738" y="1936580"/>
              <a:ext cx="369063" cy="369063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23" name="TextBox 28">
              <a:extLst>
                <a:ext uri="{FF2B5EF4-FFF2-40B4-BE49-F238E27FC236}">
                  <a16:creationId xmlns:a16="http://schemas.microsoft.com/office/drawing/2014/main" id="{06F0CAB9-B79A-C17F-8DE3-FCF16173F6A2}"/>
                </a:ext>
              </a:extLst>
            </p:cNvPr>
            <p:cNvSpPr txBox="1"/>
            <p:nvPr/>
          </p:nvSpPr>
          <p:spPr>
            <a:xfrm>
              <a:off x="2964339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 dirty="0" err="1">
                  <a:solidFill>
                    <a:srgbClr val="1C2733"/>
                  </a:solidFill>
                  <a:latin typeface="Microsoft YaHei"/>
                </a:rPr>
                <a:t>需求分析</a:t>
              </a:r>
              <a:endParaRPr sz="115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24" name="Right Arrow 29">
              <a:extLst>
                <a:ext uri="{FF2B5EF4-FFF2-40B4-BE49-F238E27FC236}">
                  <a16:creationId xmlns:a16="http://schemas.microsoft.com/office/drawing/2014/main" id="{F20AC166-0D0E-8A51-08FF-B921548CC429}"/>
                </a:ext>
              </a:extLst>
            </p:cNvPr>
            <p:cNvSpPr/>
            <p:nvPr/>
          </p:nvSpPr>
          <p:spPr>
            <a:xfrm>
              <a:off x="3533312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8B25A690-645C-DEA9-067A-85A2FFBC45D4}"/>
                </a:ext>
              </a:extLst>
            </p:cNvPr>
            <p:cNvSpPr/>
            <p:nvPr/>
          </p:nvSpPr>
          <p:spPr>
            <a:xfrm>
              <a:off x="3986953" y="1936580"/>
              <a:ext cx="369063" cy="369063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26" name="TextBox 31">
              <a:extLst>
                <a:ext uri="{FF2B5EF4-FFF2-40B4-BE49-F238E27FC236}">
                  <a16:creationId xmlns:a16="http://schemas.microsoft.com/office/drawing/2014/main" id="{8E7064AF-3E6C-BD13-3645-814C0C4C810A}"/>
                </a:ext>
              </a:extLst>
            </p:cNvPr>
            <p:cNvSpPr txBox="1"/>
            <p:nvPr/>
          </p:nvSpPr>
          <p:spPr>
            <a:xfrm>
              <a:off x="3848554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对象建模</a:t>
              </a:r>
            </a:p>
          </p:txBody>
        </p:sp>
        <p:sp>
          <p:nvSpPr>
            <p:cNvPr id="27" name="Right Arrow 32">
              <a:extLst>
                <a:ext uri="{FF2B5EF4-FFF2-40B4-BE49-F238E27FC236}">
                  <a16:creationId xmlns:a16="http://schemas.microsoft.com/office/drawing/2014/main" id="{9E9C1D48-730B-830E-596B-02E6C6F1C8DE}"/>
                </a:ext>
              </a:extLst>
            </p:cNvPr>
            <p:cNvSpPr/>
            <p:nvPr/>
          </p:nvSpPr>
          <p:spPr>
            <a:xfrm>
              <a:off x="4417527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60D1C488-1967-39C1-B1C3-1A56FE0DD1D9}"/>
                </a:ext>
              </a:extLst>
            </p:cNvPr>
            <p:cNvSpPr/>
            <p:nvPr/>
          </p:nvSpPr>
          <p:spPr>
            <a:xfrm>
              <a:off x="4871167" y="1936580"/>
              <a:ext cx="369063" cy="369063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30" name="TextBox 34">
              <a:extLst>
                <a:ext uri="{FF2B5EF4-FFF2-40B4-BE49-F238E27FC236}">
                  <a16:creationId xmlns:a16="http://schemas.microsoft.com/office/drawing/2014/main" id="{F6C82CB2-924E-C1DD-5738-C60C2E4C66EA}"/>
                </a:ext>
              </a:extLst>
            </p:cNvPr>
            <p:cNvSpPr txBox="1"/>
            <p:nvPr/>
          </p:nvSpPr>
          <p:spPr>
            <a:xfrm>
              <a:off x="4732768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架构设计</a:t>
              </a:r>
            </a:p>
          </p:txBody>
        </p:sp>
        <p:sp>
          <p:nvSpPr>
            <p:cNvPr id="31" name="Right Arrow 35">
              <a:extLst>
                <a:ext uri="{FF2B5EF4-FFF2-40B4-BE49-F238E27FC236}">
                  <a16:creationId xmlns:a16="http://schemas.microsoft.com/office/drawing/2014/main" id="{C42372D7-AFC7-E984-4E24-65D0149BE45B}"/>
                </a:ext>
              </a:extLst>
            </p:cNvPr>
            <p:cNvSpPr/>
            <p:nvPr/>
          </p:nvSpPr>
          <p:spPr>
            <a:xfrm>
              <a:off x="5301741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2" name="Oval 36">
              <a:extLst>
                <a:ext uri="{FF2B5EF4-FFF2-40B4-BE49-F238E27FC236}">
                  <a16:creationId xmlns:a16="http://schemas.microsoft.com/office/drawing/2014/main" id="{A7F718C0-B535-1A37-57D0-ECB852F266EE}"/>
                </a:ext>
              </a:extLst>
            </p:cNvPr>
            <p:cNvSpPr/>
            <p:nvPr/>
          </p:nvSpPr>
          <p:spPr>
            <a:xfrm>
              <a:off x="5755381" y="1936580"/>
              <a:ext cx="369063" cy="369063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33" name="TextBox 37">
              <a:extLst>
                <a:ext uri="{FF2B5EF4-FFF2-40B4-BE49-F238E27FC236}">
                  <a16:creationId xmlns:a16="http://schemas.microsoft.com/office/drawing/2014/main" id="{67D1225B-F95A-8CCC-C10F-3EA159C8FB66}"/>
                </a:ext>
              </a:extLst>
            </p:cNvPr>
            <p:cNvSpPr txBox="1"/>
            <p:nvPr/>
          </p:nvSpPr>
          <p:spPr>
            <a:xfrm>
              <a:off x="5616983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接口设计</a:t>
              </a:r>
            </a:p>
          </p:txBody>
        </p:sp>
        <p:sp>
          <p:nvSpPr>
            <p:cNvPr id="34" name="Right Arrow 38">
              <a:extLst>
                <a:ext uri="{FF2B5EF4-FFF2-40B4-BE49-F238E27FC236}">
                  <a16:creationId xmlns:a16="http://schemas.microsoft.com/office/drawing/2014/main" id="{893AD484-A38D-53C3-FE20-37AD5D2F2201}"/>
                </a:ext>
              </a:extLst>
            </p:cNvPr>
            <p:cNvSpPr/>
            <p:nvPr/>
          </p:nvSpPr>
          <p:spPr>
            <a:xfrm>
              <a:off x="6185956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5" name="Oval 39">
              <a:extLst>
                <a:ext uri="{FF2B5EF4-FFF2-40B4-BE49-F238E27FC236}">
                  <a16:creationId xmlns:a16="http://schemas.microsoft.com/office/drawing/2014/main" id="{3058037C-28A0-2D09-B88A-B57125077A6E}"/>
                </a:ext>
              </a:extLst>
            </p:cNvPr>
            <p:cNvSpPr/>
            <p:nvPr/>
          </p:nvSpPr>
          <p:spPr>
            <a:xfrm>
              <a:off x="6639596" y="1936580"/>
              <a:ext cx="369063" cy="369063"/>
            </a:xfrm>
            <a:prstGeom prst="ellipse">
              <a:avLst/>
            </a:prstGeom>
            <a:solidFill>
              <a:srgbClr val="C74C4C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5</a:t>
              </a:r>
            </a:p>
          </p:txBody>
        </p:sp>
        <p:sp>
          <p:nvSpPr>
            <p:cNvPr id="36" name="TextBox 40">
              <a:extLst>
                <a:ext uri="{FF2B5EF4-FFF2-40B4-BE49-F238E27FC236}">
                  <a16:creationId xmlns:a16="http://schemas.microsoft.com/office/drawing/2014/main" id="{163EF582-094F-7119-15D4-52A1248442DD}"/>
                </a:ext>
              </a:extLst>
            </p:cNvPr>
            <p:cNvSpPr txBox="1"/>
            <p:nvPr/>
          </p:nvSpPr>
          <p:spPr>
            <a:xfrm>
              <a:off x="6501197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原型实现</a:t>
              </a:r>
            </a:p>
          </p:txBody>
        </p:sp>
        <p:sp>
          <p:nvSpPr>
            <p:cNvPr id="37" name="Right Arrow 41">
              <a:extLst>
                <a:ext uri="{FF2B5EF4-FFF2-40B4-BE49-F238E27FC236}">
                  <a16:creationId xmlns:a16="http://schemas.microsoft.com/office/drawing/2014/main" id="{042E65E3-DDFA-807E-2F2C-C26F5D6C87C4}"/>
                </a:ext>
              </a:extLst>
            </p:cNvPr>
            <p:cNvSpPr/>
            <p:nvPr/>
          </p:nvSpPr>
          <p:spPr>
            <a:xfrm>
              <a:off x="7070170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8" name="Oval 42">
              <a:extLst>
                <a:ext uri="{FF2B5EF4-FFF2-40B4-BE49-F238E27FC236}">
                  <a16:creationId xmlns:a16="http://schemas.microsoft.com/office/drawing/2014/main" id="{C07BC104-F4A8-6312-CE83-F9B33866447C}"/>
                </a:ext>
              </a:extLst>
            </p:cNvPr>
            <p:cNvSpPr/>
            <p:nvPr/>
          </p:nvSpPr>
          <p:spPr>
            <a:xfrm>
              <a:off x="7523811" y="1936580"/>
              <a:ext cx="369063" cy="369063"/>
            </a:xfrm>
            <a:prstGeom prst="ellipse">
              <a:avLst/>
            </a:prstGeom>
            <a:solidFill>
              <a:srgbClr val="F2994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6</a:t>
              </a:r>
            </a:p>
          </p:txBody>
        </p:sp>
        <p:sp>
          <p:nvSpPr>
            <p:cNvPr id="39" name="TextBox 43">
              <a:extLst>
                <a:ext uri="{FF2B5EF4-FFF2-40B4-BE49-F238E27FC236}">
                  <a16:creationId xmlns:a16="http://schemas.microsoft.com/office/drawing/2014/main" id="{0BB6A9A7-6261-7D8D-1D03-D78D62C02A7F}"/>
                </a:ext>
              </a:extLst>
            </p:cNvPr>
            <p:cNvSpPr txBox="1"/>
            <p:nvPr/>
          </p:nvSpPr>
          <p:spPr>
            <a:xfrm>
              <a:off x="7385412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测试验证</a:t>
              </a:r>
            </a:p>
          </p:txBody>
        </p:sp>
        <p:sp>
          <p:nvSpPr>
            <p:cNvPr id="40" name="Right Arrow 44">
              <a:extLst>
                <a:ext uri="{FF2B5EF4-FFF2-40B4-BE49-F238E27FC236}">
                  <a16:creationId xmlns:a16="http://schemas.microsoft.com/office/drawing/2014/main" id="{4707D0D2-ED73-EF41-7607-6EEE19D386B5}"/>
                </a:ext>
              </a:extLst>
            </p:cNvPr>
            <p:cNvSpPr/>
            <p:nvPr/>
          </p:nvSpPr>
          <p:spPr>
            <a:xfrm>
              <a:off x="7954385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1" name="Oval 45">
              <a:extLst>
                <a:ext uri="{FF2B5EF4-FFF2-40B4-BE49-F238E27FC236}">
                  <a16:creationId xmlns:a16="http://schemas.microsoft.com/office/drawing/2014/main" id="{B6899492-D43B-E26F-EBB4-F16348FECFCC}"/>
                </a:ext>
              </a:extLst>
            </p:cNvPr>
            <p:cNvSpPr/>
            <p:nvPr/>
          </p:nvSpPr>
          <p:spPr>
            <a:xfrm>
              <a:off x="8408025" y="1936580"/>
              <a:ext cx="369063" cy="369063"/>
            </a:xfrm>
            <a:prstGeom prst="ellipse">
              <a:avLst/>
            </a:prstGeom>
            <a:solidFill>
              <a:srgbClr val="163B63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7</a:t>
              </a:r>
            </a:p>
          </p:txBody>
        </p:sp>
        <p:sp>
          <p:nvSpPr>
            <p:cNvPr id="42" name="TextBox 46">
              <a:extLst>
                <a:ext uri="{FF2B5EF4-FFF2-40B4-BE49-F238E27FC236}">
                  <a16:creationId xmlns:a16="http://schemas.microsoft.com/office/drawing/2014/main" id="{DF9CA63E-6E7D-9A5C-C760-BEB8B34EAD7A}"/>
                </a:ext>
              </a:extLst>
            </p:cNvPr>
            <p:cNvSpPr txBox="1"/>
            <p:nvPr/>
          </p:nvSpPr>
          <p:spPr>
            <a:xfrm>
              <a:off x="8269626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迭代交付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CB45EF1-8957-5E3B-9A00-82475BB7E3DD}"/>
              </a:ext>
            </a:extLst>
          </p:cNvPr>
          <p:cNvGrpSpPr/>
          <p:nvPr/>
        </p:nvGrpSpPr>
        <p:grpSpPr>
          <a:xfrm>
            <a:off x="2918207" y="3180609"/>
            <a:ext cx="6043414" cy="1600835"/>
            <a:chOff x="2918207" y="3180609"/>
            <a:chExt cx="6043414" cy="1600835"/>
          </a:xfrm>
        </p:grpSpPr>
        <p:sp>
          <p:nvSpPr>
            <p:cNvPr id="44" name="Rounded Rectangle 48">
              <a:extLst>
                <a:ext uri="{FF2B5EF4-FFF2-40B4-BE49-F238E27FC236}">
                  <a16:creationId xmlns:a16="http://schemas.microsoft.com/office/drawing/2014/main" id="{C2A3EC9F-6A9C-7084-4CB6-64AFEF609526}"/>
                </a:ext>
              </a:extLst>
            </p:cNvPr>
            <p:cNvSpPr/>
            <p:nvPr/>
          </p:nvSpPr>
          <p:spPr>
            <a:xfrm>
              <a:off x="2918207" y="3180609"/>
              <a:ext cx="6043414" cy="1600835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5" name="TextBox 49">
              <a:extLst>
                <a:ext uri="{FF2B5EF4-FFF2-40B4-BE49-F238E27FC236}">
                  <a16:creationId xmlns:a16="http://schemas.microsoft.com/office/drawing/2014/main" id="{0ACB2F9A-B439-1A83-81D0-EA90455105E2}"/>
                </a:ext>
              </a:extLst>
            </p:cNvPr>
            <p:cNvSpPr txBox="1"/>
            <p:nvPr/>
          </p:nvSpPr>
          <p:spPr>
            <a:xfrm>
              <a:off x="5094144" y="3198856"/>
              <a:ext cx="169154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800" b="1" dirty="0" err="1">
                  <a:solidFill>
                    <a:srgbClr val="163B63"/>
                  </a:solidFill>
                  <a:latin typeface="Microsoft YaHei"/>
                </a:rPr>
                <a:t>当前阶段进展</a:t>
              </a:r>
              <a:endParaRPr sz="18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46" name="Rectangle 50">
              <a:extLst>
                <a:ext uri="{FF2B5EF4-FFF2-40B4-BE49-F238E27FC236}">
                  <a16:creationId xmlns:a16="http://schemas.microsoft.com/office/drawing/2014/main" id="{0B02887C-9BCB-9313-6164-79FC2C9B7DA4}"/>
                </a:ext>
              </a:extLst>
            </p:cNvPr>
            <p:cNvSpPr/>
            <p:nvPr/>
          </p:nvSpPr>
          <p:spPr>
            <a:xfrm>
              <a:off x="3087360" y="3704224"/>
              <a:ext cx="46133" cy="307553"/>
            </a:xfrm>
            <a:prstGeom prst="rect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47" name="TextBox 51">
              <a:extLst>
                <a:ext uri="{FF2B5EF4-FFF2-40B4-BE49-F238E27FC236}">
                  <a16:creationId xmlns:a16="http://schemas.microsoft.com/office/drawing/2014/main" id="{74FB3DDE-6670-9A9C-A253-88E45FB9FE14}"/>
                </a:ext>
              </a:extLst>
            </p:cNvPr>
            <p:cNvSpPr txBox="1"/>
            <p:nvPr/>
          </p:nvSpPr>
          <p:spPr>
            <a:xfrm>
              <a:off x="3202693" y="3707190"/>
              <a:ext cx="576662" cy="30162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dirty="0" err="1">
                  <a:solidFill>
                    <a:srgbClr val="163B63"/>
                  </a:solidFill>
                  <a:latin typeface="Microsoft YaHei"/>
                </a:rPr>
                <a:t>需求</a:t>
              </a:r>
              <a:endParaRPr sz="16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48" name="TextBox 52">
              <a:extLst>
                <a:ext uri="{FF2B5EF4-FFF2-40B4-BE49-F238E27FC236}">
                  <a16:creationId xmlns:a16="http://schemas.microsoft.com/office/drawing/2014/main" id="{3E5D959B-E40F-61A8-7216-8292DF24984D}"/>
                </a:ext>
              </a:extLst>
            </p:cNvPr>
            <p:cNvSpPr txBox="1"/>
            <p:nvPr/>
          </p:nvSpPr>
          <p:spPr>
            <a:xfrm>
              <a:off x="3702464" y="3668718"/>
              <a:ext cx="2333845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明确</a:t>
              </a:r>
              <a:r>
                <a:rPr lang="zh-CN" altLang="en-US" sz="1050" b="0" dirty="0">
                  <a:solidFill>
                    <a:srgbClr val="1C2733"/>
                  </a:solidFill>
                  <a:latin typeface="Microsoft YaHei"/>
                </a:rPr>
                <a:t>了</a:t>
              </a:r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系统应用场景、输入资料范围、风险识别输出和管理系统衔接方式</a:t>
              </a:r>
              <a:r>
                <a:rPr sz="105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  <p:sp>
          <p:nvSpPr>
            <p:cNvPr id="49" name="Rectangle 53">
              <a:extLst>
                <a:ext uri="{FF2B5EF4-FFF2-40B4-BE49-F238E27FC236}">
                  <a16:creationId xmlns:a16="http://schemas.microsoft.com/office/drawing/2014/main" id="{9084DF9A-F961-C555-F081-6EAC74B19509}"/>
                </a:ext>
              </a:extLst>
            </p:cNvPr>
            <p:cNvSpPr/>
            <p:nvPr/>
          </p:nvSpPr>
          <p:spPr>
            <a:xfrm>
              <a:off x="6150877" y="3704224"/>
              <a:ext cx="46133" cy="307553"/>
            </a:xfrm>
            <a:prstGeom prst="rect">
              <a:avLst/>
            </a:prstGeom>
            <a:solidFill>
              <a:srgbClr val="2F8F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0" name="TextBox 54">
              <a:extLst>
                <a:ext uri="{FF2B5EF4-FFF2-40B4-BE49-F238E27FC236}">
                  <a16:creationId xmlns:a16="http://schemas.microsoft.com/office/drawing/2014/main" id="{98A52352-415F-3CE1-995A-7BCD76712F28}"/>
                </a:ext>
              </a:extLst>
            </p:cNvPr>
            <p:cNvSpPr txBox="1"/>
            <p:nvPr/>
          </p:nvSpPr>
          <p:spPr>
            <a:xfrm>
              <a:off x="6266210" y="3707190"/>
              <a:ext cx="576662" cy="30162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dirty="0" err="1">
                  <a:solidFill>
                    <a:srgbClr val="163B63"/>
                  </a:solidFill>
                  <a:latin typeface="Microsoft YaHei"/>
                </a:rPr>
                <a:t>资料</a:t>
              </a:r>
              <a:endParaRPr sz="16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51" name="TextBox 55">
              <a:extLst>
                <a:ext uri="{FF2B5EF4-FFF2-40B4-BE49-F238E27FC236}">
                  <a16:creationId xmlns:a16="http://schemas.microsoft.com/office/drawing/2014/main" id="{C7630DDC-0A69-0CAF-4157-D3A46ABCBA41}"/>
                </a:ext>
              </a:extLst>
            </p:cNvPr>
            <p:cNvSpPr txBox="1"/>
            <p:nvPr/>
          </p:nvSpPr>
          <p:spPr>
            <a:xfrm>
              <a:off x="6765983" y="3668718"/>
              <a:ext cx="2106737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梳理</a:t>
              </a:r>
              <a:r>
                <a:rPr lang="zh-CN" altLang="en-US" sz="1050" b="0" dirty="0">
                  <a:solidFill>
                    <a:srgbClr val="1C2733"/>
                  </a:solidFill>
                  <a:latin typeface="Microsoft YaHei"/>
                </a:rPr>
                <a:t>了</a:t>
              </a:r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工程资料、工序信息、机理知识与风险记录之间的对应关系</a:t>
              </a:r>
              <a:r>
                <a:rPr sz="105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  <p:sp>
          <p:nvSpPr>
            <p:cNvPr id="52" name="Rectangle 56">
              <a:extLst>
                <a:ext uri="{FF2B5EF4-FFF2-40B4-BE49-F238E27FC236}">
                  <a16:creationId xmlns:a16="http://schemas.microsoft.com/office/drawing/2014/main" id="{588B3854-6F34-5AA6-E227-11CE9EFBB292}"/>
                </a:ext>
              </a:extLst>
            </p:cNvPr>
            <p:cNvSpPr/>
            <p:nvPr/>
          </p:nvSpPr>
          <p:spPr>
            <a:xfrm>
              <a:off x="3087360" y="4277175"/>
              <a:ext cx="46133" cy="307553"/>
            </a:xfrm>
            <a:prstGeom prst="rect">
              <a:avLst/>
            </a:prstGeom>
            <a:solidFill>
              <a:srgbClr val="F299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3" name="TextBox 57">
              <a:extLst>
                <a:ext uri="{FF2B5EF4-FFF2-40B4-BE49-F238E27FC236}">
                  <a16:creationId xmlns:a16="http://schemas.microsoft.com/office/drawing/2014/main" id="{84DB354F-254C-40AA-ADBC-A55F274C5C9C}"/>
                </a:ext>
              </a:extLst>
            </p:cNvPr>
            <p:cNvSpPr txBox="1"/>
            <p:nvPr/>
          </p:nvSpPr>
          <p:spPr>
            <a:xfrm>
              <a:off x="3202693" y="4280141"/>
              <a:ext cx="576662" cy="30162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dirty="0" err="1">
                  <a:solidFill>
                    <a:srgbClr val="163B63"/>
                  </a:solidFill>
                  <a:latin typeface="Microsoft YaHei"/>
                </a:rPr>
                <a:t>框架</a:t>
              </a:r>
              <a:endParaRPr sz="16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54" name="TextBox 58">
              <a:extLst>
                <a:ext uri="{FF2B5EF4-FFF2-40B4-BE49-F238E27FC236}">
                  <a16:creationId xmlns:a16="http://schemas.microsoft.com/office/drawing/2014/main" id="{FE27FB18-2A4D-6518-AB59-297E1EEAFF77}"/>
                </a:ext>
              </a:extLst>
            </p:cNvPr>
            <p:cNvSpPr txBox="1"/>
            <p:nvPr/>
          </p:nvSpPr>
          <p:spPr>
            <a:xfrm>
              <a:off x="3702465" y="4241669"/>
              <a:ext cx="2333844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形成</a:t>
              </a:r>
              <a:r>
                <a:rPr lang="zh-CN" altLang="en-US" sz="1050" b="0" dirty="0">
                  <a:solidFill>
                    <a:srgbClr val="1C2733"/>
                  </a:solidFill>
                  <a:latin typeface="Microsoft YaHei"/>
                </a:rPr>
                <a:t>了</a:t>
              </a:r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数据接入、知识建模、智能推理、结果入库和系统管理的整体框架</a:t>
              </a:r>
              <a:r>
                <a:rPr sz="105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  <p:sp>
          <p:nvSpPr>
            <p:cNvPr id="55" name="Rectangle 59">
              <a:extLst>
                <a:ext uri="{FF2B5EF4-FFF2-40B4-BE49-F238E27FC236}">
                  <a16:creationId xmlns:a16="http://schemas.microsoft.com/office/drawing/2014/main" id="{5C2E79FF-0255-85E3-D345-00CD434EB30E}"/>
                </a:ext>
              </a:extLst>
            </p:cNvPr>
            <p:cNvSpPr/>
            <p:nvPr/>
          </p:nvSpPr>
          <p:spPr>
            <a:xfrm>
              <a:off x="6150877" y="4277175"/>
              <a:ext cx="46133" cy="307553"/>
            </a:xfrm>
            <a:prstGeom prst="rect">
              <a:avLst/>
            </a:prstGeom>
            <a:solidFill>
              <a:srgbClr val="C74C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6" name="TextBox 60">
              <a:extLst>
                <a:ext uri="{FF2B5EF4-FFF2-40B4-BE49-F238E27FC236}">
                  <a16:creationId xmlns:a16="http://schemas.microsoft.com/office/drawing/2014/main" id="{0B8229B5-516A-8ADF-006A-DBD9056328C7}"/>
                </a:ext>
              </a:extLst>
            </p:cNvPr>
            <p:cNvSpPr txBox="1"/>
            <p:nvPr/>
          </p:nvSpPr>
          <p:spPr>
            <a:xfrm>
              <a:off x="6266210" y="4280141"/>
              <a:ext cx="576662" cy="30162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dirty="0" err="1">
                  <a:solidFill>
                    <a:srgbClr val="163B63"/>
                  </a:solidFill>
                  <a:latin typeface="Microsoft YaHei"/>
                </a:rPr>
                <a:t>验证</a:t>
              </a:r>
              <a:endParaRPr sz="16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57" name="TextBox 61">
              <a:extLst>
                <a:ext uri="{FF2B5EF4-FFF2-40B4-BE49-F238E27FC236}">
                  <a16:creationId xmlns:a16="http://schemas.microsoft.com/office/drawing/2014/main" id="{BDF4B7D1-D317-FD7E-66F5-E196996B6E5F}"/>
                </a:ext>
              </a:extLst>
            </p:cNvPr>
            <p:cNvSpPr txBox="1"/>
            <p:nvPr/>
          </p:nvSpPr>
          <p:spPr>
            <a:xfrm>
              <a:off x="6765983" y="4241669"/>
              <a:ext cx="2106737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具备</a:t>
              </a:r>
              <a:r>
                <a:rPr lang="zh-CN" altLang="en-US" sz="1050" b="0" dirty="0">
                  <a:solidFill>
                    <a:srgbClr val="1C2733"/>
                  </a:solidFill>
                  <a:latin typeface="Microsoft YaHei"/>
                </a:rPr>
                <a:t>了</a:t>
              </a:r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开展样例资料接入、接口联调、结果复核和原型迭代的基础</a:t>
              </a:r>
              <a:r>
                <a:rPr sz="105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5335324-165C-B6AC-C47C-9D06A505E173}"/>
              </a:ext>
            </a:extLst>
          </p:cNvPr>
          <p:cNvGrpSpPr/>
          <p:nvPr/>
        </p:nvGrpSpPr>
        <p:grpSpPr>
          <a:xfrm>
            <a:off x="200342" y="1321474"/>
            <a:ext cx="2598822" cy="3459970"/>
            <a:chOff x="200342" y="1321474"/>
            <a:chExt cx="2598822" cy="3459970"/>
          </a:xfrm>
        </p:grpSpPr>
        <p:sp>
          <p:nvSpPr>
            <p:cNvPr id="3" name="Rounded Rectangle 11">
              <a:extLst>
                <a:ext uri="{FF2B5EF4-FFF2-40B4-BE49-F238E27FC236}">
                  <a16:creationId xmlns:a16="http://schemas.microsoft.com/office/drawing/2014/main" id="{B31DC32C-F8B9-B58D-7FCE-3BE17F2D3398}"/>
                </a:ext>
              </a:extLst>
            </p:cNvPr>
            <p:cNvSpPr/>
            <p:nvPr/>
          </p:nvSpPr>
          <p:spPr>
            <a:xfrm>
              <a:off x="200342" y="1321474"/>
              <a:ext cx="2598822" cy="3459970"/>
            </a:xfrm>
            <a:prstGeom prst="roundRect">
              <a:avLst/>
            </a:prstGeom>
            <a:solidFill>
              <a:srgbClr val="F6F8FB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8CB1C960-F548-A0CC-E742-04E8A07ECC8E}"/>
                </a:ext>
              </a:extLst>
            </p:cNvPr>
            <p:cNvSpPr txBox="1"/>
            <p:nvPr/>
          </p:nvSpPr>
          <p:spPr>
            <a:xfrm>
              <a:off x="338741" y="1806902"/>
              <a:ext cx="2322024" cy="119455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800"/>
                </a:lnSpc>
              </a:pPr>
              <a:r>
                <a:rPr sz="1400" b="1" dirty="0" err="1">
                  <a:solidFill>
                    <a:srgbClr val="1C2733"/>
                  </a:solidFill>
                  <a:latin typeface="Microsoft YaHei"/>
                </a:rPr>
                <a:t>围绕站隧一体化施工风险识别与评估需求，研发面向工程资料接入、风险智能识别、评估依据生成与风险管理协同的软件系统</a:t>
              </a:r>
              <a:r>
                <a:rPr sz="1400" b="1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  <p:sp>
          <p:nvSpPr>
            <p:cNvPr id="10" name="TextBox 16">
              <a:extLst>
                <a:ext uri="{FF2B5EF4-FFF2-40B4-BE49-F238E27FC236}">
                  <a16:creationId xmlns:a16="http://schemas.microsoft.com/office/drawing/2014/main" id="{44A1301A-EFC2-C3BA-91A5-7D1947440079}"/>
                </a:ext>
              </a:extLst>
            </p:cNvPr>
            <p:cNvSpPr txBox="1"/>
            <p:nvPr/>
          </p:nvSpPr>
          <p:spPr>
            <a:xfrm>
              <a:off x="980758" y="3198856"/>
              <a:ext cx="103799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b="1" dirty="0" err="1">
                  <a:solidFill>
                    <a:srgbClr val="163B63"/>
                  </a:solidFill>
                  <a:latin typeface="Microsoft YaHei"/>
                </a:rPr>
                <a:t>研发要点</a:t>
              </a:r>
              <a:endParaRPr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1" name="Oval 17">
              <a:extLst>
                <a:ext uri="{FF2B5EF4-FFF2-40B4-BE49-F238E27FC236}">
                  <a16:creationId xmlns:a16="http://schemas.microsoft.com/office/drawing/2014/main" id="{23B89F8B-1D0A-8514-53A3-248FD33F9299}"/>
                </a:ext>
              </a:extLst>
            </p:cNvPr>
            <p:cNvSpPr/>
            <p:nvPr/>
          </p:nvSpPr>
          <p:spPr>
            <a:xfrm>
              <a:off x="384873" y="3597365"/>
              <a:ext cx="107644" cy="107644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" name="TextBox 18">
              <a:extLst>
                <a:ext uri="{FF2B5EF4-FFF2-40B4-BE49-F238E27FC236}">
                  <a16:creationId xmlns:a16="http://schemas.microsoft.com/office/drawing/2014/main" id="{A4967A54-D54F-D71A-32FC-844632A394E3}"/>
                </a:ext>
              </a:extLst>
            </p:cNvPr>
            <p:cNvSpPr txBox="1"/>
            <p:nvPr/>
          </p:nvSpPr>
          <p:spPr>
            <a:xfrm>
              <a:off x="569405" y="3523455"/>
              <a:ext cx="2075982" cy="270843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1" dirty="0" err="1">
                  <a:solidFill>
                    <a:srgbClr val="1C2733"/>
                  </a:solidFill>
                  <a:latin typeface="Microsoft YaHei"/>
                </a:rPr>
                <a:t>明确业务需求与应用边界</a:t>
              </a:r>
              <a:endParaRPr sz="140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3" name="Oval 19">
              <a:extLst>
                <a:ext uri="{FF2B5EF4-FFF2-40B4-BE49-F238E27FC236}">
                  <a16:creationId xmlns:a16="http://schemas.microsoft.com/office/drawing/2014/main" id="{50C864A7-5E70-289D-3CC1-467F74A08866}"/>
                </a:ext>
              </a:extLst>
            </p:cNvPr>
            <p:cNvSpPr/>
            <p:nvPr/>
          </p:nvSpPr>
          <p:spPr>
            <a:xfrm>
              <a:off x="384873" y="3889541"/>
              <a:ext cx="107644" cy="107644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" name="TextBox 20">
              <a:extLst>
                <a:ext uri="{FF2B5EF4-FFF2-40B4-BE49-F238E27FC236}">
                  <a16:creationId xmlns:a16="http://schemas.microsoft.com/office/drawing/2014/main" id="{74F82AD9-BAD3-DE14-B406-354C3E31828D}"/>
                </a:ext>
              </a:extLst>
            </p:cNvPr>
            <p:cNvSpPr txBox="1"/>
            <p:nvPr/>
          </p:nvSpPr>
          <p:spPr>
            <a:xfrm>
              <a:off x="569405" y="3815630"/>
              <a:ext cx="2075982" cy="270843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1" dirty="0" err="1">
                  <a:solidFill>
                    <a:srgbClr val="1C2733"/>
                  </a:solidFill>
                  <a:latin typeface="Microsoft YaHei"/>
                </a:rPr>
                <a:t>梳理工程资料与结果流转</a:t>
              </a:r>
              <a:endParaRPr sz="140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5" name="Oval 21">
              <a:extLst>
                <a:ext uri="{FF2B5EF4-FFF2-40B4-BE49-F238E27FC236}">
                  <a16:creationId xmlns:a16="http://schemas.microsoft.com/office/drawing/2014/main" id="{0EABDCDF-1A78-E6E5-0F52-2ED1BF3C9EEE}"/>
                </a:ext>
              </a:extLst>
            </p:cNvPr>
            <p:cNvSpPr/>
            <p:nvPr/>
          </p:nvSpPr>
          <p:spPr>
            <a:xfrm>
              <a:off x="384873" y="4181716"/>
              <a:ext cx="107644" cy="107644"/>
            </a:xfrm>
            <a:prstGeom prst="ellipse">
              <a:avLst/>
            </a:prstGeom>
            <a:solidFill>
              <a:srgbClr val="F2994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" name="TextBox 22">
              <a:extLst>
                <a:ext uri="{FF2B5EF4-FFF2-40B4-BE49-F238E27FC236}">
                  <a16:creationId xmlns:a16="http://schemas.microsoft.com/office/drawing/2014/main" id="{DC3F60ED-636B-2D6B-EA80-5D69163EBBE1}"/>
                </a:ext>
              </a:extLst>
            </p:cNvPr>
            <p:cNvSpPr txBox="1"/>
            <p:nvPr/>
          </p:nvSpPr>
          <p:spPr>
            <a:xfrm>
              <a:off x="569405" y="4107805"/>
              <a:ext cx="2075982" cy="270843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1" dirty="0" err="1">
                  <a:solidFill>
                    <a:srgbClr val="1C2733"/>
                  </a:solidFill>
                  <a:latin typeface="Microsoft YaHei"/>
                </a:rPr>
                <a:t>搭建系统模块与接口关系</a:t>
              </a:r>
              <a:endParaRPr sz="140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7" name="Oval 23">
              <a:extLst>
                <a:ext uri="{FF2B5EF4-FFF2-40B4-BE49-F238E27FC236}">
                  <a16:creationId xmlns:a16="http://schemas.microsoft.com/office/drawing/2014/main" id="{F2B01942-3E48-A13F-18C4-302309C29BF7}"/>
                </a:ext>
              </a:extLst>
            </p:cNvPr>
            <p:cNvSpPr/>
            <p:nvPr/>
          </p:nvSpPr>
          <p:spPr>
            <a:xfrm>
              <a:off x="384873" y="4473891"/>
              <a:ext cx="107644" cy="107644"/>
            </a:xfrm>
            <a:prstGeom prst="ellipse">
              <a:avLst/>
            </a:prstGeom>
            <a:solidFill>
              <a:srgbClr val="C74C4C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8" name="TextBox 24">
              <a:extLst>
                <a:ext uri="{FF2B5EF4-FFF2-40B4-BE49-F238E27FC236}">
                  <a16:creationId xmlns:a16="http://schemas.microsoft.com/office/drawing/2014/main" id="{3C2B8995-07A4-EF32-E161-D21F3F2E1967}"/>
                </a:ext>
              </a:extLst>
            </p:cNvPr>
            <p:cNvSpPr txBox="1"/>
            <p:nvPr/>
          </p:nvSpPr>
          <p:spPr>
            <a:xfrm>
              <a:off x="569405" y="4399981"/>
              <a:ext cx="2091360" cy="270843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1" dirty="0" err="1">
                  <a:solidFill>
                    <a:srgbClr val="1C2733"/>
                  </a:solidFill>
                  <a:latin typeface="Microsoft YaHei"/>
                </a:rPr>
                <a:t>建立结果校验与沉淀机制</a:t>
              </a:r>
              <a:endParaRPr sz="140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59" name="TextBox 16">
              <a:extLst>
                <a:ext uri="{FF2B5EF4-FFF2-40B4-BE49-F238E27FC236}">
                  <a16:creationId xmlns:a16="http://schemas.microsoft.com/office/drawing/2014/main" id="{63883AF5-E27F-F86E-C850-0179BF300B2C}"/>
                </a:ext>
              </a:extLst>
            </p:cNvPr>
            <p:cNvSpPr txBox="1"/>
            <p:nvPr/>
          </p:nvSpPr>
          <p:spPr>
            <a:xfrm>
              <a:off x="980758" y="1429845"/>
              <a:ext cx="103799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163B63"/>
                  </a:solidFill>
                  <a:latin typeface="Microsoft YaHei"/>
                </a:rPr>
                <a:t>研究目标</a:t>
              </a:r>
              <a:endParaRPr b="1" dirty="0">
                <a:solidFill>
                  <a:srgbClr val="163B63"/>
                </a:solidFill>
                <a:latin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0730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E862-EC74-529F-6AF0-0AA596011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10">
            <a:extLst>
              <a:ext uri="{FF2B5EF4-FFF2-40B4-BE49-F238E27FC236}">
                <a16:creationId xmlns:a16="http://schemas.microsoft.com/office/drawing/2014/main" id="{C95F3EAA-273A-4AAA-B2D4-BD2622E89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38" y="86398"/>
            <a:ext cx="374485" cy="299378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F76AF844-2221-204A-4A4C-8E2FDBE9C530}"/>
              </a:ext>
            </a:extLst>
          </p:cNvPr>
          <p:cNvGrpSpPr/>
          <p:nvPr/>
        </p:nvGrpSpPr>
        <p:grpSpPr>
          <a:xfrm>
            <a:off x="25717" y="503238"/>
            <a:ext cx="7183975" cy="339725"/>
            <a:chOff x="25717" y="503238"/>
            <a:chExt cx="7183975" cy="339725"/>
          </a:xfrm>
        </p:grpSpPr>
        <p:sp>
          <p:nvSpPr>
            <p:cNvPr id="13321" name="矩形 13320">
              <a:extLst>
                <a:ext uri="{FF2B5EF4-FFF2-40B4-BE49-F238E27FC236}">
                  <a16:creationId xmlns:a16="http://schemas.microsoft.com/office/drawing/2014/main" id="{218117B5-8075-765B-9547-71913BB39A41}"/>
                </a:ext>
              </a:extLst>
            </p:cNvPr>
            <p:cNvSpPr/>
            <p:nvPr/>
          </p:nvSpPr>
          <p:spPr>
            <a:xfrm>
              <a:off x="25717" y="503238"/>
              <a:ext cx="174625" cy="33972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auto"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</a:t>
              </a:r>
            </a:p>
          </p:txBody>
        </p:sp>
        <p:sp>
          <p:nvSpPr>
            <p:cNvPr id="13322" name="矩形 13321">
              <a:extLst>
                <a:ext uri="{FF2B5EF4-FFF2-40B4-BE49-F238E27FC236}">
                  <a16:creationId xmlns:a16="http://schemas.microsoft.com/office/drawing/2014/main" id="{CE08B3FD-6097-1213-7AF0-71673B1EE39B}"/>
                </a:ext>
              </a:extLst>
            </p:cNvPr>
            <p:cNvSpPr/>
            <p:nvPr/>
          </p:nvSpPr>
          <p:spPr>
            <a:xfrm>
              <a:off x="284162" y="503238"/>
              <a:ext cx="6925530" cy="33845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 fontAlgn="auto">
                <a:buClrTx/>
                <a:buSzTx/>
                <a:buFontTx/>
              </a:pP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 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各子课题工作进展</a:t>
              </a: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--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子课题一（站隧一体化建造风险智能识别与评估技术）</a:t>
              </a:r>
            </a:p>
          </p:txBody>
        </p:sp>
      </p:grpSp>
      <p:sp>
        <p:nvSpPr>
          <p:cNvPr id="2" name="TextBox 50">
            <a:extLst>
              <a:ext uri="{FF2B5EF4-FFF2-40B4-BE49-F238E27FC236}">
                <a16:creationId xmlns:a16="http://schemas.microsoft.com/office/drawing/2014/main" id="{798B8C09-0267-C9FD-BD10-20A5F21B0338}"/>
              </a:ext>
            </a:extLst>
          </p:cNvPr>
          <p:cNvSpPr txBox="1">
            <a:spLocks noChangeAspect="1"/>
          </p:cNvSpPr>
          <p:nvPr/>
        </p:nvSpPr>
        <p:spPr>
          <a:xfrm>
            <a:off x="36830" y="-19685"/>
            <a:ext cx="4937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项目研发进展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3303AA7-159B-36B5-141C-D93FD329D081}"/>
              </a:ext>
            </a:extLst>
          </p:cNvPr>
          <p:cNvSpPr txBox="1"/>
          <p:nvPr/>
        </p:nvSpPr>
        <p:spPr>
          <a:xfrm>
            <a:off x="6036310" y="160020"/>
            <a:ext cx="3048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endParaRPr lang="zh-CN" altLang="en-US" sz="1600" dirty="0">
              <a:latin typeface="+mj-ea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69BF759E-A2CD-DD53-85F9-2CBBA96F4242}"/>
              </a:ext>
            </a:extLst>
          </p:cNvPr>
          <p:cNvSpPr txBox="1"/>
          <p:nvPr/>
        </p:nvSpPr>
        <p:spPr>
          <a:xfrm>
            <a:off x="-2540" y="84709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sym typeface="+mn-lt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）站隧一体化建造风险智能识别与评估技术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345" name="组合 13344">
            <a:extLst>
              <a:ext uri="{FF2B5EF4-FFF2-40B4-BE49-F238E27FC236}">
                <a16:creationId xmlns:a16="http://schemas.microsoft.com/office/drawing/2014/main" id="{C69D6575-22BB-C050-2DF6-D021E1B78D6C}"/>
              </a:ext>
            </a:extLst>
          </p:cNvPr>
          <p:cNvGrpSpPr/>
          <p:nvPr/>
        </p:nvGrpSpPr>
        <p:grpSpPr>
          <a:xfrm>
            <a:off x="172979" y="1312181"/>
            <a:ext cx="6784568" cy="3541277"/>
            <a:chOff x="172979" y="1312181"/>
            <a:chExt cx="6784568" cy="3541277"/>
          </a:xfrm>
        </p:grpSpPr>
        <p:sp>
          <p:nvSpPr>
            <p:cNvPr id="13335" name="Rounded Rectangle 93">
              <a:extLst>
                <a:ext uri="{FF2B5EF4-FFF2-40B4-BE49-F238E27FC236}">
                  <a16:creationId xmlns:a16="http://schemas.microsoft.com/office/drawing/2014/main" id="{3A2189B7-A72D-E677-923E-4E2C08F02F44}"/>
                </a:ext>
              </a:extLst>
            </p:cNvPr>
            <p:cNvSpPr/>
            <p:nvPr/>
          </p:nvSpPr>
          <p:spPr>
            <a:xfrm>
              <a:off x="172979" y="1312181"/>
              <a:ext cx="6784568" cy="354127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13AB583E-648C-7FF5-D849-7055DBCB6D76}"/>
                </a:ext>
              </a:extLst>
            </p:cNvPr>
            <p:cNvSpPr/>
            <p:nvPr/>
          </p:nvSpPr>
          <p:spPr>
            <a:xfrm>
              <a:off x="336492" y="1705315"/>
              <a:ext cx="6449083" cy="5875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" name="Rectangle 28">
              <a:extLst>
                <a:ext uri="{FF2B5EF4-FFF2-40B4-BE49-F238E27FC236}">
                  <a16:creationId xmlns:a16="http://schemas.microsoft.com/office/drawing/2014/main" id="{1FB4C8A7-EF90-1F6C-DF0F-410A4E3D86F5}"/>
                </a:ext>
              </a:extLst>
            </p:cNvPr>
            <p:cNvSpPr/>
            <p:nvPr/>
          </p:nvSpPr>
          <p:spPr>
            <a:xfrm>
              <a:off x="336492" y="1705315"/>
              <a:ext cx="931534" cy="587584"/>
            </a:xfrm>
            <a:prstGeom prst="rect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" name="TextBox 29">
              <a:extLst>
                <a:ext uri="{FF2B5EF4-FFF2-40B4-BE49-F238E27FC236}">
                  <a16:creationId xmlns:a16="http://schemas.microsoft.com/office/drawing/2014/main" id="{3883FB17-2F47-3DBA-3584-26E680CB2AE5}"/>
                </a:ext>
              </a:extLst>
            </p:cNvPr>
            <p:cNvSpPr txBox="1"/>
            <p:nvPr/>
          </p:nvSpPr>
          <p:spPr>
            <a:xfrm>
              <a:off x="422479" y="1729827"/>
              <a:ext cx="752393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500" b="1" dirty="0" err="1">
                  <a:solidFill>
                    <a:srgbClr val="FFFFFF"/>
                  </a:solidFill>
                  <a:latin typeface="Microsoft YaHei"/>
                </a:rPr>
                <a:t>数据接入层</a:t>
              </a:r>
              <a:endParaRPr sz="150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62" name="Rounded Rectangle 30">
              <a:extLst>
                <a:ext uri="{FF2B5EF4-FFF2-40B4-BE49-F238E27FC236}">
                  <a16:creationId xmlns:a16="http://schemas.microsoft.com/office/drawing/2014/main" id="{6329BE4F-D57D-511C-5C3F-7CB6B8FAD16C}"/>
                </a:ext>
              </a:extLst>
            </p:cNvPr>
            <p:cNvSpPr/>
            <p:nvPr/>
          </p:nvSpPr>
          <p:spPr>
            <a:xfrm>
              <a:off x="1397008" y="1841463"/>
              <a:ext cx="984559" cy="322455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050"/>
            </a:p>
          </p:txBody>
        </p:sp>
        <p:sp>
          <p:nvSpPr>
            <p:cNvPr id="63" name="Oval 31">
              <a:extLst>
                <a:ext uri="{FF2B5EF4-FFF2-40B4-BE49-F238E27FC236}">
                  <a16:creationId xmlns:a16="http://schemas.microsoft.com/office/drawing/2014/main" id="{3A89ED8E-F057-63D8-26F3-1C5BE1A20377}"/>
                </a:ext>
              </a:extLst>
            </p:cNvPr>
            <p:cNvSpPr/>
            <p:nvPr/>
          </p:nvSpPr>
          <p:spPr>
            <a:xfrm>
              <a:off x="1447166" y="1895205"/>
              <a:ext cx="214969" cy="214969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64" name="TextBox 32">
              <a:extLst>
                <a:ext uri="{FF2B5EF4-FFF2-40B4-BE49-F238E27FC236}">
                  <a16:creationId xmlns:a16="http://schemas.microsoft.com/office/drawing/2014/main" id="{B0D623B0-D6CD-0537-D58F-DF153FAD7594}"/>
                </a:ext>
              </a:extLst>
            </p:cNvPr>
            <p:cNvSpPr txBox="1"/>
            <p:nvPr/>
          </p:nvSpPr>
          <p:spPr>
            <a:xfrm>
              <a:off x="1705129" y="1890617"/>
              <a:ext cx="640609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工程资料</a:t>
              </a:r>
              <a:endParaRPr sz="105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65" name="Rounded Rectangle 33">
              <a:extLst>
                <a:ext uri="{FF2B5EF4-FFF2-40B4-BE49-F238E27FC236}">
                  <a16:creationId xmlns:a16="http://schemas.microsoft.com/office/drawing/2014/main" id="{80ED0106-35D9-ABEA-0211-72BDEC24ACB1}"/>
                </a:ext>
              </a:extLst>
            </p:cNvPr>
            <p:cNvSpPr/>
            <p:nvPr/>
          </p:nvSpPr>
          <p:spPr>
            <a:xfrm>
              <a:off x="2467554" y="1841463"/>
              <a:ext cx="984559" cy="322455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6" name="Oval 34">
              <a:extLst>
                <a:ext uri="{FF2B5EF4-FFF2-40B4-BE49-F238E27FC236}">
                  <a16:creationId xmlns:a16="http://schemas.microsoft.com/office/drawing/2014/main" id="{D26824AC-5DE7-2585-9776-1BE436796FED}"/>
                </a:ext>
              </a:extLst>
            </p:cNvPr>
            <p:cNvSpPr/>
            <p:nvPr/>
          </p:nvSpPr>
          <p:spPr>
            <a:xfrm>
              <a:off x="2517714" y="1895205"/>
              <a:ext cx="214969" cy="214969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67" name="TextBox 35">
              <a:extLst>
                <a:ext uri="{FF2B5EF4-FFF2-40B4-BE49-F238E27FC236}">
                  <a16:creationId xmlns:a16="http://schemas.microsoft.com/office/drawing/2014/main" id="{99D842C8-0770-4AFB-73C5-D4E5E0830661}"/>
                </a:ext>
              </a:extLst>
            </p:cNvPr>
            <p:cNvSpPr txBox="1"/>
            <p:nvPr/>
          </p:nvSpPr>
          <p:spPr>
            <a:xfrm>
              <a:off x="2775678" y="1890617"/>
              <a:ext cx="640609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专项方案</a:t>
              </a:r>
              <a:endParaRPr sz="105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68" name="Rounded Rectangle 36">
              <a:extLst>
                <a:ext uri="{FF2B5EF4-FFF2-40B4-BE49-F238E27FC236}">
                  <a16:creationId xmlns:a16="http://schemas.microsoft.com/office/drawing/2014/main" id="{2DEB7F4A-672A-F860-0859-3F17755DFAF9}"/>
                </a:ext>
              </a:extLst>
            </p:cNvPr>
            <p:cNvSpPr/>
            <p:nvPr/>
          </p:nvSpPr>
          <p:spPr>
            <a:xfrm>
              <a:off x="3538103" y="1841463"/>
              <a:ext cx="984559" cy="322455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9" name="Oval 37">
              <a:extLst>
                <a:ext uri="{FF2B5EF4-FFF2-40B4-BE49-F238E27FC236}">
                  <a16:creationId xmlns:a16="http://schemas.microsoft.com/office/drawing/2014/main" id="{1E3F0E46-1A0A-3ECB-C344-62F5726F5701}"/>
                </a:ext>
              </a:extLst>
            </p:cNvPr>
            <p:cNvSpPr/>
            <p:nvPr/>
          </p:nvSpPr>
          <p:spPr>
            <a:xfrm>
              <a:off x="3588261" y="1895205"/>
              <a:ext cx="214969" cy="214969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70" name="TextBox 38">
              <a:extLst>
                <a:ext uri="{FF2B5EF4-FFF2-40B4-BE49-F238E27FC236}">
                  <a16:creationId xmlns:a16="http://schemas.microsoft.com/office/drawing/2014/main" id="{4C3D7A76-33EA-F621-988E-6ECCE50D5F4E}"/>
                </a:ext>
              </a:extLst>
            </p:cNvPr>
            <p:cNvSpPr txBox="1"/>
            <p:nvPr/>
          </p:nvSpPr>
          <p:spPr>
            <a:xfrm>
              <a:off x="3846225" y="1890617"/>
              <a:ext cx="640609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装备设计</a:t>
              </a:r>
            </a:p>
          </p:txBody>
        </p:sp>
        <p:sp>
          <p:nvSpPr>
            <p:cNvPr id="71" name="Rounded Rectangle 39">
              <a:extLst>
                <a:ext uri="{FF2B5EF4-FFF2-40B4-BE49-F238E27FC236}">
                  <a16:creationId xmlns:a16="http://schemas.microsoft.com/office/drawing/2014/main" id="{4EF13F1B-6829-F6C7-28C9-0E766AA8DDFB}"/>
                </a:ext>
              </a:extLst>
            </p:cNvPr>
            <p:cNvSpPr/>
            <p:nvPr/>
          </p:nvSpPr>
          <p:spPr>
            <a:xfrm>
              <a:off x="4608649" y="1841463"/>
              <a:ext cx="984559" cy="322455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2" name="Oval 40">
              <a:extLst>
                <a:ext uri="{FF2B5EF4-FFF2-40B4-BE49-F238E27FC236}">
                  <a16:creationId xmlns:a16="http://schemas.microsoft.com/office/drawing/2014/main" id="{DBB7CAA8-1F34-6D26-A0D5-B0D4CEE1C2C4}"/>
                </a:ext>
              </a:extLst>
            </p:cNvPr>
            <p:cNvSpPr/>
            <p:nvPr/>
          </p:nvSpPr>
          <p:spPr>
            <a:xfrm>
              <a:off x="4658810" y="1895205"/>
              <a:ext cx="214969" cy="214969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73" name="TextBox 41">
              <a:extLst>
                <a:ext uri="{FF2B5EF4-FFF2-40B4-BE49-F238E27FC236}">
                  <a16:creationId xmlns:a16="http://schemas.microsoft.com/office/drawing/2014/main" id="{4A531A05-C14B-2EE9-048C-4A9EE03215A4}"/>
                </a:ext>
              </a:extLst>
            </p:cNvPr>
            <p:cNvSpPr txBox="1"/>
            <p:nvPr/>
          </p:nvSpPr>
          <p:spPr>
            <a:xfrm>
              <a:off x="4916773" y="1890617"/>
              <a:ext cx="640609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地勘监测</a:t>
              </a:r>
            </a:p>
          </p:txBody>
        </p:sp>
        <p:sp>
          <p:nvSpPr>
            <p:cNvPr id="74" name="Rounded Rectangle 42">
              <a:extLst>
                <a:ext uri="{FF2B5EF4-FFF2-40B4-BE49-F238E27FC236}">
                  <a16:creationId xmlns:a16="http://schemas.microsoft.com/office/drawing/2014/main" id="{F7FBC12F-84AC-0FF0-2A7E-CF59CFC6DA9E}"/>
                </a:ext>
              </a:extLst>
            </p:cNvPr>
            <p:cNvSpPr/>
            <p:nvPr/>
          </p:nvSpPr>
          <p:spPr>
            <a:xfrm>
              <a:off x="5679199" y="1841463"/>
              <a:ext cx="984559" cy="322455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5" name="Oval 43">
              <a:extLst>
                <a:ext uri="{FF2B5EF4-FFF2-40B4-BE49-F238E27FC236}">
                  <a16:creationId xmlns:a16="http://schemas.microsoft.com/office/drawing/2014/main" id="{A0A680D3-4DED-9E0A-C841-B6BB2104C63E}"/>
                </a:ext>
              </a:extLst>
            </p:cNvPr>
            <p:cNvSpPr/>
            <p:nvPr/>
          </p:nvSpPr>
          <p:spPr>
            <a:xfrm>
              <a:off x="5729358" y="1895205"/>
              <a:ext cx="214969" cy="214969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5</a:t>
              </a:r>
            </a:p>
          </p:txBody>
        </p:sp>
        <p:sp>
          <p:nvSpPr>
            <p:cNvPr id="76" name="TextBox 44">
              <a:extLst>
                <a:ext uri="{FF2B5EF4-FFF2-40B4-BE49-F238E27FC236}">
                  <a16:creationId xmlns:a16="http://schemas.microsoft.com/office/drawing/2014/main" id="{B720BA6F-35D6-5187-177E-C95450EB4650}"/>
                </a:ext>
              </a:extLst>
            </p:cNvPr>
            <p:cNvSpPr txBox="1"/>
            <p:nvPr/>
          </p:nvSpPr>
          <p:spPr>
            <a:xfrm>
              <a:off x="5987321" y="1890617"/>
              <a:ext cx="640609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施工日志</a:t>
              </a:r>
              <a:endParaRPr sz="105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77" name="Right Arrow 45">
              <a:extLst>
                <a:ext uri="{FF2B5EF4-FFF2-40B4-BE49-F238E27FC236}">
                  <a16:creationId xmlns:a16="http://schemas.microsoft.com/office/drawing/2014/main" id="{641586F8-139D-66AB-431A-E51399E6FF9D}"/>
                </a:ext>
              </a:extLst>
            </p:cNvPr>
            <p:cNvSpPr/>
            <p:nvPr/>
          </p:nvSpPr>
          <p:spPr>
            <a:xfrm>
              <a:off x="3525205" y="2328726"/>
              <a:ext cx="71656" cy="128982"/>
            </a:xfrm>
            <a:prstGeom prst="rightArrow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8" name="Rounded Rectangle 46">
              <a:extLst>
                <a:ext uri="{FF2B5EF4-FFF2-40B4-BE49-F238E27FC236}">
                  <a16:creationId xmlns:a16="http://schemas.microsoft.com/office/drawing/2014/main" id="{F60F9336-04DC-D08F-C2FD-C851D9D164A5}"/>
                </a:ext>
              </a:extLst>
            </p:cNvPr>
            <p:cNvSpPr/>
            <p:nvPr/>
          </p:nvSpPr>
          <p:spPr>
            <a:xfrm>
              <a:off x="336492" y="2464874"/>
              <a:ext cx="6449083" cy="5875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9" name="Rectangle 47">
              <a:extLst>
                <a:ext uri="{FF2B5EF4-FFF2-40B4-BE49-F238E27FC236}">
                  <a16:creationId xmlns:a16="http://schemas.microsoft.com/office/drawing/2014/main" id="{FA51B058-04D9-5F06-B0A7-D9D51A07431B}"/>
                </a:ext>
              </a:extLst>
            </p:cNvPr>
            <p:cNvSpPr/>
            <p:nvPr/>
          </p:nvSpPr>
          <p:spPr>
            <a:xfrm>
              <a:off x="336492" y="2464874"/>
              <a:ext cx="931534" cy="587584"/>
            </a:xfrm>
            <a:prstGeom prst="rect">
              <a:avLst/>
            </a:prstGeom>
            <a:solidFill>
              <a:srgbClr val="2F8F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0" name="TextBox 48">
              <a:extLst>
                <a:ext uri="{FF2B5EF4-FFF2-40B4-BE49-F238E27FC236}">
                  <a16:creationId xmlns:a16="http://schemas.microsoft.com/office/drawing/2014/main" id="{7E7576E3-3032-EA1A-33FC-97A71001121B}"/>
                </a:ext>
              </a:extLst>
            </p:cNvPr>
            <p:cNvSpPr txBox="1"/>
            <p:nvPr/>
          </p:nvSpPr>
          <p:spPr>
            <a:xfrm>
              <a:off x="422479" y="2489385"/>
              <a:ext cx="752393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500" b="1" dirty="0" err="1">
                  <a:solidFill>
                    <a:srgbClr val="FFFFFF"/>
                  </a:solidFill>
                  <a:latin typeface="Microsoft YaHei"/>
                </a:rPr>
                <a:t>知识建模层</a:t>
              </a:r>
              <a:endParaRPr sz="150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81" name="Rounded Rectangle 49">
              <a:extLst>
                <a:ext uri="{FF2B5EF4-FFF2-40B4-BE49-F238E27FC236}">
                  <a16:creationId xmlns:a16="http://schemas.microsoft.com/office/drawing/2014/main" id="{05B0B114-7CA4-11E3-43A1-462C1CF0BC7F}"/>
                </a:ext>
              </a:extLst>
            </p:cNvPr>
            <p:cNvSpPr/>
            <p:nvPr/>
          </p:nvSpPr>
          <p:spPr>
            <a:xfrm>
              <a:off x="1397008" y="2601021"/>
              <a:ext cx="1252196" cy="322455"/>
            </a:xfrm>
            <a:prstGeom prst="roundRect">
              <a:avLst/>
            </a:prstGeom>
            <a:solidFill>
              <a:srgbClr val="EEF8F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2" name="Oval 50">
              <a:extLst>
                <a:ext uri="{FF2B5EF4-FFF2-40B4-BE49-F238E27FC236}">
                  <a16:creationId xmlns:a16="http://schemas.microsoft.com/office/drawing/2014/main" id="{4097F2E3-10EF-56A8-EC78-2D8B16D074BC}"/>
                </a:ext>
              </a:extLst>
            </p:cNvPr>
            <p:cNvSpPr/>
            <p:nvPr/>
          </p:nvSpPr>
          <p:spPr>
            <a:xfrm>
              <a:off x="1447166" y="2654763"/>
              <a:ext cx="214969" cy="214969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83" name="TextBox 51">
              <a:extLst>
                <a:ext uri="{FF2B5EF4-FFF2-40B4-BE49-F238E27FC236}">
                  <a16:creationId xmlns:a16="http://schemas.microsoft.com/office/drawing/2014/main" id="{C758A642-780B-862F-68EA-AA80F413C115}"/>
                </a:ext>
              </a:extLst>
            </p:cNvPr>
            <p:cNvSpPr txBox="1"/>
            <p:nvPr/>
          </p:nvSpPr>
          <p:spPr>
            <a:xfrm>
              <a:off x="1705129" y="2650176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施工工序模型</a:t>
              </a:r>
            </a:p>
          </p:txBody>
        </p:sp>
        <p:sp>
          <p:nvSpPr>
            <p:cNvPr id="84" name="Rounded Rectangle 52">
              <a:extLst>
                <a:ext uri="{FF2B5EF4-FFF2-40B4-BE49-F238E27FC236}">
                  <a16:creationId xmlns:a16="http://schemas.microsoft.com/office/drawing/2014/main" id="{7281EBDD-9845-8973-9C87-2E14B5A7C00A}"/>
                </a:ext>
              </a:extLst>
            </p:cNvPr>
            <p:cNvSpPr/>
            <p:nvPr/>
          </p:nvSpPr>
          <p:spPr>
            <a:xfrm>
              <a:off x="2735191" y="2601021"/>
              <a:ext cx="1252196" cy="322455"/>
            </a:xfrm>
            <a:prstGeom prst="roundRect">
              <a:avLst/>
            </a:prstGeom>
            <a:solidFill>
              <a:srgbClr val="EEF8F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5" name="Oval 53">
              <a:extLst>
                <a:ext uri="{FF2B5EF4-FFF2-40B4-BE49-F238E27FC236}">
                  <a16:creationId xmlns:a16="http://schemas.microsoft.com/office/drawing/2014/main" id="{07BA2A71-8FCB-C3F0-4A69-E322B714DAE5}"/>
                </a:ext>
              </a:extLst>
            </p:cNvPr>
            <p:cNvSpPr/>
            <p:nvPr/>
          </p:nvSpPr>
          <p:spPr>
            <a:xfrm>
              <a:off x="2785351" y="2654763"/>
              <a:ext cx="214969" cy="214969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86" name="TextBox 54">
              <a:extLst>
                <a:ext uri="{FF2B5EF4-FFF2-40B4-BE49-F238E27FC236}">
                  <a16:creationId xmlns:a16="http://schemas.microsoft.com/office/drawing/2014/main" id="{66072610-AADB-E49C-893D-A0F8E1255989}"/>
                </a:ext>
              </a:extLst>
            </p:cNvPr>
            <p:cNvSpPr txBox="1"/>
            <p:nvPr/>
          </p:nvSpPr>
          <p:spPr>
            <a:xfrm>
              <a:off x="3043315" y="2650176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风险机理库</a:t>
              </a:r>
            </a:p>
          </p:txBody>
        </p:sp>
        <p:sp>
          <p:nvSpPr>
            <p:cNvPr id="87" name="Rounded Rectangle 55">
              <a:extLst>
                <a:ext uri="{FF2B5EF4-FFF2-40B4-BE49-F238E27FC236}">
                  <a16:creationId xmlns:a16="http://schemas.microsoft.com/office/drawing/2014/main" id="{CCDBDA43-CE88-A96E-1E8D-9615A7DCB1BF}"/>
                </a:ext>
              </a:extLst>
            </p:cNvPr>
            <p:cNvSpPr/>
            <p:nvPr/>
          </p:nvSpPr>
          <p:spPr>
            <a:xfrm>
              <a:off x="4073377" y="2601021"/>
              <a:ext cx="1252196" cy="322455"/>
            </a:xfrm>
            <a:prstGeom prst="roundRect">
              <a:avLst/>
            </a:prstGeom>
            <a:solidFill>
              <a:srgbClr val="EEF8F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8" name="Oval 56">
              <a:extLst>
                <a:ext uri="{FF2B5EF4-FFF2-40B4-BE49-F238E27FC236}">
                  <a16:creationId xmlns:a16="http://schemas.microsoft.com/office/drawing/2014/main" id="{8387C1A5-30E8-B524-6BE6-658CE2E1E3DB}"/>
                </a:ext>
              </a:extLst>
            </p:cNvPr>
            <p:cNvSpPr/>
            <p:nvPr/>
          </p:nvSpPr>
          <p:spPr>
            <a:xfrm>
              <a:off x="4123535" y="2654763"/>
              <a:ext cx="214969" cy="214969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89" name="TextBox 57">
              <a:extLst>
                <a:ext uri="{FF2B5EF4-FFF2-40B4-BE49-F238E27FC236}">
                  <a16:creationId xmlns:a16="http://schemas.microsoft.com/office/drawing/2014/main" id="{2B961ABA-2905-3E71-D5D8-DCA7CDBDE00E}"/>
                </a:ext>
              </a:extLst>
            </p:cNvPr>
            <p:cNvSpPr txBox="1"/>
            <p:nvPr/>
          </p:nvSpPr>
          <p:spPr>
            <a:xfrm>
              <a:off x="4381498" y="2650176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规范标准库</a:t>
              </a:r>
            </a:p>
          </p:txBody>
        </p:sp>
        <p:sp>
          <p:nvSpPr>
            <p:cNvPr id="90" name="Rounded Rectangle 58">
              <a:extLst>
                <a:ext uri="{FF2B5EF4-FFF2-40B4-BE49-F238E27FC236}">
                  <a16:creationId xmlns:a16="http://schemas.microsoft.com/office/drawing/2014/main" id="{A05E049B-5590-587C-2478-58CF8E02E38E}"/>
                </a:ext>
              </a:extLst>
            </p:cNvPr>
            <p:cNvSpPr/>
            <p:nvPr/>
          </p:nvSpPr>
          <p:spPr>
            <a:xfrm>
              <a:off x="5411561" y="2601021"/>
              <a:ext cx="1252196" cy="322455"/>
            </a:xfrm>
            <a:prstGeom prst="roundRect">
              <a:avLst/>
            </a:prstGeom>
            <a:solidFill>
              <a:srgbClr val="EEF8F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1" name="Oval 59">
              <a:extLst>
                <a:ext uri="{FF2B5EF4-FFF2-40B4-BE49-F238E27FC236}">
                  <a16:creationId xmlns:a16="http://schemas.microsoft.com/office/drawing/2014/main" id="{5E43C1E8-C050-E0EC-6E0F-2838E1235F8E}"/>
                </a:ext>
              </a:extLst>
            </p:cNvPr>
            <p:cNvSpPr/>
            <p:nvPr/>
          </p:nvSpPr>
          <p:spPr>
            <a:xfrm>
              <a:off x="5461721" y="2654763"/>
              <a:ext cx="214969" cy="214969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92" name="TextBox 60">
              <a:extLst>
                <a:ext uri="{FF2B5EF4-FFF2-40B4-BE49-F238E27FC236}">
                  <a16:creationId xmlns:a16="http://schemas.microsoft.com/office/drawing/2014/main" id="{7C54C578-0CB8-5AC5-B17F-558E6FF4370F}"/>
                </a:ext>
              </a:extLst>
            </p:cNvPr>
            <p:cNvSpPr txBox="1"/>
            <p:nvPr/>
          </p:nvSpPr>
          <p:spPr>
            <a:xfrm>
              <a:off x="5719684" y="2650176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类比案例库</a:t>
              </a:r>
            </a:p>
          </p:txBody>
        </p:sp>
        <p:sp>
          <p:nvSpPr>
            <p:cNvPr id="93" name="Right Arrow 61">
              <a:extLst>
                <a:ext uri="{FF2B5EF4-FFF2-40B4-BE49-F238E27FC236}">
                  <a16:creationId xmlns:a16="http://schemas.microsoft.com/office/drawing/2014/main" id="{CBC6EA9A-E1F0-9E4D-EA30-0FC2AB6D74B1}"/>
                </a:ext>
              </a:extLst>
            </p:cNvPr>
            <p:cNvSpPr/>
            <p:nvPr/>
          </p:nvSpPr>
          <p:spPr>
            <a:xfrm>
              <a:off x="3525205" y="3088285"/>
              <a:ext cx="71656" cy="128982"/>
            </a:xfrm>
            <a:prstGeom prst="rightArrow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4" name="Rounded Rectangle 62">
              <a:extLst>
                <a:ext uri="{FF2B5EF4-FFF2-40B4-BE49-F238E27FC236}">
                  <a16:creationId xmlns:a16="http://schemas.microsoft.com/office/drawing/2014/main" id="{2BE7AAC9-967A-9302-648A-0CF470A1696A}"/>
                </a:ext>
              </a:extLst>
            </p:cNvPr>
            <p:cNvSpPr/>
            <p:nvPr/>
          </p:nvSpPr>
          <p:spPr>
            <a:xfrm>
              <a:off x="336492" y="3224433"/>
              <a:ext cx="6449083" cy="5875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5" name="Rectangle 63">
              <a:extLst>
                <a:ext uri="{FF2B5EF4-FFF2-40B4-BE49-F238E27FC236}">
                  <a16:creationId xmlns:a16="http://schemas.microsoft.com/office/drawing/2014/main" id="{2D3184A6-E721-3B72-7828-30488F64D908}"/>
                </a:ext>
              </a:extLst>
            </p:cNvPr>
            <p:cNvSpPr/>
            <p:nvPr/>
          </p:nvSpPr>
          <p:spPr>
            <a:xfrm>
              <a:off x="336492" y="3224433"/>
              <a:ext cx="931534" cy="587584"/>
            </a:xfrm>
            <a:prstGeom prst="rect">
              <a:avLst/>
            </a:prstGeom>
            <a:solidFill>
              <a:srgbClr val="B36B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6" name="TextBox 64">
              <a:extLst>
                <a:ext uri="{FF2B5EF4-FFF2-40B4-BE49-F238E27FC236}">
                  <a16:creationId xmlns:a16="http://schemas.microsoft.com/office/drawing/2014/main" id="{F8EC9EC5-EAE2-6BD0-0085-24F65FD85849}"/>
                </a:ext>
              </a:extLst>
            </p:cNvPr>
            <p:cNvSpPr txBox="1"/>
            <p:nvPr/>
          </p:nvSpPr>
          <p:spPr>
            <a:xfrm>
              <a:off x="422479" y="3248944"/>
              <a:ext cx="752393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500" b="1" dirty="0" err="1">
                  <a:solidFill>
                    <a:srgbClr val="FFFFFF"/>
                  </a:solidFill>
                  <a:latin typeface="Microsoft YaHei"/>
                </a:rPr>
                <a:t>智能推理层</a:t>
              </a:r>
              <a:endParaRPr sz="150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97" name="Rounded Rectangle 65">
              <a:extLst>
                <a:ext uri="{FF2B5EF4-FFF2-40B4-BE49-F238E27FC236}">
                  <a16:creationId xmlns:a16="http://schemas.microsoft.com/office/drawing/2014/main" id="{E8556BE2-BD12-F648-5F9D-E6A6E87FBD6B}"/>
                </a:ext>
              </a:extLst>
            </p:cNvPr>
            <p:cNvSpPr/>
            <p:nvPr/>
          </p:nvSpPr>
          <p:spPr>
            <a:xfrm>
              <a:off x="1397008" y="3360581"/>
              <a:ext cx="1252196" cy="322455"/>
            </a:xfrm>
            <a:prstGeom prst="roundRect">
              <a:avLst/>
            </a:prstGeom>
            <a:solidFill>
              <a:srgbClr val="FFF6E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8" name="Oval 66">
              <a:extLst>
                <a:ext uri="{FF2B5EF4-FFF2-40B4-BE49-F238E27FC236}">
                  <a16:creationId xmlns:a16="http://schemas.microsoft.com/office/drawing/2014/main" id="{B7375C8F-C9CB-AE49-194E-D007E384E458}"/>
                </a:ext>
              </a:extLst>
            </p:cNvPr>
            <p:cNvSpPr/>
            <p:nvPr/>
          </p:nvSpPr>
          <p:spPr>
            <a:xfrm>
              <a:off x="1447166" y="3414322"/>
              <a:ext cx="214969" cy="214969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99" name="TextBox 67">
              <a:extLst>
                <a:ext uri="{FF2B5EF4-FFF2-40B4-BE49-F238E27FC236}">
                  <a16:creationId xmlns:a16="http://schemas.microsoft.com/office/drawing/2014/main" id="{B6AF29D4-8A67-CFB3-D418-0A99B8A5EAE1}"/>
                </a:ext>
              </a:extLst>
            </p:cNvPr>
            <p:cNvSpPr txBox="1"/>
            <p:nvPr/>
          </p:nvSpPr>
          <p:spPr>
            <a:xfrm>
              <a:off x="1705129" y="3409732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混合检索增强</a:t>
              </a:r>
            </a:p>
          </p:txBody>
        </p:sp>
        <p:sp>
          <p:nvSpPr>
            <p:cNvPr id="101" name="Rounded Rectangle 68">
              <a:extLst>
                <a:ext uri="{FF2B5EF4-FFF2-40B4-BE49-F238E27FC236}">
                  <a16:creationId xmlns:a16="http://schemas.microsoft.com/office/drawing/2014/main" id="{D1EC7FA9-B19C-84DC-22A9-27384007CB3F}"/>
                </a:ext>
              </a:extLst>
            </p:cNvPr>
            <p:cNvSpPr/>
            <p:nvPr/>
          </p:nvSpPr>
          <p:spPr>
            <a:xfrm>
              <a:off x="2735191" y="3360581"/>
              <a:ext cx="1252196" cy="322455"/>
            </a:xfrm>
            <a:prstGeom prst="roundRect">
              <a:avLst/>
            </a:prstGeom>
            <a:solidFill>
              <a:srgbClr val="FFF6E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2" name="Oval 69">
              <a:extLst>
                <a:ext uri="{FF2B5EF4-FFF2-40B4-BE49-F238E27FC236}">
                  <a16:creationId xmlns:a16="http://schemas.microsoft.com/office/drawing/2014/main" id="{CF27DA26-0037-3208-ACE0-B7F3D7DB5C4B}"/>
                </a:ext>
              </a:extLst>
            </p:cNvPr>
            <p:cNvSpPr/>
            <p:nvPr/>
          </p:nvSpPr>
          <p:spPr>
            <a:xfrm>
              <a:off x="2785351" y="3414322"/>
              <a:ext cx="214969" cy="214969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103" name="TextBox 70">
              <a:extLst>
                <a:ext uri="{FF2B5EF4-FFF2-40B4-BE49-F238E27FC236}">
                  <a16:creationId xmlns:a16="http://schemas.microsoft.com/office/drawing/2014/main" id="{EE64FC81-F3CF-1F4F-F1E4-888E9E43D126}"/>
                </a:ext>
              </a:extLst>
            </p:cNvPr>
            <p:cNvSpPr txBox="1"/>
            <p:nvPr/>
          </p:nvSpPr>
          <p:spPr>
            <a:xfrm>
              <a:off x="3043315" y="3409732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机理驱动提示</a:t>
              </a:r>
            </a:p>
          </p:txBody>
        </p:sp>
        <p:sp>
          <p:nvSpPr>
            <p:cNvPr id="104" name="Rounded Rectangle 71">
              <a:extLst>
                <a:ext uri="{FF2B5EF4-FFF2-40B4-BE49-F238E27FC236}">
                  <a16:creationId xmlns:a16="http://schemas.microsoft.com/office/drawing/2014/main" id="{5060EDCA-AE02-B9B0-3283-A4A2D8A901C4}"/>
                </a:ext>
              </a:extLst>
            </p:cNvPr>
            <p:cNvSpPr/>
            <p:nvPr/>
          </p:nvSpPr>
          <p:spPr>
            <a:xfrm>
              <a:off x="4073377" y="3360581"/>
              <a:ext cx="1252196" cy="322455"/>
            </a:xfrm>
            <a:prstGeom prst="roundRect">
              <a:avLst/>
            </a:prstGeom>
            <a:solidFill>
              <a:srgbClr val="FFF6E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5" name="Oval 72">
              <a:extLst>
                <a:ext uri="{FF2B5EF4-FFF2-40B4-BE49-F238E27FC236}">
                  <a16:creationId xmlns:a16="http://schemas.microsoft.com/office/drawing/2014/main" id="{AC19EDDE-5AED-0AE8-3C88-230839444D44}"/>
                </a:ext>
              </a:extLst>
            </p:cNvPr>
            <p:cNvSpPr/>
            <p:nvPr/>
          </p:nvSpPr>
          <p:spPr>
            <a:xfrm>
              <a:off x="4123535" y="3414322"/>
              <a:ext cx="214969" cy="214969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106" name="TextBox 73">
              <a:extLst>
                <a:ext uri="{FF2B5EF4-FFF2-40B4-BE49-F238E27FC236}">
                  <a16:creationId xmlns:a16="http://schemas.microsoft.com/office/drawing/2014/main" id="{24F0C1CE-0096-6C8E-CA69-361997C85E5D}"/>
                </a:ext>
              </a:extLst>
            </p:cNvPr>
            <p:cNvSpPr txBox="1"/>
            <p:nvPr/>
          </p:nvSpPr>
          <p:spPr>
            <a:xfrm>
              <a:off x="4381498" y="3409732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LLM风险推理</a:t>
              </a:r>
            </a:p>
          </p:txBody>
        </p:sp>
        <p:sp>
          <p:nvSpPr>
            <p:cNvPr id="107" name="Rounded Rectangle 74">
              <a:extLst>
                <a:ext uri="{FF2B5EF4-FFF2-40B4-BE49-F238E27FC236}">
                  <a16:creationId xmlns:a16="http://schemas.microsoft.com/office/drawing/2014/main" id="{4946E93E-8969-8CDE-9BCE-F908D8168D65}"/>
                </a:ext>
              </a:extLst>
            </p:cNvPr>
            <p:cNvSpPr/>
            <p:nvPr/>
          </p:nvSpPr>
          <p:spPr>
            <a:xfrm>
              <a:off x="5411561" y="3360581"/>
              <a:ext cx="1252196" cy="322455"/>
            </a:xfrm>
            <a:prstGeom prst="roundRect">
              <a:avLst/>
            </a:prstGeom>
            <a:solidFill>
              <a:srgbClr val="FFF6E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8" name="Oval 75">
              <a:extLst>
                <a:ext uri="{FF2B5EF4-FFF2-40B4-BE49-F238E27FC236}">
                  <a16:creationId xmlns:a16="http://schemas.microsoft.com/office/drawing/2014/main" id="{8C7806F9-107D-206D-D516-193FEC71FA23}"/>
                </a:ext>
              </a:extLst>
            </p:cNvPr>
            <p:cNvSpPr/>
            <p:nvPr/>
          </p:nvSpPr>
          <p:spPr>
            <a:xfrm>
              <a:off x="5461721" y="3414322"/>
              <a:ext cx="214969" cy="214969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109" name="TextBox 76">
              <a:extLst>
                <a:ext uri="{FF2B5EF4-FFF2-40B4-BE49-F238E27FC236}">
                  <a16:creationId xmlns:a16="http://schemas.microsoft.com/office/drawing/2014/main" id="{DB4B2BBE-6A1A-2BDE-F160-437EA520FF8E}"/>
                </a:ext>
              </a:extLst>
            </p:cNvPr>
            <p:cNvSpPr txBox="1"/>
            <p:nvPr/>
          </p:nvSpPr>
          <p:spPr>
            <a:xfrm>
              <a:off x="5719684" y="3409731"/>
              <a:ext cx="944073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规则</a:t>
              </a:r>
              <a:r>
                <a:rPr sz="1050" b="1" dirty="0">
                  <a:solidFill>
                    <a:srgbClr val="1C2733"/>
                  </a:solidFill>
                  <a:latin typeface="Microsoft YaHei"/>
                </a:rPr>
                <a:t>/</a:t>
              </a:r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仿真校验</a:t>
              </a:r>
              <a:endParaRPr sz="105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10" name="Right Arrow 77">
              <a:extLst>
                <a:ext uri="{FF2B5EF4-FFF2-40B4-BE49-F238E27FC236}">
                  <a16:creationId xmlns:a16="http://schemas.microsoft.com/office/drawing/2014/main" id="{415EC962-FAAF-08E5-6ED3-E1CD0A819134}"/>
                </a:ext>
              </a:extLst>
            </p:cNvPr>
            <p:cNvSpPr/>
            <p:nvPr/>
          </p:nvSpPr>
          <p:spPr>
            <a:xfrm>
              <a:off x="3525205" y="3847844"/>
              <a:ext cx="71656" cy="128982"/>
            </a:xfrm>
            <a:prstGeom prst="rightArrow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1" name="Rounded Rectangle 78">
              <a:extLst>
                <a:ext uri="{FF2B5EF4-FFF2-40B4-BE49-F238E27FC236}">
                  <a16:creationId xmlns:a16="http://schemas.microsoft.com/office/drawing/2014/main" id="{774D96CC-A232-593E-5DC0-B807DABA34EF}"/>
                </a:ext>
              </a:extLst>
            </p:cNvPr>
            <p:cNvSpPr/>
            <p:nvPr/>
          </p:nvSpPr>
          <p:spPr>
            <a:xfrm>
              <a:off x="336492" y="3983992"/>
              <a:ext cx="6449083" cy="5875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2" name="Rectangle 79">
              <a:extLst>
                <a:ext uri="{FF2B5EF4-FFF2-40B4-BE49-F238E27FC236}">
                  <a16:creationId xmlns:a16="http://schemas.microsoft.com/office/drawing/2014/main" id="{5D4D5698-A7A5-4E57-2C19-683D896CE450}"/>
                </a:ext>
              </a:extLst>
            </p:cNvPr>
            <p:cNvSpPr/>
            <p:nvPr/>
          </p:nvSpPr>
          <p:spPr>
            <a:xfrm>
              <a:off x="336492" y="3983992"/>
              <a:ext cx="931534" cy="587584"/>
            </a:xfrm>
            <a:prstGeom prst="rect">
              <a:avLst/>
            </a:prstGeom>
            <a:solidFill>
              <a:srgbClr val="6E55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3" name="TextBox 80">
              <a:extLst>
                <a:ext uri="{FF2B5EF4-FFF2-40B4-BE49-F238E27FC236}">
                  <a16:creationId xmlns:a16="http://schemas.microsoft.com/office/drawing/2014/main" id="{3343B4C7-76AB-D4CE-3224-92800AA93E01}"/>
                </a:ext>
              </a:extLst>
            </p:cNvPr>
            <p:cNvSpPr txBox="1"/>
            <p:nvPr/>
          </p:nvSpPr>
          <p:spPr>
            <a:xfrm>
              <a:off x="422479" y="4008504"/>
              <a:ext cx="752393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500" b="1">
                  <a:solidFill>
                    <a:srgbClr val="FFFFFF"/>
                  </a:solidFill>
                  <a:latin typeface="Microsoft YaHei"/>
                </a:rPr>
                <a:t>应用输出层</a:t>
              </a:r>
            </a:p>
          </p:txBody>
        </p:sp>
        <p:sp>
          <p:nvSpPr>
            <p:cNvPr id="114" name="Rounded Rectangle 81">
              <a:extLst>
                <a:ext uri="{FF2B5EF4-FFF2-40B4-BE49-F238E27FC236}">
                  <a16:creationId xmlns:a16="http://schemas.microsoft.com/office/drawing/2014/main" id="{6DBB4EE5-35D2-C04F-3663-706C30B9D6D3}"/>
                </a:ext>
              </a:extLst>
            </p:cNvPr>
            <p:cNvSpPr/>
            <p:nvPr/>
          </p:nvSpPr>
          <p:spPr>
            <a:xfrm>
              <a:off x="1397008" y="4120139"/>
              <a:ext cx="1252196" cy="322455"/>
            </a:xfrm>
            <a:prstGeom prst="roundRect">
              <a:avLst/>
            </a:prstGeom>
            <a:solidFill>
              <a:srgbClr val="F2F0FA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5" name="Oval 82">
              <a:extLst>
                <a:ext uri="{FF2B5EF4-FFF2-40B4-BE49-F238E27FC236}">
                  <a16:creationId xmlns:a16="http://schemas.microsoft.com/office/drawing/2014/main" id="{8E99D2BE-4E38-1A70-6BBB-5FE52D1E34DD}"/>
                </a:ext>
              </a:extLst>
            </p:cNvPr>
            <p:cNvSpPr/>
            <p:nvPr/>
          </p:nvSpPr>
          <p:spPr>
            <a:xfrm>
              <a:off x="1447166" y="4173882"/>
              <a:ext cx="214969" cy="214969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116" name="TextBox 83">
              <a:extLst>
                <a:ext uri="{FF2B5EF4-FFF2-40B4-BE49-F238E27FC236}">
                  <a16:creationId xmlns:a16="http://schemas.microsoft.com/office/drawing/2014/main" id="{009F3439-FC5F-162D-9DDC-2D4CBDD80A35}"/>
                </a:ext>
              </a:extLst>
            </p:cNvPr>
            <p:cNvSpPr txBox="1"/>
            <p:nvPr/>
          </p:nvSpPr>
          <p:spPr>
            <a:xfrm>
              <a:off x="1705129" y="4088502"/>
              <a:ext cx="908245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标准化风险记录</a:t>
              </a:r>
            </a:p>
          </p:txBody>
        </p:sp>
        <p:sp>
          <p:nvSpPr>
            <p:cNvPr id="117" name="Rounded Rectangle 84">
              <a:extLst>
                <a:ext uri="{FF2B5EF4-FFF2-40B4-BE49-F238E27FC236}">
                  <a16:creationId xmlns:a16="http://schemas.microsoft.com/office/drawing/2014/main" id="{F7CDFDF1-4608-D8C8-7E84-EDB1018EAB0B}"/>
                </a:ext>
              </a:extLst>
            </p:cNvPr>
            <p:cNvSpPr/>
            <p:nvPr/>
          </p:nvSpPr>
          <p:spPr>
            <a:xfrm>
              <a:off x="2735191" y="4120139"/>
              <a:ext cx="1252196" cy="322455"/>
            </a:xfrm>
            <a:prstGeom prst="roundRect">
              <a:avLst/>
            </a:prstGeom>
            <a:solidFill>
              <a:srgbClr val="F2F0FA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8" name="Oval 85">
              <a:extLst>
                <a:ext uri="{FF2B5EF4-FFF2-40B4-BE49-F238E27FC236}">
                  <a16:creationId xmlns:a16="http://schemas.microsoft.com/office/drawing/2014/main" id="{17F29E36-B794-7D35-6DC3-5D32555E7460}"/>
                </a:ext>
              </a:extLst>
            </p:cNvPr>
            <p:cNvSpPr/>
            <p:nvPr/>
          </p:nvSpPr>
          <p:spPr>
            <a:xfrm>
              <a:off x="2785351" y="4173882"/>
              <a:ext cx="214969" cy="214969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119" name="TextBox 86">
              <a:extLst>
                <a:ext uri="{FF2B5EF4-FFF2-40B4-BE49-F238E27FC236}">
                  <a16:creationId xmlns:a16="http://schemas.microsoft.com/office/drawing/2014/main" id="{9107D1D8-E8EF-B8B1-A2E1-B61EC5D89504}"/>
                </a:ext>
              </a:extLst>
            </p:cNvPr>
            <p:cNvSpPr txBox="1"/>
            <p:nvPr/>
          </p:nvSpPr>
          <p:spPr>
            <a:xfrm>
              <a:off x="3043315" y="4169294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风险关联图谱</a:t>
              </a:r>
            </a:p>
          </p:txBody>
        </p:sp>
        <p:sp>
          <p:nvSpPr>
            <p:cNvPr id="120" name="Rounded Rectangle 87">
              <a:extLst>
                <a:ext uri="{FF2B5EF4-FFF2-40B4-BE49-F238E27FC236}">
                  <a16:creationId xmlns:a16="http://schemas.microsoft.com/office/drawing/2014/main" id="{B954579C-D04B-3663-86AB-5118623DBD82}"/>
                </a:ext>
              </a:extLst>
            </p:cNvPr>
            <p:cNvSpPr/>
            <p:nvPr/>
          </p:nvSpPr>
          <p:spPr>
            <a:xfrm>
              <a:off x="4073377" y="4120139"/>
              <a:ext cx="1252196" cy="322455"/>
            </a:xfrm>
            <a:prstGeom prst="roundRect">
              <a:avLst/>
            </a:prstGeom>
            <a:solidFill>
              <a:srgbClr val="F2F0FA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1" name="Oval 88">
              <a:extLst>
                <a:ext uri="{FF2B5EF4-FFF2-40B4-BE49-F238E27FC236}">
                  <a16:creationId xmlns:a16="http://schemas.microsoft.com/office/drawing/2014/main" id="{8E0F0FC2-525B-20FE-D131-7E3110C2A64A}"/>
                </a:ext>
              </a:extLst>
            </p:cNvPr>
            <p:cNvSpPr/>
            <p:nvPr/>
          </p:nvSpPr>
          <p:spPr>
            <a:xfrm>
              <a:off x="4123535" y="4173882"/>
              <a:ext cx="214969" cy="214969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122" name="TextBox 89">
              <a:extLst>
                <a:ext uri="{FF2B5EF4-FFF2-40B4-BE49-F238E27FC236}">
                  <a16:creationId xmlns:a16="http://schemas.microsoft.com/office/drawing/2014/main" id="{7D8315DD-2F6C-75DB-F022-5B48610561D2}"/>
                </a:ext>
              </a:extLst>
            </p:cNvPr>
            <p:cNvSpPr txBox="1"/>
            <p:nvPr/>
          </p:nvSpPr>
          <p:spPr>
            <a:xfrm>
              <a:off x="4381498" y="4169294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管理系统接口</a:t>
              </a:r>
            </a:p>
          </p:txBody>
        </p:sp>
        <p:sp>
          <p:nvSpPr>
            <p:cNvPr id="123" name="Rounded Rectangle 90">
              <a:extLst>
                <a:ext uri="{FF2B5EF4-FFF2-40B4-BE49-F238E27FC236}">
                  <a16:creationId xmlns:a16="http://schemas.microsoft.com/office/drawing/2014/main" id="{5A927893-D86C-95BA-50F8-D983F0F35549}"/>
                </a:ext>
              </a:extLst>
            </p:cNvPr>
            <p:cNvSpPr/>
            <p:nvPr/>
          </p:nvSpPr>
          <p:spPr>
            <a:xfrm>
              <a:off x="5411561" y="4120139"/>
              <a:ext cx="1252196" cy="322455"/>
            </a:xfrm>
            <a:prstGeom prst="roundRect">
              <a:avLst/>
            </a:prstGeom>
            <a:solidFill>
              <a:srgbClr val="F2F0FA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4" name="Oval 91">
              <a:extLst>
                <a:ext uri="{FF2B5EF4-FFF2-40B4-BE49-F238E27FC236}">
                  <a16:creationId xmlns:a16="http://schemas.microsoft.com/office/drawing/2014/main" id="{011A5C09-8165-B403-2EA7-B0B21A615531}"/>
                </a:ext>
              </a:extLst>
            </p:cNvPr>
            <p:cNvSpPr/>
            <p:nvPr/>
          </p:nvSpPr>
          <p:spPr>
            <a:xfrm>
              <a:off x="5461721" y="4173882"/>
              <a:ext cx="214969" cy="214969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125" name="TextBox 92">
              <a:extLst>
                <a:ext uri="{FF2B5EF4-FFF2-40B4-BE49-F238E27FC236}">
                  <a16:creationId xmlns:a16="http://schemas.microsoft.com/office/drawing/2014/main" id="{F983032C-7663-B09D-A86D-C2CD4C562A47}"/>
                </a:ext>
              </a:extLst>
            </p:cNvPr>
            <p:cNvSpPr txBox="1"/>
            <p:nvPr/>
          </p:nvSpPr>
          <p:spPr>
            <a:xfrm>
              <a:off x="5719684" y="4169294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追溯与复核</a:t>
              </a:r>
            </a:p>
          </p:txBody>
        </p:sp>
        <p:sp>
          <p:nvSpPr>
            <p:cNvPr id="13343" name="TextBox 16">
              <a:extLst>
                <a:ext uri="{FF2B5EF4-FFF2-40B4-BE49-F238E27FC236}">
                  <a16:creationId xmlns:a16="http://schemas.microsoft.com/office/drawing/2014/main" id="{7CB2E8D7-98D8-C366-29D0-D1C1E8F52278}"/>
                </a:ext>
              </a:extLst>
            </p:cNvPr>
            <p:cNvSpPr txBox="1"/>
            <p:nvPr/>
          </p:nvSpPr>
          <p:spPr>
            <a:xfrm>
              <a:off x="3046268" y="1329603"/>
              <a:ext cx="103799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163B63"/>
                  </a:solidFill>
                  <a:latin typeface="Microsoft YaHei"/>
                </a:rPr>
                <a:t>系统架构</a:t>
              </a:r>
              <a:endParaRPr b="1" dirty="0">
                <a:solidFill>
                  <a:srgbClr val="163B63"/>
                </a:solidFill>
                <a:latin typeface="Microsoft YaHei"/>
              </a:endParaRPr>
            </a:p>
          </p:txBody>
        </p:sp>
      </p:grpSp>
      <p:grpSp>
        <p:nvGrpSpPr>
          <p:cNvPr id="13346" name="组合 13345">
            <a:extLst>
              <a:ext uri="{FF2B5EF4-FFF2-40B4-BE49-F238E27FC236}">
                <a16:creationId xmlns:a16="http://schemas.microsoft.com/office/drawing/2014/main" id="{C7E04C28-6DAE-AC43-31F7-758BD9D9DDA5}"/>
              </a:ext>
            </a:extLst>
          </p:cNvPr>
          <p:cNvGrpSpPr/>
          <p:nvPr/>
        </p:nvGrpSpPr>
        <p:grpSpPr>
          <a:xfrm>
            <a:off x="7000541" y="1312181"/>
            <a:ext cx="2042210" cy="3541277"/>
            <a:chOff x="7000541" y="1312181"/>
            <a:chExt cx="2042210" cy="3541277"/>
          </a:xfrm>
        </p:grpSpPr>
        <p:sp>
          <p:nvSpPr>
            <p:cNvPr id="126" name="Rounded Rectangle 93">
              <a:extLst>
                <a:ext uri="{FF2B5EF4-FFF2-40B4-BE49-F238E27FC236}">
                  <a16:creationId xmlns:a16="http://schemas.microsoft.com/office/drawing/2014/main" id="{FFA9BF0D-A77D-39AE-1101-110C590495CD}"/>
                </a:ext>
              </a:extLst>
            </p:cNvPr>
            <p:cNvSpPr/>
            <p:nvPr/>
          </p:nvSpPr>
          <p:spPr>
            <a:xfrm>
              <a:off x="7000541" y="1312181"/>
              <a:ext cx="2042210" cy="354127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13339" name="组合 13338">
              <a:extLst>
                <a:ext uri="{FF2B5EF4-FFF2-40B4-BE49-F238E27FC236}">
                  <a16:creationId xmlns:a16="http://schemas.microsoft.com/office/drawing/2014/main" id="{FD08578B-CE72-D5A4-4AC1-C8274581898D}"/>
                </a:ext>
              </a:extLst>
            </p:cNvPr>
            <p:cNvGrpSpPr/>
            <p:nvPr/>
          </p:nvGrpSpPr>
          <p:grpSpPr>
            <a:xfrm>
              <a:off x="7105753" y="1697785"/>
              <a:ext cx="920997" cy="247760"/>
              <a:chOff x="7143853" y="1761285"/>
              <a:chExt cx="920997" cy="247760"/>
            </a:xfrm>
          </p:grpSpPr>
          <p:sp>
            <p:nvSpPr>
              <p:cNvPr id="13313" name="Oval 96">
                <a:extLst>
                  <a:ext uri="{FF2B5EF4-FFF2-40B4-BE49-F238E27FC236}">
                    <a16:creationId xmlns:a16="http://schemas.microsoft.com/office/drawing/2014/main" id="{CFE960D8-E223-F7AE-B7C6-66AD2903BFF2}"/>
                  </a:ext>
                </a:extLst>
              </p:cNvPr>
              <p:cNvSpPr/>
              <p:nvPr/>
            </p:nvSpPr>
            <p:spPr>
              <a:xfrm>
                <a:off x="7143853" y="1813509"/>
                <a:ext cx="114650" cy="114650"/>
              </a:xfrm>
              <a:prstGeom prst="ellipse">
                <a:avLst/>
              </a:prstGeom>
              <a:solidFill>
                <a:srgbClr val="1F5E96"/>
              </a:solidFill>
              <a:ln w="254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314" name="TextBox 97">
                <a:extLst>
                  <a:ext uri="{FF2B5EF4-FFF2-40B4-BE49-F238E27FC236}">
                    <a16:creationId xmlns:a16="http://schemas.microsoft.com/office/drawing/2014/main" id="{5A132102-0A66-2A2A-D6BF-2F44A53F1601}"/>
                  </a:ext>
                </a:extLst>
              </p:cNvPr>
              <p:cNvSpPr txBox="1"/>
              <p:nvPr/>
            </p:nvSpPr>
            <p:spPr>
              <a:xfrm>
                <a:off x="7322996" y="1761285"/>
                <a:ext cx="741854" cy="24776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50" b="1" dirty="0" err="1">
                    <a:solidFill>
                      <a:srgbClr val="163B63"/>
                    </a:solidFill>
                    <a:latin typeface="Microsoft YaHei"/>
                  </a:rPr>
                  <a:t>对象贯通</a:t>
                </a:r>
                <a:endParaRPr sz="1250" b="1" dirty="0">
                  <a:solidFill>
                    <a:srgbClr val="163B63"/>
                  </a:solidFill>
                  <a:latin typeface="Microsoft YaHei"/>
                </a:endParaRPr>
              </a:p>
            </p:txBody>
          </p:sp>
        </p:grpSp>
        <p:sp>
          <p:nvSpPr>
            <p:cNvPr id="13315" name="TextBox 98">
              <a:extLst>
                <a:ext uri="{FF2B5EF4-FFF2-40B4-BE49-F238E27FC236}">
                  <a16:creationId xmlns:a16="http://schemas.microsoft.com/office/drawing/2014/main" id="{34FB2E94-21CF-2A7C-9BCE-72D26009E73D}"/>
                </a:ext>
              </a:extLst>
            </p:cNvPr>
            <p:cNvSpPr txBox="1"/>
            <p:nvPr/>
          </p:nvSpPr>
          <p:spPr>
            <a:xfrm>
              <a:off x="7284895" y="1938164"/>
              <a:ext cx="1719756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1" dirty="0" err="1">
                  <a:latin typeface="Microsoft YaHei"/>
                </a:rPr>
                <a:t>工序节点、风险因素、风险事件与证据片段统一编号，避免识别结果脱离工程对象</a:t>
              </a:r>
              <a:r>
                <a:rPr sz="1000" b="1" dirty="0">
                  <a:latin typeface="Microsoft YaHei"/>
                </a:rPr>
                <a:t>。</a:t>
              </a:r>
            </a:p>
          </p:txBody>
        </p:sp>
        <p:grpSp>
          <p:nvGrpSpPr>
            <p:cNvPr id="13340" name="组合 13339">
              <a:extLst>
                <a:ext uri="{FF2B5EF4-FFF2-40B4-BE49-F238E27FC236}">
                  <a16:creationId xmlns:a16="http://schemas.microsoft.com/office/drawing/2014/main" id="{01BA8419-A13E-6EF5-EB45-ADA31E164AFD}"/>
                </a:ext>
              </a:extLst>
            </p:cNvPr>
            <p:cNvGrpSpPr/>
            <p:nvPr/>
          </p:nvGrpSpPr>
          <p:grpSpPr>
            <a:xfrm>
              <a:off x="7105753" y="2454216"/>
              <a:ext cx="920997" cy="247760"/>
              <a:chOff x="7143853" y="2775950"/>
              <a:chExt cx="920997" cy="247760"/>
            </a:xfrm>
          </p:grpSpPr>
          <p:sp>
            <p:nvSpPr>
              <p:cNvPr id="13316" name="Oval 99">
                <a:extLst>
                  <a:ext uri="{FF2B5EF4-FFF2-40B4-BE49-F238E27FC236}">
                    <a16:creationId xmlns:a16="http://schemas.microsoft.com/office/drawing/2014/main" id="{5F88C95B-EC1E-0627-CC23-9A169DCC9A6E}"/>
                  </a:ext>
                </a:extLst>
              </p:cNvPr>
              <p:cNvSpPr/>
              <p:nvPr/>
            </p:nvSpPr>
            <p:spPr>
              <a:xfrm>
                <a:off x="7143853" y="2828173"/>
                <a:ext cx="114650" cy="114650"/>
              </a:xfrm>
              <a:prstGeom prst="ellipse">
                <a:avLst/>
              </a:prstGeom>
              <a:solidFill>
                <a:srgbClr val="2F8F7A"/>
              </a:solidFill>
              <a:ln w="254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317" name="TextBox 100">
                <a:extLst>
                  <a:ext uri="{FF2B5EF4-FFF2-40B4-BE49-F238E27FC236}">
                    <a16:creationId xmlns:a16="http://schemas.microsoft.com/office/drawing/2014/main" id="{909F7803-024F-016E-C30F-5E75251FBF08}"/>
                  </a:ext>
                </a:extLst>
              </p:cNvPr>
              <p:cNvSpPr txBox="1"/>
              <p:nvPr/>
            </p:nvSpPr>
            <p:spPr>
              <a:xfrm>
                <a:off x="7322996" y="2775950"/>
                <a:ext cx="741854" cy="24776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50" b="1" dirty="0" err="1">
                    <a:solidFill>
                      <a:srgbClr val="163B63"/>
                    </a:solidFill>
                    <a:latin typeface="Microsoft YaHei"/>
                  </a:rPr>
                  <a:t>机理约束</a:t>
                </a:r>
                <a:endParaRPr sz="1250" b="1" dirty="0">
                  <a:solidFill>
                    <a:srgbClr val="163B63"/>
                  </a:solidFill>
                  <a:latin typeface="Microsoft YaHei"/>
                </a:endParaRPr>
              </a:p>
            </p:txBody>
          </p:sp>
        </p:grpSp>
        <p:sp>
          <p:nvSpPr>
            <p:cNvPr id="13318" name="TextBox 101">
              <a:extLst>
                <a:ext uri="{FF2B5EF4-FFF2-40B4-BE49-F238E27FC236}">
                  <a16:creationId xmlns:a16="http://schemas.microsoft.com/office/drawing/2014/main" id="{7DFBC6B0-4286-6F85-9095-90DCB38577F4}"/>
                </a:ext>
              </a:extLst>
            </p:cNvPr>
            <p:cNvSpPr txBox="1"/>
            <p:nvPr/>
          </p:nvSpPr>
          <p:spPr>
            <a:xfrm>
              <a:off x="7284895" y="2692478"/>
              <a:ext cx="1719756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1" dirty="0" err="1">
                  <a:latin typeface="Microsoft YaHei"/>
                </a:rPr>
                <a:t>风险机理库把“致险因素</a:t>
              </a:r>
              <a:r>
                <a:rPr sz="1000" b="1" dirty="0">
                  <a:latin typeface="Microsoft YaHei"/>
                </a:rPr>
                <a:t>—</a:t>
              </a:r>
              <a:r>
                <a:rPr sz="1000" b="1" dirty="0" err="1">
                  <a:latin typeface="Microsoft YaHei"/>
                </a:rPr>
                <a:t>作用路径</a:t>
              </a:r>
              <a:r>
                <a:rPr sz="1000" b="1" dirty="0">
                  <a:latin typeface="Microsoft YaHei"/>
                </a:rPr>
                <a:t>—</a:t>
              </a:r>
              <a:r>
                <a:rPr sz="1000" b="1" dirty="0" err="1">
                  <a:latin typeface="Microsoft YaHei"/>
                </a:rPr>
                <a:t>监测指标</a:t>
              </a:r>
              <a:r>
                <a:rPr sz="1000" b="1" dirty="0">
                  <a:latin typeface="Microsoft YaHei"/>
                </a:rPr>
                <a:t>—</a:t>
              </a:r>
              <a:r>
                <a:rPr sz="1000" b="1" dirty="0" err="1">
                  <a:latin typeface="Microsoft YaHei"/>
                </a:rPr>
                <a:t>防控措施”固化为可检索知识</a:t>
              </a:r>
              <a:r>
                <a:rPr sz="1000" b="1" dirty="0">
                  <a:latin typeface="Microsoft YaHei"/>
                </a:rPr>
                <a:t>。</a:t>
              </a:r>
            </a:p>
          </p:txBody>
        </p:sp>
        <p:grpSp>
          <p:nvGrpSpPr>
            <p:cNvPr id="13341" name="组合 13340">
              <a:extLst>
                <a:ext uri="{FF2B5EF4-FFF2-40B4-BE49-F238E27FC236}">
                  <a16:creationId xmlns:a16="http://schemas.microsoft.com/office/drawing/2014/main" id="{05441C09-D24C-194A-9640-ECD5917E82D0}"/>
                </a:ext>
              </a:extLst>
            </p:cNvPr>
            <p:cNvGrpSpPr/>
            <p:nvPr/>
          </p:nvGrpSpPr>
          <p:grpSpPr>
            <a:xfrm>
              <a:off x="7105753" y="3210647"/>
              <a:ext cx="920997" cy="247760"/>
              <a:chOff x="7143853" y="3377863"/>
              <a:chExt cx="920997" cy="247760"/>
            </a:xfrm>
          </p:grpSpPr>
          <p:sp>
            <p:nvSpPr>
              <p:cNvPr id="13319" name="Oval 102">
                <a:extLst>
                  <a:ext uri="{FF2B5EF4-FFF2-40B4-BE49-F238E27FC236}">
                    <a16:creationId xmlns:a16="http://schemas.microsoft.com/office/drawing/2014/main" id="{DDFCF178-6C2F-503E-1186-8B60E1A60A83}"/>
                  </a:ext>
                </a:extLst>
              </p:cNvPr>
              <p:cNvSpPr/>
              <p:nvPr/>
            </p:nvSpPr>
            <p:spPr>
              <a:xfrm>
                <a:off x="7143853" y="3430087"/>
                <a:ext cx="114650" cy="114650"/>
              </a:xfrm>
              <a:prstGeom prst="ellipse">
                <a:avLst/>
              </a:prstGeom>
              <a:solidFill>
                <a:srgbClr val="F2994A"/>
              </a:solidFill>
              <a:ln w="254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320" name="TextBox 103">
                <a:extLst>
                  <a:ext uri="{FF2B5EF4-FFF2-40B4-BE49-F238E27FC236}">
                    <a16:creationId xmlns:a16="http://schemas.microsoft.com/office/drawing/2014/main" id="{4A2FF77F-699B-067E-FF1E-649CF22C6046}"/>
                  </a:ext>
                </a:extLst>
              </p:cNvPr>
              <p:cNvSpPr txBox="1"/>
              <p:nvPr/>
            </p:nvSpPr>
            <p:spPr>
              <a:xfrm>
                <a:off x="7322996" y="3377863"/>
                <a:ext cx="741854" cy="24776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50" b="1" dirty="0" err="1">
                    <a:solidFill>
                      <a:srgbClr val="163B63"/>
                    </a:solidFill>
                    <a:latin typeface="Microsoft YaHei"/>
                  </a:rPr>
                  <a:t>证据追溯</a:t>
                </a:r>
                <a:endParaRPr sz="1250" b="1" dirty="0">
                  <a:solidFill>
                    <a:srgbClr val="163B63"/>
                  </a:solidFill>
                  <a:latin typeface="Microsoft YaHei"/>
                </a:endParaRPr>
              </a:p>
            </p:txBody>
          </p:sp>
        </p:grpSp>
        <p:sp>
          <p:nvSpPr>
            <p:cNvPr id="13323" name="TextBox 104">
              <a:extLst>
                <a:ext uri="{FF2B5EF4-FFF2-40B4-BE49-F238E27FC236}">
                  <a16:creationId xmlns:a16="http://schemas.microsoft.com/office/drawing/2014/main" id="{21E48C81-AEC6-7615-E319-C4E665D67ADB}"/>
                </a:ext>
              </a:extLst>
            </p:cNvPr>
            <p:cNvSpPr txBox="1"/>
            <p:nvPr/>
          </p:nvSpPr>
          <p:spPr>
            <a:xfrm>
              <a:off x="7284895" y="3446791"/>
              <a:ext cx="1719755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1" dirty="0" err="1">
                  <a:latin typeface="Microsoft YaHei"/>
                </a:rPr>
                <a:t>每条风险记录保留资料来源、规范条文、类比案例和模型置信度，支持复核</a:t>
              </a:r>
              <a:r>
                <a:rPr sz="1000" b="1" dirty="0">
                  <a:latin typeface="Microsoft YaHei"/>
                </a:rPr>
                <a:t>。</a:t>
              </a:r>
            </a:p>
          </p:txBody>
        </p:sp>
        <p:grpSp>
          <p:nvGrpSpPr>
            <p:cNvPr id="13342" name="组合 13341">
              <a:extLst>
                <a:ext uri="{FF2B5EF4-FFF2-40B4-BE49-F238E27FC236}">
                  <a16:creationId xmlns:a16="http://schemas.microsoft.com/office/drawing/2014/main" id="{F35F945C-A8DC-2542-0319-AC1A69B928B0}"/>
                </a:ext>
              </a:extLst>
            </p:cNvPr>
            <p:cNvGrpSpPr/>
            <p:nvPr/>
          </p:nvGrpSpPr>
          <p:grpSpPr>
            <a:xfrm>
              <a:off x="7105753" y="3967077"/>
              <a:ext cx="920995" cy="247760"/>
              <a:chOff x="7143853" y="3979777"/>
              <a:chExt cx="920995" cy="247760"/>
            </a:xfrm>
          </p:grpSpPr>
          <p:sp>
            <p:nvSpPr>
              <p:cNvPr id="13324" name="Oval 105">
                <a:extLst>
                  <a:ext uri="{FF2B5EF4-FFF2-40B4-BE49-F238E27FC236}">
                    <a16:creationId xmlns:a16="http://schemas.microsoft.com/office/drawing/2014/main" id="{7049CA0A-0544-6B5D-092D-5EE6035DE603}"/>
                  </a:ext>
                </a:extLst>
              </p:cNvPr>
              <p:cNvSpPr/>
              <p:nvPr/>
            </p:nvSpPr>
            <p:spPr>
              <a:xfrm>
                <a:off x="7143853" y="4032002"/>
                <a:ext cx="114650" cy="114650"/>
              </a:xfrm>
              <a:prstGeom prst="ellipse">
                <a:avLst/>
              </a:prstGeom>
              <a:solidFill>
                <a:srgbClr val="C74C4C"/>
              </a:solidFill>
              <a:ln w="254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325" name="TextBox 106">
                <a:extLst>
                  <a:ext uri="{FF2B5EF4-FFF2-40B4-BE49-F238E27FC236}">
                    <a16:creationId xmlns:a16="http://schemas.microsoft.com/office/drawing/2014/main" id="{9A956145-F1BE-FD7B-7272-DBFF73F81DCA}"/>
                  </a:ext>
                </a:extLst>
              </p:cNvPr>
              <p:cNvSpPr txBox="1"/>
              <p:nvPr/>
            </p:nvSpPr>
            <p:spPr>
              <a:xfrm>
                <a:off x="7322995" y="3979777"/>
                <a:ext cx="741853" cy="24776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50" b="1" dirty="0" err="1">
                    <a:solidFill>
                      <a:srgbClr val="163B63"/>
                    </a:solidFill>
                    <a:latin typeface="Microsoft YaHei"/>
                  </a:rPr>
                  <a:t>动态入库</a:t>
                </a:r>
                <a:endParaRPr sz="1250" b="1" dirty="0">
                  <a:solidFill>
                    <a:srgbClr val="163B63"/>
                  </a:solidFill>
                  <a:latin typeface="Microsoft YaHei"/>
                </a:endParaRPr>
              </a:p>
            </p:txBody>
          </p:sp>
        </p:grpSp>
        <p:sp>
          <p:nvSpPr>
            <p:cNvPr id="13326" name="TextBox 107">
              <a:extLst>
                <a:ext uri="{FF2B5EF4-FFF2-40B4-BE49-F238E27FC236}">
                  <a16:creationId xmlns:a16="http://schemas.microsoft.com/office/drawing/2014/main" id="{A34481F2-48EB-8890-0799-8BA3E1C8E3FC}"/>
                </a:ext>
              </a:extLst>
            </p:cNvPr>
            <p:cNvSpPr txBox="1"/>
            <p:nvPr/>
          </p:nvSpPr>
          <p:spPr>
            <a:xfrm>
              <a:off x="7284896" y="4201849"/>
              <a:ext cx="1719754" cy="36317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1" dirty="0" err="1">
                  <a:latin typeface="Microsoft YaHei"/>
                </a:rPr>
                <a:t>识别结果沉淀为工序风险关联图谱</a:t>
              </a:r>
              <a:r>
                <a:rPr sz="1000" b="1" dirty="0">
                  <a:latin typeface="Microsoft YaHei"/>
                </a:rPr>
                <a:t>，</a:t>
              </a:r>
              <a:r>
                <a:rPr lang="zh-CN" altLang="en-US" sz="1000" b="1" dirty="0">
                  <a:latin typeface="Microsoft YaHei"/>
                </a:rPr>
                <a:t>动态写入</a:t>
              </a:r>
              <a:r>
                <a:rPr sz="1000" b="1" dirty="0" err="1">
                  <a:latin typeface="Microsoft YaHei"/>
                </a:rPr>
                <a:t>风险管理系统</a:t>
              </a:r>
              <a:endParaRPr sz="1000" b="1" dirty="0">
                <a:latin typeface="Microsoft YaHei"/>
              </a:endParaRPr>
            </a:p>
          </p:txBody>
        </p:sp>
        <p:sp>
          <p:nvSpPr>
            <p:cNvPr id="13344" name="TextBox 16">
              <a:extLst>
                <a:ext uri="{FF2B5EF4-FFF2-40B4-BE49-F238E27FC236}">
                  <a16:creationId xmlns:a16="http://schemas.microsoft.com/office/drawing/2014/main" id="{47ABA079-8559-513A-FAA3-48DF9CEFC703}"/>
                </a:ext>
              </a:extLst>
            </p:cNvPr>
            <p:cNvSpPr txBox="1"/>
            <p:nvPr/>
          </p:nvSpPr>
          <p:spPr>
            <a:xfrm>
              <a:off x="7502650" y="1329603"/>
              <a:ext cx="103799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163B63"/>
                  </a:solidFill>
                  <a:latin typeface="Microsoft YaHei"/>
                </a:rPr>
                <a:t>系统特性</a:t>
              </a:r>
              <a:endParaRPr b="1" dirty="0">
                <a:solidFill>
                  <a:srgbClr val="163B63"/>
                </a:solidFill>
                <a:latin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6070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>
            <p:custDataLst>
              <p:tags r:id="rId2"/>
            </p:custDataLst>
          </p:nvPr>
        </p:nvSpPr>
        <p:spPr>
          <a:xfrm>
            <a:off x="1313128" y="933390"/>
            <a:ext cx="656912" cy="13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一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552700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0" y="0"/>
            <a:ext cx="9143988" cy="2552700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488632" y="516136"/>
            <a:ext cx="4213054" cy="3693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</a:rPr>
              <a:t>中国铁建股份有限公司科技研发计划项目重点课题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基于变径盾构的轨道交通隧站一体化建造技术研究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05621" y="560012"/>
            <a:ext cx="0" cy="28142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1927225" y="1270000"/>
            <a:ext cx="6591935" cy="991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4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500" dirty="0">
                <a:effectLst/>
                <a:sym typeface="+mn-ea"/>
              </a:rPr>
              <a:t>四、下一步工作计划</a:t>
            </a:r>
            <a:endParaRPr lang="zh-CN" altLang="en-US" sz="4500" dirty="0">
              <a:effectLst/>
            </a:endParaRPr>
          </a:p>
        </p:txBody>
      </p:sp>
      <p:cxnSp>
        <p:nvCxnSpPr>
          <p:cNvPr id="64" name="直接连接符 63"/>
          <p:cNvCxnSpPr/>
          <p:nvPr>
            <p:custDataLst>
              <p:tags r:id="rId3"/>
            </p:custDataLst>
          </p:nvPr>
        </p:nvCxnSpPr>
        <p:spPr>
          <a:xfrm>
            <a:off x="1717659" y="1373859"/>
            <a:ext cx="0" cy="86039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316516"/>
            <a:ext cx="9144000" cy="2943358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899422" y="2478200"/>
            <a:ext cx="760015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517713" y="1724656"/>
            <a:ext cx="419810" cy="863543"/>
            <a:chOff x="514831" y="2674043"/>
            <a:chExt cx="821179" cy="2226587"/>
          </a:xfrm>
        </p:grpSpPr>
        <p:sp>
          <p:nvSpPr>
            <p:cNvPr id="23" name="L 形 22"/>
            <p:cNvSpPr/>
            <p:nvPr/>
          </p:nvSpPr>
          <p:spPr>
            <a:xfrm>
              <a:off x="514831" y="2674044"/>
              <a:ext cx="821178" cy="2226586"/>
            </a:xfrm>
            <a:prstGeom prst="corner">
              <a:avLst>
                <a:gd name="adj1" fmla="val 11158"/>
                <a:gd name="adj2" fmla="val 11797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514832" y="2674043"/>
              <a:ext cx="821178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5" name="标题 3"/>
          <p:cNvSpPr txBox="1"/>
          <p:nvPr>
            <p:custDataLst>
              <p:tags r:id="rId1"/>
            </p:custDataLst>
          </p:nvPr>
        </p:nvSpPr>
        <p:spPr>
          <a:xfrm>
            <a:off x="839651" y="1864085"/>
            <a:ext cx="7127681" cy="738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750"/>
              </a:lnSpc>
            </a:pPr>
            <a:r>
              <a:rPr lang="zh-CN" altLang="en-US" sz="2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变径盾构站隧一体化建造风险评估及安全控制技术研究</a:t>
            </a:r>
          </a:p>
        </p:txBody>
      </p:sp>
      <p:sp>
        <p:nvSpPr>
          <p:cNvPr id="29" name="文本框 8"/>
          <p:cNvSpPr txBox="1"/>
          <p:nvPr/>
        </p:nvSpPr>
        <p:spPr>
          <a:xfrm>
            <a:off x="839652" y="1819378"/>
            <a:ext cx="8512519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中国铁建股份有限公司地下空间利用领域科研计划项目 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合同编号：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2024-W08</a:t>
            </a:r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标题 3"/>
          <p:cNvSpPr txBox="1"/>
          <p:nvPr>
            <p:custDataLst>
              <p:tags r:id="rId2"/>
            </p:custDataLst>
          </p:nvPr>
        </p:nvSpPr>
        <p:spPr>
          <a:xfrm>
            <a:off x="3591774" y="2699816"/>
            <a:ext cx="1421876" cy="738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4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141586" y="3721763"/>
            <a:ext cx="4549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</a:rPr>
              <a:t>中铁建华南建设有限公司</a:t>
            </a:r>
          </a:p>
          <a:p>
            <a:pPr algn="just"/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</a:rPr>
              <a:t>China Railway Construction South China Construction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/>
              </a:rPr>
              <a:t>Co.,Ltd</a:t>
            </a:r>
            <a:endParaRPr lang="en-US" altLang="zh-CN" sz="1200" dirty="0">
              <a:solidFill>
                <a:schemeClr val="bg1"/>
              </a:solidFill>
              <a:latin typeface="Arial" panose="020B0604020202020204"/>
            </a:endParaRPr>
          </a:p>
        </p:txBody>
      </p:sp>
      <p:pic>
        <p:nvPicPr>
          <p:cNvPr id="17" name="Picture 2" descr="D:\PPT~综合PPT-新\全国五百强\7+多\11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6642" y="3721763"/>
            <a:ext cx="464333" cy="37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2 项目研发进展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2.4 各子课题工作进展  ·  子课题一（站隧一体化建造风险智能识别与评估技术）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总体思路：机理驱动识别，规则约束评估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325880"/>
            <a:ext cx="2688336" cy="694944"/>
          </a:xfrm>
          <a:prstGeom prst="roundRect">
            <a:avLst/>
          </a:prstGeom>
          <a:solidFill>
            <a:srgbClr val="E8F0F9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325880"/>
            <a:ext cx="64008" cy="69494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417319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5E96"/>
                </a:solidFill>
                <a:latin typeface="Microsoft YaHei"/>
                <a:ea typeface="Microsoft YaHei"/>
              </a:rPr>
              <a:t>同类型案例不足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66420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4A5568"/>
                </a:solidFill>
                <a:latin typeface="Microsoft YaHei"/>
                <a:ea typeface="Microsoft YaHei"/>
              </a:rPr>
              <a:t>新装备、新工法难以直接套用历史风险清单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7832" y="1325880"/>
            <a:ext cx="2688336" cy="694944"/>
          </a:xfrm>
          <a:prstGeom prst="roundRect">
            <a:avLst/>
          </a:prstGeom>
          <a:solidFill>
            <a:srgbClr val="FFF6E4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27832" y="1325880"/>
            <a:ext cx="64008" cy="694944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2424" y="1417319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F2994A"/>
                </a:solidFill>
                <a:latin typeface="Microsoft YaHei"/>
                <a:ea typeface="Microsoft YaHei"/>
              </a:rPr>
              <a:t>规则适用条件复杂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166420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4A5568"/>
                </a:solidFill>
                <a:latin typeface="Microsoft YaHei"/>
                <a:ea typeface="Microsoft YaHei"/>
              </a:rPr>
              <a:t>工法、地层和工程阶段变化会影响规则选用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1616" y="1325880"/>
            <a:ext cx="2688336" cy="694944"/>
          </a:xfrm>
          <a:prstGeom prst="roundRect">
            <a:avLst/>
          </a:prstGeom>
          <a:solidFill>
            <a:srgbClr val="EEF8F4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71616" y="1325880"/>
            <a:ext cx="64008" cy="694944"/>
          </a:xfrm>
          <a:prstGeom prst="rect">
            <a:avLst/>
          </a:prstGeom>
          <a:solidFill>
            <a:srgbClr val="2F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417319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2F8F7A"/>
                </a:solidFill>
                <a:latin typeface="Microsoft YaHei"/>
                <a:ea typeface="Microsoft YaHei"/>
              </a:rPr>
              <a:t>人工排查难追溯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166420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4A5568"/>
                </a:solidFill>
                <a:latin typeface="Microsoft YaHei"/>
                <a:ea typeface="Microsoft YaHei"/>
              </a:rPr>
              <a:t>资料分散，识别依据和复核过程不易沉淀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2130552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63B63"/>
                </a:solidFill>
                <a:latin typeface="Microsoft YaHei"/>
                <a:ea typeface="Microsoft YaHei"/>
              </a:rPr>
              <a:t>风险管理业务闭环</a:t>
            </a:r>
          </a:p>
        </p:txBody>
      </p:sp>
      <p:sp>
        <p:nvSpPr>
          <p:cNvPr id="26" name="Chevron 25"/>
          <p:cNvSpPr/>
          <p:nvPr/>
        </p:nvSpPr>
        <p:spPr>
          <a:xfrm>
            <a:off x="384048" y="2423160"/>
            <a:ext cx="1572768" cy="457200"/>
          </a:xfrm>
          <a:prstGeom prst="chevron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资料接入</a:t>
            </a:r>
          </a:p>
        </p:txBody>
      </p:sp>
      <p:sp>
        <p:nvSpPr>
          <p:cNvPr id="27" name="Chevron 26"/>
          <p:cNvSpPr/>
          <p:nvPr/>
        </p:nvSpPr>
        <p:spPr>
          <a:xfrm>
            <a:off x="2084831" y="2423160"/>
            <a:ext cx="1572768" cy="457200"/>
          </a:xfrm>
          <a:prstGeom prst="chevron">
            <a:avLst/>
          </a:prstGeom>
          <a:solidFill>
            <a:srgbClr val="2F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智能识别</a:t>
            </a:r>
          </a:p>
        </p:txBody>
      </p:sp>
      <p:sp>
        <p:nvSpPr>
          <p:cNvPr id="28" name="Chevron 27"/>
          <p:cNvSpPr/>
          <p:nvPr/>
        </p:nvSpPr>
        <p:spPr>
          <a:xfrm>
            <a:off x="3785615" y="2423160"/>
            <a:ext cx="1572768" cy="457200"/>
          </a:xfrm>
          <a:prstGeom prst="chevron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智能评估</a:t>
            </a:r>
          </a:p>
        </p:txBody>
      </p:sp>
      <p:sp>
        <p:nvSpPr>
          <p:cNvPr id="29" name="Chevron 28"/>
          <p:cNvSpPr/>
          <p:nvPr/>
        </p:nvSpPr>
        <p:spPr>
          <a:xfrm>
            <a:off x="5486400" y="2423160"/>
            <a:ext cx="1572768" cy="457200"/>
          </a:xfrm>
          <a:prstGeom prst="chevron">
            <a:avLst/>
          </a:prstGeom>
          <a:solidFill>
            <a:srgbClr val="C7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动态预警</a:t>
            </a:r>
          </a:p>
        </p:txBody>
      </p:sp>
      <p:sp>
        <p:nvSpPr>
          <p:cNvPr id="30" name="Chevron 29"/>
          <p:cNvSpPr/>
          <p:nvPr/>
        </p:nvSpPr>
        <p:spPr>
          <a:xfrm>
            <a:off x="7187183" y="2423160"/>
            <a:ext cx="1572768" cy="457200"/>
          </a:xfrm>
          <a:prstGeom prst="chevron">
            <a:avLst/>
          </a:prstGeom>
          <a:solidFill>
            <a:srgbClr val="6E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处置反馈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978408" y="2944368"/>
            <a:ext cx="7187184" cy="246888"/>
          </a:xfrm>
          <a:prstGeom prst="leftArrow">
            <a:avLst/>
          </a:prstGeom>
          <a:solidFill>
            <a:srgbClr val="F4F7FB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63B63"/>
                </a:solidFill>
                <a:latin typeface="Microsoft YaHei"/>
                <a:ea typeface="Microsoft YaHei"/>
              </a:rPr>
              <a:t>反馈复核：形成知识更新或校准建议，审核后发布新版本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3383280"/>
            <a:ext cx="2688336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" y="3511296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5E96"/>
                </a:solidFill>
                <a:latin typeface="Microsoft YaHei"/>
                <a:ea typeface="Microsoft YaHei"/>
              </a:rPr>
              <a:t>风险在哪里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" y="3822191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按工序节点检索机理与证据，形成标准化风险记录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27832" y="3383280"/>
            <a:ext cx="2688336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511296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2F8F7A"/>
                </a:solidFill>
                <a:latin typeface="Microsoft YaHei"/>
                <a:ea typeface="Microsoft YaHei"/>
              </a:rPr>
              <a:t>风险有多大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3822191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按适用规则计算 P/C 分值，再映射版本化风险矩阵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71616" y="3383280"/>
            <a:ext cx="2688336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E5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7064" y="3511296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6E55A5"/>
                </a:solidFill>
                <a:latin typeface="Microsoft YaHei"/>
                <a:ea typeface="Microsoft YaHei"/>
              </a:rPr>
              <a:t>风险如何处置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3822191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根据触发指标形成预警和处置建议，跟踪实际效果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2 项目研发进展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2.4 各子课题工作进展  ·  子课题一（站隧一体化建造风险智能识别与评估技术）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识别与评估一体化系统架构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8</a:t>
            </a:r>
          </a:p>
        </p:txBody>
      </p:sp>
      <p:pic>
        <p:nvPicPr>
          <p:cNvPr id="13" name="Picture 12" descr="system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29" y="1353312"/>
            <a:ext cx="4815445" cy="31729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45352" y="1399032"/>
            <a:ext cx="2514600" cy="896112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90472"/>
            <a:ext cx="2240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5E96"/>
                </a:solidFill>
                <a:latin typeface="Microsoft YaHei"/>
                <a:ea typeface="Microsoft YaHei"/>
              </a:rPr>
              <a:t>共享事实源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55648"/>
            <a:ext cx="22402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Microsoft YaHei"/>
                <a:ea typeface="Microsoft YaHei"/>
              </a:rPr>
              <a:t>工序、机理、证据和版本信息在各层之间按统一契约传递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432304"/>
            <a:ext cx="2514600" cy="896112"/>
          </a:xfrm>
          <a:prstGeom prst="roundRect">
            <a:avLst/>
          </a:prstGeom>
          <a:solidFill>
            <a:srgbClr val="EEF8F4"/>
          </a:solidFill>
          <a:ln w="15240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523744"/>
            <a:ext cx="2240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2F8F7A"/>
                </a:solidFill>
                <a:latin typeface="Microsoft YaHei"/>
                <a:ea typeface="Microsoft YaHei"/>
              </a:rPr>
              <a:t>确定性边界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788920"/>
            <a:ext cx="22402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Microsoft YaHei"/>
                <a:ea typeface="Microsoft YaHei"/>
              </a:rPr>
              <a:t>P/C 评分、矩阵映射、阈值判断和业务入库不由大模型决定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465576"/>
            <a:ext cx="2514600" cy="896112"/>
          </a:xfrm>
          <a:prstGeom prst="roundRect">
            <a:avLst/>
          </a:prstGeom>
          <a:solidFill>
            <a:srgbClr val="FFF6E4"/>
          </a:solidFill>
          <a:ln w="1524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557016"/>
            <a:ext cx="2240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F2994A"/>
                </a:solidFill>
                <a:latin typeface="Microsoft YaHei"/>
                <a:ea typeface="Microsoft YaHei"/>
              </a:rPr>
              <a:t>人工复核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822191"/>
            <a:ext cx="22402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Microsoft YaHei"/>
                <a:ea typeface="Microsoft YaHei"/>
              </a:rPr>
              <a:t>字段不完整、规则冲突、校准发布等场景显式暂停等待审核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2 项目研发进展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2.4 各子课题工作进展  ·  子课题一（站隧一体化建造风险智能识别与评估技术）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Agent 参与边界：语义判断、确定性计算与人工决策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353312"/>
            <a:ext cx="8375904" cy="310896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426464"/>
            <a:ext cx="80832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950" b="0">
                <a:solidFill>
                  <a:srgbClr val="163B63"/>
                </a:solidFill>
                <a:latin typeface="Microsoft YaHei"/>
                <a:ea typeface="Microsoft YaHei"/>
              </a:rPr>
              <a:t>五类必经 Agent 任务聚焦语义判断；计算、校验、发布和采纳均由受控模块或人工完成。</a:t>
            </a:r>
          </a:p>
        </p:txBody>
      </p:sp>
      <p:pic>
        <p:nvPicPr>
          <p:cNvPr id="15" name="Picture 14" descr="agent-bound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750884"/>
            <a:ext cx="8375904" cy="18017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84048" y="3703320"/>
            <a:ext cx="2011680" cy="786384"/>
          </a:xfrm>
          <a:prstGeom prst="roundRect">
            <a:avLst/>
          </a:prstGeom>
          <a:solidFill>
            <a:srgbClr val="E8F0F9"/>
          </a:solidFill>
          <a:ln w="13970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3785615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1F5E96"/>
                </a:solidFill>
                <a:latin typeface="Microsoft YaHei"/>
                <a:ea typeface="Microsoft YaHei"/>
              </a:rPr>
              <a:t>固定任务边界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4014215"/>
            <a:ext cx="179222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发起者、工程和输入版本在任务创建时确定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5456" y="3703320"/>
            <a:ext cx="2011680" cy="786384"/>
          </a:xfrm>
          <a:prstGeom prst="roundRect">
            <a:avLst/>
          </a:prstGeom>
          <a:solidFill>
            <a:srgbClr val="EEF8F4"/>
          </a:solidFill>
          <a:ln w="13970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15184" y="3785615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2F8F7A"/>
                </a:solidFill>
                <a:latin typeface="Microsoft YaHei"/>
                <a:ea typeface="Microsoft YaHei"/>
              </a:rPr>
              <a:t>限定工具范围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4014215"/>
            <a:ext cx="179222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按任务类型配置领域工具白名单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6864" y="3703320"/>
            <a:ext cx="2011680" cy="786384"/>
          </a:xfrm>
          <a:prstGeom prst="roundRect">
            <a:avLst/>
          </a:prstGeom>
          <a:solidFill>
            <a:srgbClr val="FFF6E4"/>
          </a:solidFill>
          <a:ln w="1397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3785615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2994A"/>
                </a:solidFill>
                <a:latin typeface="Microsoft YaHei"/>
                <a:ea typeface="Microsoft YaHei"/>
              </a:rPr>
              <a:t>执行资源预算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014215"/>
            <a:ext cx="179222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模型、工具、并发和墙钟时间设硬预算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48272" y="3703320"/>
            <a:ext cx="2011680" cy="786384"/>
          </a:xfrm>
          <a:prstGeom prst="roundRect">
            <a:avLst/>
          </a:prstGeom>
          <a:solidFill>
            <a:srgbClr val="F2EEFA"/>
          </a:solidFill>
          <a:ln w="13970">
            <a:solidFill>
              <a:srgbClr val="6E5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785615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6E55A5"/>
                </a:solidFill>
                <a:latin typeface="Microsoft YaHei"/>
                <a:ea typeface="Microsoft YaHei"/>
              </a:rPr>
              <a:t>保留审计证据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014215"/>
            <a:ext cx="179222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记录输入、工具行动、校验和正式结果，不展示思维链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2 项目研发进展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2.4 各子课题工作进展  ·  子课题一（站隧一体化建造风险智能识别与评估技术）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识别与评估双引擎：从工程证据到预警处置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10</a:t>
            </a:r>
          </a:p>
        </p:txBody>
      </p:sp>
      <p:pic>
        <p:nvPicPr>
          <p:cNvPr id="13" name="Picture 12" descr="dual-eng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68801"/>
            <a:ext cx="8375904" cy="271222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84048" y="4096512"/>
            <a:ext cx="2694432" cy="438912"/>
          </a:xfrm>
          <a:prstGeom prst="roundRect">
            <a:avLst/>
          </a:prstGeom>
          <a:solidFill>
            <a:srgbClr val="E8F0F9"/>
          </a:solidFill>
          <a:ln w="9525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4178808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80" b="1">
                <a:solidFill>
                  <a:srgbClr val="1F5E96"/>
                </a:solidFill>
                <a:latin typeface="Microsoft YaHei"/>
                <a:ea typeface="Microsoft YaHei"/>
              </a:rPr>
              <a:t>识别依据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69663"/>
            <a:ext cx="1780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4A5568"/>
                </a:solidFill>
                <a:latin typeface="Microsoft YaHei"/>
                <a:ea typeface="Microsoft YaHei"/>
              </a:rPr>
              <a:t>工序模型、风险机理条目和检索证据共同约束推理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4784" y="4096512"/>
            <a:ext cx="2694432" cy="438912"/>
          </a:xfrm>
          <a:prstGeom prst="roundRect">
            <a:avLst/>
          </a:prstGeom>
          <a:solidFill>
            <a:srgbClr val="EEF8F4"/>
          </a:solidFill>
          <a:ln w="9525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4512" y="4178808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80" b="1">
                <a:solidFill>
                  <a:srgbClr val="2F8F7A"/>
                </a:solidFill>
                <a:latin typeface="Microsoft YaHei"/>
                <a:ea typeface="Microsoft YaHei"/>
              </a:rPr>
              <a:t>评估依据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9456" y="4169663"/>
            <a:ext cx="1780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4A5568"/>
                </a:solidFill>
                <a:latin typeface="Microsoft YaHei"/>
                <a:ea typeface="Microsoft YaHei"/>
              </a:rPr>
              <a:t>适用规则集、指标实际取值、权重和版本化风险矩阵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5520" y="4096512"/>
            <a:ext cx="2694432" cy="438912"/>
          </a:xfrm>
          <a:prstGeom prst="roundRect">
            <a:avLst/>
          </a:prstGeom>
          <a:solidFill>
            <a:srgbClr val="FFF6E4"/>
          </a:solidFill>
          <a:ln w="9525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5248" y="4178808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80" b="1">
                <a:solidFill>
                  <a:srgbClr val="F2994A"/>
                </a:solidFill>
                <a:latin typeface="Microsoft YaHei"/>
                <a:ea typeface="Microsoft YaHei"/>
              </a:rPr>
              <a:t>反馈边界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0192" y="4169663"/>
            <a:ext cx="1780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4A5568"/>
                </a:solidFill>
                <a:latin typeface="Microsoft YaHei"/>
                <a:ea typeface="Microsoft YaHei"/>
              </a:rPr>
              <a:t>偏差超限只生成校准建议，审核通过后形成新版本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2 项目研发进展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2.4 各子课题工作进展  ·  子课题一（站隧一体化建造风险智能识别与评估技术）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技术实现与工程保障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399032"/>
            <a:ext cx="2682240" cy="1682496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399032"/>
            <a:ext cx="2682240" cy="329184"/>
          </a:xfrm>
          <a:prstGeom prst="round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流程编排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856231"/>
            <a:ext cx="238963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163B63"/>
                </a:solidFill>
                <a:latin typeface="Microsoft YaHei"/>
                <a:ea typeface="Microsoft YaHei"/>
              </a:rPr>
              <a:t>LangGraph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40864"/>
            <a:ext cx="23530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Microsoft YaHei"/>
                <a:ea typeface="Microsoft YaHei"/>
              </a:rPr>
              <a:t>统一组织识别和评估流程，支持检查点、重试、暂停与人工复核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0880" y="1399032"/>
            <a:ext cx="2682240" cy="1682496"/>
          </a:xfrm>
          <a:prstGeom prst="roundRect">
            <a:avLst/>
          </a:prstGeom>
          <a:solidFill>
            <a:srgbClr val="EEF8F4"/>
          </a:solidFill>
          <a:ln w="15240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30880" y="1399032"/>
            <a:ext cx="2682240" cy="329184"/>
          </a:xfrm>
          <a:prstGeom prst="roundRect">
            <a:avLst/>
          </a:prstGeom>
          <a:solidFill>
            <a:srgbClr val="2F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模型与检索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7184" y="1856231"/>
            <a:ext cx="238963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163B63"/>
                </a:solidFill>
                <a:latin typeface="Microsoft YaHei"/>
                <a:ea typeface="Microsoft YaHei"/>
              </a:rPr>
              <a:t>开源模型、LoRA、向量检索与 BM25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5472" y="2340864"/>
            <a:ext cx="23530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Microsoft YaHei"/>
                <a:ea typeface="Microsoft YaHei"/>
              </a:rPr>
              <a:t>模型用于工程文本抽取和受约束推理；双索引独立打分后融合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7712" y="1399032"/>
            <a:ext cx="2682240" cy="1682496"/>
          </a:xfrm>
          <a:prstGeom prst="roundRect">
            <a:avLst/>
          </a:prstGeom>
          <a:solidFill>
            <a:srgbClr val="F2EEFA"/>
          </a:solidFill>
          <a:ln w="15240">
            <a:solidFill>
              <a:srgbClr val="6E5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77712" y="1399032"/>
            <a:ext cx="2682240" cy="329184"/>
          </a:xfrm>
          <a:prstGeom prst="roundRect">
            <a:avLst/>
          </a:prstGeom>
          <a:solidFill>
            <a:srgbClr val="6E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应用与领域工具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4016" y="1856231"/>
            <a:ext cx="238963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163B63"/>
                </a:solidFill>
                <a:latin typeface="Microsoft YaHei"/>
                <a:ea typeface="Microsoft YaHei"/>
              </a:rPr>
              <a:t>React、ECharts 与受限工具接口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304" y="2340864"/>
            <a:ext cx="23530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Microsoft YaHei"/>
                <a:ea typeface="Microsoft YaHei"/>
              </a:rPr>
              <a:t>界面承载业务闭环；Agent 只能调用按任务授权的领域操作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24612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63B63"/>
                </a:solidFill>
                <a:latin typeface="Microsoft YaHei"/>
                <a:ea typeface="Microsoft YaHei"/>
              </a:rPr>
              <a:t>工程保障机制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3547872"/>
            <a:ext cx="201168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3648456"/>
            <a:ext cx="17922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1F5E96"/>
                </a:solidFill>
                <a:latin typeface="Microsoft YaHei"/>
                <a:ea typeface="Microsoft YaHei"/>
              </a:rPr>
              <a:t>规格驱动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393192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能力变更先形成可核对的规格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5456" y="3547872"/>
            <a:ext cx="201168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15184" y="3648456"/>
            <a:ext cx="17922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2F8F7A"/>
                </a:solidFill>
                <a:latin typeface="Microsoft YaHei"/>
                <a:ea typeface="Microsoft YaHei"/>
              </a:rPr>
              <a:t>配置版本化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15184" y="393192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指标、权重、矩阵和阈值不写死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26864" y="3547872"/>
            <a:ext cx="201168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3648456"/>
            <a:ext cx="17922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2994A"/>
                </a:solidFill>
                <a:latin typeface="Microsoft YaHei"/>
                <a:ea typeface="Microsoft YaHei"/>
              </a:rPr>
              <a:t>全链路审计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393192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来源、规则、版本和审核过程可追溯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48272" y="3547872"/>
            <a:ext cx="201168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E5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648456"/>
            <a:ext cx="17922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6E55A5"/>
                </a:solidFill>
                <a:latin typeface="Microsoft YaHei"/>
                <a:ea typeface="Microsoft YaHei"/>
              </a:rPr>
              <a:t>结果可重放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93192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以输入快照和配置版本重现计算结果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2 项目研发进展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2.4 各子课题工作进展  ·  子课题一（站隧一体化建造风险智能识别与评估技术）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项目内网部署建议：数据、模型与业务服务分区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12</a:t>
            </a:r>
          </a:p>
        </p:txBody>
      </p:sp>
      <p:pic>
        <p:nvPicPr>
          <p:cNvPr id="13" name="Picture 12" descr="deploy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495154"/>
            <a:ext cx="8375904" cy="178285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84048" y="3566160"/>
            <a:ext cx="2694432" cy="877824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" y="3657600"/>
            <a:ext cx="242011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5E96"/>
                </a:solidFill>
                <a:latin typeface="Microsoft YaHei"/>
                <a:ea typeface="Microsoft YaHei"/>
              </a:rPr>
              <a:t>数据边界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3913632"/>
            <a:ext cx="2420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4A5568"/>
                </a:solidFill>
                <a:latin typeface="Microsoft YaHei"/>
                <a:ea typeface="Microsoft YaHei"/>
              </a:rPr>
              <a:t>工程资料和监测数据保留在项目内网，外部通知在结果可靠入库后执行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4784" y="3566160"/>
            <a:ext cx="2694432" cy="877824"/>
          </a:xfrm>
          <a:prstGeom prst="roundRect">
            <a:avLst/>
          </a:prstGeom>
          <a:solidFill>
            <a:srgbClr val="EEF8F4"/>
          </a:solidFill>
          <a:ln w="15240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1944" y="3657600"/>
            <a:ext cx="242011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2F8F7A"/>
                </a:solidFill>
                <a:latin typeface="Microsoft YaHei"/>
                <a:ea typeface="Microsoft YaHei"/>
              </a:rPr>
              <a:t>服务分区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1944" y="3913632"/>
            <a:ext cx="2420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4A5568"/>
                </a:solidFill>
                <a:latin typeface="Microsoft YaHei"/>
                <a:ea typeface="Microsoft YaHei"/>
              </a:rPr>
              <a:t>业务应用、流程编排、模型推理和数据存储各自承担明确职责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5520" y="3566160"/>
            <a:ext cx="2694432" cy="877824"/>
          </a:xfrm>
          <a:prstGeom prst="roundRect">
            <a:avLst/>
          </a:prstGeom>
          <a:solidFill>
            <a:srgbClr val="FFF6E4"/>
          </a:solidFill>
          <a:ln w="1524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2680" y="3657600"/>
            <a:ext cx="242011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F2994A"/>
                </a:solidFill>
                <a:latin typeface="Microsoft YaHei"/>
                <a:ea typeface="Microsoft YaHei"/>
              </a:rPr>
              <a:t>按需配置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2680" y="3913632"/>
            <a:ext cx="2420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4A5568"/>
                </a:solidFill>
                <a:latin typeface="Microsoft YaHei"/>
                <a:ea typeface="Microsoft YaHei"/>
              </a:rPr>
              <a:t>模型规模、算力、主备和备份方案依据实施条件确定，不在设计页固定型号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2 项目研发进展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2.4 各子课题工作进展  ·  子课题一（站隧一体化建造风险智能识别与评估技术）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系统演示（一）：风险态势总览（演示原型）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13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58169"/>
            <a:ext cx="5623560" cy="3163252"/>
          </a:xfrm>
          <a:prstGeom prst="rect">
            <a:avLst/>
          </a:prstGeom>
          <a:ln w="12700">
            <a:solidFill>
              <a:srgbClr val="D5DCE4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6199632" y="1380744"/>
            <a:ext cx="2560320" cy="896112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472184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5E96"/>
                </a:solidFill>
                <a:latin typeface="Microsoft YaHei"/>
                <a:ea typeface="Microsoft YaHei"/>
              </a:rPr>
              <a:t>数据入口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737360"/>
            <a:ext cx="2286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4A5568"/>
                </a:solidFill>
                <a:latin typeface="Microsoft YaHei"/>
                <a:ea typeface="Microsoft YaHei"/>
              </a:rPr>
              <a:t>风险评估记录、预警信息和监测摘要按当前版本汇总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414015"/>
            <a:ext cx="2560320" cy="896112"/>
          </a:xfrm>
          <a:prstGeom prst="roundRect">
            <a:avLst/>
          </a:prstGeom>
          <a:solidFill>
            <a:srgbClr val="EEF8F4"/>
          </a:solidFill>
          <a:ln w="15240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505456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2F8F7A"/>
                </a:solidFill>
                <a:latin typeface="Microsoft YaHei"/>
                <a:ea typeface="Microsoft YaHei"/>
              </a:rPr>
              <a:t>重点操作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770632"/>
            <a:ext cx="2286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4A5568"/>
                </a:solidFill>
                <a:latin typeface="Microsoft YaHei"/>
                <a:ea typeface="Microsoft YaHei"/>
              </a:rPr>
              <a:t>筛选项目与工程阶段，查看风险分布、监测趋势和待处置事项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447287"/>
            <a:ext cx="2560320" cy="896112"/>
          </a:xfrm>
          <a:prstGeom prst="roundRect">
            <a:avLst/>
          </a:prstGeom>
          <a:solidFill>
            <a:srgbClr val="FFF6E4"/>
          </a:solidFill>
          <a:ln w="1524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538727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F2994A"/>
                </a:solidFill>
                <a:latin typeface="Microsoft YaHei"/>
                <a:ea typeface="Microsoft YaHei"/>
              </a:rPr>
              <a:t>业务输出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803903"/>
            <a:ext cx="2286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4A5568"/>
                </a:solidFill>
                <a:latin typeface="Microsoft YaHei"/>
                <a:ea typeface="Microsoft YaHei"/>
              </a:rPr>
              <a:t>定位风险集中工序和越限指标，并进入评估、预警或证据详情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2 项目研发进展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2.4 各子课题工作进展  ·  子课题一（站隧一体化建造风险智能识别与评估技术）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系统演示（二）：智能 Agent 与智能识别（演示原型）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14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27" y="1353312"/>
            <a:ext cx="4031488" cy="2267712"/>
          </a:xfrm>
          <a:prstGeom prst="rect">
            <a:avLst/>
          </a:prstGeom>
          <a:ln w="12700">
            <a:solidFill>
              <a:srgbClr val="D5DCE4"/>
            </a:solidFill>
          </a:ln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080" y="1353312"/>
            <a:ext cx="4031488" cy="2267712"/>
          </a:xfrm>
          <a:prstGeom prst="rect">
            <a:avLst/>
          </a:prstGeom>
          <a:ln w="12700">
            <a:solidFill>
              <a:srgbClr val="D5DCE4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384048" y="3703320"/>
            <a:ext cx="4041648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76472"/>
            <a:ext cx="3803904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F5E96"/>
                </a:solidFill>
                <a:latin typeface="Microsoft YaHei"/>
                <a:ea typeface="Microsoft YaHei"/>
              </a:rPr>
              <a:t>智能 Agent 工作台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14215"/>
            <a:ext cx="38039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输入：工程问题、关联项目和资料版本</a:t>
            </a:r>
          </a:p>
          <a:p>
            <a:pPr algn="l">
              <a:lnSpc>
                <a:spcPct val="102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输出：评估结论、P/C 分值、触发指标及证据引用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703320"/>
            <a:ext cx="4041648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3776472"/>
            <a:ext cx="3803904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2F8F7A"/>
                </a:solidFill>
                <a:latin typeface="Microsoft YaHei"/>
                <a:ea typeface="Microsoft YaHei"/>
              </a:rPr>
              <a:t>智能识别中心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4014215"/>
            <a:ext cx="38039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过程：按工序节点展示检索、推理和确定性校验状态</a:t>
            </a:r>
          </a:p>
          <a:p>
            <a:pPr algn="l">
              <a:lnSpc>
                <a:spcPct val="102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输出：标准化风险记录、综合置信度和人工复核路由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2 项目研发进展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2.4 各子课题工作进展  ·  子课题一（站隧一体化建造风险智能识别与评估技术）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系统演示（三）：风险评估、预警与处置追溯（演示原型）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15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27" y="1353312"/>
            <a:ext cx="4031488" cy="2267712"/>
          </a:xfrm>
          <a:prstGeom prst="rect">
            <a:avLst/>
          </a:prstGeom>
          <a:ln w="12700">
            <a:solidFill>
              <a:srgbClr val="D5DCE4"/>
            </a:solidFill>
          </a:ln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080" y="1353312"/>
            <a:ext cx="4031488" cy="2267712"/>
          </a:xfrm>
          <a:prstGeom prst="rect">
            <a:avLst/>
          </a:prstGeom>
          <a:ln w="12700">
            <a:solidFill>
              <a:srgbClr val="D5DCE4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384048" y="3703320"/>
            <a:ext cx="4041648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76472"/>
            <a:ext cx="3803904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2994A"/>
                </a:solidFill>
                <a:latin typeface="Microsoft YaHei"/>
                <a:ea typeface="Microsoft YaHei"/>
              </a:rPr>
              <a:t>风险评估与预警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14215"/>
            <a:ext cx="38039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计算：指标实际取值形成 P/C 分值，映射当前风险矩阵版本</a:t>
            </a:r>
          </a:p>
          <a:p>
            <a:pPr algn="l">
              <a:lnSpc>
                <a:spcPct val="102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预警：记录触发类型、触发指标、证据和通知状态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703320"/>
            <a:ext cx="4041648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E5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3776472"/>
            <a:ext cx="3803904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6E55A5"/>
                </a:solidFill>
                <a:latin typeface="Microsoft YaHei"/>
                <a:ea typeface="Microsoft YaHei"/>
              </a:rPr>
              <a:t>处置与证据追溯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4014215"/>
            <a:ext cx="38039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处置：候选措施组合经过三项约束校验后提交采纳</a:t>
            </a:r>
          </a:p>
          <a:p>
            <a:pPr algn="l">
              <a:lnSpc>
                <a:spcPct val="102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追溯：资料段、工序、机理、评估、预警和处置连续关联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2 项目研发进展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2.4 各子课题工作进展  ·  子课题一（站隧一体化建造风险智能识别与评估技术）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阶段成果与近期验证重点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399032"/>
            <a:ext cx="2682240" cy="1874519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399032"/>
            <a:ext cx="2682240" cy="347472"/>
          </a:xfrm>
          <a:prstGeom prst="round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已形成设计基线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1920240"/>
            <a:ext cx="210312" cy="210312"/>
          </a:xfrm>
          <a:prstGeom prst="ellipse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1911095"/>
            <a:ext cx="2060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163B63"/>
                </a:solidFill>
                <a:latin typeface="Microsoft YaHei"/>
                <a:ea typeface="Microsoft YaHei"/>
              </a:rPr>
              <a:t>统一领域术语与字段契约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2331720"/>
            <a:ext cx="210312" cy="210312"/>
          </a:xfrm>
          <a:prstGeom prst="ellipse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2322576"/>
            <a:ext cx="2060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163B63"/>
                </a:solidFill>
                <a:latin typeface="Microsoft YaHei"/>
                <a:ea typeface="Microsoft YaHei"/>
              </a:rPr>
              <a:t>对应两项专利的方法步骤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2743200"/>
            <a:ext cx="210312" cy="210312"/>
          </a:xfrm>
          <a:prstGeom prst="ellipse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2734056"/>
            <a:ext cx="2060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163B63"/>
                </a:solidFill>
                <a:latin typeface="Microsoft YaHei"/>
                <a:ea typeface="Microsoft YaHei"/>
              </a:rPr>
              <a:t>明确 Agent、确定性计算和人工审核边界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0880" y="1399032"/>
            <a:ext cx="2682240" cy="1874519"/>
          </a:xfrm>
          <a:prstGeom prst="roundRect">
            <a:avLst/>
          </a:prstGeom>
          <a:solidFill>
            <a:srgbClr val="EEF8F4"/>
          </a:solidFill>
          <a:ln w="15240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30880" y="1399032"/>
            <a:ext cx="2682240" cy="347472"/>
          </a:xfrm>
          <a:prstGeom prst="roundRect">
            <a:avLst/>
          </a:prstGeom>
          <a:solidFill>
            <a:srgbClr val="2F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已完成演示原型</a:t>
            </a:r>
          </a:p>
        </p:txBody>
      </p:sp>
      <p:sp>
        <p:nvSpPr>
          <p:cNvPr id="23" name="Oval 22"/>
          <p:cNvSpPr/>
          <p:nvPr/>
        </p:nvSpPr>
        <p:spPr>
          <a:xfrm>
            <a:off x="3395472" y="1920240"/>
            <a:ext cx="210312" cy="210312"/>
          </a:xfrm>
          <a:prstGeom prst="ellipse">
            <a:avLst/>
          </a:prstGeom>
          <a:solidFill>
            <a:srgbClr val="2F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8080" y="1911095"/>
            <a:ext cx="2060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163B63"/>
                </a:solidFill>
                <a:latin typeface="Microsoft YaHei"/>
                <a:ea typeface="Microsoft YaHei"/>
              </a:rPr>
              <a:t>风险态势与监测趋势</a:t>
            </a:r>
          </a:p>
        </p:txBody>
      </p:sp>
      <p:sp>
        <p:nvSpPr>
          <p:cNvPr id="25" name="Oval 24"/>
          <p:cNvSpPr/>
          <p:nvPr/>
        </p:nvSpPr>
        <p:spPr>
          <a:xfrm>
            <a:off x="3395472" y="2331720"/>
            <a:ext cx="210312" cy="210312"/>
          </a:xfrm>
          <a:prstGeom prst="ellipse">
            <a:avLst/>
          </a:prstGeom>
          <a:solidFill>
            <a:srgbClr val="2F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8080" y="2322576"/>
            <a:ext cx="2060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163B63"/>
                </a:solidFill>
                <a:latin typeface="Microsoft YaHei"/>
                <a:ea typeface="Microsoft YaHei"/>
              </a:rPr>
              <a:t>智能 Agent 与智能识别</a:t>
            </a:r>
          </a:p>
        </p:txBody>
      </p:sp>
      <p:sp>
        <p:nvSpPr>
          <p:cNvPr id="27" name="Oval 26"/>
          <p:cNvSpPr/>
          <p:nvPr/>
        </p:nvSpPr>
        <p:spPr>
          <a:xfrm>
            <a:off x="3395472" y="2743200"/>
            <a:ext cx="210312" cy="210312"/>
          </a:xfrm>
          <a:prstGeom prst="ellipse">
            <a:avLst/>
          </a:prstGeom>
          <a:solidFill>
            <a:srgbClr val="2F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8080" y="2734056"/>
            <a:ext cx="2060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163B63"/>
                </a:solidFill>
                <a:latin typeface="Microsoft YaHei"/>
                <a:ea typeface="Microsoft YaHei"/>
              </a:rPr>
              <a:t>风险评估、预警处置与证据追溯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77712" y="1399032"/>
            <a:ext cx="2682240" cy="1874519"/>
          </a:xfrm>
          <a:prstGeom prst="roundRect">
            <a:avLst/>
          </a:prstGeom>
          <a:solidFill>
            <a:srgbClr val="FFF6E4"/>
          </a:solidFill>
          <a:ln w="1524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77712" y="1399032"/>
            <a:ext cx="2682240" cy="347472"/>
          </a:xfrm>
          <a:prstGeom prst="round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进入样例验证</a:t>
            </a:r>
          </a:p>
        </p:txBody>
      </p:sp>
      <p:sp>
        <p:nvSpPr>
          <p:cNvPr id="31" name="Oval 30"/>
          <p:cNvSpPr/>
          <p:nvPr/>
        </p:nvSpPr>
        <p:spPr>
          <a:xfrm>
            <a:off x="6242304" y="1920240"/>
            <a:ext cx="210312" cy="21031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4912" y="1911095"/>
            <a:ext cx="2060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163B63"/>
                </a:solidFill>
                <a:latin typeface="Microsoft YaHei"/>
                <a:ea typeface="Microsoft YaHei"/>
              </a:rPr>
              <a:t>多源资料结构化转换</a:t>
            </a:r>
          </a:p>
        </p:txBody>
      </p:sp>
      <p:sp>
        <p:nvSpPr>
          <p:cNvPr id="33" name="Oval 32"/>
          <p:cNvSpPr/>
          <p:nvPr/>
        </p:nvSpPr>
        <p:spPr>
          <a:xfrm>
            <a:off x="6242304" y="2331720"/>
            <a:ext cx="210312" cy="21031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4912" y="2322576"/>
            <a:ext cx="2060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163B63"/>
                </a:solidFill>
                <a:latin typeface="Microsoft YaHei"/>
                <a:ea typeface="Microsoft YaHei"/>
              </a:rPr>
              <a:t>检索与评分结果核对</a:t>
            </a:r>
          </a:p>
        </p:txBody>
      </p:sp>
      <p:sp>
        <p:nvSpPr>
          <p:cNvPr id="35" name="Oval 34"/>
          <p:cNvSpPr/>
          <p:nvPr/>
        </p:nvSpPr>
        <p:spPr>
          <a:xfrm>
            <a:off x="6242304" y="2743200"/>
            <a:ext cx="210312" cy="21031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4912" y="2734056"/>
            <a:ext cx="2060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163B63"/>
                </a:solidFill>
                <a:latin typeface="Microsoft YaHei"/>
                <a:ea typeface="Microsoft YaHei"/>
              </a:rPr>
              <a:t>预警处置闭环联调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3456432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63B63"/>
                </a:solidFill>
                <a:latin typeface="Microsoft YaHei"/>
                <a:ea typeface="Microsoft YaHei"/>
              </a:rPr>
              <a:t>近期验证路径</a:t>
            </a:r>
          </a:p>
        </p:txBody>
      </p:sp>
      <p:sp>
        <p:nvSpPr>
          <p:cNvPr id="38" name="Chevron 37"/>
          <p:cNvSpPr/>
          <p:nvPr/>
        </p:nvSpPr>
        <p:spPr>
          <a:xfrm>
            <a:off x="384048" y="3794760"/>
            <a:ext cx="1997964" cy="512064"/>
          </a:xfrm>
          <a:prstGeom prst="chevron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样例资料到位</a:t>
            </a:r>
          </a:p>
        </p:txBody>
      </p:sp>
      <p:sp>
        <p:nvSpPr>
          <p:cNvPr id="39" name="Chevron 38"/>
          <p:cNvSpPr/>
          <p:nvPr/>
        </p:nvSpPr>
        <p:spPr>
          <a:xfrm>
            <a:off x="2510028" y="3794760"/>
            <a:ext cx="1997964" cy="512064"/>
          </a:xfrm>
          <a:prstGeom prst="chevron">
            <a:avLst/>
          </a:prstGeom>
          <a:solidFill>
            <a:srgbClr val="2F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结构化与检索核对</a:t>
            </a:r>
          </a:p>
        </p:txBody>
      </p:sp>
      <p:sp>
        <p:nvSpPr>
          <p:cNvPr id="40" name="Chevron 39"/>
          <p:cNvSpPr/>
          <p:nvPr/>
        </p:nvSpPr>
        <p:spPr>
          <a:xfrm>
            <a:off x="4636008" y="3794760"/>
            <a:ext cx="1997964" cy="512064"/>
          </a:xfrm>
          <a:prstGeom prst="chevron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P/C 与矩阵结果核对</a:t>
            </a:r>
          </a:p>
        </p:txBody>
      </p:sp>
      <p:sp>
        <p:nvSpPr>
          <p:cNvPr id="41" name="Chevron 40"/>
          <p:cNvSpPr/>
          <p:nvPr/>
        </p:nvSpPr>
        <p:spPr>
          <a:xfrm>
            <a:off x="6761988" y="3794760"/>
            <a:ext cx="1997964" cy="512064"/>
          </a:xfrm>
          <a:prstGeom prst="chevron">
            <a:avLst/>
          </a:prstGeom>
          <a:solidFill>
            <a:srgbClr val="6E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预警处置闭环联调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4379976"/>
            <a:ext cx="83759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900" b="0">
                <a:solidFill>
                  <a:srgbClr val="C74C4C"/>
                </a:solidFill>
                <a:latin typeface="Microsoft YaHei"/>
                <a:ea typeface="Microsoft YaHei"/>
              </a:rPr>
              <a:t>验证使用甲方提供或审核的配置与脱敏样例；当前演示数据不作为正式评估结果。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163B63"/>
                </a:solidFill>
                <a:latin typeface="Microsoft YaHei"/>
                <a:ea typeface="Microsoft YaHei"/>
              </a:rPr>
              <a:t>四 下一步工作计划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" y="502920"/>
            <a:ext cx="210312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6995160" cy="329184"/>
          </a:xfrm>
          <a:prstGeom prst="rect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6784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四、下一步工作计划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82296"/>
            <a:ext cx="374904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896112"/>
            <a:ext cx="8375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63B63"/>
                </a:solidFill>
                <a:latin typeface="Microsoft YaHei"/>
                <a:ea typeface="Microsoft YaHei"/>
              </a:rPr>
              <a:t>下一步研究计划与关键条件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43584"/>
            <a:ext cx="8375904" cy="10972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709160"/>
            <a:ext cx="8375904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变径盾构站隧一体化建造风险智能识别与评估系统（RiskFlow）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75488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0">
                <a:solidFill>
                  <a:srgbClr val="9AA5B1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37160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63B63"/>
                </a:solidFill>
                <a:latin typeface="Microsoft YaHei"/>
                <a:ea typeface="Microsoft YaHei"/>
              </a:rPr>
              <a:t>研究工作顺序</a:t>
            </a:r>
          </a:p>
        </p:txBody>
      </p:sp>
      <p:sp>
        <p:nvSpPr>
          <p:cNvPr id="14" name="Chevron 13"/>
          <p:cNvSpPr/>
          <p:nvPr/>
        </p:nvSpPr>
        <p:spPr>
          <a:xfrm>
            <a:off x="384048" y="1682496"/>
            <a:ext cx="2011680" cy="1024128"/>
          </a:xfrm>
          <a:prstGeom prst="chevron">
            <a:avLst/>
          </a:prstGeom>
          <a:solidFill>
            <a:srgbClr val="1F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17007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80" b="1">
                <a:solidFill>
                  <a:srgbClr val="FFFFFF"/>
                </a:solidFill>
                <a:latin typeface="Microsoft YaHei"/>
                <a:ea typeface="Microsoft YaHei"/>
              </a:rPr>
              <a:t>1  固化架构基线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139696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869" b="0">
                <a:solidFill>
                  <a:srgbClr val="FFFFFF"/>
                </a:solidFill>
                <a:latin typeface="Microsoft YaHei"/>
                <a:ea typeface="Microsoft YaHei"/>
              </a:rPr>
              <a:t>确定语言版本、检查点持久化和部署形态</a:t>
            </a:r>
          </a:p>
        </p:txBody>
      </p:sp>
      <p:sp>
        <p:nvSpPr>
          <p:cNvPr id="17" name="Chevron 16"/>
          <p:cNvSpPr/>
          <p:nvPr/>
        </p:nvSpPr>
        <p:spPr>
          <a:xfrm>
            <a:off x="2505456" y="1682496"/>
            <a:ext cx="2011680" cy="1024128"/>
          </a:xfrm>
          <a:prstGeom prst="chevron">
            <a:avLst/>
          </a:prstGeom>
          <a:solidFill>
            <a:srgbClr val="2F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1828800"/>
            <a:ext cx="17007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80" b="1">
                <a:solidFill>
                  <a:srgbClr val="FFFFFF"/>
                </a:solidFill>
                <a:latin typeface="Microsoft YaHei"/>
                <a:ea typeface="Microsoft YaHei"/>
              </a:rPr>
              <a:t>2  实现资料解析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2139696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869" b="0">
                <a:solidFill>
                  <a:srgbClr val="FFFFFF"/>
                </a:solidFill>
                <a:latin typeface="Microsoft YaHei"/>
                <a:ea typeface="Microsoft YaHei"/>
              </a:rPr>
              <a:t>完成文本、表格、图纸标注和监测数据转换</a:t>
            </a:r>
          </a:p>
        </p:txBody>
      </p:sp>
      <p:sp>
        <p:nvSpPr>
          <p:cNvPr id="20" name="Chevron 19"/>
          <p:cNvSpPr/>
          <p:nvPr/>
        </p:nvSpPr>
        <p:spPr>
          <a:xfrm>
            <a:off x="4626864" y="1682496"/>
            <a:ext cx="2011680" cy="1024128"/>
          </a:xfrm>
          <a:prstGeom prst="chevron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1828800"/>
            <a:ext cx="17007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80" b="1">
                <a:solidFill>
                  <a:srgbClr val="FFFFFF"/>
                </a:solidFill>
                <a:latin typeface="Microsoft YaHei"/>
                <a:ea typeface="Microsoft YaHei"/>
              </a:rPr>
              <a:t>3  验证模型与检索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2" y="2139696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869" b="0">
                <a:solidFill>
                  <a:srgbClr val="FFFFFF"/>
                </a:solidFill>
                <a:latin typeface="Microsoft YaHei"/>
                <a:ea typeface="Microsoft YaHei"/>
              </a:rPr>
              <a:t>完成模型选型、检索排序和识别结果复核</a:t>
            </a:r>
          </a:p>
        </p:txBody>
      </p:sp>
      <p:sp>
        <p:nvSpPr>
          <p:cNvPr id="23" name="Chevron 22"/>
          <p:cNvSpPr/>
          <p:nvPr/>
        </p:nvSpPr>
        <p:spPr>
          <a:xfrm>
            <a:off x="6748272" y="1682496"/>
            <a:ext cx="2011680" cy="1024128"/>
          </a:xfrm>
          <a:prstGeom prst="chevron">
            <a:avLst/>
          </a:prstGeom>
          <a:solidFill>
            <a:srgbClr val="6E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1828800"/>
            <a:ext cx="17007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80" b="1">
                <a:solidFill>
                  <a:srgbClr val="FFFFFF"/>
                </a:solidFill>
                <a:latin typeface="Microsoft YaHei"/>
                <a:ea typeface="Microsoft YaHei"/>
              </a:rPr>
              <a:t>4  开展系统联调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139696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869" b="0">
                <a:solidFill>
                  <a:srgbClr val="FFFFFF"/>
                </a:solidFill>
                <a:latin typeface="Microsoft YaHei"/>
                <a:ea typeface="Microsoft YaHei"/>
              </a:rPr>
              <a:t>接入现场数据，验证评估、预警和处置闭环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2944368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63B63"/>
                </a:solidFill>
                <a:latin typeface="Microsoft YaHei"/>
                <a:ea typeface="Microsoft YaHei"/>
              </a:rPr>
              <a:t>正式验证所需条件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3264408"/>
            <a:ext cx="2011680" cy="1143000"/>
          </a:xfrm>
          <a:prstGeom prst="roundRect">
            <a:avLst/>
          </a:prstGeom>
          <a:solidFill>
            <a:srgbClr val="FDEEEE"/>
          </a:solidFill>
          <a:ln w="15240">
            <a:solidFill>
              <a:srgbClr val="C74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3383280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C74C4C"/>
                </a:solidFill>
                <a:latin typeface="Microsoft YaHei"/>
                <a:ea typeface="Microsoft YaHei"/>
              </a:rPr>
              <a:t>甲方业务配置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369417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风险源清单、指标体系、量化标准和风险矩阵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5456" y="3264408"/>
            <a:ext cx="2011680" cy="114300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33472" y="3383280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1F5E96"/>
                </a:solidFill>
                <a:latin typeface="Microsoft YaHei"/>
                <a:ea typeface="Microsoft YaHei"/>
              </a:rPr>
              <a:t>脱敏工程样例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42616" y="369417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设计资料、专项方案、施工日志和监测数据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26864" y="3264408"/>
            <a:ext cx="2011680" cy="1143000"/>
          </a:xfrm>
          <a:prstGeom prst="roundRect">
            <a:avLst/>
          </a:prstGeom>
          <a:solidFill>
            <a:srgbClr val="EEF8F4"/>
          </a:solidFill>
          <a:ln w="15240">
            <a:solidFill>
              <a:srgbClr val="2F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383280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2F8F7A"/>
                </a:solidFill>
                <a:latin typeface="Microsoft YaHei"/>
                <a:ea typeface="Microsoft YaHei"/>
              </a:rPr>
              <a:t>合并与入库规则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4024" y="369417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多来源风险记录的判重、合并和综合置信度规则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48272" y="3264408"/>
            <a:ext cx="2011680" cy="1143000"/>
          </a:xfrm>
          <a:prstGeom prst="roundRect">
            <a:avLst/>
          </a:prstGeom>
          <a:solidFill>
            <a:srgbClr val="FFF6E4"/>
          </a:solidFill>
          <a:ln w="1524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3383280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2994A"/>
                </a:solidFill>
                <a:latin typeface="Microsoft YaHei"/>
                <a:ea typeface="Microsoft YaHei"/>
              </a:rPr>
              <a:t>识别评价指标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432" y="369417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4A5568"/>
                </a:solidFill>
                <a:latin typeface="Microsoft YaHei"/>
                <a:ea typeface="Microsoft YaHei"/>
              </a:rPr>
              <a:t>准确性、完整性、可解释性与可追溯性评价方法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3213_1*a*1"/>
  <p:tag name="KSO_WM_TEMPLATE_CATEGORY" val="custom"/>
  <p:tag name="KSO_WM_TEMPLATE_INDEX" val="20193213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03545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03545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03545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03545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3213_1*a*1"/>
  <p:tag name="KSO_WM_TEMPLATE_CATEGORY" val="custom"/>
  <p:tag name="KSO_WM_TEMPLATE_INDEX" val="20193213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3213_1*a*1"/>
  <p:tag name="KSO_WM_TEMPLATE_CATEGORY" val="custom"/>
  <p:tag name="KSO_WM_TEMPLATE_INDEX" val="20193213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3_Office 主题​​">
  <a:themeElements>
    <a:clrScheme name="3_Office 主题​​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主题​​">
      <a:majorFont>
        <a:latin typeface="微软雅黑"/>
        <a:ea typeface="微软雅黑"/>
        <a:cs typeface="微软雅黑"/>
      </a:majorFont>
      <a:minorFont>
        <a:latin typeface="微软雅黑"/>
        <a:ea typeface="微软雅黑"/>
        <a:cs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BAC"/>
        </a:solidFill>
        <a:ln>
          <a:noFill/>
          <a:prstDash val="sysDot"/>
        </a:ln>
      </a:spPr>
      <a:bodyPr wrap="square" rtlCol="0" anchor="ctr">
        <a:spAutoFit/>
      </a:bodyPr>
      <a:lstStyle>
        <a:defPPr algn="ctr">
          <a:lnSpc>
            <a:spcPct val="150000"/>
          </a:lnSpc>
          <a:buFont typeface="Wingdings" panose="05000000000000000000" charset="0"/>
          <a:defRPr sz="1400" dirty="0">
            <a:latin typeface="+mj-ea"/>
            <a:ea typeface="+mj-ea"/>
            <a:sym typeface="+mn-ea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  <a:txDef>
      <a:spPr>
        <a:noFill/>
        <a:ln w="9525">
          <a:noFill/>
          <a:miter lim="800000"/>
        </a:ln>
      </a:spPr>
      <a:bodyPr wrap="square">
        <a:spAutoFit/>
      </a:bodyPr>
      <a:lstStyle>
        <a:defPPr marL="285750" indent="-285750">
          <a:lnSpc>
            <a:spcPct val="150000"/>
          </a:lnSpc>
          <a:buFont typeface="Wingdings" panose="05000000000000000000" charset="0"/>
          <a:buChar char=""/>
          <a:defRPr lang="zh-CN" altLang="en-US" sz="1600" dirty="0" smtClean="0">
            <a:solidFill>
              <a:schemeClr val="tx1"/>
            </a:solidFill>
            <a:latin typeface="+mj-ea"/>
          </a:defRPr>
        </a:defPPr>
      </a:lstStyle>
    </a:txDef>
  </a:objectDefaults>
  <a:extraClrSchemeLst>
    <a:extraClrScheme>
      <a:clrScheme name="3_Office 主题​​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小LOGO">
  <a:themeElements>
    <a:clrScheme name="aaaaaaa深红色">
      <a:dk1>
        <a:srgbClr val="C4261D"/>
      </a:dk1>
      <a:lt1>
        <a:srgbClr val="FF9900"/>
      </a:lt1>
      <a:dk2>
        <a:srgbClr val="4D4D4D"/>
      </a:dk2>
      <a:lt2>
        <a:srgbClr val="C2C1C1"/>
      </a:lt2>
      <a:accent1>
        <a:srgbClr val="FFFFFF"/>
      </a:accent1>
      <a:accent2>
        <a:srgbClr val="333333"/>
      </a:accent2>
      <a:accent3>
        <a:srgbClr val="C4261D"/>
      </a:accent3>
      <a:accent4>
        <a:srgbClr val="FF9900"/>
      </a:accent4>
      <a:accent5>
        <a:srgbClr val="4D4D4D"/>
      </a:accent5>
      <a:accent6>
        <a:srgbClr val="999999"/>
      </a:accent6>
      <a:hlink>
        <a:srgbClr val="080808"/>
      </a:hlink>
      <a:folHlink>
        <a:srgbClr val="DEDEDD"/>
      </a:folHlink>
    </a:clrScheme>
    <a:fontScheme name="默认设计模板">
      <a:majorFont>
        <a:latin typeface="微软雅黑"/>
        <a:ea typeface="微软雅黑"/>
        <a:cs typeface="微软雅黑"/>
      </a:majorFont>
      <a:minorFont>
        <a:latin typeface="微软雅黑"/>
        <a:ea typeface="微软雅黑"/>
        <a:cs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4A96"/>
      </a:accent1>
      <a:accent2>
        <a:srgbClr val="0066BA"/>
      </a:accent2>
      <a:accent3>
        <a:srgbClr val="40658E"/>
      </a:accent3>
      <a:accent4>
        <a:srgbClr val="003361"/>
      </a:accent4>
      <a:accent5>
        <a:srgbClr val="064C78"/>
      </a:accent5>
      <a:accent6>
        <a:srgbClr val="0B68A6"/>
      </a:accent6>
      <a:hlink>
        <a:srgbClr val="004A96"/>
      </a:hlink>
      <a:folHlink>
        <a:srgbClr val="BFBFB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Office 主题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4A96"/>
      </a:accent1>
      <a:accent2>
        <a:srgbClr val="0066BA"/>
      </a:accent2>
      <a:accent3>
        <a:srgbClr val="40658E"/>
      </a:accent3>
      <a:accent4>
        <a:srgbClr val="003361"/>
      </a:accent4>
      <a:accent5>
        <a:srgbClr val="064C78"/>
      </a:accent5>
      <a:accent6>
        <a:srgbClr val="0B68A6"/>
      </a:accent6>
      <a:hlink>
        <a:srgbClr val="004A96"/>
      </a:hlink>
      <a:folHlink>
        <a:srgbClr val="BFBFB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0155A3">
                <a:shade val="30000"/>
                <a:satMod val="115000"/>
                <a:alpha val="85000"/>
              </a:srgbClr>
            </a:gs>
            <a:gs pos="50000">
              <a:srgbClr val="0155A3">
                <a:shade val="67500"/>
                <a:satMod val="115000"/>
                <a:alpha val="85000"/>
              </a:srgbClr>
            </a:gs>
            <a:gs pos="100000">
              <a:srgbClr val="0155A3">
                <a:shade val="100000"/>
                <a:satMod val="115000"/>
                <a:alpha val="95000"/>
              </a:srgb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A000120141119A64KPBG</Template>
  <TotalTime>220</TotalTime>
  <Words>1334</Words>
  <Application>Microsoft Office PowerPoint</Application>
  <PresentationFormat>全屏显示(16:9)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Microsoft YaHei</vt:lpstr>
      <vt:lpstr>Microsoft YaHei</vt:lpstr>
      <vt:lpstr>Arial</vt:lpstr>
      <vt:lpstr>Calibri</vt:lpstr>
      <vt:lpstr>Times New Roman</vt:lpstr>
      <vt:lpstr>Wingdings</vt:lpstr>
      <vt:lpstr>3_Office 主题​​</vt:lpstr>
      <vt:lpstr>小LOGO</vt:lpstr>
      <vt:lpstr>9_自定义设计方案</vt:lpstr>
      <vt:lpstr>1_自定义设计方案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杨铁军</dc:creator>
  <cp:lastModifiedBy>Joshua Reed</cp:lastModifiedBy>
  <cp:revision>2928</cp:revision>
  <cp:lastPrinted>2024-07-15T01:10:00Z</cp:lastPrinted>
  <dcterms:created xsi:type="dcterms:W3CDTF">2011-06-23T14:30:00Z</dcterms:created>
  <dcterms:modified xsi:type="dcterms:W3CDTF">2026-05-27T17:04:29Z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2052-11.8.2.8808</vt:lpwstr>
  </property>
  <property fmtid="{D5CDD505-2E9C-101B-9397-08002B2CF9AE}" pid="3" name="KSORubyTemplateID">
    <vt:lpwstr>2</vt:lpwstr>
  </property>
  <property fmtid="{D5CDD505-2E9C-101B-9397-08002B2CF9AE}" pid="4" name="ICV">
    <vt:lpwstr>B57C82E17DBD460784770D7E815E997D_13</vt:lpwstr>
  </property>
</Properties>
</file>