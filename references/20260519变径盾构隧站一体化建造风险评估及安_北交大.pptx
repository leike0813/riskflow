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  <p:sldMasterId id="2147483664" r:id="rId3"/>
    <p:sldMasterId id="2147483666" r:id="rId4"/>
    <p:sldMasterId id="2147483669" r:id="rId5"/>
    <p:sldMasterId id="2147483682" r:id="rId6"/>
  </p:sldMasterIdLst>
  <p:notesMasterIdLst>
    <p:notesMasterId r:id="rId17"/>
  </p:notesMasterIdLst>
  <p:handoutMasterIdLst>
    <p:handoutMasterId r:id="rId18"/>
  </p:handoutMasterIdLst>
  <p:sldIdLst>
    <p:sldId id="618" r:id="rId7"/>
    <p:sldId id="5980" r:id="rId8"/>
    <p:sldId id="989" r:id="rId9"/>
    <p:sldId id="5981" r:id="rId10"/>
    <p:sldId id="6069" r:id="rId11"/>
    <p:sldId id="6070" r:id="rId12"/>
    <p:sldId id="6072" r:id="rId13"/>
    <p:sldId id="6073" r:id="rId14"/>
    <p:sldId id="6032" r:id="rId15"/>
    <p:sldId id="704" r:id="rId16"/>
  </p:sldIdLst>
  <p:sldSz cx="9144000" cy="5143500" type="screen16x9"/>
  <p:notesSz cx="6735763" cy="98663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0">
          <p15:clr>
            <a:srgbClr val="A4A3A4"/>
          </p15:clr>
        </p15:guide>
        <p15:guide id="2" pos="340">
          <p15:clr>
            <a:srgbClr val="A4A3A4"/>
          </p15:clr>
        </p15:guide>
        <p15:guide id="3" pos="5681">
          <p15:clr>
            <a:srgbClr val="A4A3A4"/>
          </p15:clr>
        </p15:guide>
        <p15:guide id="4" orient="horz" pos="2828">
          <p15:clr>
            <a:srgbClr val="A4A3A4"/>
          </p15:clr>
        </p15:guide>
        <p15:guide id="5" pos="303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iang Gao" initials="" lastIdx="0" clrIdx="0"/>
  <p:cmAuthor id="1" name="Lenovo-user" initials="L" lastIdx="9" clrIdx="0"/>
  <p:cmAuthor id="2" name="Administrator" initials="A" lastIdx="2" clrIdx="1"/>
  <p:cmAuthor id="3" name="lenovo" initials="l" lastIdx="3" clrIdx="2"/>
  <p:cmAuthor id="4" name="叶 晋" initials="叶" lastIdx="1" clrIdx="3"/>
  <p:cmAuthor id="5" name="刘飞香" initials="刘" lastIdx="3" clrIdx="3"/>
  <p:cmAuthor id="6" name="lfx" initials="l" lastIdx="0" clrIdx="4"/>
  <p:cmAuthor id="7" name="王利" initials="王" lastIdx="6" clrIdx="0"/>
  <p:cmAuthor id="8" name="曾婷[E2]" initials="曾" lastIdx="2" clrIdx="7"/>
  <p:cmAuthor id="9" name="haoweiqi" initials="hwq" lastIdx="1" clrIdx="8"/>
  <p:cmAuthor id="10" name="灵 冥" initials="" lastIdx="4" clrIdx="7"/>
  <p:cmAuthor id="11" name="liuqing" initials="l" lastIdx="1" clrIdx="10"/>
  <p:cmAuthor id="12" name="艾艳波[D1]" initials="艾艳波[D1]" lastIdx="2" clrIdx="11"/>
  <p:cmAuthor id="13" name="weiguoliang" initials="w" lastIdx="2" clrIdx="11"/>
  <p:cmAuthor id="15" name="肖京" initials="肖京" lastIdx="1" clrIdx="25"/>
  <p:cmAuthor id="16" name="Lenovo" initials="L" lastIdx="1" clrIdx="15"/>
  <p:cmAuthor id="75" name="作者" initials="A" lastIdx="0" clrIdx="24"/>
  <p:cmAuthor id="76" name="刘 振宇" initials="刘" lastIdx="3" clrIdx="25"/>
  <p:cmAuthor id="18" name="涛涛涛吖" initials="涛" lastIdx="1" clrIdx="17"/>
  <p:cmAuthor id="77" name="绪宇 夏" initials="绪夏" lastIdx="1" clrIdx="2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FFFFFF"/>
    <a:srgbClr val="005BAC"/>
    <a:srgbClr val="DCE6F2"/>
    <a:srgbClr val="376092"/>
    <a:srgbClr val="0070C0"/>
    <a:srgbClr val="A1A5AD"/>
    <a:srgbClr val="C0504D"/>
    <a:srgbClr val="FA8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9286" autoAdjust="0"/>
  </p:normalViewPr>
  <p:slideViewPr>
    <p:cSldViewPr snapToGrid="0" showGuides="1">
      <p:cViewPr varScale="1">
        <p:scale>
          <a:sx n="190" d="100"/>
          <a:sy n="190" d="100"/>
        </p:scale>
        <p:origin x="1218" y="174"/>
      </p:cViewPr>
      <p:guideLst>
        <p:guide orient="horz" pos="1520"/>
        <p:guide pos="340"/>
        <p:guide pos="5681"/>
        <p:guide orient="horz" pos="2828"/>
        <p:guide pos="303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 typeface="Arial" panose="020B0604020202020204" pitchFamily="34" charset="0"/>
              <a:buNone/>
              <a:defRPr sz="1200"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5029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z="1200" strike="noStrike" noProof="1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814" y="0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72018" y="4686499"/>
            <a:ext cx="5390170" cy="44398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571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814" y="9369571"/>
            <a:ext cx="2918831" cy="4933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5200">
              <a:defRPr/>
            </a:pPr>
            <a:endParaRPr lang="en-US" altLang="zh-CN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4018E-6DCC-414D-A317-1F56C1CA38A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EB08-6B98-02E3-EDE7-CB122557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0FFFCBAA-CE55-C957-80C4-0CF2A746F4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AE50ACE6-5A3D-BAB3-DECD-7E71382CE04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本项研究的目标是把站隧一体化施工智能风险识别与评估的需求，落到一套可以运行、可以迭代的软件系统里。整体推进思路是先明确系统的业务需求和应用边界，比如系统服务什么场景、接收哪些工程资料、最终输出什么风险识别和评估结果；然后梳理工程资料、工序信息、机理知识和风险记录之间的流转关系，形成系统架构和接口关系；最后通过样例资料接入、接口联调和结果复核来验证系统是否可用。目前已经完成了需求明确、资料梳理、框架形成和验证准备等基础工作，后续可以进入原型开发和系统联调阶段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385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27C0-D3C6-93E7-A76A-584EB06B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C185230B-0D56-4F90-49B8-6C2C181951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648E7677-05CA-D958-35D8-E4F4120090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系统整体分为四个层次：数据接入、知识建模、智能推理和应用输出。数据接入层主要处理工程资料、专项方案、装备设计、地勘监测和施工日志等多源信息；知识建模层负责形成施工工序模型、风险机理库、规范标准库和类比案例库；智能推理层通过检索增强、机理驱动提示和大语言模型推理识别潜在风险，并结合规则或仿真校验提高结果可靠性；最后在应用输出层生成标准化风险记录和工序风险关联图谱，并对接风险管理系统。整个系统强调四个能力：对象能贯通、机理有约束、证据可追溯、结果能动态入库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326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A9E5-299C-B63D-EAEC-DB6D3CAC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8E9FAE44-01C9-0C38-02C0-F717756E91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E2DC22E9-D7AA-C177-D688-E714C6DA035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目前已经形成了系统总体架构、数据链条、知识底座、推理校验方式和结果管理方式。关键技术链条按照最新专利的步骤逻辑展开：首先对工程资料进行接入、结构化转换和合规性校验；然后并列构建施工工序模型和风险机理库，一个描述施工过程，一个描述风险触发逻辑；接着从风险机理库、规范标准库和类比案例库中检索证据，并组装成模型输入；随后调用大语言模型进行推理，并整理形成标准化风险记录；最后将风险记录和工序风险关联图谱写入风险管理系统。这样生成的风险结果既有模型判断，也有资料、机理和规范证据支撑，便于后续追溯和复核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4792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8FE83-421F-074A-E649-4BB406BB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>
            <a:extLst>
              <a:ext uri="{FF2B5EF4-FFF2-40B4-BE49-F238E27FC236}">
                <a16:creationId xmlns:a16="http://schemas.microsoft.com/office/drawing/2014/main" id="{778994E2-9225-BE37-6489-FD9120D938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338" name="文本占位符 2">
            <a:extLst>
              <a:ext uri="{FF2B5EF4-FFF2-40B4-BE49-F238E27FC236}">
                <a16:creationId xmlns:a16="http://schemas.microsoft.com/office/drawing/2014/main" id="{2B62CA96-7698-0A24-0FFF-B123D0F3295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72018" y="4686499"/>
            <a:ext cx="5390169" cy="4439841"/>
          </a:xfrm>
        </p:spPr>
        <p:txBody>
          <a:bodyPr wrap="square" lIns="91440" tIns="45720" rIns="91440" bIns="45720" anchor="ctr" anchorCtr="0"/>
          <a:lstStyle/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下一步主要围绕系统闭环验证来推进。首先要选取典型工程资料，验证资料解析和工序节点抽取效果；然后继续完善风险机理库、规范标准库和类比案例库；同时还要细化工序节点、状态参数、监测指标和风险机理之间的映射关系。在模型推理方面，需要对大语言模型输出结果进行复核，提高结果的可信度和可解释性。最后，还要推进风险记录、风险关联图谱和风险管理系统之间的联调。这里面比较关键的问题包括多源资料结构化、对象映射规则、模型输出可信度、结果记录入库规则，以及后续评价指标体系的建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511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5200">
              <a:defRPr/>
            </a:pP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4018E-6DCC-414D-A317-1F56C1CA38A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622"/>
            <a:ext cx="7772400" cy="1103188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9435" indent="0" algn="ctr">
              <a:buNone/>
              <a:defRPr/>
            </a:lvl5pPr>
            <a:lvl6pPr marL="2286635" indent="0" algn="ctr">
              <a:buNone/>
              <a:defRPr/>
            </a:lvl6pPr>
            <a:lvl7pPr marL="2743835" indent="0" algn="ctr">
              <a:buNone/>
              <a:defRPr/>
            </a:lvl7pPr>
            <a:lvl8pPr marL="3201035" indent="0" algn="ctr">
              <a:buNone/>
              <a:defRPr/>
            </a:lvl8pPr>
            <a:lvl9pPr marL="3658235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8600" cy="339530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360"/>
            <a:ext cx="4038600" cy="339530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PART1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项目总体情况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PART2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课题组织管理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50"/>
          <p:cNvSpPr txBox="1">
            <a:spLocks noChangeAspect="1"/>
          </p:cNvSpPr>
          <p:nvPr userDrawn="1"/>
        </p:nvSpPr>
        <p:spPr>
          <a:xfrm>
            <a:off x="3989256" y="38040"/>
            <a:ext cx="4556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450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PART3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预期成果及效益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Pr>
        <a:gradFill rotWithShape="0">
          <a:gsLst>
            <a:gs pos="0">
              <a:srgbClr val="F7FAFD"/>
            </a:gs>
            <a:gs pos="100000">
              <a:srgbClr val="F2F2F2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8850"/>
            <a:ext cx="2057400" cy="274638"/>
          </a:xfrm>
        </p:spPr>
        <p:txBody>
          <a:bodyPr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  <a:defRPr/>
            </a:pPr>
            <a:fld id="{22B84290-3E62-46D4-B9F1-5130AD7AD7E5}" type="datetimeFigureOut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2026/5/27</a:t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8850"/>
            <a:ext cx="3086100" cy="274638"/>
          </a:xfrm>
        </p:spPr>
        <p:txBody>
          <a:bodyPr/>
          <a:lstStyle>
            <a:lvl1pPr>
              <a:defRPr noProof="1">
                <a:latin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8850"/>
            <a:ext cx="2057400" cy="274638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istrator\Desktop\6.png"/>
          <p:cNvPicPr>
            <a:picLocks noChangeAspect="1" noChangeArrowheads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 bwMode="auto">
          <a:xfrm>
            <a:off x="-2053" y="445392"/>
            <a:ext cx="9099000" cy="107711"/>
          </a:xfrm>
          <a:prstGeom prst="rect">
            <a:avLst/>
          </a:prstGeom>
          <a:noFill/>
        </p:spPr>
      </p:pic>
      <p:pic>
        <p:nvPicPr>
          <p:cNvPr id="9" name="Picture 2" descr="D:\PPT~综合PPT-新\全国五百强\7+多\11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16681" y="61768"/>
            <a:ext cx="464333" cy="37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73317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30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zhangshengping\Desktop\盾构法隧道智能装备.png盾构法隧道智能装备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8821" b="15523"/>
          <a:stretch>
            <a:fillRect/>
          </a:stretch>
        </p:blipFill>
        <p:spPr>
          <a:xfrm>
            <a:off x="0" y="2119163"/>
            <a:ext cx="9145428" cy="302433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0" y="75779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iṩ1iḓè"/>
          <p:cNvSpPr/>
          <p:nvPr userDrawn="1"/>
        </p:nvSpPr>
        <p:spPr>
          <a:xfrm>
            <a:off x="-4447" y="756978"/>
            <a:ext cx="9153132" cy="24300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square">
            <a:noAutofit/>
          </a:bodyPr>
          <a:lstStyle/>
          <a:p>
            <a:pPr algn="ctr" defTabSz="457200" rtl="0" eaLnBrk="1" fontAlgn="auto" hangingPunct="1">
              <a:spcBef>
                <a:spcPts val="0"/>
              </a:spcBef>
              <a:spcAft>
                <a:spcPts val="0"/>
              </a:spcAft>
              <a:buFontTx/>
            </a:pPr>
            <a:endParaRPr lang="zh-CN" altLang="en-US" sz="21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6" name="iṡḻîdê"/>
          <p:cNvSpPr/>
          <p:nvPr userDrawn="1"/>
        </p:nvSpPr>
        <p:spPr>
          <a:xfrm>
            <a:off x="7983406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îṧlíḓè"/>
          <p:cNvSpPr/>
          <p:nvPr userDrawn="1"/>
        </p:nvSpPr>
        <p:spPr>
          <a:xfrm>
            <a:off x="8111826" y="3513244"/>
            <a:ext cx="235979" cy="195818"/>
          </a:xfrm>
          <a:custGeom>
            <a:avLst/>
            <a:gdLst>
              <a:gd name="T0" fmla="*/ 1294 w 1302"/>
              <a:gd name="T1" fmla="*/ 264 h 1125"/>
              <a:gd name="T2" fmla="*/ 1030 w 1302"/>
              <a:gd name="T3" fmla="*/ 782 h 1125"/>
              <a:gd name="T4" fmla="*/ 583 w 1302"/>
              <a:gd name="T5" fmla="*/ 1125 h 1125"/>
              <a:gd name="T6" fmla="*/ 392 w 1302"/>
              <a:gd name="T7" fmla="*/ 916 h 1125"/>
              <a:gd name="T8" fmla="*/ 287 w 1302"/>
              <a:gd name="T9" fmla="*/ 533 h 1125"/>
              <a:gd name="T10" fmla="*/ 162 w 1302"/>
              <a:gd name="T11" fmla="*/ 324 h 1125"/>
              <a:gd name="T12" fmla="*/ 61 w 1302"/>
              <a:gd name="T13" fmla="*/ 385 h 1125"/>
              <a:gd name="T14" fmla="*/ 0 w 1302"/>
              <a:gd name="T15" fmla="*/ 306 h 1125"/>
              <a:gd name="T16" fmla="*/ 189 w 1302"/>
              <a:gd name="T17" fmla="*/ 138 h 1125"/>
              <a:gd name="T18" fmla="*/ 381 w 1302"/>
              <a:gd name="T19" fmla="*/ 22 h 1125"/>
              <a:gd name="T20" fmla="*/ 567 w 1302"/>
              <a:gd name="T21" fmla="*/ 228 h 1125"/>
              <a:gd name="T22" fmla="*/ 619 w 1302"/>
              <a:gd name="T23" fmla="*/ 525 h 1125"/>
              <a:gd name="T24" fmla="*/ 715 w 1302"/>
              <a:gd name="T25" fmla="*/ 723 h 1125"/>
              <a:gd name="T26" fmla="*/ 837 w 1302"/>
              <a:gd name="T27" fmla="*/ 595 h 1125"/>
              <a:gd name="T28" fmla="*/ 924 w 1302"/>
              <a:gd name="T29" fmla="*/ 399 h 1125"/>
              <a:gd name="T30" fmla="*/ 837 w 1302"/>
              <a:gd name="T31" fmla="*/ 288 h 1125"/>
              <a:gd name="T32" fmla="*/ 741 w 1302"/>
              <a:gd name="T33" fmla="*/ 309 h 1125"/>
              <a:gd name="T34" fmla="*/ 1106 w 1302"/>
              <a:gd name="T35" fmla="*/ 5 h 1125"/>
              <a:gd name="T36" fmla="*/ 1294 w 1302"/>
              <a:gd name="T37" fmla="*/ 264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2" h="1125">
                <a:moveTo>
                  <a:pt x="1294" y="264"/>
                </a:moveTo>
                <a:cubicBezTo>
                  <a:pt x="1288" y="390"/>
                  <a:pt x="1200" y="563"/>
                  <a:pt x="1030" y="782"/>
                </a:cubicBezTo>
                <a:cubicBezTo>
                  <a:pt x="854" y="1011"/>
                  <a:pt x="705" y="1125"/>
                  <a:pt x="583" y="1125"/>
                </a:cubicBezTo>
                <a:cubicBezTo>
                  <a:pt x="508" y="1125"/>
                  <a:pt x="444" y="1056"/>
                  <a:pt x="392" y="916"/>
                </a:cubicBezTo>
                <a:cubicBezTo>
                  <a:pt x="357" y="789"/>
                  <a:pt x="322" y="661"/>
                  <a:pt x="287" y="533"/>
                </a:cubicBezTo>
                <a:cubicBezTo>
                  <a:pt x="248" y="394"/>
                  <a:pt x="207" y="324"/>
                  <a:pt x="162" y="324"/>
                </a:cubicBezTo>
                <a:cubicBezTo>
                  <a:pt x="153" y="324"/>
                  <a:pt x="119" y="344"/>
                  <a:pt x="61" y="385"/>
                </a:cubicBezTo>
                <a:lnTo>
                  <a:pt x="0" y="306"/>
                </a:lnTo>
                <a:cubicBezTo>
                  <a:pt x="64" y="250"/>
                  <a:pt x="127" y="194"/>
                  <a:pt x="189" y="138"/>
                </a:cubicBezTo>
                <a:cubicBezTo>
                  <a:pt x="274" y="64"/>
                  <a:pt x="338" y="26"/>
                  <a:pt x="381" y="22"/>
                </a:cubicBezTo>
                <a:cubicBezTo>
                  <a:pt x="482" y="12"/>
                  <a:pt x="544" y="81"/>
                  <a:pt x="567" y="228"/>
                </a:cubicBezTo>
                <a:cubicBezTo>
                  <a:pt x="592" y="387"/>
                  <a:pt x="609" y="486"/>
                  <a:pt x="619" y="525"/>
                </a:cubicBezTo>
                <a:cubicBezTo>
                  <a:pt x="648" y="657"/>
                  <a:pt x="680" y="723"/>
                  <a:pt x="715" y="723"/>
                </a:cubicBezTo>
                <a:cubicBezTo>
                  <a:pt x="742" y="723"/>
                  <a:pt x="783" y="680"/>
                  <a:pt x="837" y="595"/>
                </a:cubicBezTo>
                <a:cubicBezTo>
                  <a:pt x="891" y="509"/>
                  <a:pt x="920" y="444"/>
                  <a:pt x="924" y="399"/>
                </a:cubicBezTo>
                <a:cubicBezTo>
                  <a:pt x="932" y="325"/>
                  <a:pt x="903" y="288"/>
                  <a:pt x="837" y="288"/>
                </a:cubicBezTo>
                <a:cubicBezTo>
                  <a:pt x="806" y="288"/>
                  <a:pt x="774" y="295"/>
                  <a:pt x="741" y="309"/>
                </a:cubicBezTo>
                <a:cubicBezTo>
                  <a:pt x="805" y="101"/>
                  <a:pt x="926" y="0"/>
                  <a:pt x="1106" y="5"/>
                </a:cubicBezTo>
                <a:cubicBezTo>
                  <a:pt x="1239" y="9"/>
                  <a:pt x="1302" y="96"/>
                  <a:pt x="1294" y="264"/>
                </a:cubicBezTo>
                <a:close/>
              </a:path>
            </a:pathLst>
          </a:custGeom>
          <a:solidFill>
            <a:schemeClr val="tx1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6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828848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3657696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5486544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7315392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ïś1iḑe"/>
          <p:cNvSpPr/>
          <p:nvPr userDrawn="1"/>
        </p:nvSpPr>
        <p:spPr>
          <a:xfrm>
            <a:off x="668015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îṡ1iḋè"/>
          <p:cNvSpPr/>
          <p:nvPr userDrawn="1"/>
        </p:nvSpPr>
        <p:spPr>
          <a:xfrm>
            <a:off x="796435" y="3498036"/>
            <a:ext cx="235979" cy="226232"/>
          </a:xfrm>
          <a:custGeom>
            <a:avLst/>
            <a:gdLst>
              <a:gd name="connsiteX0" fmla="*/ 465103 w 608697"/>
              <a:gd name="connsiteY0" fmla="*/ 519503 h 606792"/>
              <a:gd name="connsiteX1" fmla="*/ 511670 w 608697"/>
              <a:gd name="connsiteY1" fmla="*/ 525386 h 606792"/>
              <a:gd name="connsiteX2" fmla="*/ 435177 w 608697"/>
              <a:gd name="connsiteY2" fmla="*/ 577367 h 606792"/>
              <a:gd name="connsiteX3" fmla="*/ 437118 w 608697"/>
              <a:gd name="connsiteY3" fmla="*/ 540355 h 606792"/>
              <a:gd name="connsiteX4" fmla="*/ 465103 w 608697"/>
              <a:gd name="connsiteY4" fmla="*/ 519503 h 606792"/>
              <a:gd name="connsiteX5" fmla="*/ 72433 w 608697"/>
              <a:gd name="connsiteY5" fmla="*/ 354027 h 606792"/>
              <a:gd name="connsiteX6" fmla="*/ 115251 w 608697"/>
              <a:gd name="connsiteY6" fmla="*/ 376071 h 606792"/>
              <a:gd name="connsiteX7" fmla="*/ 135541 w 608697"/>
              <a:gd name="connsiteY7" fmla="*/ 372050 h 606792"/>
              <a:gd name="connsiteX8" fmla="*/ 272424 w 608697"/>
              <a:gd name="connsiteY8" fmla="*/ 463132 h 606792"/>
              <a:gd name="connsiteX9" fmla="*/ 369399 w 608697"/>
              <a:gd name="connsiteY9" fmla="*/ 498954 h 606792"/>
              <a:gd name="connsiteX10" fmla="*/ 393120 w 608697"/>
              <a:gd name="connsiteY10" fmla="*/ 534552 h 606792"/>
              <a:gd name="connsiteX11" fmla="*/ 389614 w 608697"/>
              <a:gd name="connsiteY11" fmla="*/ 594727 h 606792"/>
              <a:gd name="connsiteX12" fmla="*/ 304351 w 608697"/>
              <a:gd name="connsiteY12" fmla="*/ 606792 h 606792"/>
              <a:gd name="connsiteX13" fmla="*/ 5222 w 608697"/>
              <a:gd name="connsiteY13" fmla="*/ 359017 h 606792"/>
              <a:gd name="connsiteX14" fmla="*/ 72433 w 608697"/>
              <a:gd name="connsiteY14" fmla="*/ 354027 h 606792"/>
              <a:gd name="connsiteX15" fmla="*/ 359474 w 608697"/>
              <a:gd name="connsiteY15" fmla="*/ 280850 h 606792"/>
              <a:gd name="connsiteX16" fmla="*/ 377897 w 608697"/>
              <a:gd name="connsiteY16" fmla="*/ 289639 h 606792"/>
              <a:gd name="connsiteX17" fmla="*/ 393261 w 608697"/>
              <a:gd name="connsiteY17" fmla="*/ 445676 h 606792"/>
              <a:gd name="connsiteX18" fmla="*/ 380731 w 608697"/>
              <a:gd name="connsiteY18" fmla="*/ 456699 h 606792"/>
              <a:gd name="connsiteX19" fmla="*/ 165405 w 608697"/>
              <a:gd name="connsiteY19" fmla="*/ 339764 h 606792"/>
              <a:gd name="connsiteX20" fmla="*/ 165405 w 608697"/>
              <a:gd name="connsiteY20" fmla="*/ 339690 h 606792"/>
              <a:gd name="connsiteX21" fmla="*/ 183454 w 608697"/>
              <a:gd name="connsiteY21" fmla="*/ 335966 h 606792"/>
              <a:gd name="connsiteX22" fmla="*/ 359474 w 608697"/>
              <a:gd name="connsiteY22" fmla="*/ 280850 h 606792"/>
              <a:gd name="connsiteX23" fmla="*/ 16111 w 608697"/>
              <a:gd name="connsiteY23" fmla="*/ 205063 h 606792"/>
              <a:gd name="connsiteX24" fmla="*/ 69366 w 608697"/>
              <a:gd name="connsiteY24" fmla="*/ 297581 h 606792"/>
              <a:gd name="connsiteX25" fmla="*/ 64219 w 608697"/>
              <a:gd name="connsiteY25" fmla="*/ 310319 h 606792"/>
              <a:gd name="connsiteX26" fmla="*/ 224 w 608697"/>
              <a:gd name="connsiteY26" fmla="*/ 314863 h 606792"/>
              <a:gd name="connsiteX27" fmla="*/ 0 w 608697"/>
              <a:gd name="connsiteY27" fmla="*/ 302870 h 606792"/>
              <a:gd name="connsiteX28" fmla="*/ 16111 w 608697"/>
              <a:gd name="connsiteY28" fmla="*/ 205063 h 606792"/>
              <a:gd name="connsiteX29" fmla="*/ 571702 w 608697"/>
              <a:gd name="connsiteY29" fmla="*/ 157643 h 606792"/>
              <a:gd name="connsiteX30" fmla="*/ 608697 w 608697"/>
              <a:gd name="connsiteY30" fmla="*/ 302904 h 606792"/>
              <a:gd name="connsiteX31" fmla="*/ 548655 w 608697"/>
              <a:gd name="connsiteY31" fmla="*/ 484220 h 606792"/>
              <a:gd name="connsiteX32" fmla="*/ 472128 w 608697"/>
              <a:gd name="connsiteY32" fmla="*/ 476249 h 606792"/>
              <a:gd name="connsiteX33" fmla="*/ 437520 w 608697"/>
              <a:gd name="connsiteY33" fmla="*/ 440120 h 606792"/>
              <a:gd name="connsiteX34" fmla="*/ 431702 w 608697"/>
              <a:gd name="connsiteY34" fmla="*/ 355794 h 606792"/>
              <a:gd name="connsiteX35" fmla="*/ 421558 w 608697"/>
              <a:gd name="connsiteY35" fmla="*/ 281301 h 606792"/>
              <a:gd name="connsiteX36" fmla="*/ 443412 w 608697"/>
              <a:gd name="connsiteY36" fmla="*/ 241001 h 606792"/>
              <a:gd name="connsiteX37" fmla="*/ 571702 w 608697"/>
              <a:gd name="connsiteY37" fmla="*/ 157643 h 606792"/>
              <a:gd name="connsiteX38" fmla="*/ 278458 w 608697"/>
              <a:gd name="connsiteY38" fmla="*/ 71 h 606792"/>
              <a:gd name="connsiteX39" fmla="*/ 339401 w 608697"/>
              <a:gd name="connsiteY39" fmla="*/ 135726 h 606792"/>
              <a:gd name="connsiteX40" fmla="*/ 358049 w 608697"/>
              <a:gd name="connsiteY40" fmla="*/ 197407 h 606792"/>
              <a:gd name="connsiteX41" fmla="*/ 338058 w 608697"/>
              <a:gd name="connsiteY41" fmla="*/ 238603 h 606792"/>
              <a:gd name="connsiteX42" fmla="*/ 338208 w 608697"/>
              <a:gd name="connsiteY42" fmla="*/ 241657 h 606792"/>
              <a:gd name="connsiteX43" fmla="*/ 175594 w 608697"/>
              <a:gd name="connsiteY43" fmla="*/ 292462 h 606792"/>
              <a:gd name="connsiteX44" fmla="*/ 160079 w 608697"/>
              <a:gd name="connsiteY44" fmla="*/ 295740 h 606792"/>
              <a:gd name="connsiteX45" fmla="*/ 115249 w 608697"/>
              <a:gd name="connsiteY45" fmla="*/ 270784 h 606792"/>
              <a:gd name="connsiteX46" fmla="*/ 105253 w 608697"/>
              <a:gd name="connsiteY46" fmla="*/ 271753 h 606792"/>
              <a:gd name="connsiteX47" fmla="*/ 41775 w 608697"/>
              <a:gd name="connsiteY47" fmla="*/ 149135 h 606792"/>
              <a:gd name="connsiteX48" fmla="*/ 278458 w 608697"/>
              <a:gd name="connsiteY48" fmla="*/ 71 h 606792"/>
              <a:gd name="connsiteX49" fmla="*/ 329046 w 608697"/>
              <a:gd name="connsiteY49" fmla="*/ 0 h 606792"/>
              <a:gd name="connsiteX50" fmla="*/ 547587 w 608697"/>
              <a:gd name="connsiteY50" fmla="*/ 120297 h 606792"/>
              <a:gd name="connsiteX51" fmla="*/ 426308 w 608697"/>
              <a:gd name="connsiteY51" fmla="*/ 199700 h 606792"/>
              <a:gd name="connsiteX52" fmla="*/ 401098 w 608697"/>
              <a:gd name="connsiteY52" fmla="*/ 186963 h 606792"/>
              <a:gd name="connsiteX53" fmla="*/ 380362 w 608697"/>
              <a:gd name="connsiteY53" fmla="*/ 118882 h 606792"/>
              <a:gd name="connsiteX54" fmla="*/ 329046 w 608697"/>
              <a:gd name="connsiteY54" fmla="*/ 0 h 60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08697" h="606792">
                <a:moveTo>
                  <a:pt x="465103" y="519503"/>
                </a:moveTo>
                <a:cubicBezTo>
                  <a:pt x="480327" y="521812"/>
                  <a:pt x="495849" y="523822"/>
                  <a:pt x="511670" y="525386"/>
                </a:cubicBezTo>
                <a:cubicBezTo>
                  <a:pt x="489133" y="546313"/>
                  <a:pt x="463386" y="563962"/>
                  <a:pt x="435177" y="577367"/>
                </a:cubicBezTo>
                <a:cubicBezTo>
                  <a:pt x="435998" y="564930"/>
                  <a:pt x="436670" y="552643"/>
                  <a:pt x="437118" y="540355"/>
                </a:cubicBezTo>
                <a:cubicBezTo>
                  <a:pt x="448610" y="536706"/>
                  <a:pt x="458461" y="529259"/>
                  <a:pt x="465103" y="519503"/>
                </a:cubicBezTo>
                <a:close/>
                <a:moveTo>
                  <a:pt x="72433" y="354027"/>
                </a:moveTo>
                <a:cubicBezTo>
                  <a:pt x="81981" y="367358"/>
                  <a:pt x="97646" y="376071"/>
                  <a:pt x="115251" y="376071"/>
                </a:cubicBezTo>
                <a:cubicBezTo>
                  <a:pt x="122412" y="376071"/>
                  <a:pt x="129275" y="374656"/>
                  <a:pt x="135541" y="372050"/>
                </a:cubicBezTo>
                <a:cubicBezTo>
                  <a:pt x="175076" y="408542"/>
                  <a:pt x="220878" y="439002"/>
                  <a:pt x="272424" y="463132"/>
                </a:cubicBezTo>
                <a:cubicBezTo>
                  <a:pt x="302784" y="477282"/>
                  <a:pt x="335159" y="489272"/>
                  <a:pt x="369399" y="498954"/>
                </a:cubicBezTo>
                <a:cubicBezTo>
                  <a:pt x="371935" y="513923"/>
                  <a:pt x="380812" y="526658"/>
                  <a:pt x="393120" y="534552"/>
                </a:cubicBezTo>
                <a:cubicBezTo>
                  <a:pt x="392374" y="554064"/>
                  <a:pt x="391255" y="574172"/>
                  <a:pt x="389614" y="594727"/>
                </a:cubicBezTo>
                <a:cubicBezTo>
                  <a:pt x="362536" y="602547"/>
                  <a:pt x="333966" y="606792"/>
                  <a:pt x="304351" y="606792"/>
                </a:cubicBezTo>
                <a:cubicBezTo>
                  <a:pt x="155458" y="606792"/>
                  <a:pt x="31554" y="500071"/>
                  <a:pt x="5222" y="359017"/>
                </a:cubicBezTo>
                <a:cubicBezTo>
                  <a:pt x="24691" y="358198"/>
                  <a:pt x="47294" y="356708"/>
                  <a:pt x="72433" y="354027"/>
                </a:cubicBezTo>
                <a:close/>
                <a:moveTo>
                  <a:pt x="359474" y="280850"/>
                </a:moveTo>
                <a:cubicBezTo>
                  <a:pt x="364919" y="284872"/>
                  <a:pt x="371184" y="287926"/>
                  <a:pt x="377897" y="289639"/>
                </a:cubicBezTo>
                <a:cubicBezTo>
                  <a:pt x="385728" y="336040"/>
                  <a:pt x="391397" y="388102"/>
                  <a:pt x="393261" y="445676"/>
                </a:cubicBezTo>
                <a:cubicBezTo>
                  <a:pt x="388562" y="448655"/>
                  <a:pt x="384311" y="452379"/>
                  <a:pt x="380731" y="456699"/>
                </a:cubicBezTo>
                <a:cubicBezTo>
                  <a:pt x="295182" y="432493"/>
                  <a:pt x="223282" y="393465"/>
                  <a:pt x="165405" y="339764"/>
                </a:cubicBezTo>
                <a:cubicBezTo>
                  <a:pt x="165405" y="339690"/>
                  <a:pt x="165405" y="339690"/>
                  <a:pt x="165405" y="339690"/>
                </a:cubicBezTo>
                <a:cubicBezTo>
                  <a:pt x="171372" y="338498"/>
                  <a:pt x="177413" y="337307"/>
                  <a:pt x="183454" y="335966"/>
                </a:cubicBezTo>
                <a:cubicBezTo>
                  <a:pt x="244539" y="322708"/>
                  <a:pt x="303461" y="304237"/>
                  <a:pt x="359474" y="280850"/>
                </a:cubicBezTo>
                <a:close/>
                <a:moveTo>
                  <a:pt x="16111" y="205063"/>
                </a:moveTo>
                <a:cubicBezTo>
                  <a:pt x="29089" y="234189"/>
                  <a:pt x="46393" y="265773"/>
                  <a:pt x="69366" y="297581"/>
                </a:cubicBezTo>
                <a:cubicBezTo>
                  <a:pt x="67128" y="301529"/>
                  <a:pt x="65413" y="305850"/>
                  <a:pt x="64219" y="310319"/>
                </a:cubicBezTo>
                <a:cubicBezTo>
                  <a:pt x="40202" y="312852"/>
                  <a:pt x="18647" y="314193"/>
                  <a:pt x="224" y="314863"/>
                </a:cubicBezTo>
                <a:cubicBezTo>
                  <a:pt x="74" y="310915"/>
                  <a:pt x="0" y="306893"/>
                  <a:pt x="0" y="302870"/>
                </a:cubicBezTo>
                <a:cubicBezTo>
                  <a:pt x="0" y="268679"/>
                  <a:pt x="5668" y="235753"/>
                  <a:pt x="16111" y="205063"/>
                </a:cubicBezTo>
                <a:close/>
                <a:moveTo>
                  <a:pt x="571702" y="157643"/>
                </a:moveTo>
                <a:cubicBezTo>
                  <a:pt x="595272" y="200775"/>
                  <a:pt x="608697" y="250312"/>
                  <a:pt x="608697" y="302904"/>
                </a:cubicBezTo>
                <a:cubicBezTo>
                  <a:pt x="608697" y="370842"/>
                  <a:pt x="586396" y="433639"/>
                  <a:pt x="548655" y="484220"/>
                </a:cubicBezTo>
                <a:cubicBezTo>
                  <a:pt x="522251" y="482581"/>
                  <a:pt x="496742" y="479900"/>
                  <a:pt x="472128" y="476249"/>
                </a:cubicBezTo>
                <a:cubicBezTo>
                  <a:pt x="467429" y="459116"/>
                  <a:pt x="454302" y="445484"/>
                  <a:pt x="437520" y="440120"/>
                </a:cubicBezTo>
                <a:cubicBezTo>
                  <a:pt x="436476" y="411590"/>
                  <a:pt x="434611" y="383431"/>
                  <a:pt x="431702" y="355794"/>
                </a:cubicBezTo>
                <a:cubicBezTo>
                  <a:pt x="429092" y="330541"/>
                  <a:pt x="425661" y="305735"/>
                  <a:pt x="421558" y="281301"/>
                </a:cubicBezTo>
                <a:cubicBezTo>
                  <a:pt x="434163" y="272139"/>
                  <a:pt x="442666" y="257613"/>
                  <a:pt x="443412" y="241001"/>
                </a:cubicBezTo>
                <a:cubicBezTo>
                  <a:pt x="488687" y="216716"/>
                  <a:pt x="531500" y="188856"/>
                  <a:pt x="571702" y="157643"/>
                </a:cubicBezTo>
                <a:close/>
                <a:moveTo>
                  <a:pt x="278458" y="71"/>
                </a:moveTo>
                <a:cubicBezTo>
                  <a:pt x="296062" y="30390"/>
                  <a:pt x="318813" y="75758"/>
                  <a:pt x="339401" y="135726"/>
                </a:cubicBezTo>
                <a:cubicBezTo>
                  <a:pt x="345741" y="154200"/>
                  <a:pt x="352082" y="174761"/>
                  <a:pt x="358049" y="197407"/>
                </a:cubicBezTo>
                <a:cubicBezTo>
                  <a:pt x="345891" y="207017"/>
                  <a:pt x="338058" y="221916"/>
                  <a:pt x="338058" y="238603"/>
                </a:cubicBezTo>
                <a:cubicBezTo>
                  <a:pt x="338058" y="239646"/>
                  <a:pt x="338133" y="240689"/>
                  <a:pt x="338208" y="241657"/>
                </a:cubicBezTo>
                <a:cubicBezTo>
                  <a:pt x="279129" y="266091"/>
                  <a:pt x="223409" y="282033"/>
                  <a:pt x="175594" y="292462"/>
                </a:cubicBezTo>
                <a:cubicBezTo>
                  <a:pt x="170373" y="293654"/>
                  <a:pt x="165226" y="294697"/>
                  <a:pt x="160079" y="295740"/>
                </a:cubicBezTo>
                <a:cubicBezTo>
                  <a:pt x="150755" y="280767"/>
                  <a:pt x="134195" y="270784"/>
                  <a:pt x="115249" y="270784"/>
                </a:cubicBezTo>
                <a:cubicBezTo>
                  <a:pt x="111818" y="270784"/>
                  <a:pt x="108461" y="271157"/>
                  <a:pt x="105253" y="271753"/>
                </a:cubicBezTo>
                <a:cubicBezTo>
                  <a:pt x="73775" y="228323"/>
                  <a:pt x="54083" y="184892"/>
                  <a:pt x="41775" y="149135"/>
                </a:cubicBezTo>
                <a:cubicBezTo>
                  <a:pt x="90559" y="66297"/>
                  <a:pt x="177459" y="8564"/>
                  <a:pt x="278458" y="71"/>
                </a:cubicBezTo>
                <a:close/>
                <a:moveTo>
                  <a:pt x="329046" y="0"/>
                </a:moveTo>
                <a:cubicBezTo>
                  <a:pt x="418327" y="7151"/>
                  <a:pt x="496719" y="52737"/>
                  <a:pt x="547587" y="120297"/>
                </a:cubicBezTo>
                <a:cubicBezTo>
                  <a:pt x="507534" y="151581"/>
                  <a:pt x="466660" y="177801"/>
                  <a:pt x="426308" y="199700"/>
                </a:cubicBezTo>
                <a:cubicBezTo>
                  <a:pt x="419297" y="193369"/>
                  <a:pt x="410645" y="188825"/>
                  <a:pt x="401098" y="186963"/>
                </a:cubicBezTo>
                <a:cubicBezTo>
                  <a:pt x="394907" y="163723"/>
                  <a:pt x="387970" y="141079"/>
                  <a:pt x="380362" y="118882"/>
                </a:cubicBezTo>
                <a:cubicBezTo>
                  <a:pt x="363356" y="69869"/>
                  <a:pt x="345157" y="30242"/>
                  <a:pt x="329046" y="0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rgbClr val="FF0000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" name="î$ļïḍe"/>
          <p:cNvSpPr/>
          <p:nvPr userDrawn="1"/>
        </p:nvSpPr>
        <p:spPr>
          <a:xfrm>
            <a:off x="2497021" y="3374219"/>
            <a:ext cx="492739" cy="473869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5" name="图片 14" descr="极限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610327" y="3478041"/>
            <a:ext cx="266127" cy="266224"/>
          </a:xfrm>
          <a:prstGeom prst="rect">
            <a:avLst/>
          </a:prstGeom>
          <a:ln>
            <a:noFill/>
          </a:ln>
        </p:spPr>
      </p:pic>
      <p:sp>
        <p:nvSpPr>
          <p:cNvPr id="16" name="islîḓé"/>
          <p:cNvSpPr/>
          <p:nvPr userDrawn="1"/>
        </p:nvSpPr>
        <p:spPr>
          <a:xfrm>
            <a:off x="6154955" y="3374456"/>
            <a:ext cx="492739" cy="473869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7" name="图片 16" descr="应用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281116" y="3487804"/>
            <a:ext cx="246608" cy="246698"/>
          </a:xfrm>
          <a:prstGeom prst="rect">
            <a:avLst/>
          </a:prstGeom>
          <a:ln>
            <a:noFill/>
          </a:ln>
        </p:spPr>
      </p:pic>
      <p:sp>
        <p:nvSpPr>
          <p:cNvPr id="18" name="ïSḷiḑé"/>
          <p:cNvSpPr/>
          <p:nvPr userDrawn="1"/>
        </p:nvSpPr>
        <p:spPr>
          <a:xfrm>
            <a:off x="4325948" y="3374180"/>
            <a:ext cx="492819" cy="473946"/>
          </a:xfrm>
          <a:prstGeom prst="ellipse">
            <a:avLst/>
          </a:prstGeom>
          <a:noFill/>
          <a:ln w="19050">
            <a:solidFill>
              <a:srgbClr val="41464A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" name="íŝļïďê"/>
          <p:cNvSpPr/>
          <p:nvPr userDrawn="1"/>
        </p:nvSpPr>
        <p:spPr>
          <a:xfrm>
            <a:off x="4468174" y="3497872"/>
            <a:ext cx="235979" cy="226560"/>
          </a:xfrm>
          <a:custGeom>
            <a:avLst/>
            <a:gdLst>
              <a:gd name="connsiteX0" fmla="*/ 0 w 607744"/>
              <a:gd name="connsiteY0" fmla="*/ 424734 h 606722"/>
              <a:gd name="connsiteX1" fmla="*/ 162018 w 607744"/>
              <a:gd name="connsiteY1" fmla="*/ 424734 h 606722"/>
              <a:gd name="connsiteX2" fmla="*/ 162018 w 607744"/>
              <a:gd name="connsiteY2" fmla="*/ 505602 h 606722"/>
              <a:gd name="connsiteX3" fmla="*/ 30356 w 607744"/>
              <a:gd name="connsiteY3" fmla="*/ 505602 h 606722"/>
              <a:gd name="connsiteX4" fmla="*/ 0 w 607744"/>
              <a:gd name="connsiteY4" fmla="*/ 475210 h 606722"/>
              <a:gd name="connsiteX5" fmla="*/ 371949 w 607744"/>
              <a:gd name="connsiteY5" fmla="*/ 404476 h 606722"/>
              <a:gd name="connsiteX6" fmla="*/ 381383 w 607744"/>
              <a:gd name="connsiteY6" fmla="*/ 424736 h 606722"/>
              <a:gd name="connsiteX7" fmla="*/ 381650 w 607744"/>
              <a:gd name="connsiteY7" fmla="*/ 424736 h 606722"/>
              <a:gd name="connsiteX8" fmla="*/ 382451 w 607744"/>
              <a:gd name="connsiteY8" fmla="*/ 404476 h 606722"/>
              <a:gd name="connsiteX9" fmla="*/ 0 w 607744"/>
              <a:gd name="connsiteY9" fmla="*/ 343795 h 606722"/>
              <a:gd name="connsiteX10" fmla="*/ 101261 w 607744"/>
              <a:gd name="connsiteY10" fmla="*/ 343795 h 606722"/>
              <a:gd name="connsiteX11" fmla="*/ 101261 w 607744"/>
              <a:gd name="connsiteY11" fmla="*/ 404481 h 606722"/>
              <a:gd name="connsiteX12" fmla="*/ 0 w 607744"/>
              <a:gd name="connsiteY12" fmla="*/ 404481 h 606722"/>
              <a:gd name="connsiteX13" fmla="*/ 473583 w 607744"/>
              <a:gd name="connsiteY13" fmla="*/ 268076 h 606722"/>
              <a:gd name="connsiteX14" fmla="*/ 427483 w 607744"/>
              <a:gd name="connsiteY14" fmla="*/ 323613 h 606722"/>
              <a:gd name="connsiteX15" fmla="*/ 427305 w 607744"/>
              <a:gd name="connsiteY15" fmla="*/ 323613 h 606722"/>
              <a:gd name="connsiteX16" fmla="*/ 417248 w 607744"/>
              <a:gd name="connsiteY16" fmla="*/ 343785 h 606722"/>
              <a:gd name="connsiteX17" fmla="*/ 417515 w 607744"/>
              <a:gd name="connsiteY17" fmla="*/ 343785 h 606722"/>
              <a:gd name="connsiteX18" fmla="*/ 402831 w 607744"/>
              <a:gd name="connsiteY18" fmla="*/ 404476 h 606722"/>
              <a:gd name="connsiteX19" fmla="*/ 402653 w 607744"/>
              <a:gd name="connsiteY19" fmla="*/ 404476 h 606722"/>
              <a:gd name="connsiteX20" fmla="*/ 401852 w 607744"/>
              <a:gd name="connsiteY20" fmla="*/ 424736 h 606722"/>
              <a:gd name="connsiteX21" fmla="*/ 402030 w 607744"/>
              <a:gd name="connsiteY21" fmla="*/ 424736 h 606722"/>
              <a:gd name="connsiteX22" fmla="*/ 402297 w 607744"/>
              <a:gd name="connsiteY22" fmla="*/ 435844 h 606722"/>
              <a:gd name="connsiteX23" fmla="*/ 402208 w 607744"/>
              <a:gd name="connsiteY23" fmla="*/ 436466 h 606722"/>
              <a:gd name="connsiteX24" fmla="*/ 405056 w 607744"/>
              <a:gd name="connsiteY24" fmla="*/ 463568 h 606722"/>
              <a:gd name="connsiteX25" fmla="*/ 405145 w 607744"/>
              <a:gd name="connsiteY25" fmla="*/ 464457 h 606722"/>
              <a:gd name="connsiteX26" fmla="*/ 396779 w 607744"/>
              <a:gd name="connsiteY26" fmla="*/ 475209 h 606722"/>
              <a:gd name="connsiteX27" fmla="*/ 386634 w 607744"/>
              <a:gd name="connsiteY27" fmla="*/ 470766 h 606722"/>
              <a:gd name="connsiteX28" fmla="*/ 352904 w 607744"/>
              <a:gd name="connsiteY28" fmla="*/ 411318 h 606722"/>
              <a:gd name="connsiteX29" fmla="*/ 348899 w 607744"/>
              <a:gd name="connsiteY29" fmla="*/ 424736 h 606722"/>
              <a:gd name="connsiteX30" fmla="*/ 349255 w 607744"/>
              <a:gd name="connsiteY30" fmla="*/ 492892 h 606722"/>
              <a:gd name="connsiteX31" fmla="*/ 349255 w 607744"/>
              <a:gd name="connsiteY31" fmla="*/ 493070 h 606722"/>
              <a:gd name="connsiteX32" fmla="*/ 375865 w 607744"/>
              <a:gd name="connsiteY32" fmla="*/ 543276 h 606722"/>
              <a:gd name="connsiteX33" fmla="*/ 470557 w 607744"/>
              <a:gd name="connsiteY33" fmla="*/ 586462 h 606722"/>
              <a:gd name="connsiteX34" fmla="*/ 471269 w 607744"/>
              <a:gd name="connsiteY34" fmla="*/ 586462 h 606722"/>
              <a:gd name="connsiteX35" fmla="*/ 565694 w 607744"/>
              <a:gd name="connsiteY35" fmla="*/ 544520 h 606722"/>
              <a:gd name="connsiteX36" fmla="*/ 552611 w 607744"/>
              <a:gd name="connsiteY36" fmla="*/ 347339 h 606722"/>
              <a:gd name="connsiteX37" fmla="*/ 524845 w 607744"/>
              <a:gd name="connsiteY37" fmla="*/ 410074 h 606722"/>
              <a:gd name="connsiteX38" fmla="*/ 513542 w 607744"/>
              <a:gd name="connsiteY38" fmla="*/ 414162 h 606722"/>
              <a:gd name="connsiteX39" fmla="*/ 506333 w 607744"/>
              <a:gd name="connsiteY39" fmla="*/ 404476 h 606722"/>
              <a:gd name="connsiteX40" fmla="*/ 473583 w 607744"/>
              <a:gd name="connsiteY40" fmla="*/ 268076 h 606722"/>
              <a:gd name="connsiteX41" fmla="*/ 182270 w 607744"/>
              <a:gd name="connsiteY41" fmla="*/ 262927 h 606722"/>
              <a:gd name="connsiteX42" fmla="*/ 364540 w 607744"/>
              <a:gd name="connsiteY42" fmla="*/ 262927 h 606722"/>
              <a:gd name="connsiteX43" fmla="*/ 364540 w 607744"/>
              <a:gd name="connsiteY43" fmla="*/ 323613 h 606722"/>
              <a:gd name="connsiteX44" fmla="*/ 182270 w 607744"/>
              <a:gd name="connsiteY44" fmla="*/ 323613 h 606722"/>
              <a:gd name="connsiteX45" fmla="*/ 0 w 607744"/>
              <a:gd name="connsiteY45" fmla="*/ 262927 h 606722"/>
              <a:gd name="connsiteX46" fmla="*/ 162018 w 607744"/>
              <a:gd name="connsiteY46" fmla="*/ 262927 h 606722"/>
              <a:gd name="connsiteX47" fmla="*/ 162018 w 607744"/>
              <a:gd name="connsiteY47" fmla="*/ 323613 h 606722"/>
              <a:gd name="connsiteX48" fmla="*/ 0 w 607744"/>
              <a:gd name="connsiteY48" fmla="*/ 323613 h 606722"/>
              <a:gd name="connsiteX49" fmla="*/ 0 w 607744"/>
              <a:gd name="connsiteY49" fmla="*/ 182059 h 606722"/>
              <a:gd name="connsiteX50" fmla="*/ 101261 w 607744"/>
              <a:gd name="connsiteY50" fmla="*/ 182059 h 606722"/>
              <a:gd name="connsiteX51" fmla="*/ 101261 w 607744"/>
              <a:gd name="connsiteY51" fmla="*/ 242745 h 606722"/>
              <a:gd name="connsiteX52" fmla="*/ 0 w 607744"/>
              <a:gd name="connsiteY52" fmla="*/ 242745 h 606722"/>
              <a:gd name="connsiteX53" fmla="*/ 324069 w 607744"/>
              <a:gd name="connsiteY53" fmla="*/ 182059 h 606722"/>
              <a:gd name="connsiteX54" fmla="*/ 374708 w 607744"/>
              <a:gd name="connsiteY54" fmla="*/ 182059 h 606722"/>
              <a:gd name="connsiteX55" fmla="*/ 486042 w 607744"/>
              <a:gd name="connsiteY55" fmla="*/ 182059 h 606722"/>
              <a:gd name="connsiteX56" fmla="*/ 486042 w 607744"/>
              <a:gd name="connsiteY56" fmla="*/ 249682 h 606722"/>
              <a:gd name="connsiteX57" fmla="*/ 524578 w 607744"/>
              <a:gd name="connsiteY57" fmla="*/ 366888 h 606722"/>
              <a:gd name="connsiteX58" fmla="*/ 536770 w 607744"/>
              <a:gd name="connsiteY58" fmla="*/ 322458 h 606722"/>
              <a:gd name="connsiteX59" fmla="*/ 543534 w 607744"/>
              <a:gd name="connsiteY59" fmla="*/ 314016 h 606722"/>
              <a:gd name="connsiteX60" fmla="*/ 554035 w 607744"/>
              <a:gd name="connsiteY60" fmla="*/ 316505 h 606722"/>
              <a:gd name="connsiteX61" fmla="*/ 580734 w 607744"/>
              <a:gd name="connsiteY61" fmla="*/ 558027 h 606722"/>
              <a:gd name="connsiteX62" fmla="*/ 471269 w 607744"/>
              <a:gd name="connsiteY62" fmla="*/ 606722 h 606722"/>
              <a:gd name="connsiteX63" fmla="*/ 470379 w 607744"/>
              <a:gd name="connsiteY63" fmla="*/ 606722 h 606722"/>
              <a:gd name="connsiteX64" fmla="*/ 360647 w 607744"/>
              <a:gd name="connsiteY64" fmla="*/ 556694 h 606722"/>
              <a:gd name="connsiteX65" fmla="*/ 331812 w 607744"/>
              <a:gd name="connsiteY65" fmla="*/ 505599 h 606722"/>
              <a:gd name="connsiteX66" fmla="*/ 182298 w 607744"/>
              <a:gd name="connsiteY66" fmla="*/ 505599 h 606722"/>
              <a:gd name="connsiteX67" fmla="*/ 182298 w 607744"/>
              <a:gd name="connsiteY67" fmla="*/ 424736 h 606722"/>
              <a:gd name="connsiteX68" fmla="*/ 328074 w 607744"/>
              <a:gd name="connsiteY68" fmla="*/ 424736 h 606722"/>
              <a:gd name="connsiteX69" fmla="*/ 333948 w 607744"/>
              <a:gd name="connsiteY69" fmla="*/ 404476 h 606722"/>
              <a:gd name="connsiteX70" fmla="*/ 121514 w 607744"/>
              <a:gd name="connsiteY70" fmla="*/ 404476 h 606722"/>
              <a:gd name="connsiteX71" fmla="*/ 121514 w 607744"/>
              <a:gd name="connsiteY71" fmla="*/ 343785 h 606722"/>
              <a:gd name="connsiteX72" fmla="*/ 395800 w 607744"/>
              <a:gd name="connsiteY72" fmla="*/ 343785 h 606722"/>
              <a:gd name="connsiteX73" fmla="*/ 404611 w 607744"/>
              <a:gd name="connsiteY73" fmla="*/ 323613 h 606722"/>
              <a:gd name="connsiteX74" fmla="*/ 384854 w 607744"/>
              <a:gd name="connsiteY74" fmla="*/ 323613 h 606722"/>
              <a:gd name="connsiteX75" fmla="*/ 384854 w 607744"/>
              <a:gd name="connsiteY75" fmla="*/ 262922 h 606722"/>
              <a:gd name="connsiteX76" fmla="*/ 449198 w 607744"/>
              <a:gd name="connsiteY76" fmla="*/ 262922 h 606722"/>
              <a:gd name="connsiteX77" fmla="*/ 469667 w 607744"/>
              <a:gd name="connsiteY77" fmla="*/ 244883 h 606722"/>
              <a:gd name="connsiteX78" fmla="*/ 476075 w 607744"/>
              <a:gd name="connsiteY78" fmla="*/ 242839 h 606722"/>
              <a:gd name="connsiteX79" fmla="*/ 475986 w 607744"/>
              <a:gd name="connsiteY79" fmla="*/ 242751 h 606722"/>
              <a:gd name="connsiteX80" fmla="*/ 324069 w 607744"/>
              <a:gd name="connsiteY80" fmla="*/ 242751 h 606722"/>
              <a:gd name="connsiteX81" fmla="*/ 121514 w 607744"/>
              <a:gd name="connsiteY81" fmla="*/ 182059 h 606722"/>
              <a:gd name="connsiteX82" fmla="*/ 172154 w 607744"/>
              <a:gd name="connsiteY82" fmla="*/ 182059 h 606722"/>
              <a:gd name="connsiteX83" fmla="*/ 303784 w 607744"/>
              <a:gd name="connsiteY83" fmla="*/ 182059 h 606722"/>
              <a:gd name="connsiteX84" fmla="*/ 303784 w 607744"/>
              <a:gd name="connsiteY84" fmla="*/ 242745 h 606722"/>
              <a:gd name="connsiteX85" fmla="*/ 121514 w 607744"/>
              <a:gd name="connsiteY85" fmla="*/ 242745 h 606722"/>
              <a:gd name="connsiteX86" fmla="*/ 0 w 607744"/>
              <a:gd name="connsiteY86" fmla="*/ 101191 h 606722"/>
              <a:gd name="connsiteX87" fmla="*/ 162018 w 607744"/>
              <a:gd name="connsiteY87" fmla="*/ 101191 h 606722"/>
              <a:gd name="connsiteX88" fmla="*/ 162018 w 607744"/>
              <a:gd name="connsiteY88" fmla="*/ 161736 h 606722"/>
              <a:gd name="connsiteX89" fmla="*/ 0 w 607744"/>
              <a:gd name="connsiteY89" fmla="*/ 161736 h 606722"/>
              <a:gd name="connsiteX90" fmla="*/ 384864 w 607744"/>
              <a:gd name="connsiteY90" fmla="*/ 101191 h 606722"/>
              <a:gd name="connsiteX91" fmla="*/ 486055 w 607744"/>
              <a:gd name="connsiteY91" fmla="*/ 101191 h 606722"/>
              <a:gd name="connsiteX92" fmla="*/ 486055 w 607744"/>
              <a:gd name="connsiteY92" fmla="*/ 161736 h 606722"/>
              <a:gd name="connsiteX93" fmla="*/ 384864 w 607744"/>
              <a:gd name="connsiteY93" fmla="*/ 161736 h 606722"/>
              <a:gd name="connsiteX94" fmla="*/ 182270 w 607744"/>
              <a:gd name="connsiteY94" fmla="*/ 101191 h 606722"/>
              <a:gd name="connsiteX95" fmla="*/ 364540 w 607744"/>
              <a:gd name="connsiteY95" fmla="*/ 101191 h 606722"/>
              <a:gd name="connsiteX96" fmla="*/ 364540 w 607744"/>
              <a:gd name="connsiteY96" fmla="*/ 161736 h 606722"/>
              <a:gd name="connsiteX97" fmla="*/ 182270 w 607744"/>
              <a:gd name="connsiteY97" fmla="*/ 161736 h 606722"/>
              <a:gd name="connsiteX98" fmla="*/ 324036 w 607744"/>
              <a:gd name="connsiteY98" fmla="*/ 0 h 606722"/>
              <a:gd name="connsiteX99" fmla="*/ 455698 w 607744"/>
              <a:gd name="connsiteY99" fmla="*/ 0 h 606722"/>
              <a:gd name="connsiteX100" fmla="*/ 486054 w 607744"/>
              <a:gd name="connsiteY100" fmla="*/ 30303 h 606722"/>
              <a:gd name="connsiteX101" fmla="*/ 486054 w 607744"/>
              <a:gd name="connsiteY101" fmla="*/ 80868 h 606722"/>
              <a:gd name="connsiteX102" fmla="*/ 374689 w 607744"/>
              <a:gd name="connsiteY102" fmla="*/ 80868 h 606722"/>
              <a:gd name="connsiteX103" fmla="*/ 324036 w 607744"/>
              <a:gd name="connsiteY103" fmla="*/ 80868 h 606722"/>
              <a:gd name="connsiteX104" fmla="*/ 121514 w 607744"/>
              <a:gd name="connsiteY104" fmla="*/ 0 h 606722"/>
              <a:gd name="connsiteX105" fmla="*/ 303784 w 607744"/>
              <a:gd name="connsiteY105" fmla="*/ 0 h 606722"/>
              <a:gd name="connsiteX106" fmla="*/ 303784 w 607744"/>
              <a:gd name="connsiteY106" fmla="*/ 80868 h 606722"/>
              <a:gd name="connsiteX107" fmla="*/ 172154 w 607744"/>
              <a:gd name="connsiteY107" fmla="*/ 80868 h 606722"/>
              <a:gd name="connsiteX108" fmla="*/ 121514 w 607744"/>
              <a:gd name="connsiteY108" fmla="*/ 80868 h 606722"/>
              <a:gd name="connsiteX109" fmla="*/ 30343 w 607744"/>
              <a:gd name="connsiteY109" fmla="*/ 0 h 606722"/>
              <a:gd name="connsiteX110" fmla="*/ 101261 w 607744"/>
              <a:gd name="connsiteY110" fmla="*/ 0 h 606722"/>
              <a:gd name="connsiteX111" fmla="*/ 101261 w 607744"/>
              <a:gd name="connsiteY111" fmla="*/ 80868 h 606722"/>
              <a:gd name="connsiteX112" fmla="*/ 0 w 607744"/>
              <a:gd name="connsiteY112" fmla="*/ 80868 h 606722"/>
              <a:gd name="connsiteX113" fmla="*/ 0 w 607744"/>
              <a:gd name="connsiteY113" fmla="*/ 30303 h 606722"/>
              <a:gd name="connsiteX114" fmla="*/ 30343 w 607744"/>
              <a:gd name="connsiteY1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607744" h="606722">
                <a:moveTo>
                  <a:pt x="0" y="424734"/>
                </a:moveTo>
                <a:lnTo>
                  <a:pt x="162018" y="424734"/>
                </a:lnTo>
                <a:lnTo>
                  <a:pt x="162018" y="505602"/>
                </a:lnTo>
                <a:lnTo>
                  <a:pt x="30356" y="505602"/>
                </a:lnTo>
                <a:cubicBezTo>
                  <a:pt x="13620" y="505602"/>
                  <a:pt x="0" y="492006"/>
                  <a:pt x="0" y="475210"/>
                </a:cubicBezTo>
                <a:close/>
                <a:moveTo>
                  <a:pt x="371949" y="404476"/>
                </a:moveTo>
                <a:cubicBezTo>
                  <a:pt x="374975" y="411674"/>
                  <a:pt x="378179" y="418516"/>
                  <a:pt x="381383" y="424736"/>
                </a:cubicBezTo>
                <a:lnTo>
                  <a:pt x="381650" y="424736"/>
                </a:lnTo>
                <a:cubicBezTo>
                  <a:pt x="381650" y="417894"/>
                  <a:pt x="381917" y="411141"/>
                  <a:pt x="382451" y="404476"/>
                </a:cubicBezTo>
                <a:close/>
                <a:moveTo>
                  <a:pt x="0" y="343795"/>
                </a:moveTo>
                <a:lnTo>
                  <a:pt x="101261" y="343795"/>
                </a:lnTo>
                <a:lnTo>
                  <a:pt x="101261" y="404481"/>
                </a:lnTo>
                <a:lnTo>
                  <a:pt x="0" y="404481"/>
                </a:lnTo>
                <a:close/>
                <a:moveTo>
                  <a:pt x="473583" y="268076"/>
                </a:moveTo>
                <a:cubicBezTo>
                  <a:pt x="454449" y="284870"/>
                  <a:pt x="438963" y="303442"/>
                  <a:pt x="427483" y="323613"/>
                </a:cubicBezTo>
                <a:lnTo>
                  <a:pt x="427305" y="323613"/>
                </a:lnTo>
                <a:cubicBezTo>
                  <a:pt x="423567" y="330189"/>
                  <a:pt x="420185" y="336854"/>
                  <a:pt x="417248" y="343785"/>
                </a:cubicBezTo>
                <a:lnTo>
                  <a:pt x="417515" y="343785"/>
                </a:lnTo>
                <a:cubicBezTo>
                  <a:pt x="409506" y="362712"/>
                  <a:pt x="404611" y="382972"/>
                  <a:pt x="402831" y="404476"/>
                </a:cubicBezTo>
                <a:lnTo>
                  <a:pt x="402653" y="404476"/>
                </a:lnTo>
                <a:cubicBezTo>
                  <a:pt x="402030" y="411052"/>
                  <a:pt x="401852" y="417805"/>
                  <a:pt x="401852" y="424736"/>
                </a:cubicBezTo>
                <a:lnTo>
                  <a:pt x="402030" y="424736"/>
                </a:lnTo>
                <a:cubicBezTo>
                  <a:pt x="402030" y="428380"/>
                  <a:pt x="402119" y="432112"/>
                  <a:pt x="402297" y="435844"/>
                </a:cubicBezTo>
                <a:cubicBezTo>
                  <a:pt x="402297" y="436110"/>
                  <a:pt x="402208" y="436199"/>
                  <a:pt x="402208" y="436466"/>
                </a:cubicBezTo>
                <a:cubicBezTo>
                  <a:pt x="402653" y="445263"/>
                  <a:pt x="403632" y="454327"/>
                  <a:pt x="405056" y="463568"/>
                </a:cubicBezTo>
                <a:cubicBezTo>
                  <a:pt x="405056" y="463835"/>
                  <a:pt x="405145" y="464190"/>
                  <a:pt x="405145" y="464457"/>
                </a:cubicBezTo>
                <a:cubicBezTo>
                  <a:pt x="405501" y="469611"/>
                  <a:pt x="401941" y="474320"/>
                  <a:pt x="396779" y="475209"/>
                </a:cubicBezTo>
                <a:cubicBezTo>
                  <a:pt x="392774" y="476009"/>
                  <a:pt x="388770" y="474054"/>
                  <a:pt x="386634" y="470766"/>
                </a:cubicBezTo>
                <a:cubicBezTo>
                  <a:pt x="383341" y="466589"/>
                  <a:pt x="365630" y="442953"/>
                  <a:pt x="352904" y="411318"/>
                </a:cubicBezTo>
                <a:cubicBezTo>
                  <a:pt x="351302" y="415761"/>
                  <a:pt x="349967" y="420204"/>
                  <a:pt x="348899" y="424736"/>
                </a:cubicBezTo>
                <a:cubicBezTo>
                  <a:pt x="343381" y="446862"/>
                  <a:pt x="343292" y="470499"/>
                  <a:pt x="349255" y="492892"/>
                </a:cubicBezTo>
                <a:cubicBezTo>
                  <a:pt x="349255" y="492892"/>
                  <a:pt x="349255" y="492981"/>
                  <a:pt x="349255" y="493070"/>
                </a:cubicBezTo>
                <a:cubicBezTo>
                  <a:pt x="354239" y="511464"/>
                  <a:pt x="363050" y="528792"/>
                  <a:pt x="375865" y="543276"/>
                </a:cubicBezTo>
                <a:cubicBezTo>
                  <a:pt x="399805" y="570467"/>
                  <a:pt x="434247" y="586195"/>
                  <a:pt x="470557" y="586462"/>
                </a:cubicBezTo>
                <a:lnTo>
                  <a:pt x="471269" y="586462"/>
                </a:lnTo>
                <a:cubicBezTo>
                  <a:pt x="507223" y="586462"/>
                  <a:pt x="541576" y="571178"/>
                  <a:pt x="565694" y="544520"/>
                </a:cubicBezTo>
                <a:cubicBezTo>
                  <a:pt x="604496" y="501512"/>
                  <a:pt x="585985" y="398789"/>
                  <a:pt x="552611" y="347339"/>
                </a:cubicBezTo>
                <a:cubicBezTo>
                  <a:pt x="543623" y="381639"/>
                  <a:pt x="525824" y="408741"/>
                  <a:pt x="524845" y="410074"/>
                </a:cubicBezTo>
                <a:cubicBezTo>
                  <a:pt x="522442" y="413806"/>
                  <a:pt x="517814" y="415495"/>
                  <a:pt x="513542" y="414162"/>
                </a:cubicBezTo>
                <a:cubicBezTo>
                  <a:pt x="509270" y="412829"/>
                  <a:pt x="506333" y="408919"/>
                  <a:pt x="506333" y="404476"/>
                </a:cubicBezTo>
                <a:cubicBezTo>
                  <a:pt x="506333" y="334099"/>
                  <a:pt x="484351" y="287003"/>
                  <a:pt x="473583" y="268076"/>
                </a:cubicBezTo>
                <a:close/>
                <a:moveTo>
                  <a:pt x="182270" y="262927"/>
                </a:moveTo>
                <a:lnTo>
                  <a:pt x="364540" y="262927"/>
                </a:lnTo>
                <a:lnTo>
                  <a:pt x="364540" y="323613"/>
                </a:lnTo>
                <a:lnTo>
                  <a:pt x="182270" y="323613"/>
                </a:lnTo>
                <a:close/>
                <a:moveTo>
                  <a:pt x="0" y="262927"/>
                </a:moveTo>
                <a:lnTo>
                  <a:pt x="162018" y="262927"/>
                </a:lnTo>
                <a:lnTo>
                  <a:pt x="162018" y="323613"/>
                </a:lnTo>
                <a:lnTo>
                  <a:pt x="0" y="323613"/>
                </a:lnTo>
                <a:close/>
                <a:moveTo>
                  <a:pt x="0" y="182059"/>
                </a:moveTo>
                <a:lnTo>
                  <a:pt x="101261" y="182059"/>
                </a:lnTo>
                <a:lnTo>
                  <a:pt x="101261" y="242745"/>
                </a:lnTo>
                <a:lnTo>
                  <a:pt x="0" y="242745"/>
                </a:lnTo>
                <a:close/>
                <a:moveTo>
                  <a:pt x="324069" y="182059"/>
                </a:moveTo>
                <a:lnTo>
                  <a:pt x="374708" y="182059"/>
                </a:lnTo>
                <a:lnTo>
                  <a:pt x="486042" y="182059"/>
                </a:lnTo>
                <a:lnTo>
                  <a:pt x="486042" y="249682"/>
                </a:lnTo>
                <a:cubicBezTo>
                  <a:pt x="493251" y="260434"/>
                  <a:pt x="517458" y="301043"/>
                  <a:pt x="524578" y="366888"/>
                </a:cubicBezTo>
                <a:cubicBezTo>
                  <a:pt x="529917" y="354004"/>
                  <a:pt x="534990" y="338453"/>
                  <a:pt x="536770" y="322458"/>
                </a:cubicBezTo>
                <a:cubicBezTo>
                  <a:pt x="537215" y="318637"/>
                  <a:pt x="539796" y="315349"/>
                  <a:pt x="543534" y="314016"/>
                </a:cubicBezTo>
                <a:cubicBezTo>
                  <a:pt x="547183" y="312772"/>
                  <a:pt x="551366" y="313750"/>
                  <a:pt x="554035" y="316505"/>
                </a:cubicBezTo>
                <a:cubicBezTo>
                  <a:pt x="602004" y="365378"/>
                  <a:pt x="632619" y="500445"/>
                  <a:pt x="580734" y="558027"/>
                </a:cubicBezTo>
                <a:cubicBezTo>
                  <a:pt x="552789" y="588950"/>
                  <a:pt x="513008" y="606722"/>
                  <a:pt x="471269" y="606722"/>
                </a:cubicBezTo>
                <a:lnTo>
                  <a:pt x="470379" y="606722"/>
                </a:lnTo>
                <a:cubicBezTo>
                  <a:pt x="428373" y="606455"/>
                  <a:pt x="388414" y="588150"/>
                  <a:pt x="360647" y="556694"/>
                </a:cubicBezTo>
                <a:cubicBezTo>
                  <a:pt x="347475" y="541676"/>
                  <a:pt x="337864" y="524260"/>
                  <a:pt x="331812" y="505599"/>
                </a:cubicBezTo>
                <a:lnTo>
                  <a:pt x="182298" y="505599"/>
                </a:lnTo>
                <a:lnTo>
                  <a:pt x="182298" y="424736"/>
                </a:lnTo>
                <a:lnTo>
                  <a:pt x="328074" y="424736"/>
                </a:lnTo>
                <a:cubicBezTo>
                  <a:pt x="329498" y="417894"/>
                  <a:pt x="331545" y="411141"/>
                  <a:pt x="333948" y="404476"/>
                </a:cubicBezTo>
                <a:lnTo>
                  <a:pt x="121514" y="404476"/>
                </a:lnTo>
                <a:lnTo>
                  <a:pt x="121514" y="343785"/>
                </a:lnTo>
                <a:lnTo>
                  <a:pt x="395800" y="343785"/>
                </a:lnTo>
                <a:cubicBezTo>
                  <a:pt x="398381" y="336942"/>
                  <a:pt x="401318" y="330189"/>
                  <a:pt x="404611" y="323613"/>
                </a:cubicBezTo>
                <a:lnTo>
                  <a:pt x="384854" y="323613"/>
                </a:lnTo>
                <a:lnTo>
                  <a:pt x="384854" y="262922"/>
                </a:lnTo>
                <a:lnTo>
                  <a:pt x="449198" y="262922"/>
                </a:lnTo>
                <a:cubicBezTo>
                  <a:pt x="455606" y="256702"/>
                  <a:pt x="462369" y="250659"/>
                  <a:pt x="469667" y="244883"/>
                </a:cubicBezTo>
                <a:cubicBezTo>
                  <a:pt x="471447" y="243461"/>
                  <a:pt x="473761" y="242839"/>
                  <a:pt x="476075" y="242839"/>
                </a:cubicBezTo>
                <a:lnTo>
                  <a:pt x="475986" y="242751"/>
                </a:lnTo>
                <a:lnTo>
                  <a:pt x="324069" y="242751"/>
                </a:lnTo>
                <a:close/>
                <a:moveTo>
                  <a:pt x="121514" y="182059"/>
                </a:moveTo>
                <a:lnTo>
                  <a:pt x="172154" y="182059"/>
                </a:lnTo>
                <a:lnTo>
                  <a:pt x="303784" y="182059"/>
                </a:lnTo>
                <a:lnTo>
                  <a:pt x="303784" y="242745"/>
                </a:lnTo>
                <a:lnTo>
                  <a:pt x="121514" y="242745"/>
                </a:lnTo>
                <a:close/>
                <a:moveTo>
                  <a:pt x="0" y="101191"/>
                </a:moveTo>
                <a:lnTo>
                  <a:pt x="162018" y="101191"/>
                </a:lnTo>
                <a:lnTo>
                  <a:pt x="162018" y="161736"/>
                </a:lnTo>
                <a:lnTo>
                  <a:pt x="0" y="161736"/>
                </a:lnTo>
                <a:close/>
                <a:moveTo>
                  <a:pt x="384864" y="101191"/>
                </a:moveTo>
                <a:lnTo>
                  <a:pt x="486055" y="101191"/>
                </a:lnTo>
                <a:lnTo>
                  <a:pt x="486055" y="161736"/>
                </a:lnTo>
                <a:lnTo>
                  <a:pt x="384864" y="161736"/>
                </a:lnTo>
                <a:close/>
                <a:moveTo>
                  <a:pt x="182270" y="101191"/>
                </a:moveTo>
                <a:lnTo>
                  <a:pt x="364540" y="101191"/>
                </a:lnTo>
                <a:lnTo>
                  <a:pt x="364540" y="161736"/>
                </a:lnTo>
                <a:lnTo>
                  <a:pt x="182270" y="161736"/>
                </a:lnTo>
                <a:close/>
                <a:moveTo>
                  <a:pt x="324036" y="0"/>
                </a:moveTo>
                <a:lnTo>
                  <a:pt x="455698" y="0"/>
                </a:lnTo>
                <a:cubicBezTo>
                  <a:pt x="472434" y="0"/>
                  <a:pt x="486054" y="13597"/>
                  <a:pt x="486054" y="30303"/>
                </a:cubicBezTo>
                <a:lnTo>
                  <a:pt x="486054" y="80868"/>
                </a:lnTo>
                <a:lnTo>
                  <a:pt x="374689" y="80868"/>
                </a:lnTo>
                <a:lnTo>
                  <a:pt x="324036" y="80868"/>
                </a:lnTo>
                <a:close/>
                <a:moveTo>
                  <a:pt x="121514" y="0"/>
                </a:moveTo>
                <a:lnTo>
                  <a:pt x="303784" y="0"/>
                </a:lnTo>
                <a:lnTo>
                  <a:pt x="303784" y="80868"/>
                </a:lnTo>
                <a:lnTo>
                  <a:pt x="172154" y="80868"/>
                </a:lnTo>
                <a:lnTo>
                  <a:pt x="121514" y="80868"/>
                </a:lnTo>
                <a:close/>
                <a:moveTo>
                  <a:pt x="30343" y="0"/>
                </a:moveTo>
                <a:lnTo>
                  <a:pt x="101261" y="0"/>
                </a:lnTo>
                <a:lnTo>
                  <a:pt x="101261" y="80868"/>
                </a:lnTo>
                <a:lnTo>
                  <a:pt x="0" y="80868"/>
                </a:lnTo>
                <a:lnTo>
                  <a:pt x="0" y="30303"/>
                </a:lnTo>
                <a:cubicBezTo>
                  <a:pt x="0" y="13597"/>
                  <a:pt x="13614" y="0"/>
                  <a:pt x="30343" y="0"/>
                </a:cubicBezTo>
                <a:close/>
              </a:path>
            </a:pathLst>
          </a:custGeom>
          <a:solidFill>
            <a:schemeClr val="accent1"/>
          </a:solidFill>
          <a:ln w="3175">
            <a:solidFill>
              <a:srgbClr val="FF0000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55" tIns="34277" rIns="68555" bIns="34277" numCol="1" spcCol="0" rtlCol="0" fromWordArt="0" anchor="ctr" anchorCtr="0" forceAA="0" compatLnSpc="1">
            <a:normAutofit fontScale="82500" lnSpcReduction="20000"/>
          </a:bodyPr>
          <a:lstStyle>
            <a:defPPr>
              <a:defRPr lang="zh-CN"/>
            </a:defPPr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1500" b="1" i="1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300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:\Users\zhangshengping\Desktop\盾构法隧道智能装备.png盾构法隧道智能装备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8821" b="15523"/>
          <a:stretch>
            <a:fillRect/>
          </a:stretch>
        </p:blipFill>
        <p:spPr>
          <a:xfrm>
            <a:off x="0" y="2119163"/>
            <a:ext cx="9145428" cy="302433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0" y="757793"/>
            <a:ext cx="9144238" cy="43857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15000"/>
                </a:schemeClr>
              </a:gs>
              <a:gs pos="78000">
                <a:schemeClr val="accent1">
                  <a:lumMod val="45000"/>
                  <a:lumOff val="55000"/>
                  <a:alpha val="85000"/>
                </a:schemeClr>
              </a:gs>
              <a:gs pos="98000">
                <a:schemeClr val="accent1">
                  <a:lumMod val="30000"/>
                  <a:lumOff val="7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微软雅黑" panose="020B0503020204020204" pitchFamily="34" charset="-122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iṩ1iḓè"/>
          <p:cNvSpPr/>
          <p:nvPr userDrawn="1"/>
        </p:nvSpPr>
        <p:spPr>
          <a:xfrm>
            <a:off x="-4447" y="756978"/>
            <a:ext cx="9153132" cy="24300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square">
            <a:noAutofit/>
          </a:bodyPr>
          <a:lstStyle/>
          <a:p>
            <a:pPr algn="ctr" defTabSz="457200" rtl="0" eaLnBrk="1" fontAlgn="auto" hangingPunct="1">
              <a:spcBef>
                <a:spcPts val="0"/>
              </a:spcBef>
              <a:spcAft>
                <a:spcPts val="0"/>
              </a:spcAft>
              <a:buFontTx/>
            </a:pPr>
            <a:endParaRPr lang="zh-CN" altLang="en-US" sz="21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7754799" y="3374180"/>
            <a:ext cx="492819" cy="473946"/>
            <a:chOff x="10648422" y="4498906"/>
            <a:chExt cx="657331" cy="631928"/>
          </a:xfrm>
        </p:grpSpPr>
        <p:sp>
          <p:nvSpPr>
            <p:cNvPr id="6" name="iṡḻîdê"/>
            <p:cNvSpPr/>
            <p:nvPr userDrawn="1"/>
          </p:nvSpPr>
          <p:spPr>
            <a:xfrm>
              <a:off x="10648422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7" name="îṧlíḓè"/>
            <p:cNvSpPr/>
            <p:nvPr userDrawn="1"/>
          </p:nvSpPr>
          <p:spPr>
            <a:xfrm>
              <a:off x="10819711" y="4684325"/>
              <a:ext cx="314754" cy="261090"/>
            </a:xfrm>
            <a:custGeom>
              <a:avLst/>
              <a:gdLst>
                <a:gd name="T0" fmla="*/ 1294 w 1302"/>
                <a:gd name="T1" fmla="*/ 264 h 1125"/>
                <a:gd name="T2" fmla="*/ 1030 w 1302"/>
                <a:gd name="T3" fmla="*/ 782 h 1125"/>
                <a:gd name="T4" fmla="*/ 583 w 1302"/>
                <a:gd name="T5" fmla="*/ 1125 h 1125"/>
                <a:gd name="T6" fmla="*/ 392 w 1302"/>
                <a:gd name="T7" fmla="*/ 916 h 1125"/>
                <a:gd name="T8" fmla="*/ 287 w 1302"/>
                <a:gd name="T9" fmla="*/ 533 h 1125"/>
                <a:gd name="T10" fmla="*/ 162 w 1302"/>
                <a:gd name="T11" fmla="*/ 324 h 1125"/>
                <a:gd name="T12" fmla="*/ 61 w 1302"/>
                <a:gd name="T13" fmla="*/ 385 h 1125"/>
                <a:gd name="T14" fmla="*/ 0 w 1302"/>
                <a:gd name="T15" fmla="*/ 306 h 1125"/>
                <a:gd name="T16" fmla="*/ 189 w 1302"/>
                <a:gd name="T17" fmla="*/ 138 h 1125"/>
                <a:gd name="T18" fmla="*/ 381 w 1302"/>
                <a:gd name="T19" fmla="*/ 22 h 1125"/>
                <a:gd name="T20" fmla="*/ 567 w 1302"/>
                <a:gd name="T21" fmla="*/ 228 h 1125"/>
                <a:gd name="T22" fmla="*/ 619 w 1302"/>
                <a:gd name="T23" fmla="*/ 525 h 1125"/>
                <a:gd name="T24" fmla="*/ 715 w 1302"/>
                <a:gd name="T25" fmla="*/ 723 h 1125"/>
                <a:gd name="T26" fmla="*/ 837 w 1302"/>
                <a:gd name="T27" fmla="*/ 595 h 1125"/>
                <a:gd name="T28" fmla="*/ 924 w 1302"/>
                <a:gd name="T29" fmla="*/ 399 h 1125"/>
                <a:gd name="T30" fmla="*/ 837 w 1302"/>
                <a:gd name="T31" fmla="*/ 288 h 1125"/>
                <a:gd name="T32" fmla="*/ 741 w 1302"/>
                <a:gd name="T33" fmla="*/ 309 h 1125"/>
                <a:gd name="T34" fmla="*/ 1106 w 1302"/>
                <a:gd name="T35" fmla="*/ 5 h 1125"/>
                <a:gd name="T36" fmla="*/ 1294 w 1302"/>
                <a:gd name="T37" fmla="*/ 264 h 1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02" h="1125">
                  <a:moveTo>
                    <a:pt x="1294" y="264"/>
                  </a:moveTo>
                  <a:cubicBezTo>
                    <a:pt x="1288" y="390"/>
                    <a:pt x="1200" y="563"/>
                    <a:pt x="1030" y="782"/>
                  </a:cubicBezTo>
                  <a:cubicBezTo>
                    <a:pt x="854" y="1011"/>
                    <a:pt x="705" y="1125"/>
                    <a:pt x="583" y="1125"/>
                  </a:cubicBezTo>
                  <a:cubicBezTo>
                    <a:pt x="508" y="1125"/>
                    <a:pt x="444" y="1056"/>
                    <a:pt x="392" y="916"/>
                  </a:cubicBezTo>
                  <a:cubicBezTo>
                    <a:pt x="357" y="789"/>
                    <a:pt x="322" y="661"/>
                    <a:pt x="287" y="533"/>
                  </a:cubicBezTo>
                  <a:cubicBezTo>
                    <a:pt x="248" y="394"/>
                    <a:pt x="207" y="324"/>
                    <a:pt x="162" y="324"/>
                  </a:cubicBezTo>
                  <a:cubicBezTo>
                    <a:pt x="153" y="324"/>
                    <a:pt x="119" y="344"/>
                    <a:pt x="61" y="385"/>
                  </a:cubicBezTo>
                  <a:lnTo>
                    <a:pt x="0" y="306"/>
                  </a:lnTo>
                  <a:cubicBezTo>
                    <a:pt x="64" y="250"/>
                    <a:pt x="127" y="194"/>
                    <a:pt x="189" y="138"/>
                  </a:cubicBezTo>
                  <a:cubicBezTo>
                    <a:pt x="274" y="64"/>
                    <a:pt x="338" y="26"/>
                    <a:pt x="381" y="22"/>
                  </a:cubicBezTo>
                  <a:cubicBezTo>
                    <a:pt x="482" y="12"/>
                    <a:pt x="544" y="81"/>
                    <a:pt x="567" y="228"/>
                  </a:cubicBezTo>
                  <a:cubicBezTo>
                    <a:pt x="592" y="387"/>
                    <a:pt x="609" y="486"/>
                    <a:pt x="619" y="525"/>
                  </a:cubicBezTo>
                  <a:cubicBezTo>
                    <a:pt x="648" y="657"/>
                    <a:pt x="680" y="723"/>
                    <a:pt x="715" y="723"/>
                  </a:cubicBezTo>
                  <a:cubicBezTo>
                    <a:pt x="742" y="723"/>
                    <a:pt x="783" y="680"/>
                    <a:pt x="837" y="595"/>
                  </a:cubicBezTo>
                  <a:cubicBezTo>
                    <a:pt x="891" y="509"/>
                    <a:pt x="920" y="444"/>
                    <a:pt x="924" y="399"/>
                  </a:cubicBezTo>
                  <a:cubicBezTo>
                    <a:pt x="932" y="325"/>
                    <a:pt x="903" y="288"/>
                    <a:pt x="837" y="288"/>
                  </a:cubicBezTo>
                  <a:cubicBezTo>
                    <a:pt x="806" y="288"/>
                    <a:pt x="774" y="295"/>
                    <a:pt x="741" y="309"/>
                  </a:cubicBezTo>
                  <a:cubicBezTo>
                    <a:pt x="805" y="101"/>
                    <a:pt x="926" y="0"/>
                    <a:pt x="1106" y="5"/>
                  </a:cubicBezTo>
                  <a:cubicBezTo>
                    <a:pt x="1239" y="9"/>
                    <a:pt x="1302" y="96"/>
                    <a:pt x="1294" y="264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2286060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4572120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6858179" y="3455981"/>
            <a:ext cx="0" cy="1546039"/>
          </a:xfrm>
          <a:prstGeom prst="line">
            <a:avLst/>
          </a:prstGeom>
          <a:ln w="3175" cap="rnd">
            <a:solidFill>
              <a:srgbClr val="41464A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 userDrawn="1"/>
        </p:nvGrpSpPr>
        <p:grpSpPr>
          <a:xfrm>
            <a:off x="896621" y="3374180"/>
            <a:ext cx="492819" cy="473946"/>
            <a:chOff x="891011" y="4498906"/>
            <a:chExt cx="657331" cy="631928"/>
          </a:xfrm>
        </p:grpSpPr>
        <p:sp>
          <p:nvSpPr>
            <p:cNvPr id="12" name="ïś1iḑe"/>
            <p:cNvSpPr/>
            <p:nvPr userDrawn="1"/>
          </p:nvSpPr>
          <p:spPr>
            <a:xfrm>
              <a:off x="891011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" name="îṡ1iḋè"/>
            <p:cNvSpPr/>
            <p:nvPr userDrawn="1"/>
          </p:nvSpPr>
          <p:spPr>
            <a:xfrm>
              <a:off x="1062300" y="4664048"/>
              <a:ext cx="314754" cy="301642"/>
            </a:xfrm>
            <a:custGeom>
              <a:avLst/>
              <a:gdLst>
                <a:gd name="connsiteX0" fmla="*/ 465103 w 608697"/>
                <a:gd name="connsiteY0" fmla="*/ 519503 h 606792"/>
                <a:gd name="connsiteX1" fmla="*/ 511670 w 608697"/>
                <a:gd name="connsiteY1" fmla="*/ 525386 h 606792"/>
                <a:gd name="connsiteX2" fmla="*/ 435177 w 608697"/>
                <a:gd name="connsiteY2" fmla="*/ 577367 h 606792"/>
                <a:gd name="connsiteX3" fmla="*/ 437118 w 608697"/>
                <a:gd name="connsiteY3" fmla="*/ 540355 h 606792"/>
                <a:gd name="connsiteX4" fmla="*/ 465103 w 608697"/>
                <a:gd name="connsiteY4" fmla="*/ 519503 h 606792"/>
                <a:gd name="connsiteX5" fmla="*/ 72433 w 608697"/>
                <a:gd name="connsiteY5" fmla="*/ 354027 h 606792"/>
                <a:gd name="connsiteX6" fmla="*/ 115251 w 608697"/>
                <a:gd name="connsiteY6" fmla="*/ 376071 h 606792"/>
                <a:gd name="connsiteX7" fmla="*/ 135541 w 608697"/>
                <a:gd name="connsiteY7" fmla="*/ 372050 h 606792"/>
                <a:gd name="connsiteX8" fmla="*/ 272424 w 608697"/>
                <a:gd name="connsiteY8" fmla="*/ 463132 h 606792"/>
                <a:gd name="connsiteX9" fmla="*/ 369399 w 608697"/>
                <a:gd name="connsiteY9" fmla="*/ 498954 h 606792"/>
                <a:gd name="connsiteX10" fmla="*/ 393120 w 608697"/>
                <a:gd name="connsiteY10" fmla="*/ 534552 h 606792"/>
                <a:gd name="connsiteX11" fmla="*/ 389614 w 608697"/>
                <a:gd name="connsiteY11" fmla="*/ 594727 h 606792"/>
                <a:gd name="connsiteX12" fmla="*/ 304351 w 608697"/>
                <a:gd name="connsiteY12" fmla="*/ 606792 h 606792"/>
                <a:gd name="connsiteX13" fmla="*/ 5222 w 608697"/>
                <a:gd name="connsiteY13" fmla="*/ 359017 h 606792"/>
                <a:gd name="connsiteX14" fmla="*/ 72433 w 608697"/>
                <a:gd name="connsiteY14" fmla="*/ 354027 h 606792"/>
                <a:gd name="connsiteX15" fmla="*/ 359474 w 608697"/>
                <a:gd name="connsiteY15" fmla="*/ 280850 h 606792"/>
                <a:gd name="connsiteX16" fmla="*/ 377897 w 608697"/>
                <a:gd name="connsiteY16" fmla="*/ 289639 h 606792"/>
                <a:gd name="connsiteX17" fmla="*/ 393261 w 608697"/>
                <a:gd name="connsiteY17" fmla="*/ 445676 h 606792"/>
                <a:gd name="connsiteX18" fmla="*/ 380731 w 608697"/>
                <a:gd name="connsiteY18" fmla="*/ 456699 h 606792"/>
                <a:gd name="connsiteX19" fmla="*/ 165405 w 608697"/>
                <a:gd name="connsiteY19" fmla="*/ 339764 h 606792"/>
                <a:gd name="connsiteX20" fmla="*/ 165405 w 608697"/>
                <a:gd name="connsiteY20" fmla="*/ 339690 h 606792"/>
                <a:gd name="connsiteX21" fmla="*/ 183454 w 608697"/>
                <a:gd name="connsiteY21" fmla="*/ 335966 h 606792"/>
                <a:gd name="connsiteX22" fmla="*/ 359474 w 608697"/>
                <a:gd name="connsiteY22" fmla="*/ 280850 h 606792"/>
                <a:gd name="connsiteX23" fmla="*/ 16111 w 608697"/>
                <a:gd name="connsiteY23" fmla="*/ 205063 h 606792"/>
                <a:gd name="connsiteX24" fmla="*/ 69366 w 608697"/>
                <a:gd name="connsiteY24" fmla="*/ 297581 h 606792"/>
                <a:gd name="connsiteX25" fmla="*/ 64219 w 608697"/>
                <a:gd name="connsiteY25" fmla="*/ 310319 h 606792"/>
                <a:gd name="connsiteX26" fmla="*/ 224 w 608697"/>
                <a:gd name="connsiteY26" fmla="*/ 314863 h 606792"/>
                <a:gd name="connsiteX27" fmla="*/ 0 w 608697"/>
                <a:gd name="connsiteY27" fmla="*/ 302870 h 606792"/>
                <a:gd name="connsiteX28" fmla="*/ 16111 w 608697"/>
                <a:gd name="connsiteY28" fmla="*/ 205063 h 606792"/>
                <a:gd name="connsiteX29" fmla="*/ 571702 w 608697"/>
                <a:gd name="connsiteY29" fmla="*/ 157643 h 606792"/>
                <a:gd name="connsiteX30" fmla="*/ 608697 w 608697"/>
                <a:gd name="connsiteY30" fmla="*/ 302904 h 606792"/>
                <a:gd name="connsiteX31" fmla="*/ 548655 w 608697"/>
                <a:gd name="connsiteY31" fmla="*/ 484220 h 606792"/>
                <a:gd name="connsiteX32" fmla="*/ 472128 w 608697"/>
                <a:gd name="connsiteY32" fmla="*/ 476249 h 606792"/>
                <a:gd name="connsiteX33" fmla="*/ 437520 w 608697"/>
                <a:gd name="connsiteY33" fmla="*/ 440120 h 606792"/>
                <a:gd name="connsiteX34" fmla="*/ 431702 w 608697"/>
                <a:gd name="connsiteY34" fmla="*/ 355794 h 606792"/>
                <a:gd name="connsiteX35" fmla="*/ 421558 w 608697"/>
                <a:gd name="connsiteY35" fmla="*/ 281301 h 606792"/>
                <a:gd name="connsiteX36" fmla="*/ 443412 w 608697"/>
                <a:gd name="connsiteY36" fmla="*/ 241001 h 606792"/>
                <a:gd name="connsiteX37" fmla="*/ 571702 w 608697"/>
                <a:gd name="connsiteY37" fmla="*/ 157643 h 606792"/>
                <a:gd name="connsiteX38" fmla="*/ 278458 w 608697"/>
                <a:gd name="connsiteY38" fmla="*/ 71 h 606792"/>
                <a:gd name="connsiteX39" fmla="*/ 339401 w 608697"/>
                <a:gd name="connsiteY39" fmla="*/ 135726 h 606792"/>
                <a:gd name="connsiteX40" fmla="*/ 358049 w 608697"/>
                <a:gd name="connsiteY40" fmla="*/ 197407 h 606792"/>
                <a:gd name="connsiteX41" fmla="*/ 338058 w 608697"/>
                <a:gd name="connsiteY41" fmla="*/ 238603 h 606792"/>
                <a:gd name="connsiteX42" fmla="*/ 338208 w 608697"/>
                <a:gd name="connsiteY42" fmla="*/ 241657 h 606792"/>
                <a:gd name="connsiteX43" fmla="*/ 175594 w 608697"/>
                <a:gd name="connsiteY43" fmla="*/ 292462 h 606792"/>
                <a:gd name="connsiteX44" fmla="*/ 160079 w 608697"/>
                <a:gd name="connsiteY44" fmla="*/ 295740 h 606792"/>
                <a:gd name="connsiteX45" fmla="*/ 115249 w 608697"/>
                <a:gd name="connsiteY45" fmla="*/ 270784 h 606792"/>
                <a:gd name="connsiteX46" fmla="*/ 105253 w 608697"/>
                <a:gd name="connsiteY46" fmla="*/ 271753 h 606792"/>
                <a:gd name="connsiteX47" fmla="*/ 41775 w 608697"/>
                <a:gd name="connsiteY47" fmla="*/ 149135 h 606792"/>
                <a:gd name="connsiteX48" fmla="*/ 278458 w 608697"/>
                <a:gd name="connsiteY48" fmla="*/ 71 h 606792"/>
                <a:gd name="connsiteX49" fmla="*/ 329046 w 608697"/>
                <a:gd name="connsiteY49" fmla="*/ 0 h 606792"/>
                <a:gd name="connsiteX50" fmla="*/ 547587 w 608697"/>
                <a:gd name="connsiteY50" fmla="*/ 120297 h 606792"/>
                <a:gd name="connsiteX51" fmla="*/ 426308 w 608697"/>
                <a:gd name="connsiteY51" fmla="*/ 199700 h 606792"/>
                <a:gd name="connsiteX52" fmla="*/ 401098 w 608697"/>
                <a:gd name="connsiteY52" fmla="*/ 186963 h 606792"/>
                <a:gd name="connsiteX53" fmla="*/ 380362 w 608697"/>
                <a:gd name="connsiteY53" fmla="*/ 118882 h 606792"/>
                <a:gd name="connsiteX54" fmla="*/ 329046 w 608697"/>
                <a:gd name="connsiteY54" fmla="*/ 0 h 60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8697" h="606792">
                  <a:moveTo>
                    <a:pt x="465103" y="519503"/>
                  </a:moveTo>
                  <a:cubicBezTo>
                    <a:pt x="480327" y="521812"/>
                    <a:pt x="495849" y="523822"/>
                    <a:pt x="511670" y="525386"/>
                  </a:cubicBezTo>
                  <a:cubicBezTo>
                    <a:pt x="489133" y="546313"/>
                    <a:pt x="463386" y="563962"/>
                    <a:pt x="435177" y="577367"/>
                  </a:cubicBezTo>
                  <a:cubicBezTo>
                    <a:pt x="435998" y="564930"/>
                    <a:pt x="436670" y="552643"/>
                    <a:pt x="437118" y="540355"/>
                  </a:cubicBezTo>
                  <a:cubicBezTo>
                    <a:pt x="448610" y="536706"/>
                    <a:pt x="458461" y="529259"/>
                    <a:pt x="465103" y="519503"/>
                  </a:cubicBezTo>
                  <a:close/>
                  <a:moveTo>
                    <a:pt x="72433" y="354027"/>
                  </a:moveTo>
                  <a:cubicBezTo>
                    <a:pt x="81981" y="367358"/>
                    <a:pt x="97646" y="376071"/>
                    <a:pt x="115251" y="376071"/>
                  </a:cubicBezTo>
                  <a:cubicBezTo>
                    <a:pt x="122412" y="376071"/>
                    <a:pt x="129275" y="374656"/>
                    <a:pt x="135541" y="372050"/>
                  </a:cubicBezTo>
                  <a:cubicBezTo>
                    <a:pt x="175076" y="408542"/>
                    <a:pt x="220878" y="439002"/>
                    <a:pt x="272424" y="463132"/>
                  </a:cubicBezTo>
                  <a:cubicBezTo>
                    <a:pt x="302784" y="477282"/>
                    <a:pt x="335159" y="489272"/>
                    <a:pt x="369399" y="498954"/>
                  </a:cubicBezTo>
                  <a:cubicBezTo>
                    <a:pt x="371935" y="513923"/>
                    <a:pt x="380812" y="526658"/>
                    <a:pt x="393120" y="534552"/>
                  </a:cubicBezTo>
                  <a:cubicBezTo>
                    <a:pt x="392374" y="554064"/>
                    <a:pt x="391255" y="574172"/>
                    <a:pt x="389614" y="594727"/>
                  </a:cubicBezTo>
                  <a:cubicBezTo>
                    <a:pt x="362536" y="602547"/>
                    <a:pt x="333966" y="606792"/>
                    <a:pt x="304351" y="606792"/>
                  </a:cubicBezTo>
                  <a:cubicBezTo>
                    <a:pt x="155458" y="606792"/>
                    <a:pt x="31554" y="500071"/>
                    <a:pt x="5222" y="359017"/>
                  </a:cubicBezTo>
                  <a:cubicBezTo>
                    <a:pt x="24691" y="358198"/>
                    <a:pt x="47294" y="356708"/>
                    <a:pt x="72433" y="354027"/>
                  </a:cubicBezTo>
                  <a:close/>
                  <a:moveTo>
                    <a:pt x="359474" y="280850"/>
                  </a:moveTo>
                  <a:cubicBezTo>
                    <a:pt x="364919" y="284872"/>
                    <a:pt x="371184" y="287926"/>
                    <a:pt x="377897" y="289639"/>
                  </a:cubicBezTo>
                  <a:cubicBezTo>
                    <a:pt x="385728" y="336040"/>
                    <a:pt x="391397" y="388102"/>
                    <a:pt x="393261" y="445676"/>
                  </a:cubicBezTo>
                  <a:cubicBezTo>
                    <a:pt x="388562" y="448655"/>
                    <a:pt x="384311" y="452379"/>
                    <a:pt x="380731" y="456699"/>
                  </a:cubicBezTo>
                  <a:cubicBezTo>
                    <a:pt x="295182" y="432493"/>
                    <a:pt x="223282" y="393465"/>
                    <a:pt x="165405" y="339764"/>
                  </a:cubicBezTo>
                  <a:cubicBezTo>
                    <a:pt x="165405" y="339690"/>
                    <a:pt x="165405" y="339690"/>
                    <a:pt x="165405" y="339690"/>
                  </a:cubicBezTo>
                  <a:cubicBezTo>
                    <a:pt x="171372" y="338498"/>
                    <a:pt x="177413" y="337307"/>
                    <a:pt x="183454" y="335966"/>
                  </a:cubicBezTo>
                  <a:cubicBezTo>
                    <a:pt x="244539" y="322708"/>
                    <a:pt x="303461" y="304237"/>
                    <a:pt x="359474" y="280850"/>
                  </a:cubicBezTo>
                  <a:close/>
                  <a:moveTo>
                    <a:pt x="16111" y="205063"/>
                  </a:moveTo>
                  <a:cubicBezTo>
                    <a:pt x="29089" y="234189"/>
                    <a:pt x="46393" y="265773"/>
                    <a:pt x="69366" y="297581"/>
                  </a:cubicBezTo>
                  <a:cubicBezTo>
                    <a:pt x="67128" y="301529"/>
                    <a:pt x="65413" y="305850"/>
                    <a:pt x="64219" y="310319"/>
                  </a:cubicBezTo>
                  <a:cubicBezTo>
                    <a:pt x="40202" y="312852"/>
                    <a:pt x="18647" y="314193"/>
                    <a:pt x="224" y="314863"/>
                  </a:cubicBezTo>
                  <a:cubicBezTo>
                    <a:pt x="74" y="310915"/>
                    <a:pt x="0" y="306893"/>
                    <a:pt x="0" y="302870"/>
                  </a:cubicBezTo>
                  <a:cubicBezTo>
                    <a:pt x="0" y="268679"/>
                    <a:pt x="5668" y="235753"/>
                    <a:pt x="16111" y="205063"/>
                  </a:cubicBezTo>
                  <a:close/>
                  <a:moveTo>
                    <a:pt x="571702" y="157643"/>
                  </a:moveTo>
                  <a:cubicBezTo>
                    <a:pt x="595272" y="200775"/>
                    <a:pt x="608697" y="250312"/>
                    <a:pt x="608697" y="302904"/>
                  </a:cubicBezTo>
                  <a:cubicBezTo>
                    <a:pt x="608697" y="370842"/>
                    <a:pt x="586396" y="433639"/>
                    <a:pt x="548655" y="484220"/>
                  </a:cubicBezTo>
                  <a:cubicBezTo>
                    <a:pt x="522251" y="482581"/>
                    <a:pt x="496742" y="479900"/>
                    <a:pt x="472128" y="476249"/>
                  </a:cubicBezTo>
                  <a:cubicBezTo>
                    <a:pt x="467429" y="459116"/>
                    <a:pt x="454302" y="445484"/>
                    <a:pt x="437520" y="440120"/>
                  </a:cubicBezTo>
                  <a:cubicBezTo>
                    <a:pt x="436476" y="411590"/>
                    <a:pt x="434611" y="383431"/>
                    <a:pt x="431702" y="355794"/>
                  </a:cubicBezTo>
                  <a:cubicBezTo>
                    <a:pt x="429092" y="330541"/>
                    <a:pt x="425661" y="305735"/>
                    <a:pt x="421558" y="281301"/>
                  </a:cubicBezTo>
                  <a:cubicBezTo>
                    <a:pt x="434163" y="272139"/>
                    <a:pt x="442666" y="257613"/>
                    <a:pt x="443412" y="241001"/>
                  </a:cubicBezTo>
                  <a:cubicBezTo>
                    <a:pt x="488687" y="216716"/>
                    <a:pt x="531500" y="188856"/>
                    <a:pt x="571702" y="157643"/>
                  </a:cubicBezTo>
                  <a:close/>
                  <a:moveTo>
                    <a:pt x="278458" y="71"/>
                  </a:moveTo>
                  <a:cubicBezTo>
                    <a:pt x="296062" y="30390"/>
                    <a:pt x="318813" y="75758"/>
                    <a:pt x="339401" y="135726"/>
                  </a:cubicBezTo>
                  <a:cubicBezTo>
                    <a:pt x="345741" y="154200"/>
                    <a:pt x="352082" y="174761"/>
                    <a:pt x="358049" y="197407"/>
                  </a:cubicBezTo>
                  <a:cubicBezTo>
                    <a:pt x="345891" y="207017"/>
                    <a:pt x="338058" y="221916"/>
                    <a:pt x="338058" y="238603"/>
                  </a:cubicBezTo>
                  <a:cubicBezTo>
                    <a:pt x="338058" y="239646"/>
                    <a:pt x="338133" y="240689"/>
                    <a:pt x="338208" y="241657"/>
                  </a:cubicBezTo>
                  <a:cubicBezTo>
                    <a:pt x="279129" y="266091"/>
                    <a:pt x="223409" y="282033"/>
                    <a:pt x="175594" y="292462"/>
                  </a:cubicBezTo>
                  <a:cubicBezTo>
                    <a:pt x="170373" y="293654"/>
                    <a:pt x="165226" y="294697"/>
                    <a:pt x="160079" y="295740"/>
                  </a:cubicBezTo>
                  <a:cubicBezTo>
                    <a:pt x="150755" y="280767"/>
                    <a:pt x="134195" y="270784"/>
                    <a:pt x="115249" y="270784"/>
                  </a:cubicBezTo>
                  <a:cubicBezTo>
                    <a:pt x="111818" y="270784"/>
                    <a:pt x="108461" y="271157"/>
                    <a:pt x="105253" y="271753"/>
                  </a:cubicBezTo>
                  <a:cubicBezTo>
                    <a:pt x="73775" y="228323"/>
                    <a:pt x="54083" y="184892"/>
                    <a:pt x="41775" y="149135"/>
                  </a:cubicBezTo>
                  <a:cubicBezTo>
                    <a:pt x="90559" y="66297"/>
                    <a:pt x="177459" y="8564"/>
                    <a:pt x="278458" y="71"/>
                  </a:cubicBezTo>
                  <a:close/>
                  <a:moveTo>
                    <a:pt x="329046" y="0"/>
                  </a:moveTo>
                  <a:cubicBezTo>
                    <a:pt x="418327" y="7151"/>
                    <a:pt x="496719" y="52737"/>
                    <a:pt x="547587" y="120297"/>
                  </a:cubicBezTo>
                  <a:cubicBezTo>
                    <a:pt x="507534" y="151581"/>
                    <a:pt x="466660" y="177801"/>
                    <a:pt x="426308" y="199700"/>
                  </a:cubicBezTo>
                  <a:cubicBezTo>
                    <a:pt x="419297" y="193369"/>
                    <a:pt x="410645" y="188825"/>
                    <a:pt x="401098" y="186963"/>
                  </a:cubicBezTo>
                  <a:cubicBezTo>
                    <a:pt x="394907" y="163723"/>
                    <a:pt x="387970" y="141079"/>
                    <a:pt x="380362" y="118882"/>
                  </a:cubicBezTo>
                  <a:cubicBezTo>
                    <a:pt x="363356" y="69869"/>
                    <a:pt x="345157" y="30242"/>
                    <a:pt x="329046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82500" lnSpcReduction="20000"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5468793" y="3374456"/>
            <a:ext cx="492739" cy="473869"/>
            <a:chOff x="8209599" y="4499275"/>
            <a:chExt cx="657225" cy="631825"/>
          </a:xfrm>
        </p:grpSpPr>
        <p:sp>
          <p:nvSpPr>
            <p:cNvPr id="16" name="islîḓé"/>
            <p:cNvSpPr/>
            <p:nvPr userDrawn="1"/>
          </p:nvSpPr>
          <p:spPr>
            <a:xfrm>
              <a:off x="8209599" y="4499275"/>
              <a:ext cx="657225" cy="631825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7" name="图片 16" descr="应用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8377874" y="4650405"/>
              <a:ext cx="328930" cy="32893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22" name="组合 21"/>
          <p:cNvGrpSpPr/>
          <p:nvPr userDrawn="1"/>
        </p:nvGrpSpPr>
        <p:grpSpPr>
          <a:xfrm>
            <a:off x="3182707" y="3374180"/>
            <a:ext cx="492819" cy="473946"/>
            <a:chOff x="5770034" y="4498906"/>
            <a:chExt cx="657331" cy="631928"/>
          </a:xfrm>
        </p:grpSpPr>
        <p:sp>
          <p:nvSpPr>
            <p:cNvPr id="18" name="ïSḷiḑé"/>
            <p:cNvSpPr/>
            <p:nvPr userDrawn="1"/>
          </p:nvSpPr>
          <p:spPr>
            <a:xfrm>
              <a:off x="5770034" y="4498906"/>
              <a:ext cx="657331" cy="631928"/>
            </a:xfrm>
            <a:prstGeom prst="ellipse">
              <a:avLst/>
            </a:prstGeom>
            <a:noFill/>
            <a:ln w="19050">
              <a:solidFill>
                <a:srgbClr val="41464A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" name="íŝļïďê"/>
            <p:cNvSpPr/>
            <p:nvPr userDrawn="1"/>
          </p:nvSpPr>
          <p:spPr>
            <a:xfrm>
              <a:off x="5959738" y="4663829"/>
              <a:ext cx="314754" cy="302080"/>
            </a:xfrm>
            <a:custGeom>
              <a:avLst/>
              <a:gdLst>
                <a:gd name="connsiteX0" fmla="*/ 0 w 607744"/>
                <a:gd name="connsiteY0" fmla="*/ 424734 h 606722"/>
                <a:gd name="connsiteX1" fmla="*/ 162018 w 607744"/>
                <a:gd name="connsiteY1" fmla="*/ 424734 h 606722"/>
                <a:gd name="connsiteX2" fmla="*/ 162018 w 607744"/>
                <a:gd name="connsiteY2" fmla="*/ 505602 h 606722"/>
                <a:gd name="connsiteX3" fmla="*/ 30356 w 607744"/>
                <a:gd name="connsiteY3" fmla="*/ 505602 h 606722"/>
                <a:gd name="connsiteX4" fmla="*/ 0 w 607744"/>
                <a:gd name="connsiteY4" fmla="*/ 475210 h 606722"/>
                <a:gd name="connsiteX5" fmla="*/ 371949 w 607744"/>
                <a:gd name="connsiteY5" fmla="*/ 404476 h 606722"/>
                <a:gd name="connsiteX6" fmla="*/ 381383 w 607744"/>
                <a:gd name="connsiteY6" fmla="*/ 424736 h 606722"/>
                <a:gd name="connsiteX7" fmla="*/ 381650 w 607744"/>
                <a:gd name="connsiteY7" fmla="*/ 424736 h 606722"/>
                <a:gd name="connsiteX8" fmla="*/ 382451 w 607744"/>
                <a:gd name="connsiteY8" fmla="*/ 404476 h 606722"/>
                <a:gd name="connsiteX9" fmla="*/ 0 w 607744"/>
                <a:gd name="connsiteY9" fmla="*/ 343795 h 606722"/>
                <a:gd name="connsiteX10" fmla="*/ 101261 w 607744"/>
                <a:gd name="connsiteY10" fmla="*/ 343795 h 606722"/>
                <a:gd name="connsiteX11" fmla="*/ 101261 w 607744"/>
                <a:gd name="connsiteY11" fmla="*/ 404481 h 606722"/>
                <a:gd name="connsiteX12" fmla="*/ 0 w 607744"/>
                <a:gd name="connsiteY12" fmla="*/ 404481 h 606722"/>
                <a:gd name="connsiteX13" fmla="*/ 473583 w 607744"/>
                <a:gd name="connsiteY13" fmla="*/ 268076 h 606722"/>
                <a:gd name="connsiteX14" fmla="*/ 427483 w 607744"/>
                <a:gd name="connsiteY14" fmla="*/ 323613 h 606722"/>
                <a:gd name="connsiteX15" fmla="*/ 427305 w 607744"/>
                <a:gd name="connsiteY15" fmla="*/ 323613 h 606722"/>
                <a:gd name="connsiteX16" fmla="*/ 417248 w 607744"/>
                <a:gd name="connsiteY16" fmla="*/ 343785 h 606722"/>
                <a:gd name="connsiteX17" fmla="*/ 417515 w 607744"/>
                <a:gd name="connsiteY17" fmla="*/ 343785 h 606722"/>
                <a:gd name="connsiteX18" fmla="*/ 402831 w 607744"/>
                <a:gd name="connsiteY18" fmla="*/ 404476 h 606722"/>
                <a:gd name="connsiteX19" fmla="*/ 402653 w 607744"/>
                <a:gd name="connsiteY19" fmla="*/ 404476 h 606722"/>
                <a:gd name="connsiteX20" fmla="*/ 401852 w 607744"/>
                <a:gd name="connsiteY20" fmla="*/ 424736 h 606722"/>
                <a:gd name="connsiteX21" fmla="*/ 402030 w 607744"/>
                <a:gd name="connsiteY21" fmla="*/ 424736 h 606722"/>
                <a:gd name="connsiteX22" fmla="*/ 402297 w 607744"/>
                <a:gd name="connsiteY22" fmla="*/ 435844 h 606722"/>
                <a:gd name="connsiteX23" fmla="*/ 402208 w 607744"/>
                <a:gd name="connsiteY23" fmla="*/ 436466 h 606722"/>
                <a:gd name="connsiteX24" fmla="*/ 405056 w 607744"/>
                <a:gd name="connsiteY24" fmla="*/ 463568 h 606722"/>
                <a:gd name="connsiteX25" fmla="*/ 405145 w 607744"/>
                <a:gd name="connsiteY25" fmla="*/ 464457 h 606722"/>
                <a:gd name="connsiteX26" fmla="*/ 396779 w 607744"/>
                <a:gd name="connsiteY26" fmla="*/ 475209 h 606722"/>
                <a:gd name="connsiteX27" fmla="*/ 386634 w 607744"/>
                <a:gd name="connsiteY27" fmla="*/ 470766 h 606722"/>
                <a:gd name="connsiteX28" fmla="*/ 352904 w 607744"/>
                <a:gd name="connsiteY28" fmla="*/ 411318 h 606722"/>
                <a:gd name="connsiteX29" fmla="*/ 348899 w 607744"/>
                <a:gd name="connsiteY29" fmla="*/ 424736 h 606722"/>
                <a:gd name="connsiteX30" fmla="*/ 349255 w 607744"/>
                <a:gd name="connsiteY30" fmla="*/ 492892 h 606722"/>
                <a:gd name="connsiteX31" fmla="*/ 349255 w 607744"/>
                <a:gd name="connsiteY31" fmla="*/ 493070 h 606722"/>
                <a:gd name="connsiteX32" fmla="*/ 375865 w 607744"/>
                <a:gd name="connsiteY32" fmla="*/ 543276 h 606722"/>
                <a:gd name="connsiteX33" fmla="*/ 470557 w 607744"/>
                <a:gd name="connsiteY33" fmla="*/ 586462 h 606722"/>
                <a:gd name="connsiteX34" fmla="*/ 471269 w 607744"/>
                <a:gd name="connsiteY34" fmla="*/ 586462 h 606722"/>
                <a:gd name="connsiteX35" fmla="*/ 565694 w 607744"/>
                <a:gd name="connsiteY35" fmla="*/ 544520 h 606722"/>
                <a:gd name="connsiteX36" fmla="*/ 552611 w 607744"/>
                <a:gd name="connsiteY36" fmla="*/ 347339 h 606722"/>
                <a:gd name="connsiteX37" fmla="*/ 524845 w 607744"/>
                <a:gd name="connsiteY37" fmla="*/ 410074 h 606722"/>
                <a:gd name="connsiteX38" fmla="*/ 513542 w 607744"/>
                <a:gd name="connsiteY38" fmla="*/ 414162 h 606722"/>
                <a:gd name="connsiteX39" fmla="*/ 506333 w 607744"/>
                <a:gd name="connsiteY39" fmla="*/ 404476 h 606722"/>
                <a:gd name="connsiteX40" fmla="*/ 473583 w 607744"/>
                <a:gd name="connsiteY40" fmla="*/ 268076 h 606722"/>
                <a:gd name="connsiteX41" fmla="*/ 182270 w 607744"/>
                <a:gd name="connsiteY41" fmla="*/ 262927 h 606722"/>
                <a:gd name="connsiteX42" fmla="*/ 364540 w 607744"/>
                <a:gd name="connsiteY42" fmla="*/ 262927 h 606722"/>
                <a:gd name="connsiteX43" fmla="*/ 364540 w 607744"/>
                <a:gd name="connsiteY43" fmla="*/ 323613 h 606722"/>
                <a:gd name="connsiteX44" fmla="*/ 182270 w 607744"/>
                <a:gd name="connsiteY44" fmla="*/ 323613 h 606722"/>
                <a:gd name="connsiteX45" fmla="*/ 0 w 607744"/>
                <a:gd name="connsiteY45" fmla="*/ 262927 h 606722"/>
                <a:gd name="connsiteX46" fmla="*/ 162018 w 607744"/>
                <a:gd name="connsiteY46" fmla="*/ 262927 h 606722"/>
                <a:gd name="connsiteX47" fmla="*/ 162018 w 607744"/>
                <a:gd name="connsiteY47" fmla="*/ 323613 h 606722"/>
                <a:gd name="connsiteX48" fmla="*/ 0 w 607744"/>
                <a:gd name="connsiteY48" fmla="*/ 323613 h 606722"/>
                <a:gd name="connsiteX49" fmla="*/ 0 w 607744"/>
                <a:gd name="connsiteY49" fmla="*/ 182059 h 606722"/>
                <a:gd name="connsiteX50" fmla="*/ 101261 w 607744"/>
                <a:gd name="connsiteY50" fmla="*/ 182059 h 606722"/>
                <a:gd name="connsiteX51" fmla="*/ 101261 w 607744"/>
                <a:gd name="connsiteY51" fmla="*/ 242745 h 606722"/>
                <a:gd name="connsiteX52" fmla="*/ 0 w 607744"/>
                <a:gd name="connsiteY52" fmla="*/ 242745 h 606722"/>
                <a:gd name="connsiteX53" fmla="*/ 324069 w 607744"/>
                <a:gd name="connsiteY53" fmla="*/ 182059 h 606722"/>
                <a:gd name="connsiteX54" fmla="*/ 374708 w 607744"/>
                <a:gd name="connsiteY54" fmla="*/ 182059 h 606722"/>
                <a:gd name="connsiteX55" fmla="*/ 486042 w 607744"/>
                <a:gd name="connsiteY55" fmla="*/ 182059 h 606722"/>
                <a:gd name="connsiteX56" fmla="*/ 486042 w 607744"/>
                <a:gd name="connsiteY56" fmla="*/ 249682 h 606722"/>
                <a:gd name="connsiteX57" fmla="*/ 524578 w 607744"/>
                <a:gd name="connsiteY57" fmla="*/ 366888 h 606722"/>
                <a:gd name="connsiteX58" fmla="*/ 536770 w 607744"/>
                <a:gd name="connsiteY58" fmla="*/ 322458 h 606722"/>
                <a:gd name="connsiteX59" fmla="*/ 543534 w 607744"/>
                <a:gd name="connsiteY59" fmla="*/ 314016 h 606722"/>
                <a:gd name="connsiteX60" fmla="*/ 554035 w 607744"/>
                <a:gd name="connsiteY60" fmla="*/ 316505 h 606722"/>
                <a:gd name="connsiteX61" fmla="*/ 580734 w 607744"/>
                <a:gd name="connsiteY61" fmla="*/ 558027 h 606722"/>
                <a:gd name="connsiteX62" fmla="*/ 471269 w 607744"/>
                <a:gd name="connsiteY62" fmla="*/ 606722 h 606722"/>
                <a:gd name="connsiteX63" fmla="*/ 470379 w 607744"/>
                <a:gd name="connsiteY63" fmla="*/ 606722 h 606722"/>
                <a:gd name="connsiteX64" fmla="*/ 360647 w 607744"/>
                <a:gd name="connsiteY64" fmla="*/ 556694 h 606722"/>
                <a:gd name="connsiteX65" fmla="*/ 331812 w 607744"/>
                <a:gd name="connsiteY65" fmla="*/ 505599 h 606722"/>
                <a:gd name="connsiteX66" fmla="*/ 182298 w 607744"/>
                <a:gd name="connsiteY66" fmla="*/ 505599 h 606722"/>
                <a:gd name="connsiteX67" fmla="*/ 182298 w 607744"/>
                <a:gd name="connsiteY67" fmla="*/ 424736 h 606722"/>
                <a:gd name="connsiteX68" fmla="*/ 328074 w 607744"/>
                <a:gd name="connsiteY68" fmla="*/ 424736 h 606722"/>
                <a:gd name="connsiteX69" fmla="*/ 333948 w 607744"/>
                <a:gd name="connsiteY69" fmla="*/ 404476 h 606722"/>
                <a:gd name="connsiteX70" fmla="*/ 121514 w 607744"/>
                <a:gd name="connsiteY70" fmla="*/ 404476 h 606722"/>
                <a:gd name="connsiteX71" fmla="*/ 121514 w 607744"/>
                <a:gd name="connsiteY71" fmla="*/ 343785 h 606722"/>
                <a:gd name="connsiteX72" fmla="*/ 395800 w 607744"/>
                <a:gd name="connsiteY72" fmla="*/ 343785 h 606722"/>
                <a:gd name="connsiteX73" fmla="*/ 404611 w 607744"/>
                <a:gd name="connsiteY73" fmla="*/ 323613 h 606722"/>
                <a:gd name="connsiteX74" fmla="*/ 384854 w 607744"/>
                <a:gd name="connsiteY74" fmla="*/ 323613 h 606722"/>
                <a:gd name="connsiteX75" fmla="*/ 384854 w 607744"/>
                <a:gd name="connsiteY75" fmla="*/ 262922 h 606722"/>
                <a:gd name="connsiteX76" fmla="*/ 449198 w 607744"/>
                <a:gd name="connsiteY76" fmla="*/ 262922 h 606722"/>
                <a:gd name="connsiteX77" fmla="*/ 469667 w 607744"/>
                <a:gd name="connsiteY77" fmla="*/ 244883 h 606722"/>
                <a:gd name="connsiteX78" fmla="*/ 476075 w 607744"/>
                <a:gd name="connsiteY78" fmla="*/ 242839 h 606722"/>
                <a:gd name="connsiteX79" fmla="*/ 475986 w 607744"/>
                <a:gd name="connsiteY79" fmla="*/ 242751 h 606722"/>
                <a:gd name="connsiteX80" fmla="*/ 324069 w 607744"/>
                <a:gd name="connsiteY80" fmla="*/ 242751 h 606722"/>
                <a:gd name="connsiteX81" fmla="*/ 121514 w 607744"/>
                <a:gd name="connsiteY81" fmla="*/ 182059 h 606722"/>
                <a:gd name="connsiteX82" fmla="*/ 172154 w 607744"/>
                <a:gd name="connsiteY82" fmla="*/ 182059 h 606722"/>
                <a:gd name="connsiteX83" fmla="*/ 303784 w 607744"/>
                <a:gd name="connsiteY83" fmla="*/ 182059 h 606722"/>
                <a:gd name="connsiteX84" fmla="*/ 303784 w 607744"/>
                <a:gd name="connsiteY84" fmla="*/ 242745 h 606722"/>
                <a:gd name="connsiteX85" fmla="*/ 121514 w 607744"/>
                <a:gd name="connsiteY85" fmla="*/ 242745 h 606722"/>
                <a:gd name="connsiteX86" fmla="*/ 0 w 607744"/>
                <a:gd name="connsiteY86" fmla="*/ 101191 h 606722"/>
                <a:gd name="connsiteX87" fmla="*/ 162018 w 607744"/>
                <a:gd name="connsiteY87" fmla="*/ 101191 h 606722"/>
                <a:gd name="connsiteX88" fmla="*/ 162018 w 607744"/>
                <a:gd name="connsiteY88" fmla="*/ 161736 h 606722"/>
                <a:gd name="connsiteX89" fmla="*/ 0 w 607744"/>
                <a:gd name="connsiteY89" fmla="*/ 161736 h 606722"/>
                <a:gd name="connsiteX90" fmla="*/ 384864 w 607744"/>
                <a:gd name="connsiteY90" fmla="*/ 101191 h 606722"/>
                <a:gd name="connsiteX91" fmla="*/ 486055 w 607744"/>
                <a:gd name="connsiteY91" fmla="*/ 101191 h 606722"/>
                <a:gd name="connsiteX92" fmla="*/ 486055 w 607744"/>
                <a:gd name="connsiteY92" fmla="*/ 161736 h 606722"/>
                <a:gd name="connsiteX93" fmla="*/ 384864 w 607744"/>
                <a:gd name="connsiteY93" fmla="*/ 161736 h 606722"/>
                <a:gd name="connsiteX94" fmla="*/ 182270 w 607744"/>
                <a:gd name="connsiteY94" fmla="*/ 101191 h 606722"/>
                <a:gd name="connsiteX95" fmla="*/ 364540 w 607744"/>
                <a:gd name="connsiteY95" fmla="*/ 101191 h 606722"/>
                <a:gd name="connsiteX96" fmla="*/ 364540 w 607744"/>
                <a:gd name="connsiteY96" fmla="*/ 161736 h 606722"/>
                <a:gd name="connsiteX97" fmla="*/ 182270 w 607744"/>
                <a:gd name="connsiteY97" fmla="*/ 161736 h 606722"/>
                <a:gd name="connsiteX98" fmla="*/ 324036 w 607744"/>
                <a:gd name="connsiteY98" fmla="*/ 0 h 606722"/>
                <a:gd name="connsiteX99" fmla="*/ 455698 w 607744"/>
                <a:gd name="connsiteY99" fmla="*/ 0 h 606722"/>
                <a:gd name="connsiteX100" fmla="*/ 486054 w 607744"/>
                <a:gd name="connsiteY100" fmla="*/ 30303 h 606722"/>
                <a:gd name="connsiteX101" fmla="*/ 486054 w 607744"/>
                <a:gd name="connsiteY101" fmla="*/ 80868 h 606722"/>
                <a:gd name="connsiteX102" fmla="*/ 374689 w 607744"/>
                <a:gd name="connsiteY102" fmla="*/ 80868 h 606722"/>
                <a:gd name="connsiteX103" fmla="*/ 324036 w 607744"/>
                <a:gd name="connsiteY103" fmla="*/ 80868 h 606722"/>
                <a:gd name="connsiteX104" fmla="*/ 121514 w 607744"/>
                <a:gd name="connsiteY104" fmla="*/ 0 h 606722"/>
                <a:gd name="connsiteX105" fmla="*/ 303784 w 607744"/>
                <a:gd name="connsiteY105" fmla="*/ 0 h 606722"/>
                <a:gd name="connsiteX106" fmla="*/ 303784 w 607744"/>
                <a:gd name="connsiteY106" fmla="*/ 80868 h 606722"/>
                <a:gd name="connsiteX107" fmla="*/ 172154 w 607744"/>
                <a:gd name="connsiteY107" fmla="*/ 80868 h 606722"/>
                <a:gd name="connsiteX108" fmla="*/ 121514 w 607744"/>
                <a:gd name="connsiteY108" fmla="*/ 80868 h 606722"/>
                <a:gd name="connsiteX109" fmla="*/ 30343 w 607744"/>
                <a:gd name="connsiteY109" fmla="*/ 0 h 606722"/>
                <a:gd name="connsiteX110" fmla="*/ 101261 w 607744"/>
                <a:gd name="connsiteY110" fmla="*/ 0 h 606722"/>
                <a:gd name="connsiteX111" fmla="*/ 101261 w 607744"/>
                <a:gd name="connsiteY111" fmla="*/ 80868 h 606722"/>
                <a:gd name="connsiteX112" fmla="*/ 0 w 607744"/>
                <a:gd name="connsiteY112" fmla="*/ 80868 h 606722"/>
                <a:gd name="connsiteX113" fmla="*/ 0 w 607744"/>
                <a:gd name="connsiteY113" fmla="*/ 30303 h 606722"/>
                <a:gd name="connsiteX114" fmla="*/ 30343 w 607744"/>
                <a:gd name="connsiteY1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607744" h="606722">
                  <a:moveTo>
                    <a:pt x="0" y="424734"/>
                  </a:moveTo>
                  <a:lnTo>
                    <a:pt x="162018" y="424734"/>
                  </a:lnTo>
                  <a:lnTo>
                    <a:pt x="162018" y="505602"/>
                  </a:lnTo>
                  <a:lnTo>
                    <a:pt x="30356" y="505602"/>
                  </a:lnTo>
                  <a:cubicBezTo>
                    <a:pt x="13620" y="505602"/>
                    <a:pt x="0" y="492006"/>
                    <a:pt x="0" y="475210"/>
                  </a:cubicBezTo>
                  <a:close/>
                  <a:moveTo>
                    <a:pt x="371949" y="404476"/>
                  </a:moveTo>
                  <a:cubicBezTo>
                    <a:pt x="374975" y="411674"/>
                    <a:pt x="378179" y="418516"/>
                    <a:pt x="381383" y="424736"/>
                  </a:cubicBezTo>
                  <a:lnTo>
                    <a:pt x="381650" y="424736"/>
                  </a:lnTo>
                  <a:cubicBezTo>
                    <a:pt x="381650" y="417894"/>
                    <a:pt x="381917" y="411141"/>
                    <a:pt x="382451" y="404476"/>
                  </a:cubicBezTo>
                  <a:close/>
                  <a:moveTo>
                    <a:pt x="0" y="343795"/>
                  </a:moveTo>
                  <a:lnTo>
                    <a:pt x="101261" y="343795"/>
                  </a:lnTo>
                  <a:lnTo>
                    <a:pt x="101261" y="404481"/>
                  </a:lnTo>
                  <a:lnTo>
                    <a:pt x="0" y="404481"/>
                  </a:lnTo>
                  <a:close/>
                  <a:moveTo>
                    <a:pt x="473583" y="268076"/>
                  </a:moveTo>
                  <a:cubicBezTo>
                    <a:pt x="454449" y="284870"/>
                    <a:pt x="438963" y="303442"/>
                    <a:pt x="427483" y="323613"/>
                  </a:cubicBezTo>
                  <a:lnTo>
                    <a:pt x="427305" y="323613"/>
                  </a:lnTo>
                  <a:cubicBezTo>
                    <a:pt x="423567" y="330189"/>
                    <a:pt x="420185" y="336854"/>
                    <a:pt x="417248" y="343785"/>
                  </a:cubicBezTo>
                  <a:lnTo>
                    <a:pt x="417515" y="343785"/>
                  </a:lnTo>
                  <a:cubicBezTo>
                    <a:pt x="409506" y="362712"/>
                    <a:pt x="404611" y="382972"/>
                    <a:pt x="402831" y="404476"/>
                  </a:cubicBezTo>
                  <a:lnTo>
                    <a:pt x="402653" y="404476"/>
                  </a:lnTo>
                  <a:cubicBezTo>
                    <a:pt x="402030" y="411052"/>
                    <a:pt x="401852" y="417805"/>
                    <a:pt x="401852" y="424736"/>
                  </a:cubicBezTo>
                  <a:lnTo>
                    <a:pt x="402030" y="424736"/>
                  </a:lnTo>
                  <a:cubicBezTo>
                    <a:pt x="402030" y="428380"/>
                    <a:pt x="402119" y="432112"/>
                    <a:pt x="402297" y="435844"/>
                  </a:cubicBezTo>
                  <a:cubicBezTo>
                    <a:pt x="402297" y="436110"/>
                    <a:pt x="402208" y="436199"/>
                    <a:pt x="402208" y="436466"/>
                  </a:cubicBezTo>
                  <a:cubicBezTo>
                    <a:pt x="402653" y="445263"/>
                    <a:pt x="403632" y="454327"/>
                    <a:pt x="405056" y="463568"/>
                  </a:cubicBezTo>
                  <a:cubicBezTo>
                    <a:pt x="405056" y="463835"/>
                    <a:pt x="405145" y="464190"/>
                    <a:pt x="405145" y="464457"/>
                  </a:cubicBezTo>
                  <a:cubicBezTo>
                    <a:pt x="405501" y="469611"/>
                    <a:pt x="401941" y="474320"/>
                    <a:pt x="396779" y="475209"/>
                  </a:cubicBezTo>
                  <a:cubicBezTo>
                    <a:pt x="392774" y="476009"/>
                    <a:pt x="388770" y="474054"/>
                    <a:pt x="386634" y="470766"/>
                  </a:cubicBezTo>
                  <a:cubicBezTo>
                    <a:pt x="383341" y="466589"/>
                    <a:pt x="365630" y="442953"/>
                    <a:pt x="352904" y="411318"/>
                  </a:cubicBezTo>
                  <a:cubicBezTo>
                    <a:pt x="351302" y="415761"/>
                    <a:pt x="349967" y="420204"/>
                    <a:pt x="348899" y="424736"/>
                  </a:cubicBezTo>
                  <a:cubicBezTo>
                    <a:pt x="343381" y="446862"/>
                    <a:pt x="343292" y="470499"/>
                    <a:pt x="349255" y="492892"/>
                  </a:cubicBezTo>
                  <a:cubicBezTo>
                    <a:pt x="349255" y="492892"/>
                    <a:pt x="349255" y="492981"/>
                    <a:pt x="349255" y="493070"/>
                  </a:cubicBezTo>
                  <a:cubicBezTo>
                    <a:pt x="354239" y="511464"/>
                    <a:pt x="363050" y="528792"/>
                    <a:pt x="375865" y="543276"/>
                  </a:cubicBezTo>
                  <a:cubicBezTo>
                    <a:pt x="399805" y="570467"/>
                    <a:pt x="434247" y="586195"/>
                    <a:pt x="470557" y="586462"/>
                  </a:cubicBezTo>
                  <a:lnTo>
                    <a:pt x="471269" y="586462"/>
                  </a:lnTo>
                  <a:cubicBezTo>
                    <a:pt x="507223" y="586462"/>
                    <a:pt x="541576" y="571178"/>
                    <a:pt x="565694" y="544520"/>
                  </a:cubicBezTo>
                  <a:cubicBezTo>
                    <a:pt x="604496" y="501512"/>
                    <a:pt x="585985" y="398789"/>
                    <a:pt x="552611" y="347339"/>
                  </a:cubicBezTo>
                  <a:cubicBezTo>
                    <a:pt x="543623" y="381639"/>
                    <a:pt x="525824" y="408741"/>
                    <a:pt x="524845" y="410074"/>
                  </a:cubicBezTo>
                  <a:cubicBezTo>
                    <a:pt x="522442" y="413806"/>
                    <a:pt x="517814" y="415495"/>
                    <a:pt x="513542" y="414162"/>
                  </a:cubicBezTo>
                  <a:cubicBezTo>
                    <a:pt x="509270" y="412829"/>
                    <a:pt x="506333" y="408919"/>
                    <a:pt x="506333" y="404476"/>
                  </a:cubicBezTo>
                  <a:cubicBezTo>
                    <a:pt x="506333" y="334099"/>
                    <a:pt x="484351" y="287003"/>
                    <a:pt x="473583" y="268076"/>
                  </a:cubicBezTo>
                  <a:close/>
                  <a:moveTo>
                    <a:pt x="182270" y="262927"/>
                  </a:moveTo>
                  <a:lnTo>
                    <a:pt x="364540" y="262927"/>
                  </a:lnTo>
                  <a:lnTo>
                    <a:pt x="364540" y="323613"/>
                  </a:lnTo>
                  <a:lnTo>
                    <a:pt x="182270" y="323613"/>
                  </a:lnTo>
                  <a:close/>
                  <a:moveTo>
                    <a:pt x="0" y="262927"/>
                  </a:moveTo>
                  <a:lnTo>
                    <a:pt x="162018" y="262927"/>
                  </a:lnTo>
                  <a:lnTo>
                    <a:pt x="162018" y="323613"/>
                  </a:lnTo>
                  <a:lnTo>
                    <a:pt x="0" y="323613"/>
                  </a:lnTo>
                  <a:close/>
                  <a:moveTo>
                    <a:pt x="0" y="182059"/>
                  </a:moveTo>
                  <a:lnTo>
                    <a:pt x="101261" y="182059"/>
                  </a:lnTo>
                  <a:lnTo>
                    <a:pt x="101261" y="242745"/>
                  </a:lnTo>
                  <a:lnTo>
                    <a:pt x="0" y="242745"/>
                  </a:lnTo>
                  <a:close/>
                  <a:moveTo>
                    <a:pt x="324069" y="182059"/>
                  </a:moveTo>
                  <a:lnTo>
                    <a:pt x="374708" y="182059"/>
                  </a:lnTo>
                  <a:lnTo>
                    <a:pt x="486042" y="182059"/>
                  </a:lnTo>
                  <a:lnTo>
                    <a:pt x="486042" y="249682"/>
                  </a:lnTo>
                  <a:cubicBezTo>
                    <a:pt x="493251" y="260434"/>
                    <a:pt x="517458" y="301043"/>
                    <a:pt x="524578" y="366888"/>
                  </a:cubicBezTo>
                  <a:cubicBezTo>
                    <a:pt x="529917" y="354004"/>
                    <a:pt x="534990" y="338453"/>
                    <a:pt x="536770" y="322458"/>
                  </a:cubicBezTo>
                  <a:cubicBezTo>
                    <a:pt x="537215" y="318637"/>
                    <a:pt x="539796" y="315349"/>
                    <a:pt x="543534" y="314016"/>
                  </a:cubicBezTo>
                  <a:cubicBezTo>
                    <a:pt x="547183" y="312772"/>
                    <a:pt x="551366" y="313750"/>
                    <a:pt x="554035" y="316505"/>
                  </a:cubicBezTo>
                  <a:cubicBezTo>
                    <a:pt x="602004" y="365378"/>
                    <a:pt x="632619" y="500445"/>
                    <a:pt x="580734" y="558027"/>
                  </a:cubicBezTo>
                  <a:cubicBezTo>
                    <a:pt x="552789" y="588950"/>
                    <a:pt x="513008" y="606722"/>
                    <a:pt x="471269" y="606722"/>
                  </a:cubicBezTo>
                  <a:lnTo>
                    <a:pt x="470379" y="606722"/>
                  </a:lnTo>
                  <a:cubicBezTo>
                    <a:pt x="428373" y="606455"/>
                    <a:pt x="388414" y="588150"/>
                    <a:pt x="360647" y="556694"/>
                  </a:cubicBezTo>
                  <a:cubicBezTo>
                    <a:pt x="347475" y="541676"/>
                    <a:pt x="337864" y="524260"/>
                    <a:pt x="331812" y="505599"/>
                  </a:cubicBezTo>
                  <a:lnTo>
                    <a:pt x="182298" y="505599"/>
                  </a:lnTo>
                  <a:lnTo>
                    <a:pt x="182298" y="424736"/>
                  </a:lnTo>
                  <a:lnTo>
                    <a:pt x="328074" y="424736"/>
                  </a:lnTo>
                  <a:cubicBezTo>
                    <a:pt x="329498" y="417894"/>
                    <a:pt x="331545" y="411141"/>
                    <a:pt x="333948" y="404476"/>
                  </a:cubicBezTo>
                  <a:lnTo>
                    <a:pt x="121514" y="404476"/>
                  </a:lnTo>
                  <a:lnTo>
                    <a:pt x="121514" y="343785"/>
                  </a:lnTo>
                  <a:lnTo>
                    <a:pt x="395800" y="343785"/>
                  </a:lnTo>
                  <a:cubicBezTo>
                    <a:pt x="398381" y="336942"/>
                    <a:pt x="401318" y="330189"/>
                    <a:pt x="404611" y="323613"/>
                  </a:cubicBezTo>
                  <a:lnTo>
                    <a:pt x="384854" y="323613"/>
                  </a:lnTo>
                  <a:lnTo>
                    <a:pt x="384854" y="262922"/>
                  </a:lnTo>
                  <a:lnTo>
                    <a:pt x="449198" y="262922"/>
                  </a:lnTo>
                  <a:cubicBezTo>
                    <a:pt x="455606" y="256702"/>
                    <a:pt x="462369" y="250659"/>
                    <a:pt x="469667" y="244883"/>
                  </a:cubicBezTo>
                  <a:cubicBezTo>
                    <a:pt x="471447" y="243461"/>
                    <a:pt x="473761" y="242839"/>
                    <a:pt x="476075" y="242839"/>
                  </a:cubicBezTo>
                  <a:lnTo>
                    <a:pt x="475986" y="242751"/>
                  </a:lnTo>
                  <a:lnTo>
                    <a:pt x="324069" y="242751"/>
                  </a:lnTo>
                  <a:close/>
                  <a:moveTo>
                    <a:pt x="121514" y="182059"/>
                  </a:moveTo>
                  <a:lnTo>
                    <a:pt x="172154" y="182059"/>
                  </a:lnTo>
                  <a:lnTo>
                    <a:pt x="303784" y="182059"/>
                  </a:lnTo>
                  <a:lnTo>
                    <a:pt x="303784" y="242745"/>
                  </a:lnTo>
                  <a:lnTo>
                    <a:pt x="121514" y="242745"/>
                  </a:lnTo>
                  <a:close/>
                  <a:moveTo>
                    <a:pt x="0" y="101191"/>
                  </a:moveTo>
                  <a:lnTo>
                    <a:pt x="162018" y="101191"/>
                  </a:lnTo>
                  <a:lnTo>
                    <a:pt x="162018" y="161736"/>
                  </a:lnTo>
                  <a:lnTo>
                    <a:pt x="0" y="161736"/>
                  </a:lnTo>
                  <a:close/>
                  <a:moveTo>
                    <a:pt x="384864" y="101191"/>
                  </a:moveTo>
                  <a:lnTo>
                    <a:pt x="486055" y="101191"/>
                  </a:lnTo>
                  <a:lnTo>
                    <a:pt x="486055" y="161736"/>
                  </a:lnTo>
                  <a:lnTo>
                    <a:pt x="384864" y="161736"/>
                  </a:lnTo>
                  <a:close/>
                  <a:moveTo>
                    <a:pt x="182270" y="101191"/>
                  </a:moveTo>
                  <a:lnTo>
                    <a:pt x="364540" y="101191"/>
                  </a:lnTo>
                  <a:lnTo>
                    <a:pt x="364540" y="161736"/>
                  </a:lnTo>
                  <a:lnTo>
                    <a:pt x="182270" y="161736"/>
                  </a:lnTo>
                  <a:close/>
                  <a:moveTo>
                    <a:pt x="324036" y="0"/>
                  </a:moveTo>
                  <a:lnTo>
                    <a:pt x="455698" y="0"/>
                  </a:lnTo>
                  <a:cubicBezTo>
                    <a:pt x="472434" y="0"/>
                    <a:pt x="486054" y="13597"/>
                    <a:pt x="486054" y="30303"/>
                  </a:cubicBezTo>
                  <a:lnTo>
                    <a:pt x="486054" y="80868"/>
                  </a:lnTo>
                  <a:lnTo>
                    <a:pt x="374689" y="80868"/>
                  </a:lnTo>
                  <a:lnTo>
                    <a:pt x="324036" y="80868"/>
                  </a:lnTo>
                  <a:close/>
                  <a:moveTo>
                    <a:pt x="121514" y="0"/>
                  </a:moveTo>
                  <a:lnTo>
                    <a:pt x="303784" y="0"/>
                  </a:lnTo>
                  <a:lnTo>
                    <a:pt x="303784" y="80868"/>
                  </a:lnTo>
                  <a:lnTo>
                    <a:pt x="172154" y="80868"/>
                  </a:lnTo>
                  <a:lnTo>
                    <a:pt x="121514" y="80868"/>
                  </a:lnTo>
                  <a:close/>
                  <a:moveTo>
                    <a:pt x="30343" y="0"/>
                  </a:moveTo>
                  <a:lnTo>
                    <a:pt x="101261" y="0"/>
                  </a:lnTo>
                  <a:lnTo>
                    <a:pt x="101261" y="80868"/>
                  </a:lnTo>
                  <a:lnTo>
                    <a:pt x="0" y="80868"/>
                  </a:lnTo>
                  <a:lnTo>
                    <a:pt x="0" y="30303"/>
                  </a:lnTo>
                  <a:cubicBezTo>
                    <a:pt x="0" y="13597"/>
                    <a:pt x="13614" y="0"/>
                    <a:pt x="30343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55" tIns="34277" rIns="68555" bIns="34277" numCol="1" spcCol="0" rtlCol="0" fromWordArt="0" anchor="ctr" anchorCtr="0" forceAA="0" compatLnSpc="1">
              <a:normAutofit fontScale="82500" lnSpcReduction="20000"/>
            </a:bodyPr>
            <a:lstStyle>
              <a:defPPr>
                <a:defRPr lang="zh-CN"/>
              </a:defPPr>
              <a:lvl1pPr marL="0" lvl="0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indent="0" algn="l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b="0" i="0" u="non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1500" b="1" i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 advTm="300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30" y="841772"/>
            <a:ext cx="6858179" cy="1790700"/>
          </a:xfrm>
        </p:spPr>
        <p:txBody>
          <a:bodyPr anchor="b"/>
          <a:lstStyle>
            <a:lvl1pPr algn="ctr">
              <a:defRPr sz="4500"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30" y="2701529"/>
            <a:ext cx="6858179" cy="1241822"/>
          </a:xfrm>
        </p:spPr>
        <p:txBody>
          <a:bodyPr/>
          <a:lstStyle>
            <a:lvl1pPr marL="0" indent="0" algn="ctr">
              <a:buNone/>
              <a:defRPr sz="1800"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065" indent="0" algn="ctr">
              <a:buNone/>
              <a:defRPr sz="1200"/>
            </a:lvl4pPr>
            <a:lvl5pPr marL="1370965" indent="0" algn="ctr">
              <a:buNone/>
              <a:defRPr sz="1200"/>
            </a:lvl5pPr>
            <a:lvl6pPr marL="1713865" indent="0" algn="ctr">
              <a:buNone/>
              <a:defRPr sz="1200"/>
            </a:lvl6pPr>
            <a:lvl7pPr marL="2056765" indent="0" algn="ctr">
              <a:buNone/>
              <a:defRPr sz="1200"/>
            </a:lvl7pPr>
            <a:lvl8pPr marL="2399665" indent="0" algn="ctr">
              <a:buNone/>
              <a:defRPr sz="1200"/>
            </a:lvl8pPr>
            <a:lvl9pPr marL="274193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66" y="4767263"/>
            <a:ext cx="2057454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9029" y="4767263"/>
            <a:ext cx="3086181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8118" y="4767263"/>
            <a:ext cx="2057454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300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0" y="556022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</a:ln>
        </p:spPr>
        <p:txBody>
          <a:bodyPr/>
          <a:lstStyle>
            <a:lvl1pPr eaLnBrk="1" hangingPunct="1">
              <a:defRPr/>
            </a:lvl1pPr>
          </a:lstStyle>
          <a:p>
            <a:fld id="{E52969C8-315B-418B-B0C9-31E457E70613}" type="slidenum">
              <a:rPr lang="zh-CN" altLang="en-US"/>
              <a:t>‹#›</a:t>
            </a:fld>
            <a:r>
              <a:rPr lang="en-US" altLang="zh-CN"/>
              <a:t>/50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556022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3"/>
          <p:cNvSpPr>
            <a:spLocks noGrp="1"/>
          </p:cNvSpPr>
          <p:nvPr>
            <p:ph type="sldNum" sz="quarter" idx="10"/>
          </p:nvPr>
        </p:nvSpPr>
        <p:spPr bwMode="auto">
          <a:ln>
            <a:miter lim="800000"/>
          </a:ln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370382E-D154-428C-B732-AC549F573D54}" type="slidenum">
              <a:rPr lang="zh-CN" altLang="en-US"/>
              <a:t>‹#›</a:t>
            </a:fld>
            <a:r>
              <a:rPr lang="en-US" altLang="zh-CN"/>
              <a:t>/50</a:t>
            </a:r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+mn-lt"/>
                <a:ea typeface="+mn-ea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b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7652CD4D-8D8E-482E-8E9B-EF493C1B22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"/>
            <a:ext cx="114300" cy="492919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514350"/>
            <a:ext cx="114300" cy="462915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2A4A048-8553-40F7-A7A4-47BA1CFE20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0C5E14A1-1B59-4BC5-8344-441A7C680F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-1"/>
            <a:ext cx="114300" cy="492919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514350"/>
            <a:ext cx="114300" cy="462915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/>
          <p:nvPr userDrawn="1"/>
        </p:nvPicPr>
        <p:blipFill>
          <a:blip r:embed="rId11"/>
          <a:stretch>
            <a:fillRect/>
          </a:stretch>
        </p:blipFill>
        <p:spPr>
          <a:xfrm>
            <a:off x="-4762" y="411163"/>
            <a:ext cx="9144000" cy="53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图片 8" descr="中国铁建重工集团有限公司logo - 中英文全称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59538" y="0"/>
            <a:ext cx="2684462" cy="3952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52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24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6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835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ransition spd="slow" advTm="3000"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57175" indent="-257175" algn="l" rtl="0" eaLnBrk="0" fontAlgn="base" hangingPunct="0">
        <a:spcBef>
          <a:spcPct val="15000"/>
        </a:spcBef>
        <a:spcAft>
          <a:spcPct val="0"/>
        </a:spcAft>
        <a:buChar char="•"/>
        <a:defRPr sz="1500">
          <a:solidFill>
            <a:schemeClr val="tx2"/>
          </a:solidFill>
          <a:latin typeface="+mn-lt"/>
          <a:ea typeface="+mn-ea"/>
          <a:cs typeface="+mn-cs"/>
        </a:defRPr>
      </a:lvl1pPr>
      <a:lvl2pPr marL="556895" indent="-213995" algn="l" rtl="0" eaLnBrk="0" fontAlgn="base" hangingPunct="0">
        <a:spcBef>
          <a:spcPct val="15000"/>
        </a:spcBef>
        <a:spcAft>
          <a:spcPct val="0"/>
        </a:spcAft>
        <a:buChar char="–"/>
        <a:defRPr sz="1500">
          <a:solidFill>
            <a:schemeClr val="tx2"/>
          </a:solidFill>
          <a:latin typeface="+mn-lt"/>
          <a:ea typeface="仿宋_GB2312" panose="02010609030101010101" pitchFamily="49" charset="-122"/>
        </a:defRPr>
      </a:lvl2pPr>
      <a:lvl3pPr marL="857250" indent="-171450" algn="l" rtl="0" eaLnBrk="0" fontAlgn="base" hangingPunct="0">
        <a:spcBef>
          <a:spcPct val="15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199515" indent="-171450" algn="l" rtl="0" eaLnBrk="0" fontAlgn="base" hangingPunct="0">
        <a:spcBef>
          <a:spcPct val="15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15424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18853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2282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2571115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2913380" indent="-171450" algn="l" rtl="0" eaLnBrk="0" fontAlgn="base" hangingPunct="0">
        <a:spcBef>
          <a:spcPct val="15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8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66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193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67727" tIns="33863" rIns="67727" bIns="33863" rtlCol="0" anchor="ctr"/>
          <a:lstStyle>
            <a:lvl1pPr algn="ctr" eaLnBrk="0" hangingPunct="0">
              <a:defRPr sz="675" b="1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5475" y="4844654"/>
            <a:ext cx="2133600" cy="273844"/>
          </a:xfrm>
          <a:prstGeom prst="rect">
            <a:avLst/>
          </a:prstGeom>
        </p:spPr>
        <p:txBody>
          <a:bodyPr vert="horz" wrap="square" lIns="67727" tIns="33863" rIns="67727" bIns="33863" numCol="1" anchor="ctr" anchorCtr="0" compatLnSpc="1"/>
          <a:lstStyle>
            <a:lvl1pPr algn="r" eaLnBrk="0" hangingPunct="0">
              <a:defRPr sz="75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5E8069-E9C2-4C8F-8F13-CA83A2A3E5B5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507365" rtl="0" eaLnBrk="0" fontAlgn="base" hangingPunct="0"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189865" indent="-18923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2115" indent="-15875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88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2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397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05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59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5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50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6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016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70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52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7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203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7727" tIns="33863" rIns="67727" bIns="33863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67727" tIns="33863" rIns="67727" bIns="33863" rtlCol="0" anchor="ctr"/>
          <a:lstStyle>
            <a:lvl1pPr algn="ctr" eaLnBrk="0" hangingPunct="0">
              <a:buFontTx/>
              <a:buNone/>
              <a:defRPr sz="675" b="1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+mn-ea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75475" y="4844654"/>
            <a:ext cx="2133600" cy="273844"/>
          </a:xfrm>
          <a:prstGeom prst="rect">
            <a:avLst/>
          </a:prstGeom>
        </p:spPr>
        <p:txBody>
          <a:bodyPr vert="horz" wrap="square" lIns="67727" tIns="33863" rIns="67727" bIns="33863" numCol="1" anchor="ctr" anchorCtr="0" compatLnSpc="1"/>
          <a:lstStyle>
            <a:lvl1pPr algn="r" eaLnBrk="0" hangingPunct="0">
              <a:buFontTx/>
              <a:buNone/>
              <a:defRPr sz="75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fld id="{6F9AAB21-5EDE-4CCC-B134-AFB56633CE2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defTabSz="507365" rtl="0" eaLnBrk="0" fontAlgn="base" hangingPunct="0"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676275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676275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189865" indent="-18923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412115" indent="-158750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635000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888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142365" indent="-126365" algn="l" defTabSz="507365" rtl="0" eaLnBrk="0" fontAlgn="base" hangingPunct="0">
        <a:spcBef>
          <a:spcPct val="15000"/>
        </a:spcBef>
        <a:spcAft>
          <a:spcPct val="0"/>
        </a:spcAft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397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05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59000" indent="-127000" algn="l" defTabSz="5080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5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50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6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1016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70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524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78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2032000" algn="l" defTabSz="50800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notesSlide" Target="../notesSlides/notesSlide2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3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9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1.jpe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5142865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839243" y="2685624"/>
            <a:ext cx="760015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403413" y="1803862"/>
            <a:ext cx="615884" cy="1809161"/>
            <a:chOff x="514831" y="2674043"/>
            <a:chExt cx="821179" cy="2226587"/>
          </a:xfrm>
        </p:grpSpPr>
        <p:sp>
          <p:nvSpPr>
            <p:cNvPr id="9" name="L 形 8"/>
            <p:cNvSpPr/>
            <p:nvPr/>
          </p:nvSpPr>
          <p:spPr>
            <a:xfrm>
              <a:off x="514831" y="2674044"/>
              <a:ext cx="821178" cy="2226586"/>
            </a:xfrm>
            <a:prstGeom prst="corner">
              <a:avLst>
                <a:gd name="adj1" fmla="val 11158"/>
                <a:gd name="adj2" fmla="val 11797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14832" y="2674043"/>
              <a:ext cx="821178" cy="10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1" name="标题 3"/>
          <p:cNvSpPr txBox="1"/>
          <p:nvPr>
            <p:custDataLst>
              <p:tags r:id="rId1"/>
            </p:custDataLst>
          </p:nvPr>
        </p:nvSpPr>
        <p:spPr>
          <a:xfrm>
            <a:off x="1019176" y="1805244"/>
            <a:ext cx="7831931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75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变径盾构站隧一体化建造风险风险评估及安全控制技术研究</a:t>
            </a:r>
          </a:p>
        </p:txBody>
      </p:sp>
      <p:sp>
        <p:nvSpPr>
          <p:cNvPr id="17" name="文本框 8"/>
          <p:cNvSpPr txBox="1"/>
          <p:nvPr/>
        </p:nvSpPr>
        <p:spPr>
          <a:xfrm>
            <a:off x="127000" y="1319530"/>
            <a:ext cx="779843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中国铁建股份有限公司地下空间利用领域科研计划项目  合同编号：</a:t>
            </a: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2024-W08</a:t>
            </a:r>
          </a:p>
          <a:p>
            <a:pPr marL="0" indent="0" algn="ctr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3"/>
          <p:cNvSpPr/>
          <p:nvPr/>
        </p:nvSpPr>
        <p:spPr>
          <a:xfrm>
            <a:off x="1852295" y="2705735"/>
            <a:ext cx="5195570" cy="5168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algn="ctr">
              <a:lnSpc>
                <a:spcPts val="3750"/>
              </a:lnSpc>
              <a:spcBef>
                <a:spcPct val="0"/>
              </a:spcBef>
              <a:buNone/>
            </a:pPr>
            <a:r>
              <a:rPr lang="en-US" altLang="zh-CN" sz="3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2026</a:t>
            </a:r>
            <a:r>
              <a:rPr lang="zh-CN" altLang="en-US" sz="3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年度执行情况汇报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263956" y="3546828"/>
            <a:ext cx="2217420" cy="427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defTabSz="914400">
              <a:lnSpc>
                <a:spcPct val="120000"/>
              </a:lnSpc>
              <a:buClrTx/>
              <a:buSzTx/>
              <a:buFontTx/>
            </a:pPr>
            <a:endParaRPr lang="zh-CN" altLang="en-US" b="1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94614" y="3472831"/>
            <a:ext cx="4606188" cy="40248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课题参研单位：中铁建华南建设有限公司</a:t>
            </a:r>
            <a:endParaRPr lang="en-US" altLang="zh-CN" b="1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2" name="Picture 2" descr="D:\PPT~综合PPT-新\全国五百强\7+多\11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60408" y="156366"/>
            <a:ext cx="590699" cy="47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2138889" y="3813936"/>
            <a:ext cx="1548000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子课题负责人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521051" y="3793769"/>
            <a:ext cx="273487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754656" y="3793769"/>
            <a:ext cx="942387" cy="443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姜军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42970" y="4201795"/>
            <a:ext cx="142176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dist" defTabSz="914400">
              <a:lnSpc>
                <a:spcPct val="120000"/>
              </a:lnSpc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2026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 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cs typeface="+mj-cs"/>
                <a:sym typeface="+mn-ea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398904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1"/>
            <a:ext cx="9143988" cy="2411291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zh-CN" altLang="en-US" sz="135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iṥḻiḍê"/>
          <p:cNvSpPr/>
          <p:nvPr/>
        </p:nvSpPr>
        <p:spPr bwMode="auto">
          <a:xfrm flipV="1">
            <a:off x="3748478" y="1"/>
            <a:ext cx="1404156" cy="1208978"/>
          </a:xfrm>
          <a:prstGeom prst="round2SameRect">
            <a:avLst/>
          </a:prstGeom>
          <a:solidFill>
            <a:schemeClr val="tx1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ïśľíḍê"/>
          <p:cNvSpPr/>
          <p:nvPr/>
        </p:nvSpPr>
        <p:spPr>
          <a:xfrm>
            <a:off x="3748478" y="559182"/>
            <a:ext cx="1404156" cy="611408"/>
          </a:xfrm>
          <a:prstGeom prst="rect">
            <a:avLst/>
          </a:prstGeom>
        </p:spPr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CONTE</a:t>
            </a:r>
            <a:r>
              <a:rPr lang="en-US" altLang="zh-CN" sz="100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rPr>
              <a:t>NTS</a:t>
            </a:r>
            <a:endParaRPr lang="en-US" altLang="zh-CN" sz="1200" b="1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2"/>
            </p:custDataLst>
          </p:nvPr>
        </p:nvCxnSpPr>
        <p:spPr>
          <a:xfrm>
            <a:off x="2314911" y="291636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4665492" y="286810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ïśľíḍê"/>
          <p:cNvSpPr/>
          <p:nvPr/>
        </p:nvSpPr>
        <p:spPr>
          <a:xfrm>
            <a:off x="3748478" y="133203"/>
            <a:ext cx="1404156" cy="611408"/>
          </a:xfrm>
          <a:prstGeom prst="rect">
            <a:avLst/>
          </a:prstGeom>
        </p:spPr>
        <p:txBody>
          <a:bodyPr wrap="square" lIns="68580" tIns="34290" rIns="68580" bIns="34290" anchor="ctr">
            <a:norm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目录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işlïḋe"/>
          <p:cNvGrpSpPr/>
          <p:nvPr>
            <p:custDataLst>
              <p:tags r:id="rId4"/>
            </p:custDataLst>
          </p:nvPr>
        </p:nvGrpSpPr>
        <p:grpSpPr>
          <a:xfrm>
            <a:off x="979646" y="2196465"/>
            <a:ext cx="782955" cy="671989"/>
            <a:chOff x="1276729" y="3652119"/>
            <a:chExt cx="1044116" cy="896148"/>
          </a:xfrm>
        </p:grpSpPr>
        <p:sp>
          <p:nvSpPr>
            <p:cNvPr id="51" name="íṩ1íḍé"/>
            <p:cNvSpPr/>
            <p:nvPr>
              <p:custDataLst>
                <p:tags r:id="rId22"/>
              </p:custDataLst>
            </p:nvPr>
          </p:nvSpPr>
          <p:spPr bwMode="auto">
            <a:xfrm>
              <a:off x="1276729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îsḻïḓe"/>
            <p:cNvSpPr/>
            <p:nvPr>
              <p:custDataLst>
                <p:tags r:id="rId23"/>
              </p:custDataLst>
            </p:nvPr>
          </p:nvSpPr>
          <p:spPr bwMode="auto">
            <a:xfrm>
              <a:off x="1420745" y="3652119"/>
              <a:ext cx="756084" cy="532156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3" name="işľïḋê"/>
            <p:cNvSpPr/>
            <p:nvPr>
              <p:custDataLst>
                <p:tags r:id="rId24"/>
              </p:custDataLst>
            </p:nvPr>
          </p:nvSpPr>
          <p:spPr bwMode="auto">
            <a:xfrm>
              <a:off x="1420745" y="3792183"/>
              <a:ext cx="756084" cy="75608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5000" lnSpcReduction="1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4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一</a:t>
              </a:r>
              <a:endParaRPr lang="en-US" altLang="zh-CN" sz="24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7" name="文本框 126"/>
          <p:cNvSpPr txBox="1"/>
          <p:nvPr>
            <p:custDataLst>
              <p:tags r:id="rId5"/>
            </p:custDataLst>
          </p:nvPr>
        </p:nvSpPr>
        <p:spPr>
          <a:xfrm>
            <a:off x="358775" y="3102134"/>
            <a:ext cx="184927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课题总体情况</a:t>
            </a:r>
          </a:p>
        </p:txBody>
      </p:sp>
      <p:grpSp>
        <p:nvGrpSpPr>
          <p:cNvPr id="13" name="î$ļîḑè"/>
          <p:cNvGrpSpPr/>
          <p:nvPr>
            <p:custDataLst>
              <p:tags r:id="rId6"/>
            </p:custDataLst>
          </p:nvPr>
        </p:nvGrpSpPr>
        <p:grpSpPr>
          <a:xfrm>
            <a:off x="3121660" y="2196465"/>
            <a:ext cx="782955" cy="671989"/>
            <a:chOff x="4159173" y="3652119"/>
            <a:chExt cx="1044116" cy="896148"/>
          </a:xfrm>
        </p:grpSpPr>
        <p:sp>
          <p:nvSpPr>
            <p:cNvPr id="46" name="i$ḻiḓê"/>
            <p:cNvSpPr/>
            <p:nvPr>
              <p:custDataLst>
                <p:tags r:id="rId19"/>
              </p:custDataLst>
            </p:nvPr>
          </p:nvSpPr>
          <p:spPr bwMode="auto">
            <a:xfrm>
              <a:off x="4159173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íṥľidé"/>
            <p:cNvSpPr/>
            <p:nvPr>
              <p:custDataLst>
                <p:tags r:id="rId20"/>
              </p:custDataLst>
            </p:nvPr>
          </p:nvSpPr>
          <p:spPr bwMode="auto">
            <a:xfrm>
              <a:off x="4303189" y="3652119"/>
              <a:ext cx="756084" cy="532156"/>
            </a:xfrm>
            <a:prstGeom prst="rect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îsḷïdè"/>
            <p:cNvSpPr/>
            <p:nvPr>
              <p:custDataLst>
                <p:tags r:id="rId21"/>
              </p:custDataLst>
            </p:nvPr>
          </p:nvSpPr>
          <p:spPr bwMode="auto">
            <a:xfrm>
              <a:off x="4303189" y="3792183"/>
              <a:ext cx="756084" cy="756084"/>
            </a:xfrm>
            <a:prstGeom prst="ellipse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二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33" name="文本框 132"/>
          <p:cNvSpPr txBox="1"/>
          <p:nvPr>
            <p:custDataLst>
              <p:tags r:id="rId7"/>
            </p:custDataLst>
          </p:nvPr>
        </p:nvSpPr>
        <p:spPr>
          <a:xfrm>
            <a:off x="2493010" y="3103880"/>
            <a:ext cx="2039620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  <a:sym typeface="+mn-lt"/>
              </a:rPr>
              <a:t>课题研发进展</a:t>
            </a:r>
          </a:p>
        </p:txBody>
      </p:sp>
      <p:grpSp>
        <p:nvGrpSpPr>
          <p:cNvPr id="17" name="işlïdê"/>
          <p:cNvGrpSpPr/>
          <p:nvPr>
            <p:custDataLst>
              <p:tags r:id="rId8"/>
            </p:custDataLst>
          </p:nvPr>
        </p:nvGrpSpPr>
        <p:grpSpPr>
          <a:xfrm>
            <a:off x="5432252" y="2196465"/>
            <a:ext cx="782955" cy="671989"/>
            <a:chOff x="9869501" y="3652119"/>
            <a:chExt cx="1044116" cy="896148"/>
          </a:xfrm>
        </p:grpSpPr>
        <p:sp>
          <p:nvSpPr>
            <p:cNvPr id="36" name="íšḷîḑê"/>
            <p:cNvSpPr/>
            <p:nvPr>
              <p:custDataLst>
                <p:tags r:id="rId16"/>
              </p:custDataLst>
            </p:nvPr>
          </p:nvSpPr>
          <p:spPr bwMode="auto">
            <a:xfrm>
              <a:off x="9869501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îsľiḑè"/>
            <p:cNvSpPr/>
            <p:nvPr>
              <p:custDataLst>
                <p:tags r:id="rId17"/>
              </p:custDataLst>
            </p:nvPr>
          </p:nvSpPr>
          <p:spPr bwMode="auto">
            <a:xfrm>
              <a:off x="10013517" y="3652119"/>
              <a:ext cx="756084" cy="532156"/>
            </a:xfrm>
            <a:prstGeom prst="rect">
              <a:avLst/>
            </a:prstGeom>
            <a:solidFill>
              <a:srgbClr val="4472C4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8" name="iSḷíďé"/>
            <p:cNvSpPr/>
            <p:nvPr>
              <p:custDataLst>
                <p:tags r:id="rId18"/>
              </p:custDataLst>
            </p:nvPr>
          </p:nvSpPr>
          <p:spPr bwMode="auto">
            <a:xfrm>
              <a:off x="10013517" y="3792183"/>
              <a:ext cx="756084" cy="756084"/>
            </a:xfrm>
            <a:prstGeom prst="ellipse">
              <a:avLst/>
            </a:prstGeom>
            <a:solidFill>
              <a:srgbClr val="4472C4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三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35" name="文本框 134"/>
          <p:cNvSpPr txBox="1"/>
          <p:nvPr>
            <p:custDataLst>
              <p:tags r:id="rId9"/>
            </p:custDataLst>
          </p:nvPr>
        </p:nvSpPr>
        <p:spPr>
          <a:xfrm>
            <a:off x="4810404" y="3102134"/>
            <a:ext cx="206059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经费使用情况</a:t>
            </a:r>
          </a:p>
        </p:txBody>
      </p:sp>
      <p:sp>
        <p:nvSpPr>
          <p:cNvPr id="49" name="矩形 48"/>
          <p:cNvSpPr/>
          <p:nvPr/>
        </p:nvSpPr>
        <p:spPr>
          <a:xfrm>
            <a:off x="487734" y="1276060"/>
            <a:ext cx="4584523" cy="30008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7734" y="1300130"/>
            <a:ext cx="0" cy="70464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3"/>
          <p:cNvSpPr/>
          <p:nvPr/>
        </p:nvSpPr>
        <p:spPr>
          <a:xfrm>
            <a:off x="533840" y="1637322"/>
            <a:ext cx="3050681" cy="414020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</a:pPr>
            <a:r>
              <a:rPr lang="en-US" altLang="zh-CN" sz="21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2025</a:t>
            </a:r>
            <a:r>
              <a:rPr lang="zh-CN" altLang="en-US" sz="21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年度执行情况汇报</a:t>
            </a:r>
            <a:endParaRPr lang="en-US" altLang="zh-CN" sz="21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94129" y="4901136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900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rPr>
              <a:t>1</a:t>
            </a:r>
            <a:endParaRPr lang="zh-CN" altLang="en-US" sz="900" dirty="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2" name="î$ļîḑè"/>
          <p:cNvGrpSpPr/>
          <p:nvPr>
            <p:custDataLst>
              <p:tags r:id="rId10"/>
            </p:custDataLst>
          </p:nvPr>
        </p:nvGrpSpPr>
        <p:grpSpPr>
          <a:xfrm>
            <a:off x="7659370" y="2196465"/>
            <a:ext cx="782955" cy="671989"/>
            <a:chOff x="4159173" y="3652119"/>
            <a:chExt cx="1044116" cy="896148"/>
          </a:xfrm>
        </p:grpSpPr>
        <p:sp>
          <p:nvSpPr>
            <p:cNvPr id="14" name="i$ḻiḓê"/>
            <p:cNvSpPr/>
            <p:nvPr>
              <p:custDataLst>
                <p:tags r:id="rId13"/>
              </p:custDataLst>
            </p:nvPr>
          </p:nvSpPr>
          <p:spPr bwMode="auto">
            <a:xfrm>
              <a:off x="4159173" y="3652119"/>
              <a:ext cx="1044116" cy="280129"/>
            </a:xfrm>
            <a:prstGeom prst="trapezoid">
              <a:avLst>
                <a:gd name="adj" fmla="val 50654"/>
              </a:avLst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8580" tIns="34290" rIns="68580" bIns="34290" anchor="ctr">
              <a:normAutofit fontScale="72500" lnSpcReduction="200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íṥľidé"/>
            <p:cNvSpPr/>
            <p:nvPr>
              <p:custDataLst>
                <p:tags r:id="rId14"/>
              </p:custDataLst>
            </p:nvPr>
          </p:nvSpPr>
          <p:spPr bwMode="auto">
            <a:xfrm>
              <a:off x="4303189" y="3652119"/>
              <a:ext cx="756084" cy="532156"/>
            </a:xfrm>
            <a:prstGeom prst="rect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wrap="square" lIns="68580" tIns="34290" rIns="68580" bIns="34290" anchor="ctr">
              <a:normAutofit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sz="1350" b="1" dirty="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îsḷïdè"/>
            <p:cNvSpPr/>
            <p:nvPr>
              <p:custDataLst>
                <p:tags r:id="rId15"/>
              </p:custDataLst>
            </p:nvPr>
          </p:nvSpPr>
          <p:spPr bwMode="auto">
            <a:xfrm>
              <a:off x="4303189" y="3792183"/>
              <a:ext cx="756084" cy="756084"/>
            </a:xfrm>
            <a:prstGeom prst="ellipse">
              <a:avLst/>
            </a:prstGeom>
            <a:solidFill>
              <a:srgbClr val="68AFFD"/>
            </a:solidFill>
            <a:ln w="19050">
              <a:noFill/>
              <a:round/>
            </a:ln>
          </p:spPr>
          <p:txBody>
            <a:bodyPr rot="0" spcFirstLastPara="0" vert="horz" wrap="square" lIns="68580" tIns="34290" rIns="68580" bIns="34290" anchor="ctr" anchorCtr="1" forceAA="0" compatLnSpc="1">
              <a:normAutofit fontScale="97500"/>
            </a:bodyPr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100" b="1" dirty="0">
                  <a:solidFill>
                    <a:srgbClr val="FFFFFF">
                      <a:lumMod val="100000"/>
                    </a:srgbClr>
                  </a:solidFill>
                  <a:latin typeface="微软雅黑" panose="020B0503020204020204" pitchFamily="34" charset="-122"/>
                </a:rPr>
                <a:t>四</a:t>
              </a:r>
              <a:endParaRPr lang="en-US" altLang="zh-CN" sz="2100" b="1" dirty="0">
                <a:solidFill>
                  <a:srgbClr val="FFFFFF">
                    <a:lumMod val="100000"/>
                  </a:srgbClr>
                </a:solidFill>
                <a:latin typeface="微软雅黑" panose="020B0503020204020204" pitchFamily="34" charset="-122"/>
              </a:endParaRPr>
            </a:p>
          </p:txBody>
        </p:sp>
      </p:grp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>
            <a:off x="6947682" y="2916366"/>
            <a:ext cx="0" cy="113412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7015759" y="3102134"/>
            <a:ext cx="2060599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lnSpc>
                <a:spcPct val="130000"/>
              </a:lnSpc>
              <a:buFont typeface="Wingdings" panose="05000000000000000000" pitchFamily="2" charset="2"/>
              <a:buChar char="Ø"/>
              <a:defRPr sz="2800" b="1">
                <a:solidFill>
                  <a:srgbClr val="003C8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100" dirty="0">
                <a:solidFill>
                  <a:srgbClr val="000000"/>
                </a:solidFill>
              </a:rPr>
              <a:t>下一步工作计划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2460308" y="1270159"/>
            <a:ext cx="5427821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一、课题总体情况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22510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32572" y="2553000"/>
            <a:ext cx="3951492" cy="835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课题概况</a:t>
            </a:r>
            <a:endParaRPr lang="zh-CN" altLang="en-US" dirty="0">
              <a:solidFill>
                <a:srgbClr val="1147A3"/>
              </a:solidFill>
              <a:latin typeface="微软雅黑" panose="020B0503020204020204" pitchFamily="34" charset="-122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2. </a:t>
            </a:r>
            <a:r>
              <a:rPr 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团队组成及分工</a:t>
            </a:r>
            <a:endParaRPr 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60" y="0"/>
            <a:ext cx="6894740" cy="5143500"/>
          </a:xfrm>
          <a:prstGeom prst="rect">
            <a:avLst/>
          </a:prstGeom>
        </p:spPr>
      </p:pic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中国铁建股份有限公司科技研发计划项目重点课题）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2460308" y="1270159"/>
            <a:ext cx="6168303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二、项目研发进展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22510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32572" y="2556175"/>
            <a:ext cx="3951492" cy="1950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</a:rPr>
              <a:t>组织管理机构</a:t>
            </a: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目标计划分解</a:t>
            </a: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3.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年度任务完成情况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4.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各子课题工作进展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  <a:p>
            <a:pPr marL="342900" indent="-342900" fontAlgn="auto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5. </a:t>
            </a:r>
            <a:r>
              <a:rPr lang="zh-CN" altLang="en-US" dirty="0">
                <a:solidFill>
                  <a:srgbClr val="1147A3"/>
                </a:solidFill>
                <a:latin typeface="微软雅黑" panose="020B0503020204020204" pitchFamily="34" charset="-122"/>
                <a:sym typeface="+mn-ea"/>
              </a:rPr>
              <a:t>年度工作成果</a:t>
            </a:r>
            <a:endParaRPr lang="en-US" altLang="zh-CN" dirty="0">
              <a:solidFill>
                <a:srgbClr val="1147A3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849E-9C85-5393-7A6A-478E1366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290D22F2-1B08-D1C4-1381-783CE87CC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D8CF28EE-68F8-9816-B370-DFCF5137C0F8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630DBBAF-4137-7DE1-E383-867F1DAB7781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77F9EC1D-9735-2220-E879-3E0BF8B5B724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F7B4A9CD-FBBC-0FC8-273D-27568BBF6AF8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B97F0C-B937-099F-E630-8F244A4763AB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B0D09B-ED51-7C95-776F-37C8DF2AD01D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9635857-EDF6-9B52-638F-69724E2BA4BF}"/>
              </a:ext>
            </a:extLst>
          </p:cNvPr>
          <p:cNvGrpSpPr/>
          <p:nvPr/>
        </p:nvGrpSpPr>
        <p:grpSpPr>
          <a:xfrm>
            <a:off x="2918207" y="1321474"/>
            <a:ext cx="6043414" cy="1753051"/>
            <a:chOff x="2918207" y="1321474"/>
            <a:chExt cx="6043414" cy="1753051"/>
          </a:xfrm>
        </p:grpSpPr>
        <p:sp>
          <p:nvSpPr>
            <p:cNvPr id="19" name="Rounded Rectangle 25">
              <a:extLst>
                <a:ext uri="{FF2B5EF4-FFF2-40B4-BE49-F238E27FC236}">
                  <a16:creationId xmlns:a16="http://schemas.microsoft.com/office/drawing/2014/main" id="{C19021DB-A93C-82F7-AE19-85903BCECF2F}"/>
                </a:ext>
              </a:extLst>
            </p:cNvPr>
            <p:cNvSpPr/>
            <p:nvPr/>
          </p:nvSpPr>
          <p:spPr>
            <a:xfrm>
              <a:off x="2918207" y="1321474"/>
              <a:ext cx="6043414" cy="175305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0" name="TextBox 26">
              <a:extLst>
                <a:ext uri="{FF2B5EF4-FFF2-40B4-BE49-F238E27FC236}">
                  <a16:creationId xmlns:a16="http://schemas.microsoft.com/office/drawing/2014/main" id="{D1922879-F02E-581D-A813-B5EB52AD39D8}"/>
                </a:ext>
              </a:extLst>
            </p:cNvPr>
            <p:cNvSpPr txBox="1"/>
            <p:nvPr/>
          </p:nvSpPr>
          <p:spPr>
            <a:xfrm>
              <a:off x="4978811" y="1429845"/>
              <a:ext cx="1922206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800" b="1" dirty="0" err="1">
                  <a:solidFill>
                    <a:srgbClr val="163B63"/>
                  </a:solidFill>
                  <a:latin typeface="Microsoft YaHei"/>
                </a:rPr>
                <a:t>研发路线</a:t>
              </a:r>
              <a:endParaRPr sz="18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21" name="Oval 27">
              <a:extLst>
                <a:ext uri="{FF2B5EF4-FFF2-40B4-BE49-F238E27FC236}">
                  <a16:creationId xmlns:a16="http://schemas.microsoft.com/office/drawing/2014/main" id="{A1F4DDE0-BA25-0D5F-CEB1-4E0488D3A828}"/>
                </a:ext>
              </a:extLst>
            </p:cNvPr>
            <p:cNvSpPr/>
            <p:nvPr/>
          </p:nvSpPr>
          <p:spPr>
            <a:xfrm>
              <a:off x="3102738" y="1936580"/>
              <a:ext cx="369063" cy="369063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23" name="TextBox 28">
              <a:extLst>
                <a:ext uri="{FF2B5EF4-FFF2-40B4-BE49-F238E27FC236}">
                  <a16:creationId xmlns:a16="http://schemas.microsoft.com/office/drawing/2014/main" id="{06F0CAB9-B79A-C17F-8DE3-FCF16173F6A2}"/>
                </a:ext>
              </a:extLst>
            </p:cNvPr>
            <p:cNvSpPr txBox="1"/>
            <p:nvPr/>
          </p:nvSpPr>
          <p:spPr>
            <a:xfrm>
              <a:off x="2964339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 dirty="0" err="1">
                  <a:solidFill>
                    <a:srgbClr val="1C2733"/>
                  </a:solidFill>
                  <a:latin typeface="Microsoft YaHei"/>
                </a:rPr>
                <a:t>需求分析</a:t>
              </a:r>
              <a:endParaRPr sz="11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24" name="Right Arrow 29">
              <a:extLst>
                <a:ext uri="{FF2B5EF4-FFF2-40B4-BE49-F238E27FC236}">
                  <a16:creationId xmlns:a16="http://schemas.microsoft.com/office/drawing/2014/main" id="{F20AC166-0D0E-8A51-08FF-B921548CC429}"/>
                </a:ext>
              </a:extLst>
            </p:cNvPr>
            <p:cNvSpPr/>
            <p:nvPr/>
          </p:nvSpPr>
          <p:spPr>
            <a:xfrm>
              <a:off x="3533312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8B25A690-645C-DEA9-067A-85A2FFBC45D4}"/>
                </a:ext>
              </a:extLst>
            </p:cNvPr>
            <p:cNvSpPr/>
            <p:nvPr/>
          </p:nvSpPr>
          <p:spPr>
            <a:xfrm>
              <a:off x="3986953" y="1936580"/>
              <a:ext cx="369063" cy="369063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8E7064AF-3E6C-BD13-3645-814C0C4C810A}"/>
                </a:ext>
              </a:extLst>
            </p:cNvPr>
            <p:cNvSpPr txBox="1"/>
            <p:nvPr/>
          </p:nvSpPr>
          <p:spPr>
            <a:xfrm>
              <a:off x="3848554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对象建模</a:t>
              </a:r>
            </a:p>
          </p:txBody>
        </p:sp>
        <p:sp>
          <p:nvSpPr>
            <p:cNvPr id="27" name="Right Arrow 32">
              <a:extLst>
                <a:ext uri="{FF2B5EF4-FFF2-40B4-BE49-F238E27FC236}">
                  <a16:creationId xmlns:a16="http://schemas.microsoft.com/office/drawing/2014/main" id="{9E9C1D48-730B-830E-596B-02E6C6F1C8DE}"/>
                </a:ext>
              </a:extLst>
            </p:cNvPr>
            <p:cNvSpPr/>
            <p:nvPr/>
          </p:nvSpPr>
          <p:spPr>
            <a:xfrm>
              <a:off x="4417527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60D1C488-1967-39C1-B1C3-1A56FE0DD1D9}"/>
                </a:ext>
              </a:extLst>
            </p:cNvPr>
            <p:cNvSpPr/>
            <p:nvPr/>
          </p:nvSpPr>
          <p:spPr>
            <a:xfrm>
              <a:off x="4871167" y="1936580"/>
              <a:ext cx="369063" cy="369063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F6C82CB2-924E-C1DD-5738-C60C2E4C66EA}"/>
                </a:ext>
              </a:extLst>
            </p:cNvPr>
            <p:cNvSpPr txBox="1"/>
            <p:nvPr/>
          </p:nvSpPr>
          <p:spPr>
            <a:xfrm>
              <a:off x="4732768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架构设计</a:t>
              </a:r>
            </a:p>
          </p:txBody>
        </p:sp>
        <p:sp>
          <p:nvSpPr>
            <p:cNvPr id="31" name="Right Arrow 35">
              <a:extLst>
                <a:ext uri="{FF2B5EF4-FFF2-40B4-BE49-F238E27FC236}">
                  <a16:creationId xmlns:a16="http://schemas.microsoft.com/office/drawing/2014/main" id="{C42372D7-AFC7-E984-4E24-65D0149BE45B}"/>
                </a:ext>
              </a:extLst>
            </p:cNvPr>
            <p:cNvSpPr/>
            <p:nvPr/>
          </p:nvSpPr>
          <p:spPr>
            <a:xfrm>
              <a:off x="5301741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Oval 36">
              <a:extLst>
                <a:ext uri="{FF2B5EF4-FFF2-40B4-BE49-F238E27FC236}">
                  <a16:creationId xmlns:a16="http://schemas.microsoft.com/office/drawing/2014/main" id="{A7F718C0-B535-1A37-57D0-ECB852F266EE}"/>
                </a:ext>
              </a:extLst>
            </p:cNvPr>
            <p:cNvSpPr/>
            <p:nvPr/>
          </p:nvSpPr>
          <p:spPr>
            <a:xfrm>
              <a:off x="5755381" y="1936580"/>
              <a:ext cx="369063" cy="369063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33" name="TextBox 37">
              <a:extLst>
                <a:ext uri="{FF2B5EF4-FFF2-40B4-BE49-F238E27FC236}">
                  <a16:creationId xmlns:a16="http://schemas.microsoft.com/office/drawing/2014/main" id="{67D1225B-F95A-8CCC-C10F-3EA159C8FB66}"/>
                </a:ext>
              </a:extLst>
            </p:cNvPr>
            <p:cNvSpPr txBox="1"/>
            <p:nvPr/>
          </p:nvSpPr>
          <p:spPr>
            <a:xfrm>
              <a:off x="5616983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接口设计</a:t>
              </a:r>
            </a:p>
          </p:txBody>
        </p:sp>
        <p:sp>
          <p:nvSpPr>
            <p:cNvPr id="34" name="Right Arrow 38">
              <a:extLst>
                <a:ext uri="{FF2B5EF4-FFF2-40B4-BE49-F238E27FC236}">
                  <a16:creationId xmlns:a16="http://schemas.microsoft.com/office/drawing/2014/main" id="{893AD484-A38D-53C3-FE20-37AD5D2F2201}"/>
                </a:ext>
              </a:extLst>
            </p:cNvPr>
            <p:cNvSpPr/>
            <p:nvPr/>
          </p:nvSpPr>
          <p:spPr>
            <a:xfrm>
              <a:off x="6185956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3058037C-28A0-2D09-B88A-B57125077A6E}"/>
                </a:ext>
              </a:extLst>
            </p:cNvPr>
            <p:cNvSpPr/>
            <p:nvPr/>
          </p:nvSpPr>
          <p:spPr>
            <a:xfrm>
              <a:off x="6639596" y="1936580"/>
              <a:ext cx="369063" cy="369063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36" name="TextBox 40">
              <a:extLst>
                <a:ext uri="{FF2B5EF4-FFF2-40B4-BE49-F238E27FC236}">
                  <a16:creationId xmlns:a16="http://schemas.microsoft.com/office/drawing/2014/main" id="{163EF582-094F-7119-15D4-52A1248442DD}"/>
                </a:ext>
              </a:extLst>
            </p:cNvPr>
            <p:cNvSpPr txBox="1"/>
            <p:nvPr/>
          </p:nvSpPr>
          <p:spPr>
            <a:xfrm>
              <a:off x="6501197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原型实现</a:t>
              </a:r>
            </a:p>
          </p:txBody>
        </p:sp>
        <p:sp>
          <p:nvSpPr>
            <p:cNvPr id="37" name="Right Arrow 41">
              <a:extLst>
                <a:ext uri="{FF2B5EF4-FFF2-40B4-BE49-F238E27FC236}">
                  <a16:creationId xmlns:a16="http://schemas.microsoft.com/office/drawing/2014/main" id="{042E65E3-DDFA-807E-2F2C-C26F5D6C87C4}"/>
                </a:ext>
              </a:extLst>
            </p:cNvPr>
            <p:cNvSpPr/>
            <p:nvPr/>
          </p:nvSpPr>
          <p:spPr>
            <a:xfrm>
              <a:off x="7070170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8" name="Oval 42">
              <a:extLst>
                <a:ext uri="{FF2B5EF4-FFF2-40B4-BE49-F238E27FC236}">
                  <a16:creationId xmlns:a16="http://schemas.microsoft.com/office/drawing/2014/main" id="{C07BC104-F4A8-6312-CE83-F9B33866447C}"/>
                </a:ext>
              </a:extLst>
            </p:cNvPr>
            <p:cNvSpPr/>
            <p:nvPr/>
          </p:nvSpPr>
          <p:spPr>
            <a:xfrm>
              <a:off x="7523811" y="1936580"/>
              <a:ext cx="369063" cy="369063"/>
            </a:xfrm>
            <a:prstGeom prst="ellipse">
              <a:avLst/>
            </a:prstGeom>
            <a:solidFill>
              <a:srgbClr val="F2994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6</a:t>
              </a:r>
            </a:p>
          </p:txBody>
        </p:sp>
        <p:sp>
          <p:nvSpPr>
            <p:cNvPr id="39" name="TextBox 43">
              <a:extLst>
                <a:ext uri="{FF2B5EF4-FFF2-40B4-BE49-F238E27FC236}">
                  <a16:creationId xmlns:a16="http://schemas.microsoft.com/office/drawing/2014/main" id="{0BB6A9A7-6261-7D8D-1D03-D78D62C02A7F}"/>
                </a:ext>
              </a:extLst>
            </p:cNvPr>
            <p:cNvSpPr txBox="1"/>
            <p:nvPr/>
          </p:nvSpPr>
          <p:spPr>
            <a:xfrm>
              <a:off x="7385412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测试验证</a:t>
              </a:r>
            </a:p>
          </p:txBody>
        </p:sp>
        <p:sp>
          <p:nvSpPr>
            <p:cNvPr id="40" name="Right Arrow 44">
              <a:extLst>
                <a:ext uri="{FF2B5EF4-FFF2-40B4-BE49-F238E27FC236}">
                  <a16:creationId xmlns:a16="http://schemas.microsoft.com/office/drawing/2014/main" id="{4707D0D2-ED73-EF41-7607-6EEE19D386B5}"/>
                </a:ext>
              </a:extLst>
            </p:cNvPr>
            <p:cNvSpPr/>
            <p:nvPr/>
          </p:nvSpPr>
          <p:spPr>
            <a:xfrm>
              <a:off x="7954385" y="2090356"/>
              <a:ext cx="399819" cy="61511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Oval 45">
              <a:extLst>
                <a:ext uri="{FF2B5EF4-FFF2-40B4-BE49-F238E27FC236}">
                  <a16:creationId xmlns:a16="http://schemas.microsoft.com/office/drawing/2014/main" id="{B6899492-D43B-E26F-EBB4-F16348FECFCC}"/>
                </a:ext>
              </a:extLst>
            </p:cNvPr>
            <p:cNvSpPr/>
            <p:nvPr/>
          </p:nvSpPr>
          <p:spPr>
            <a:xfrm>
              <a:off x="8408025" y="1936580"/>
              <a:ext cx="369063" cy="369063"/>
            </a:xfrm>
            <a:prstGeom prst="ellipse">
              <a:avLst/>
            </a:prstGeom>
            <a:solidFill>
              <a:srgbClr val="163B63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>
                  <a:solidFill>
                    <a:srgbClr val="FFFFFF"/>
                  </a:solidFill>
                  <a:latin typeface="Microsoft YaHei"/>
                </a:rPr>
                <a:t>7</a:t>
              </a:r>
            </a:p>
          </p:txBody>
        </p:sp>
        <p:sp>
          <p:nvSpPr>
            <p:cNvPr id="42" name="TextBox 46">
              <a:extLst>
                <a:ext uri="{FF2B5EF4-FFF2-40B4-BE49-F238E27FC236}">
                  <a16:creationId xmlns:a16="http://schemas.microsoft.com/office/drawing/2014/main" id="{DF9CA63E-6E7D-9A5C-C760-BEB8B34EAD7A}"/>
                </a:ext>
              </a:extLst>
            </p:cNvPr>
            <p:cNvSpPr txBox="1"/>
            <p:nvPr/>
          </p:nvSpPr>
          <p:spPr>
            <a:xfrm>
              <a:off x="8269626" y="2412434"/>
              <a:ext cx="691994" cy="23237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150" b="1">
                  <a:solidFill>
                    <a:srgbClr val="1C2733"/>
                  </a:solidFill>
                  <a:latin typeface="Microsoft YaHei"/>
                </a:rPr>
                <a:t>迭代交付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CB45EF1-8957-5E3B-9A00-82475BB7E3DD}"/>
              </a:ext>
            </a:extLst>
          </p:cNvPr>
          <p:cNvGrpSpPr/>
          <p:nvPr/>
        </p:nvGrpSpPr>
        <p:grpSpPr>
          <a:xfrm>
            <a:off x="2918207" y="3180609"/>
            <a:ext cx="6043414" cy="1600835"/>
            <a:chOff x="2918207" y="3180609"/>
            <a:chExt cx="6043414" cy="1600835"/>
          </a:xfrm>
        </p:grpSpPr>
        <p:sp>
          <p:nvSpPr>
            <p:cNvPr id="44" name="Rounded Rectangle 48">
              <a:extLst>
                <a:ext uri="{FF2B5EF4-FFF2-40B4-BE49-F238E27FC236}">
                  <a16:creationId xmlns:a16="http://schemas.microsoft.com/office/drawing/2014/main" id="{C2A3EC9F-6A9C-7084-4CB6-64AFEF609526}"/>
                </a:ext>
              </a:extLst>
            </p:cNvPr>
            <p:cNvSpPr/>
            <p:nvPr/>
          </p:nvSpPr>
          <p:spPr>
            <a:xfrm>
              <a:off x="2918207" y="3180609"/>
              <a:ext cx="6043414" cy="160083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0ACB2F9A-B439-1A83-81D0-EA90455105E2}"/>
                </a:ext>
              </a:extLst>
            </p:cNvPr>
            <p:cNvSpPr txBox="1"/>
            <p:nvPr/>
          </p:nvSpPr>
          <p:spPr>
            <a:xfrm>
              <a:off x="5094144" y="3198856"/>
              <a:ext cx="169154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800" b="1" dirty="0" err="1">
                  <a:solidFill>
                    <a:srgbClr val="163B63"/>
                  </a:solidFill>
                  <a:latin typeface="Microsoft YaHei"/>
                </a:rPr>
                <a:t>当前阶段进展</a:t>
              </a:r>
              <a:endParaRPr sz="18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46" name="Rectangle 50">
              <a:extLst>
                <a:ext uri="{FF2B5EF4-FFF2-40B4-BE49-F238E27FC236}">
                  <a16:creationId xmlns:a16="http://schemas.microsoft.com/office/drawing/2014/main" id="{0B02887C-9BCB-9313-6164-79FC2C9B7DA4}"/>
                </a:ext>
              </a:extLst>
            </p:cNvPr>
            <p:cNvSpPr/>
            <p:nvPr/>
          </p:nvSpPr>
          <p:spPr>
            <a:xfrm>
              <a:off x="3087360" y="3704224"/>
              <a:ext cx="46133" cy="307553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7" name="TextBox 51">
              <a:extLst>
                <a:ext uri="{FF2B5EF4-FFF2-40B4-BE49-F238E27FC236}">
                  <a16:creationId xmlns:a16="http://schemas.microsoft.com/office/drawing/2014/main" id="{74FB3DDE-6670-9A9C-A253-88E45FB9FE14}"/>
                </a:ext>
              </a:extLst>
            </p:cNvPr>
            <p:cNvSpPr txBox="1"/>
            <p:nvPr/>
          </p:nvSpPr>
          <p:spPr>
            <a:xfrm>
              <a:off x="3202693" y="3707190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需求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3E5D959B-E40F-61A8-7216-8292DF24984D}"/>
                </a:ext>
              </a:extLst>
            </p:cNvPr>
            <p:cNvSpPr txBox="1"/>
            <p:nvPr/>
          </p:nvSpPr>
          <p:spPr>
            <a:xfrm>
              <a:off x="3702464" y="3668718"/>
              <a:ext cx="233384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明确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系统应用场景、输入资料范围、风险识别输出和管理系统衔接方式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49" name="Rectangle 53">
              <a:extLst>
                <a:ext uri="{FF2B5EF4-FFF2-40B4-BE49-F238E27FC236}">
                  <a16:creationId xmlns:a16="http://schemas.microsoft.com/office/drawing/2014/main" id="{9084DF9A-F961-C555-F081-6EAC74B19509}"/>
                </a:ext>
              </a:extLst>
            </p:cNvPr>
            <p:cNvSpPr/>
            <p:nvPr/>
          </p:nvSpPr>
          <p:spPr>
            <a:xfrm>
              <a:off x="6150877" y="3704224"/>
              <a:ext cx="46133" cy="307553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0" name="TextBox 54">
              <a:extLst>
                <a:ext uri="{FF2B5EF4-FFF2-40B4-BE49-F238E27FC236}">
                  <a16:creationId xmlns:a16="http://schemas.microsoft.com/office/drawing/2014/main" id="{98A52352-415F-3CE1-995A-7BCD76712F28}"/>
                </a:ext>
              </a:extLst>
            </p:cNvPr>
            <p:cNvSpPr txBox="1"/>
            <p:nvPr/>
          </p:nvSpPr>
          <p:spPr>
            <a:xfrm>
              <a:off x="6266210" y="3707190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资料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C7630DDC-0A69-0CAF-4157-D3A46ABCBA41}"/>
                </a:ext>
              </a:extLst>
            </p:cNvPr>
            <p:cNvSpPr txBox="1"/>
            <p:nvPr/>
          </p:nvSpPr>
          <p:spPr>
            <a:xfrm>
              <a:off x="6765983" y="3668718"/>
              <a:ext cx="2106737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梳理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工程资料、工序信息、机理知识与风险记录之间的对应关系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52" name="Rectangle 56">
              <a:extLst>
                <a:ext uri="{FF2B5EF4-FFF2-40B4-BE49-F238E27FC236}">
                  <a16:creationId xmlns:a16="http://schemas.microsoft.com/office/drawing/2014/main" id="{588B3854-6F34-5AA6-E227-11CE9EFBB292}"/>
                </a:ext>
              </a:extLst>
            </p:cNvPr>
            <p:cNvSpPr/>
            <p:nvPr/>
          </p:nvSpPr>
          <p:spPr>
            <a:xfrm>
              <a:off x="3087360" y="4277175"/>
              <a:ext cx="46133" cy="307553"/>
            </a:xfrm>
            <a:prstGeom prst="rect">
              <a:avLst/>
            </a:prstGeom>
            <a:solidFill>
              <a:srgbClr val="F299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3" name="TextBox 57">
              <a:extLst>
                <a:ext uri="{FF2B5EF4-FFF2-40B4-BE49-F238E27FC236}">
                  <a16:creationId xmlns:a16="http://schemas.microsoft.com/office/drawing/2014/main" id="{84DB354F-254C-40AA-ADBC-A55F274C5C9C}"/>
                </a:ext>
              </a:extLst>
            </p:cNvPr>
            <p:cNvSpPr txBox="1"/>
            <p:nvPr/>
          </p:nvSpPr>
          <p:spPr>
            <a:xfrm>
              <a:off x="3202693" y="4280141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框架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4" name="TextBox 58">
              <a:extLst>
                <a:ext uri="{FF2B5EF4-FFF2-40B4-BE49-F238E27FC236}">
                  <a16:creationId xmlns:a16="http://schemas.microsoft.com/office/drawing/2014/main" id="{FE27FB18-2A4D-6518-AB59-297E1EEAFF77}"/>
                </a:ext>
              </a:extLst>
            </p:cNvPr>
            <p:cNvSpPr txBox="1"/>
            <p:nvPr/>
          </p:nvSpPr>
          <p:spPr>
            <a:xfrm>
              <a:off x="3702465" y="4241669"/>
              <a:ext cx="2333844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形成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数据接入、知识建模、智能推理、结果入库和系统管理的整体框架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5C2E79FF-0255-85E3-D345-00CD434EB30E}"/>
                </a:ext>
              </a:extLst>
            </p:cNvPr>
            <p:cNvSpPr/>
            <p:nvPr/>
          </p:nvSpPr>
          <p:spPr>
            <a:xfrm>
              <a:off x="6150877" y="4277175"/>
              <a:ext cx="46133" cy="307553"/>
            </a:xfrm>
            <a:prstGeom prst="rect">
              <a:avLst/>
            </a:prstGeom>
            <a:solidFill>
              <a:srgbClr val="C74C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6" name="TextBox 60">
              <a:extLst>
                <a:ext uri="{FF2B5EF4-FFF2-40B4-BE49-F238E27FC236}">
                  <a16:creationId xmlns:a16="http://schemas.microsoft.com/office/drawing/2014/main" id="{0B8229B5-516A-8ADF-006A-DBD9056328C7}"/>
                </a:ext>
              </a:extLst>
            </p:cNvPr>
            <p:cNvSpPr txBox="1"/>
            <p:nvPr/>
          </p:nvSpPr>
          <p:spPr>
            <a:xfrm>
              <a:off x="6266210" y="4280141"/>
              <a:ext cx="576662" cy="30162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600" b="1" dirty="0" err="1">
                  <a:solidFill>
                    <a:srgbClr val="163B63"/>
                  </a:solidFill>
                  <a:latin typeface="Microsoft YaHei"/>
                </a:rPr>
                <a:t>验证</a:t>
              </a:r>
              <a:endParaRPr sz="16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57" name="TextBox 61">
              <a:extLst>
                <a:ext uri="{FF2B5EF4-FFF2-40B4-BE49-F238E27FC236}">
                  <a16:creationId xmlns:a16="http://schemas.microsoft.com/office/drawing/2014/main" id="{BDF4B7D1-D317-FD7E-66F5-E196996B6E5F}"/>
                </a:ext>
              </a:extLst>
            </p:cNvPr>
            <p:cNvSpPr txBox="1"/>
            <p:nvPr/>
          </p:nvSpPr>
          <p:spPr>
            <a:xfrm>
              <a:off x="6765983" y="4241669"/>
              <a:ext cx="2106737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具备</a:t>
              </a:r>
              <a:r>
                <a:rPr lang="zh-CN" altLang="en-US" sz="1050" b="0" dirty="0">
                  <a:solidFill>
                    <a:srgbClr val="1C2733"/>
                  </a:solidFill>
                  <a:latin typeface="Microsoft YaHei"/>
                </a:rPr>
                <a:t>了</a:t>
              </a:r>
              <a:r>
                <a:rPr sz="1050" b="0" dirty="0" err="1">
                  <a:solidFill>
                    <a:srgbClr val="1C2733"/>
                  </a:solidFill>
                  <a:latin typeface="Microsoft YaHei"/>
                </a:rPr>
                <a:t>开展样例资料接入、接口联调、结果复核和原型迭代的基础</a:t>
              </a:r>
              <a:r>
                <a:rPr sz="105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5335324-165C-B6AC-C47C-9D06A505E173}"/>
              </a:ext>
            </a:extLst>
          </p:cNvPr>
          <p:cNvGrpSpPr/>
          <p:nvPr/>
        </p:nvGrpSpPr>
        <p:grpSpPr>
          <a:xfrm>
            <a:off x="200342" y="1321474"/>
            <a:ext cx="2598822" cy="3459970"/>
            <a:chOff x="200342" y="1321474"/>
            <a:chExt cx="2598822" cy="3459970"/>
          </a:xfrm>
        </p:grpSpPr>
        <p:sp>
          <p:nvSpPr>
            <p:cNvPr id="3" name="Rounded Rectangle 11">
              <a:extLst>
                <a:ext uri="{FF2B5EF4-FFF2-40B4-BE49-F238E27FC236}">
                  <a16:creationId xmlns:a16="http://schemas.microsoft.com/office/drawing/2014/main" id="{B31DC32C-F8B9-B58D-7FCE-3BE17F2D3398}"/>
                </a:ext>
              </a:extLst>
            </p:cNvPr>
            <p:cNvSpPr/>
            <p:nvPr/>
          </p:nvSpPr>
          <p:spPr>
            <a:xfrm>
              <a:off x="200342" y="1321474"/>
              <a:ext cx="2598822" cy="3459970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" name="TextBox 14">
              <a:extLst>
                <a:ext uri="{FF2B5EF4-FFF2-40B4-BE49-F238E27FC236}">
                  <a16:creationId xmlns:a16="http://schemas.microsoft.com/office/drawing/2014/main" id="{8CB1C960-F548-A0CC-E742-04E8A07ECC8E}"/>
                </a:ext>
              </a:extLst>
            </p:cNvPr>
            <p:cNvSpPr txBox="1"/>
            <p:nvPr/>
          </p:nvSpPr>
          <p:spPr>
            <a:xfrm>
              <a:off x="338741" y="1806902"/>
              <a:ext cx="2322024" cy="119455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800"/>
                </a:lnSpc>
              </a:pPr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围绕站隧一体化施工风险识别与评估需求，研发面向工程资料接入、风险智能识别、评估依据生成与风险管理协同的软件系统</a:t>
              </a:r>
              <a:r>
                <a:rPr sz="1400" b="1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10" name="TextBox 16">
              <a:extLst>
                <a:ext uri="{FF2B5EF4-FFF2-40B4-BE49-F238E27FC236}">
                  <a16:creationId xmlns:a16="http://schemas.microsoft.com/office/drawing/2014/main" id="{44A1301A-EFC2-C3BA-91A5-7D1947440079}"/>
                </a:ext>
              </a:extLst>
            </p:cNvPr>
            <p:cNvSpPr txBox="1"/>
            <p:nvPr/>
          </p:nvSpPr>
          <p:spPr>
            <a:xfrm>
              <a:off x="980758" y="3198856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b="1" dirty="0" err="1">
                  <a:solidFill>
                    <a:srgbClr val="163B63"/>
                  </a:solidFill>
                  <a:latin typeface="Microsoft YaHei"/>
                </a:rPr>
                <a:t>研发要点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1" name="Oval 17">
              <a:extLst>
                <a:ext uri="{FF2B5EF4-FFF2-40B4-BE49-F238E27FC236}">
                  <a16:creationId xmlns:a16="http://schemas.microsoft.com/office/drawing/2014/main" id="{23B89F8B-1D0A-8514-53A3-248FD33F9299}"/>
                </a:ext>
              </a:extLst>
            </p:cNvPr>
            <p:cNvSpPr/>
            <p:nvPr/>
          </p:nvSpPr>
          <p:spPr>
            <a:xfrm>
              <a:off x="384873" y="3597365"/>
              <a:ext cx="107644" cy="107644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A4967A54-D54F-D71A-32FC-844632A394E3}"/>
                </a:ext>
              </a:extLst>
            </p:cNvPr>
            <p:cNvSpPr txBox="1"/>
            <p:nvPr/>
          </p:nvSpPr>
          <p:spPr>
            <a:xfrm>
              <a:off x="569405" y="3523455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明确业务需求与应用边界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" name="Oval 19">
              <a:extLst>
                <a:ext uri="{FF2B5EF4-FFF2-40B4-BE49-F238E27FC236}">
                  <a16:creationId xmlns:a16="http://schemas.microsoft.com/office/drawing/2014/main" id="{50C864A7-5E70-289D-3CC1-467F74A08866}"/>
                </a:ext>
              </a:extLst>
            </p:cNvPr>
            <p:cNvSpPr/>
            <p:nvPr/>
          </p:nvSpPr>
          <p:spPr>
            <a:xfrm>
              <a:off x="384873" y="3889541"/>
              <a:ext cx="107644" cy="107644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74F82AD9-BAD3-DE14-B406-354C3E31828D}"/>
                </a:ext>
              </a:extLst>
            </p:cNvPr>
            <p:cNvSpPr txBox="1"/>
            <p:nvPr/>
          </p:nvSpPr>
          <p:spPr>
            <a:xfrm>
              <a:off x="569405" y="3815630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梳理工程资料与结果流转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5" name="Oval 21">
              <a:extLst>
                <a:ext uri="{FF2B5EF4-FFF2-40B4-BE49-F238E27FC236}">
                  <a16:creationId xmlns:a16="http://schemas.microsoft.com/office/drawing/2014/main" id="{0EABDCDF-1A78-E6E5-0F52-2ED1BF3C9EEE}"/>
                </a:ext>
              </a:extLst>
            </p:cNvPr>
            <p:cNvSpPr/>
            <p:nvPr/>
          </p:nvSpPr>
          <p:spPr>
            <a:xfrm>
              <a:off x="384873" y="4181716"/>
              <a:ext cx="107644" cy="107644"/>
            </a:xfrm>
            <a:prstGeom prst="ellipse">
              <a:avLst/>
            </a:prstGeom>
            <a:solidFill>
              <a:srgbClr val="F2994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TextBox 22">
              <a:extLst>
                <a:ext uri="{FF2B5EF4-FFF2-40B4-BE49-F238E27FC236}">
                  <a16:creationId xmlns:a16="http://schemas.microsoft.com/office/drawing/2014/main" id="{DC3F60ED-636B-2D6B-EA80-5D69163EBBE1}"/>
                </a:ext>
              </a:extLst>
            </p:cNvPr>
            <p:cNvSpPr txBox="1"/>
            <p:nvPr/>
          </p:nvSpPr>
          <p:spPr>
            <a:xfrm>
              <a:off x="569405" y="4107805"/>
              <a:ext cx="2075982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搭建系统模块与接口关系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7" name="Oval 23">
              <a:extLst>
                <a:ext uri="{FF2B5EF4-FFF2-40B4-BE49-F238E27FC236}">
                  <a16:creationId xmlns:a16="http://schemas.microsoft.com/office/drawing/2014/main" id="{F2B01942-3E48-A13F-18C4-302309C29BF7}"/>
                </a:ext>
              </a:extLst>
            </p:cNvPr>
            <p:cNvSpPr/>
            <p:nvPr/>
          </p:nvSpPr>
          <p:spPr>
            <a:xfrm>
              <a:off x="384873" y="4473891"/>
              <a:ext cx="107644" cy="107644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3C2B8995-07A4-EF32-E161-D21F3F2E1967}"/>
                </a:ext>
              </a:extLst>
            </p:cNvPr>
            <p:cNvSpPr txBox="1"/>
            <p:nvPr/>
          </p:nvSpPr>
          <p:spPr>
            <a:xfrm>
              <a:off x="569405" y="4399981"/>
              <a:ext cx="2091360" cy="270843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400" b="1" dirty="0" err="1">
                  <a:solidFill>
                    <a:srgbClr val="1C2733"/>
                  </a:solidFill>
                  <a:latin typeface="Microsoft YaHei"/>
                </a:rPr>
                <a:t>建立结果校验与沉淀机制</a:t>
              </a:r>
              <a:endParaRPr sz="140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59" name="TextBox 16">
              <a:extLst>
                <a:ext uri="{FF2B5EF4-FFF2-40B4-BE49-F238E27FC236}">
                  <a16:creationId xmlns:a16="http://schemas.microsoft.com/office/drawing/2014/main" id="{63883AF5-E27F-F86E-C850-0179BF300B2C}"/>
                </a:ext>
              </a:extLst>
            </p:cNvPr>
            <p:cNvSpPr txBox="1"/>
            <p:nvPr/>
          </p:nvSpPr>
          <p:spPr>
            <a:xfrm>
              <a:off x="980758" y="1429845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研究目标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73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E862-EC74-529F-6AF0-0AA59601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C95F3EAA-273A-4AAA-B2D4-BD2622E8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F76AF844-2221-204A-4A4C-8E2FDBE9C530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218117B5-8075-765B-9547-71913BB39A41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CE08B3FD-6097-1213-7AF0-71673B1EE39B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798B8C09-0267-C9FD-BD10-20A5F21B0338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303AA7-159B-36B5-141C-D93FD329D081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9BF759E-A2CD-DD53-85F9-2CBBA96F4242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345" name="组合 13344">
            <a:extLst>
              <a:ext uri="{FF2B5EF4-FFF2-40B4-BE49-F238E27FC236}">
                <a16:creationId xmlns:a16="http://schemas.microsoft.com/office/drawing/2014/main" id="{C69D6575-22BB-C050-2DF6-D021E1B78D6C}"/>
              </a:ext>
            </a:extLst>
          </p:cNvPr>
          <p:cNvGrpSpPr/>
          <p:nvPr/>
        </p:nvGrpSpPr>
        <p:grpSpPr>
          <a:xfrm>
            <a:off x="172979" y="1312181"/>
            <a:ext cx="6784568" cy="3541277"/>
            <a:chOff x="172979" y="1312181"/>
            <a:chExt cx="6784568" cy="3541277"/>
          </a:xfrm>
        </p:grpSpPr>
        <p:sp>
          <p:nvSpPr>
            <p:cNvPr id="13335" name="Rounded Rectangle 93">
              <a:extLst>
                <a:ext uri="{FF2B5EF4-FFF2-40B4-BE49-F238E27FC236}">
                  <a16:creationId xmlns:a16="http://schemas.microsoft.com/office/drawing/2014/main" id="{3A2189B7-A72D-E677-923E-4E2C08F02F44}"/>
                </a:ext>
              </a:extLst>
            </p:cNvPr>
            <p:cNvSpPr/>
            <p:nvPr/>
          </p:nvSpPr>
          <p:spPr>
            <a:xfrm>
              <a:off x="172979" y="1312181"/>
              <a:ext cx="6784568" cy="354127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13AB583E-648C-7FF5-D849-7055DBCB6D76}"/>
                </a:ext>
              </a:extLst>
            </p:cNvPr>
            <p:cNvSpPr/>
            <p:nvPr/>
          </p:nvSpPr>
          <p:spPr>
            <a:xfrm>
              <a:off x="336492" y="1705315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0" name="Rectangle 28">
              <a:extLst>
                <a:ext uri="{FF2B5EF4-FFF2-40B4-BE49-F238E27FC236}">
                  <a16:creationId xmlns:a16="http://schemas.microsoft.com/office/drawing/2014/main" id="{1FB4C8A7-EF90-1F6C-DF0F-410A4E3D86F5}"/>
                </a:ext>
              </a:extLst>
            </p:cNvPr>
            <p:cNvSpPr/>
            <p:nvPr/>
          </p:nvSpPr>
          <p:spPr>
            <a:xfrm>
              <a:off x="336492" y="1705315"/>
              <a:ext cx="931534" cy="587584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1" name="TextBox 29">
              <a:extLst>
                <a:ext uri="{FF2B5EF4-FFF2-40B4-BE49-F238E27FC236}">
                  <a16:creationId xmlns:a16="http://schemas.microsoft.com/office/drawing/2014/main" id="{3883FB17-2F47-3DBA-3584-26E680CB2AE5}"/>
                </a:ext>
              </a:extLst>
            </p:cNvPr>
            <p:cNvSpPr txBox="1"/>
            <p:nvPr/>
          </p:nvSpPr>
          <p:spPr>
            <a:xfrm>
              <a:off x="422479" y="1729827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数据接入层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62" name="Rounded Rectangle 30">
              <a:extLst>
                <a:ext uri="{FF2B5EF4-FFF2-40B4-BE49-F238E27FC236}">
                  <a16:creationId xmlns:a16="http://schemas.microsoft.com/office/drawing/2014/main" id="{6329BE4F-D57D-511C-5C3F-7CB6B8FAD16C}"/>
                </a:ext>
              </a:extLst>
            </p:cNvPr>
            <p:cNvSpPr/>
            <p:nvPr/>
          </p:nvSpPr>
          <p:spPr>
            <a:xfrm>
              <a:off x="1397008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50"/>
            </a:p>
          </p:txBody>
        </p:sp>
        <p:sp>
          <p:nvSpPr>
            <p:cNvPr id="63" name="Oval 31">
              <a:extLst>
                <a:ext uri="{FF2B5EF4-FFF2-40B4-BE49-F238E27FC236}">
                  <a16:creationId xmlns:a16="http://schemas.microsoft.com/office/drawing/2014/main" id="{3A89ED8E-F057-63D8-26F3-1C5BE1A20377}"/>
                </a:ext>
              </a:extLst>
            </p:cNvPr>
            <p:cNvSpPr/>
            <p:nvPr/>
          </p:nvSpPr>
          <p:spPr>
            <a:xfrm>
              <a:off x="1447166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64" name="TextBox 32">
              <a:extLst>
                <a:ext uri="{FF2B5EF4-FFF2-40B4-BE49-F238E27FC236}">
                  <a16:creationId xmlns:a16="http://schemas.microsoft.com/office/drawing/2014/main" id="{B0D623B0-D6CD-0537-D58F-DF153FAD7594}"/>
                </a:ext>
              </a:extLst>
            </p:cNvPr>
            <p:cNvSpPr txBox="1"/>
            <p:nvPr/>
          </p:nvSpPr>
          <p:spPr>
            <a:xfrm>
              <a:off x="1705129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工程资料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65" name="Rounded Rectangle 33">
              <a:extLst>
                <a:ext uri="{FF2B5EF4-FFF2-40B4-BE49-F238E27FC236}">
                  <a16:creationId xmlns:a16="http://schemas.microsoft.com/office/drawing/2014/main" id="{80ED0106-35D9-ABEA-0211-72BDEC24ACB1}"/>
                </a:ext>
              </a:extLst>
            </p:cNvPr>
            <p:cNvSpPr/>
            <p:nvPr/>
          </p:nvSpPr>
          <p:spPr>
            <a:xfrm>
              <a:off x="2467554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6" name="Oval 34">
              <a:extLst>
                <a:ext uri="{FF2B5EF4-FFF2-40B4-BE49-F238E27FC236}">
                  <a16:creationId xmlns:a16="http://schemas.microsoft.com/office/drawing/2014/main" id="{D26824AC-5DE7-2585-9776-1BE436796FED}"/>
                </a:ext>
              </a:extLst>
            </p:cNvPr>
            <p:cNvSpPr/>
            <p:nvPr/>
          </p:nvSpPr>
          <p:spPr>
            <a:xfrm>
              <a:off x="2517714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67" name="TextBox 35">
              <a:extLst>
                <a:ext uri="{FF2B5EF4-FFF2-40B4-BE49-F238E27FC236}">
                  <a16:creationId xmlns:a16="http://schemas.microsoft.com/office/drawing/2014/main" id="{99D842C8-0770-4AFB-73C5-D4E5E0830661}"/>
                </a:ext>
              </a:extLst>
            </p:cNvPr>
            <p:cNvSpPr txBox="1"/>
            <p:nvPr/>
          </p:nvSpPr>
          <p:spPr>
            <a:xfrm>
              <a:off x="2775678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专项方案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68" name="Rounded Rectangle 36">
              <a:extLst>
                <a:ext uri="{FF2B5EF4-FFF2-40B4-BE49-F238E27FC236}">
                  <a16:creationId xmlns:a16="http://schemas.microsoft.com/office/drawing/2014/main" id="{2DEB7F4A-672A-F860-0859-3F17755DFAF9}"/>
                </a:ext>
              </a:extLst>
            </p:cNvPr>
            <p:cNvSpPr/>
            <p:nvPr/>
          </p:nvSpPr>
          <p:spPr>
            <a:xfrm>
              <a:off x="3538103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69" name="Oval 37">
              <a:extLst>
                <a:ext uri="{FF2B5EF4-FFF2-40B4-BE49-F238E27FC236}">
                  <a16:creationId xmlns:a16="http://schemas.microsoft.com/office/drawing/2014/main" id="{1E3F0E46-1A0A-3ECB-C344-62F5726F5701}"/>
                </a:ext>
              </a:extLst>
            </p:cNvPr>
            <p:cNvSpPr/>
            <p:nvPr/>
          </p:nvSpPr>
          <p:spPr>
            <a:xfrm>
              <a:off x="3588261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70" name="TextBox 38">
              <a:extLst>
                <a:ext uri="{FF2B5EF4-FFF2-40B4-BE49-F238E27FC236}">
                  <a16:creationId xmlns:a16="http://schemas.microsoft.com/office/drawing/2014/main" id="{4C3D7A76-33EA-F621-988E-6ECCE50D5F4E}"/>
                </a:ext>
              </a:extLst>
            </p:cNvPr>
            <p:cNvSpPr txBox="1"/>
            <p:nvPr/>
          </p:nvSpPr>
          <p:spPr>
            <a:xfrm>
              <a:off x="3846225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装备设计</a:t>
              </a:r>
            </a:p>
          </p:txBody>
        </p:sp>
        <p:sp>
          <p:nvSpPr>
            <p:cNvPr id="71" name="Rounded Rectangle 39">
              <a:extLst>
                <a:ext uri="{FF2B5EF4-FFF2-40B4-BE49-F238E27FC236}">
                  <a16:creationId xmlns:a16="http://schemas.microsoft.com/office/drawing/2014/main" id="{4EF13F1B-6829-F6C7-28C9-0E766AA8DDFB}"/>
                </a:ext>
              </a:extLst>
            </p:cNvPr>
            <p:cNvSpPr/>
            <p:nvPr/>
          </p:nvSpPr>
          <p:spPr>
            <a:xfrm>
              <a:off x="4608649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2" name="Oval 40">
              <a:extLst>
                <a:ext uri="{FF2B5EF4-FFF2-40B4-BE49-F238E27FC236}">
                  <a16:creationId xmlns:a16="http://schemas.microsoft.com/office/drawing/2014/main" id="{DBB7CAA8-1F34-6D26-A0D5-B0D4CEE1C2C4}"/>
                </a:ext>
              </a:extLst>
            </p:cNvPr>
            <p:cNvSpPr/>
            <p:nvPr/>
          </p:nvSpPr>
          <p:spPr>
            <a:xfrm>
              <a:off x="4658810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4A531A05-C14B-2EE9-048C-4A9EE03215A4}"/>
                </a:ext>
              </a:extLst>
            </p:cNvPr>
            <p:cNvSpPr txBox="1"/>
            <p:nvPr/>
          </p:nvSpPr>
          <p:spPr>
            <a:xfrm>
              <a:off x="4916773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地勘监测</a:t>
              </a:r>
            </a:p>
          </p:txBody>
        </p:sp>
        <p:sp>
          <p:nvSpPr>
            <p:cNvPr id="74" name="Rounded Rectangle 42">
              <a:extLst>
                <a:ext uri="{FF2B5EF4-FFF2-40B4-BE49-F238E27FC236}">
                  <a16:creationId xmlns:a16="http://schemas.microsoft.com/office/drawing/2014/main" id="{F7FBC12F-84AC-0FF0-2A7E-CF59CFC6DA9E}"/>
                </a:ext>
              </a:extLst>
            </p:cNvPr>
            <p:cNvSpPr/>
            <p:nvPr/>
          </p:nvSpPr>
          <p:spPr>
            <a:xfrm>
              <a:off x="5679199" y="1841463"/>
              <a:ext cx="984559" cy="322455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5" name="Oval 43">
              <a:extLst>
                <a:ext uri="{FF2B5EF4-FFF2-40B4-BE49-F238E27FC236}">
                  <a16:creationId xmlns:a16="http://schemas.microsoft.com/office/drawing/2014/main" id="{A0A680D3-4DED-9E0A-C841-B6BB2104C63E}"/>
                </a:ext>
              </a:extLst>
            </p:cNvPr>
            <p:cNvSpPr/>
            <p:nvPr/>
          </p:nvSpPr>
          <p:spPr>
            <a:xfrm>
              <a:off x="5729358" y="1895205"/>
              <a:ext cx="214969" cy="214969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B720BA6F-35D6-5187-177E-C95450EB4650}"/>
                </a:ext>
              </a:extLst>
            </p:cNvPr>
            <p:cNvSpPr txBox="1"/>
            <p:nvPr/>
          </p:nvSpPr>
          <p:spPr>
            <a:xfrm>
              <a:off x="5987321" y="1890617"/>
              <a:ext cx="640609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施工日志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77" name="Right Arrow 45">
              <a:extLst>
                <a:ext uri="{FF2B5EF4-FFF2-40B4-BE49-F238E27FC236}">
                  <a16:creationId xmlns:a16="http://schemas.microsoft.com/office/drawing/2014/main" id="{641586F8-139D-66AB-431A-E51399E6FF9D}"/>
                </a:ext>
              </a:extLst>
            </p:cNvPr>
            <p:cNvSpPr/>
            <p:nvPr/>
          </p:nvSpPr>
          <p:spPr>
            <a:xfrm>
              <a:off x="3525205" y="2328726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8" name="Rounded Rectangle 46">
              <a:extLst>
                <a:ext uri="{FF2B5EF4-FFF2-40B4-BE49-F238E27FC236}">
                  <a16:creationId xmlns:a16="http://schemas.microsoft.com/office/drawing/2014/main" id="{F60F9336-04DC-D08F-C2FD-C851D9D164A5}"/>
                </a:ext>
              </a:extLst>
            </p:cNvPr>
            <p:cNvSpPr/>
            <p:nvPr/>
          </p:nvSpPr>
          <p:spPr>
            <a:xfrm>
              <a:off x="336492" y="2464874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9" name="Rectangle 47">
              <a:extLst>
                <a:ext uri="{FF2B5EF4-FFF2-40B4-BE49-F238E27FC236}">
                  <a16:creationId xmlns:a16="http://schemas.microsoft.com/office/drawing/2014/main" id="{FA51B058-04D9-5F06-B0A7-D9D51A07431B}"/>
                </a:ext>
              </a:extLst>
            </p:cNvPr>
            <p:cNvSpPr/>
            <p:nvPr/>
          </p:nvSpPr>
          <p:spPr>
            <a:xfrm>
              <a:off x="336492" y="2464874"/>
              <a:ext cx="931534" cy="587584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7E7576E3-3032-EA1A-33FC-97A71001121B}"/>
                </a:ext>
              </a:extLst>
            </p:cNvPr>
            <p:cNvSpPr txBox="1"/>
            <p:nvPr/>
          </p:nvSpPr>
          <p:spPr>
            <a:xfrm>
              <a:off x="422479" y="2489385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知识建模层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81" name="Rounded Rectangle 49">
              <a:extLst>
                <a:ext uri="{FF2B5EF4-FFF2-40B4-BE49-F238E27FC236}">
                  <a16:creationId xmlns:a16="http://schemas.microsoft.com/office/drawing/2014/main" id="{05B0B114-7CA4-11E3-43A1-462C1CF0BC7F}"/>
                </a:ext>
              </a:extLst>
            </p:cNvPr>
            <p:cNvSpPr/>
            <p:nvPr/>
          </p:nvSpPr>
          <p:spPr>
            <a:xfrm>
              <a:off x="1397008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2" name="Oval 50">
              <a:extLst>
                <a:ext uri="{FF2B5EF4-FFF2-40B4-BE49-F238E27FC236}">
                  <a16:creationId xmlns:a16="http://schemas.microsoft.com/office/drawing/2014/main" id="{4097F2E3-10EF-56A8-EC78-2D8B16D074BC}"/>
                </a:ext>
              </a:extLst>
            </p:cNvPr>
            <p:cNvSpPr/>
            <p:nvPr/>
          </p:nvSpPr>
          <p:spPr>
            <a:xfrm>
              <a:off x="1447166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83" name="TextBox 51">
              <a:extLst>
                <a:ext uri="{FF2B5EF4-FFF2-40B4-BE49-F238E27FC236}">
                  <a16:creationId xmlns:a16="http://schemas.microsoft.com/office/drawing/2014/main" id="{C758A642-780B-862F-68EA-AA80F413C115}"/>
                </a:ext>
              </a:extLst>
            </p:cNvPr>
            <p:cNvSpPr txBox="1"/>
            <p:nvPr/>
          </p:nvSpPr>
          <p:spPr>
            <a:xfrm>
              <a:off x="1705129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施工工序模型</a:t>
              </a:r>
            </a:p>
          </p:txBody>
        </p:sp>
        <p:sp>
          <p:nvSpPr>
            <p:cNvPr id="84" name="Rounded Rectangle 52">
              <a:extLst>
                <a:ext uri="{FF2B5EF4-FFF2-40B4-BE49-F238E27FC236}">
                  <a16:creationId xmlns:a16="http://schemas.microsoft.com/office/drawing/2014/main" id="{7281EBDD-9845-8973-9C87-2E14B5A7C00A}"/>
                </a:ext>
              </a:extLst>
            </p:cNvPr>
            <p:cNvSpPr/>
            <p:nvPr/>
          </p:nvSpPr>
          <p:spPr>
            <a:xfrm>
              <a:off x="2735191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5" name="Oval 53">
              <a:extLst>
                <a:ext uri="{FF2B5EF4-FFF2-40B4-BE49-F238E27FC236}">
                  <a16:creationId xmlns:a16="http://schemas.microsoft.com/office/drawing/2014/main" id="{07BA2A71-8FCB-C3F0-4A69-E322B714DAE5}"/>
                </a:ext>
              </a:extLst>
            </p:cNvPr>
            <p:cNvSpPr/>
            <p:nvPr/>
          </p:nvSpPr>
          <p:spPr>
            <a:xfrm>
              <a:off x="2785351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86" name="TextBox 54">
              <a:extLst>
                <a:ext uri="{FF2B5EF4-FFF2-40B4-BE49-F238E27FC236}">
                  <a16:creationId xmlns:a16="http://schemas.microsoft.com/office/drawing/2014/main" id="{66072610-AADB-E49C-893D-A0F8E1255989}"/>
                </a:ext>
              </a:extLst>
            </p:cNvPr>
            <p:cNvSpPr txBox="1"/>
            <p:nvPr/>
          </p:nvSpPr>
          <p:spPr>
            <a:xfrm>
              <a:off x="3043315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风险机理库</a:t>
              </a:r>
            </a:p>
          </p:txBody>
        </p:sp>
        <p:sp>
          <p:nvSpPr>
            <p:cNvPr id="87" name="Rounded Rectangle 55">
              <a:extLst>
                <a:ext uri="{FF2B5EF4-FFF2-40B4-BE49-F238E27FC236}">
                  <a16:creationId xmlns:a16="http://schemas.microsoft.com/office/drawing/2014/main" id="{CCDBDA43-CE88-A96E-1E8D-9615A7DCB1BF}"/>
                </a:ext>
              </a:extLst>
            </p:cNvPr>
            <p:cNvSpPr/>
            <p:nvPr/>
          </p:nvSpPr>
          <p:spPr>
            <a:xfrm>
              <a:off x="4073377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8" name="Oval 56">
              <a:extLst>
                <a:ext uri="{FF2B5EF4-FFF2-40B4-BE49-F238E27FC236}">
                  <a16:creationId xmlns:a16="http://schemas.microsoft.com/office/drawing/2014/main" id="{8387C1A5-30E8-B524-6BE6-658CE2E1E3DB}"/>
                </a:ext>
              </a:extLst>
            </p:cNvPr>
            <p:cNvSpPr/>
            <p:nvPr/>
          </p:nvSpPr>
          <p:spPr>
            <a:xfrm>
              <a:off x="4123535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89" name="TextBox 57">
              <a:extLst>
                <a:ext uri="{FF2B5EF4-FFF2-40B4-BE49-F238E27FC236}">
                  <a16:creationId xmlns:a16="http://schemas.microsoft.com/office/drawing/2014/main" id="{2B961ABA-2905-3E71-D5D8-DCA7CDBDE00E}"/>
                </a:ext>
              </a:extLst>
            </p:cNvPr>
            <p:cNvSpPr txBox="1"/>
            <p:nvPr/>
          </p:nvSpPr>
          <p:spPr>
            <a:xfrm>
              <a:off x="4381498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规范标准库</a:t>
              </a:r>
            </a:p>
          </p:txBody>
        </p:sp>
        <p:sp>
          <p:nvSpPr>
            <p:cNvPr id="90" name="Rounded Rectangle 58">
              <a:extLst>
                <a:ext uri="{FF2B5EF4-FFF2-40B4-BE49-F238E27FC236}">
                  <a16:creationId xmlns:a16="http://schemas.microsoft.com/office/drawing/2014/main" id="{A05E049B-5590-587C-2478-58CF8E02E38E}"/>
                </a:ext>
              </a:extLst>
            </p:cNvPr>
            <p:cNvSpPr/>
            <p:nvPr/>
          </p:nvSpPr>
          <p:spPr>
            <a:xfrm>
              <a:off x="5411561" y="2601021"/>
              <a:ext cx="1252196" cy="322455"/>
            </a:xfrm>
            <a:prstGeom prst="roundRect">
              <a:avLst/>
            </a:prstGeom>
            <a:solidFill>
              <a:srgbClr val="EEF8F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1" name="Oval 59">
              <a:extLst>
                <a:ext uri="{FF2B5EF4-FFF2-40B4-BE49-F238E27FC236}">
                  <a16:creationId xmlns:a16="http://schemas.microsoft.com/office/drawing/2014/main" id="{5E43C1E8-C050-E0EC-6E0F-2838E1235F8E}"/>
                </a:ext>
              </a:extLst>
            </p:cNvPr>
            <p:cNvSpPr/>
            <p:nvPr/>
          </p:nvSpPr>
          <p:spPr>
            <a:xfrm>
              <a:off x="5461721" y="2654763"/>
              <a:ext cx="214969" cy="214969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92" name="TextBox 60">
              <a:extLst>
                <a:ext uri="{FF2B5EF4-FFF2-40B4-BE49-F238E27FC236}">
                  <a16:creationId xmlns:a16="http://schemas.microsoft.com/office/drawing/2014/main" id="{7C54C578-0CB8-5AC5-B17F-558E6FF4370F}"/>
                </a:ext>
              </a:extLst>
            </p:cNvPr>
            <p:cNvSpPr txBox="1"/>
            <p:nvPr/>
          </p:nvSpPr>
          <p:spPr>
            <a:xfrm>
              <a:off x="5719684" y="2650176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类比案例库</a:t>
              </a:r>
            </a:p>
          </p:txBody>
        </p:sp>
        <p:sp>
          <p:nvSpPr>
            <p:cNvPr id="93" name="Right Arrow 61">
              <a:extLst>
                <a:ext uri="{FF2B5EF4-FFF2-40B4-BE49-F238E27FC236}">
                  <a16:creationId xmlns:a16="http://schemas.microsoft.com/office/drawing/2014/main" id="{CBC6EA9A-E1F0-9E4D-EA30-0FC2AB6D74B1}"/>
                </a:ext>
              </a:extLst>
            </p:cNvPr>
            <p:cNvSpPr/>
            <p:nvPr/>
          </p:nvSpPr>
          <p:spPr>
            <a:xfrm>
              <a:off x="3525205" y="3088285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4" name="Rounded Rectangle 62">
              <a:extLst>
                <a:ext uri="{FF2B5EF4-FFF2-40B4-BE49-F238E27FC236}">
                  <a16:creationId xmlns:a16="http://schemas.microsoft.com/office/drawing/2014/main" id="{2BE7AAC9-967A-9302-648A-0CF470A1696A}"/>
                </a:ext>
              </a:extLst>
            </p:cNvPr>
            <p:cNvSpPr/>
            <p:nvPr/>
          </p:nvSpPr>
          <p:spPr>
            <a:xfrm>
              <a:off x="336492" y="3224433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5" name="Rectangle 63">
              <a:extLst>
                <a:ext uri="{FF2B5EF4-FFF2-40B4-BE49-F238E27FC236}">
                  <a16:creationId xmlns:a16="http://schemas.microsoft.com/office/drawing/2014/main" id="{2D3184A6-E721-3B72-7828-30488F64D908}"/>
                </a:ext>
              </a:extLst>
            </p:cNvPr>
            <p:cNvSpPr/>
            <p:nvPr/>
          </p:nvSpPr>
          <p:spPr>
            <a:xfrm>
              <a:off x="336492" y="3224433"/>
              <a:ext cx="931534" cy="587584"/>
            </a:xfrm>
            <a:prstGeom prst="rect">
              <a:avLst/>
            </a:prstGeom>
            <a:solidFill>
              <a:srgbClr val="B36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6" name="TextBox 64">
              <a:extLst>
                <a:ext uri="{FF2B5EF4-FFF2-40B4-BE49-F238E27FC236}">
                  <a16:creationId xmlns:a16="http://schemas.microsoft.com/office/drawing/2014/main" id="{F8EC9EC5-EAE2-6BD0-0085-24F65FD85849}"/>
                </a:ext>
              </a:extLst>
            </p:cNvPr>
            <p:cNvSpPr txBox="1"/>
            <p:nvPr/>
          </p:nvSpPr>
          <p:spPr>
            <a:xfrm>
              <a:off x="422479" y="3248944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 dirty="0" err="1">
                  <a:solidFill>
                    <a:srgbClr val="FFFFFF"/>
                  </a:solidFill>
                  <a:latin typeface="Microsoft YaHei"/>
                </a:rPr>
                <a:t>智能推理层</a:t>
              </a:r>
              <a:endParaRPr sz="15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97" name="Rounded Rectangle 65">
              <a:extLst>
                <a:ext uri="{FF2B5EF4-FFF2-40B4-BE49-F238E27FC236}">
                  <a16:creationId xmlns:a16="http://schemas.microsoft.com/office/drawing/2014/main" id="{E8556BE2-BD12-F648-5F9D-E6A6E87FBD6B}"/>
                </a:ext>
              </a:extLst>
            </p:cNvPr>
            <p:cNvSpPr/>
            <p:nvPr/>
          </p:nvSpPr>
          <p:spPr>
            <a:xfrm>
              <a:off x="1397008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8" name="Oval 66">
              <a:extLst>
                <a:ext uri="{FF2B5EF4-FFF2-40B4-BE49-F238E27FC236}">
                  <a16:creationId xmlns:a16="http://schemas.microsoft.com/office/drawing/2014/main" id="{B7375C8F-C9CB-AE49-194E-D007E384E458}"/>
                </a:ext>
              </a:extLst>
            </p:cNvPr>
            <p:cNvSpPr/>
            <p:nvPr/>
          </p:nvSpPr>
          <p:spPr>
            <a:xfrm>
              <a:off x="1447166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99" name="TextBox 67">
              <a:extLst>
                <a:ext uri="{FF2B5EF4-FFF2-40B4-BE49-F238E27FC236}">
                  <a16:creationId xmlns:a16="http://schemas.microsoft.com/office/drawing/2014/main" id="{B6AF29D4-8A67-CFB3-D418-0A99B8A5EAE1}"/>
                </a:ext>
              </a:extLst>
            </p:cNvPr>
            <p:cNvSpPr txBox="1"/>
            <p:nvPr/>
          </p:nvSpPr>
          <p:spPr>
            <a:xfrm>
              <a:off x="1705129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混合检索增强</a:t>
              </a:r>
            </a:p>
          </p:txBody>
        </p:sp>
        <p:sp>
          <p:nvSpPr>
            <p:cNvPr id="101" name="Rounded Rectangle 68">
              <a:extLst>
                <a:ext uri="{FF2B5EF4-FFF2-40B4-BE49-F238E27FC236}">
                  <a16:creationId xmlns:a16="http://schemas.microsoft.com/office/drawing/2014/main" id="{D1EC7FA9-B19C-84DC-22A9-27384007CB3F}"/>
                </a:ext>
              </a:extLst>
            </p:cNvPr>
            <p:cNvSpPr/>
            <p:nvPr/>
          </p:nvSpPr>
          <p:spPr>
            <a:xfrm>
              <a:off x="2735191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2" name="Oval 69">
              <a:extLst>
                <a:ext uri="{FF2B5EF4-FFF2-40B4-BE49-F238E27FC236}">
                  <a16:creationId xmlns:a16="http://schemas.microsoft.com/office/drawing/2014/main" id="{CF27DA26-0037-3208-ACE0-B7F3D7DB5C4B}"/>
                </a:ext>
              </a:extLst>
            </p:cNvPr>
            <p:cNvSpPr/>
            <p:nvPr/>
          </p:nvSpPr>
          <p:spPr>
            <a:xfrm>
              <a:off x="2785351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03" name="TextBox 70">
              <a:extLst>
                <a:ext uri="{FF2B5EF4-FFF2-40B4-BE49-F238E27FC236}">
                  <a16:creationId xmlns:a16="http://schemas.microsoft.com/office/drawing/2014/main" id="{EE64FC81-F3CF-1F4F-F1E4-888E9E43D126}"/>
                </a:ext>
              </a:extLst>
            </p:cNvPr>
            <p:cNvSpPr txBox="1"/>
            <p:nvPr/>
          </p:nvSpPr>
          <p:spPr>
            <a:xfrm>
              <a:off x="3043315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机理驱动提示</a:t>
              </a:r>
            </a:p>
          </p:txBody>
        </p:sp>
        <p:sp>
          <p:nvSpPr>
            <p:cNvPr id="104" name="Rounded Rectangle 71">
              <a:extLst>
                <a:ext uri="{FF2B5EF4-FFF2-40B4-BE49-F238E27FC236}">
                  <a16:creationId xmlns:a16="http://schemas.microsoft.com/office/drawing/2014/main" id="{5060EDCA-AE02-B9B0-3283-A4A2D8A901C4}"/>
                </a:ext>
              </a:extLst>
            </p:cNvPr>
            <p:cNvSpPr/>
            <p:nvPr/>
          </p:nvSpPr>
          <p:spPr>
            <a:xfrm>
              <a:off x="4073377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5" name="Oval 72">
              <a:extLst>
                <a:ext uri="{FF2B5EF4-FFF2-40B4-BE49-F238E27FC236}">
                  <a16:creationId xmlns:a16="http://schemas.microsoft.com/office/drawing/2014/main" id="{AC19EDDE-5AED-0AE8-3C88-230839444D44}"/>
                </a:ext>
              </a:extLst>
            </p:cNvPr>
            <p:cNvSpPr/>
            <p:nvPr/>
          </p:nvSpPr>
          <p:spPr>
            <a:xfrm>
              <a:off x="4123535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06" name="TextBox 73">
              <a:extLst>
                <a:ext uri="{FF2B5EF4-FFF2-40B4-BE49-F238E27FC236}">
                  <a16:creationId xmlns:a16="http://schemas.microsoft.com/office/drawing/2014/main" id="{24F0C1CE-0096-6C8E-CA69-361997C85E5D}"/>
                </a:ext>
              </a:extLst>
            </p:cNvPr>
            <p:cNvSpPr txBox="1"/>
            <p:nvPr/>
          </p:nvSpPr>
          <p:spPr>
            <a:xfrm>
              <a:off x="4381498" y="3409732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LLM风险推理</a:t>
              </a:r>
            </a:p>
          </p:txBody>
        </p:sp>
        <p:sp>
          <p:nvSpPr>
            <p:cNvPr id="107" name="Rounded Rectangle 74">
              <a:extLst>
                <a:ext uri="{FF2B5EF4-FFF2-40B4-BE49-F238E27FC236}">
                  <a16:creationId xmlns:a16="http://schemas.microsoft.com/office/drawing/2014/main" id="{4946E93E-8969-8CDE-9BCE-F908D8168D65}"/>
                </a:ext>
              </a:extLst>
            </p:cNvPr>
            <p:cNvSpPr/>
            <p:nvPr/>
          </p:nvSpPr>
          <p:spPr>
            <a:xfrm>
              <a:off x="5411561" y="3360581"/>
              <a:ext cx="1252196" cy="322455"/>
            </a:xfrm>
            <a:prstGeom prst="roundRect">
              <a:avLst/>
            </a:prstGeom>
            <a:solidFill>
              <a:srgbClr val="FFF6E4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08" name="Oval 75">
              <a:extLst>
                <a:ext uri="{FF2B5EF4-FFF2-40B4-BE49-F238E27FC236}">
                  <a16:creationId xmlns:a16="http://schemas.microsoft.com/office/drawing/2014/main" id="{8C7806F9-107D-206D-D516-193FEC71FA23}"/>
                </a:ext>
              </a:extLst>
            </p:cNvPr>
            <p:cNvSpPr/>
            <p:nvPr/>
          </p:nvSpPr>
          <p:spPr>
            <a:xfrm>
              <a:off x="5461721" y="3414322"/>
              <a:ext cx="214969" cy="214969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09" name="TextBox 76">
              <a:extLst>
                <a:ext uri="{FF2B5EF4-FFF2-40B4-BE49-F238E27FC236}">
                  <a16:creationId xmlns:a16="http://schemas.microsoft.com/office/drawing/2014/main" id="{DB4B2BBE-6A1A-2BDE-F160-437EA520FF8E}"/>
                </a:ext>
              </a:extLst>
            </p:cNvPr>
            <p:cNvSpPr txBox="1"/>
            <p:nvPr/>
          </p:nvSpPr>
          <p:spPr>
            <a:xfrm>
              <a:off x="5719684" y="3409731"/>
              <a:ext cx="944073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规则</a:t>
              </a:r>
              <a:r>
                <a:rPr sz="1050" b="1" dirty="0">
                  <a:solidFill>
                    <a:srgbClr val="1C2733"/>
                  </a:solidFill>
                  <a:latin typeface="Microsoft YaHei"/>
                </a:rPr>
                <a:t>/</a:t>
              </a:r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仿真校验</a:t>
              </a:r>
              <a:endParaRPr sz="1050" b="1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10" name="Right Arrow 77">
              <a:extLst>
                <a:ext uri="{FF2B5EF4-FFF2-40B4-BE49-F238E27FC236}">
                  <a16:creationId xmlns:a16="http://schemas.microsoft.com/office/drawing/2014/main" id="{415EC962-FAAF-08E5-6ED3-E1CD0A819134}"/>
                </a:ext>
              </a:extLst>
            </p:cNvPr>
            <p:cNvSpPr/>
            <p:nvPr/>
          </p:nvSpPr>
          <p:spPr>
            <a:xfrm>
              <a:off x="3525205" y="3847844"/>
              <a:ext cx="71656" cy="128982"/>
            </a:xfrm>
            <a:prstGeom prst="rightArrow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1" name="Rounded Rectangle 78">
              <a:extLst>
                <a:ext uri="{FF2B5EF4-FFF2-40B4-BE49-F238E27FC236}">
                  <a16:creationId xmlns:a16="http://schemas.microsoft.com/office/drawing/2014/main" id="{774D96CC-A232-593E-5DC0-B807DABA34EF}"/>
                </a:ext>
              </a:extLst>
            </p:cNvPr>
            <p:cNvSpPr/>
            <p:nvPr/>
          </p:nvSpPr>
          <p:spPr>
            <a:xfrm>
              <a:off x="336492" y="3983992"/>
              <a:ext cx="6449083" cy="5875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2" name="Rectangle 79">
              <a:extLst>
                <a:ext uri="{FF2B5EF4-FFF2-40B4-BE49-F238E27FC236}">
                  <a16:creationId xmlns:a16="http://schemas.microsoft.com/office/drawing/2014/main" id="{5D4D5698-A7A5-4E57-2C19-683D896CE450}"/>
                </a:ext>
              </a:extLst>
            </p:cNvPr>
            <p:cNvSpPr/>
            <p:nvPr/>
          </p:nvSpPr>
          <p:spPr>
            <a:xfrm>
              <a:off x="336492" y="3983992"/>
              <a:ext cx="931534" cy="587584"/>
            </a:xfrm>
            <a:prstGeom prst="rect">
              <a:avLst/>
            </a:prstGeom>
            <a:solidFill>
              <a:srgbClr val="6E55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3" name="TextBox 80">
              <a:extLst>
                <a:ext uri="{FF2B5EF4-FFF2-40B4-BE49-F238E27FC236}">
                  <a16:creationId xmlns:a16="http://schemas.microsoft.com/office/drawing/2014/main" id="{3343B4C7-76AB-D4CE-3224-92800AA93E01}"/>
                </a:ext>
              </a:extLst>
            </p:cNvPr>
            <p:cNvSpPr txBox="1"/>
            <p:nvPr/>
          </p:nvSpPr>
          <p:spPr>
            <a:xfrm>
              <a:off x="422479" y="4008504"/>
              <a:ext cx="752393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500" b="1">
                  <a:solidFill>
                    <a:srgbClr val="FFFFFF"/>
                  </a:solidFill>
                  <a:latin typeface="Microsoft YaHei"/>
                </a:rPr>
                <a:t>应用输出层</a:t>
              </a:r>
            </a:p>
          </p:txBody>
        </p:sp>
        <p:sp>
          <p:nvSpPr>
            <p:cNvPr id="114" name="Rounded Rectangle 81">
              <a:extLst>
                <a:ext uri="{FF2B5EF4-FFF2-40B4-BE49-F238E27FC236}">
                  <a16:creationId xmlns:a16="http://schemas.microsoft.com/office/drawing/2014/main" id="{6DBB4EE5-35D2-C04F-3663-706C30B9D6D3}"/>
                </a:ext>
              </a:extLst>
            </p:cNvPr>
            <p:cNvSpPr/>
            <p:nvPr/>
          </p:nvSpPr>
          <p:spPr>
            <a:xfrm>
              <a:off x="1397008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5" name="Oval 82">
              <a:extLst>
                <a:ext uri="{FF2B5EF4-FFF2-40B4-BE49-F238E27FC236}">
                  <a16:creationId xmlns:a16="http://schemas.microsoft.com/office/drawing/2014/main" id="{8E99D2BE-4E38-1A70-6BBB-5FE52D1E34DD}"/>
                </a:ext>
              </a:extLst>
            </p:cNvPr>
            <p:cNvSpPr/>
            <p:nvPr/>
          </p:nvSpPr>
          <p:spPr>
            <a:xfrm>
              <a:off x="1447166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116" name="TextBox 83">
              <a:extLst>
                <a:ext uri="{FF2B5EF4-FFF2-40B4-BE49-F238E27FC236}">
                  <a16:creationId xmlns:a16="http://schemas.microsoft.com/office/drawing/2014/main" id="{009F3439-FC5F-162D-9DDC-2D4CBDD80A35}"/>
                </a:ext>
              </a:extLst>
            </p:cNvPr>
            <p:cNvSpPr txBox="1"/>
            <p:nvPr/>
          </p:nvSpPr>
          <p:spPr>
            <a:xfrm>
              <a:off x="1705129" y="4088502"/>
              <a:ext cx="90824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标准化风险记录</a:t>
              </a:r>
            </a:p>
          </p:txBody>
        </p:sp>
        <p:sp>
          <p:nvSpPr>
            <p:cNvPr id="117" name="Rounded Rectangle 84">
              <a:extLst>
                <a:ext uri="{FF2B5EF4-FFF2-40B4-BE49-F238E27FC236}">
                  <a16:creationId xmlns:a16="http://schemas.microsoft.com/office/drawing/2014/main" id="{F7CDFDF1-4608-D8C8-7E84-EDB1018EAB0B}"/>
                </a:ext>
              </a:extLst>
            </p:cNvPr>
            <p:cNvSpPr/>
            <p:nvPr/>
          </p:nvSpPr>
          <p:spPr>
            <a:xfrm>
              <a:off x="2735191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8" name="Oval 85">
              <a:extLst>
                <a:ext uri="{FF2B5EF4-FFF2-40B4-BE49-F238E27FC236}">
                  <a16:creationId xmlns:a16="http://schemas.microsoft.com/office/drawing/2014/main" id="{17F29E36-B794-7D35-6DC3-5D32555E7460}"/>
                </a:ext>
              </a:extLst>
            </p:cNvPr>
            <p:cNvSpPr/>
            <p:nvPr/>
          </p:nvSpPr>
          <p:spPr>
            <a:xfrm>
              <a:off x="2785351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19" name="TextBox 86">
              <a:extLst>
                <a:ext uri="{FF2B5EF4-FFF2-40B4-BE49-F238E27FC236}">
                  <a16:creationId xmlns:a16="http://schemas.microsoft.com/office/drawing/2014/main" id="{9107D1D8-E8EF-B8B1-A2E1-B61EC5D89504}"/>
                </a:ext>
              </a:extLst>
            </p:cNvPr>
            <p:cNvSpPr txBox="1"/>
            <p:nvPr/>
          </p:nvSpPr>
          <p:spPr>
            <a:xfrm>
              <a:off x="3043315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风险关联图谱</a:t>
              </a:r>
            </a:p>
          </p:txBody>
        </p:sp>
        <p:sp>
          <p:nvSpPr>
            <p:cNvPr id="120" name="Rounded Rectangle 87">
              <a:extLst>
                <a:ext uri="{FF2B5EF4-FFF2-40B4-BE49-F238E27FC236}">
                  <a16:creationId xmlns:a16="http://schemas.microsoft.com/office/drawing/2014/main" id="{B954579C-D04B-3663-86AB-5118623DBD82}"/>
                </a:ext>
              </a:extLst>
            </p:cNvPr>
            <p:cNvSpPr/>
            <p:nvPr/>
          </p:nvSpPr>
          <p:spPr>
            <a:xfrm>
              <a:off x="4073377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1" name="Oval 88">
              <a:extLst>
                <a:ext uri="{FF2B5EF4-FFF2-40B4-BE49-F238E27FC236}">
                  <a16:creationId xmlns:a16="http://schemas.microsoft.com/office/drawing/2014/main" id="{8E0F0FC2-525B-20FE-D131-7E3110C2A64A}"/>
                </a:ext>
              </a:extLst>
            </p:cNvPr>
            <p:cNvSpPr/>
            <p:nvPr/>
          </p:nvSpPr>
          <p:spPr>
            <a:xfrm>
              <a:off x="4123535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22" name="TextBox 89">
              <a:extLst>
                <a:ext uri="{FF2B5EF4-FFF2-40B4-BE49-F238E27FC236}">
                  <a16:creationId xmlns:a16="http://schemas.microsoft.com/office/drawing/2014/main" id="{7D8315DD-2F6C-75DB-F022-5B48610561D2}"/>
                </a:ext>
              </a:extLst>
            </p:cNvPr>
            <p:cNvSpPr txBox="1"/>
            <p:nvPr/>
          </p:nvSpPr>
          <p:spPr>
            <a:xfrm>
              <a:off x="4381498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管理系统接口</a:t>
              </a:r>
            </a:p>
          </p:txBody>
        </p:sp>
        <p:sp>
          <p:nvSpPr>
            <p:cNvPr id="123" name="Rounded Rectangle 90">
              <a:extLst>
                <a:ext uri="{FF2B5EF4-FFF2-40B4-BE49-F238E27FC236}">
                  <a16:creationId xmlns:a16="http://schemas.microsoft.com/office/drawing/2014/main" id="{5A927893-D86C-95BA-50F8-D983F0F35549}"/>
                </a:ext>
              </a:extLst>
            </p:cNvPr>
            <p:cNvSpPr/>
            <p:nvPr/>
          </p:nvSpPr>
          <p:spPr>
            <a:xfrm>
              <a:off x="5411561" y="4120139"/>
              <a:ext cx="1252196" cy="322455"/>
            </a:xfrm>
            <a:prstGeom prst="roundRect">
              <a:avLst/>
            </a:prstGeom>
            <a:solidFill>
              <a:srgbClr val="F2F0FA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4" name="Oval 91">
              <a:extLst>
                <a:ext uri="{FF2B5EF4-FFF2-40B4-BE49-F238E27FC236}">
                  <a16:creationId xmlns:a16="http://schemas.microsoft.com/office/drawing/2014/main" id="{011A5C09-8165-B403-2EA7-B0B21A615531}"/>
                </a:ext>
              </a:extLst>
            </p:cNvPr>
            <p:cNvSpPr/>
            <p:nvPr/>
          </p:nvSpPr>
          <p:spPr>
            <a:xfrm>
              <a:off x="5461721" y="4173882"/>
              <a:ext cx="214969" cy="214969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5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25" name="TextBox 92">
              <a:extLst>
                <a:ext uri="{FF2B5EF4-FFF2-40B4-BE49-F238E27FC236}">
                  <a16:creationId xmlns:a16="http://schemas.microsoft.com/office/drawing/2014/main" id="{F983032C-7663-B09D-A86D-C2CD4C562A47}"/>
                </a:ext>
              </a:extLst>
            </p:cNvPr>
            <p:cNvSpPr txBox="1"/>
            <p:nvPr/>
          </p:nvSpPr>
          <p:spPr>
            <a:xfrm>
              <a:off x="5719684" y="4169294"/>
              <a:ext cx="908245" cy="21698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追溯与复核</a:t>
              </a:r>
            </a:p>
          </p:txBody>
        </p:sp>
        <p:sp>
          <p:nvSpPr>
            <p:cNvPr id="13343" name="TextBox 16">
              <a:extLst>
                <a:ext uri="{FF2B5EF4-FFF2-40B4-BE49-F238E27FC236}">
                  <a16:creationId xmlns:a16="http://schemas.microsoft.com/office/drawing/2014/main" id="{7CB2E8D7-98D8-C366-29D0-D1C1E8F52278}"/>
                </a:ext>
              </a:extLst>
            </p:cNvPr>
            <p:cNvSpPr txBox="1"/>
            <p:nvPr/>
          </p:nvSpPr>
          <p:spPr>
            <a:xfrm>
              <a:off x="3046268" y="1329603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系统架构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  <p:grpSp>
        <p:nvGrpSpPr>
          <p:cNvPr id="13346" name="组合 13345">
            <a:extLst>
              <a:ext uri="{FF2B5EF4-FFF2-40B4-BE49-F238E27FC236}">
                <a16:creationId xmlns:a16="http://schemas.microsoft.com/office/drawing/2014/main" id="{C7E04C28-6DAE-AC43-31F7-758BD9D9DDA5}"/>
              </a:ext>
            </a:extLst>
          </p:cNvPr>
          <p:cNvGrpSpPr/>
          <p:nvPr/>
        </p:nvGrpSpPr>
        <p:grpSpPr>
          <a:xfrm>
            <a:off x="7000541" y="1312181"/>
            <a:ext cx="2042210" cy="3541277"/>
            <a:chOff x="7000541" y="1312181"/>
            <a:chExt cx="2042210" cy="3541277"/>
          </a:xfrm>
        </p:grpSpPr>
        <p:sp>
          <p:nvSpPr>
            <p:cNvPr id="126" name="Rounded Rectangle 93">
              <a:extLst>
                <a:ext uri="{FF2B5EF4-FFF2-40B4-BE49-F238E27FC236}">
                  <a16:creationId xmlns:a16="http://schemas.microsoft.com/office/drawing/2014/main" id="{FFA9BF0D-A77D-39AE-1101-110C590495CD}"/>
                </a:ext>
              </a:extLst>
            </p:cNvPr>
            <p:cNvSpPr/>
            <p:nvPr/>
          </p:nvSpPr>
          <p:spPr>
            <a:xfrm>
              <a:off x="7000541" y="1312181"/>
              <a:ext cx="2042210" cy="354127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13339" name="组合 13338">
              <a:extLst>
                <a:ext uri="{FF2B5EF4-FFF2-40B4-BE49-F238E27FC236}">
                  <a16:creationId xmlns:a16="http://schemas.microsoft.com/office/drawing/2014/main" id="{FD08578B-CE72-D5A4-4AC1-C8274581898D}"/>
                </a:ext>
              </a:extLst>
            </p:cNvPr>
            <p:cNvGrpSpPr/>
            <p:nvPr/>
          </p:nvGrpSpPr>
          <p:grpSpPr>
            <a:xfrm>
              <a:off x="7105753" y="1697785"/>
              <a:ext cx="920997" cy="247760"/>
              <a:chOff x="7143853" y="1761285"/>
              <a:chExt cx="920997" cy="247760"/>
            </a:xfrm>
          </p:grpSpPr>
          <p:sp>
            <p:nvSpPr>
              <p:cNvPr id="13313" name="Oval 96">
                <a:extLst>
                  <a:ext uri="{FF2B5EF4-FFF2-40B4-BE49-F238E27FC236}">
                    <a16:creationId xmlns:a16="http://schemas.microsoft.com/office/drawing/2014/main" id="{CFE960D8-E223-F7AE-B7C6-66AD2903BFF2}"/>
                  </a:ext>
                </a:extLst>
              </p:cNvPr>
              <p:cNvSpPr/>
              <p:nvPr/>
            </p:nvSpPr>
            <p:spPr>
              <a:xfrm>
                <a:off x="7143853" y="1813509"/>
                <a:ext cx="114650" cy="114650"/>
              </a:xfrm>
              <a:prstGeom prst="ellipse">
                <a:avLst/>
              </a:prstGeom>
              <a:solidFill>
                <a:srgbClr val="1F5E96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14" name="TextBox 97">
                <a:extLst>
                  <a:ext uri="{FF2B5EF4-FFF2-40B4-BE49-F238E27FC236}">
                    <a16:creationId xmlns:a16="http://schemas.microsoft.com/office/drawing/2014/main" id="{5A132102-0A66-2A2A-D6BF-2F44A53F1601}"/>
                  </a:ext>
                </a:extLst>
              </p:cNvPr>
              <p:cNvSpPr txBox="1"/>
              <p:nvPr/>
            </p:nvSpPr>
            <p:spPr>
              <a:xfrm>
                <a:off x="7322996" y="1761285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对象贯通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15" name="TextBox 98">
              <a:extLst>
                <a:ext uri="{FF2B5EF4-FFF2-40B4-BE49-F238E27FC236}">
                  <a16:creationId xmlns:a16="http://schemas.microsoft.com/office/drawing/2014/main" id="{34FB2E94-21CF-2A7C-9BCE-72D26009E73D}"/>
                </a:ext>
              </a:extLst>
            </p:cNvPr>
            <p:cNvSpPr txBox="1"/>
            <p:nvPr/>
          </p:nvSpPr>
          <p:spPr>
            <a:xfrm>
              <a:off x="7284895" y="1938164"/>
              <a:ext cx="1719756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工序节点、风险因素、风险事件与证据片段统一编号，避免识别结果脱离工程对象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0" name="组合 13339">
              <a:extLst>
                <a:ext uri="{FF2B5EF4-FFF2-40B4-BE49-F238E27FC236}">
                  <a16:creationId xmlns:a16="http://schemas.microsoft.com/office/drawing/2014/main" id="{01BA8419-A13E-6EF5-EB45-ADA31E164AFD}"/>
                </a:ext>
              </a:extLst>
            </p:cNvPr>
            <p:cNvGrpSpPr/>
            <p:nvPr/>
          </p:nvGrpSpPr>
          <p:grpSpPr>
            <a:xfrm>
              <a:off x="7105753" y="2454216"/>
              <a:ext cx="920997" cy="247760"/>
              <a:chOff x="7143853" y="2775950"/>
              <a:chExt cx="920997" cy="247760"/>
            </a:xfrm>
          </p:grpSpPr>
          <p:sp>
            <p:nvSpPr>
              <p:cNvPr id="13316" name="Oval 99">
                <a:extLst>
                  <a:ext uri="{FF2B5EF4-FFF2-40B4-BE49-F238E27FC236}">
                    <a16:creationId xmlns:a16="http://schemas.microsoft.com/office/drawing/2014/main" id="{5F88C95B-EC1E-0627-CC23-9A169DCC9A6E}"/>
                  </a:ext>
                </a:extLst>
              </p:cNvPr>
              <p:cNvSpPr/>
              <p:nvPr/>
            </p:nvSpPr>
            <p:spPr>
              <a:xfrm>
                <a:off x="7143853" y="2828173"/>
                <a:ext cx="114650" cy="114650"/>
              </a:xfrm>
              <a:prstGeom prst="ellipse">
                <a:avLst/>
              </a:prstGeom>
              <a:solidFill>
                <a:srgbClr val="2F8F7A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17" name="TextBox 100">
                <a:extLst>
                  <a:ext uri="{FF2B5EF4-FFF2-40B4-BE49-F238E27FC236}">
                    <a16:creationId xmlns:a16="http://schemas.microsoft.com/office/drawing/2014/main" id="{909F7803-024F-016E-C30F-5E75251FBF08}"/>
                  </a:ext>
                </a:extLst>
              </p:cNvPr>
              <p:cNvSpPr txBox="1"/>
              <p:nvPr/>
            </p:nvSpPr>
            <p:spPr>
              <a:xfrm>
                <a:off x="7322996" y="2775950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机理约束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18" name="TextBox 101">
              <a:extLst>
                <a:ext uri="{FF2B5EF4-FFF2-40B4-BE49-F238E27FC236}">
                  <a16:creationId xmlns:a16="http://schemas.microsoft.com/office/drawing/2014/main" id="{7DFBC6B0-4286-6F85-9095-90DCB38577F4}"/>
                </a:ext>
              </a:extLst>
            </p:cNvPr>
            <p:cNvSpPr txBox="1"/>
            <p:nvPr/>
          </p:nvSpPr>
          <p:spPr>
            <a:xfrm>
              <a:off x="7284895" y="2692478"/>
              <a:ext cx="1719756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风险机理库把“致险因素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作用路径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监测指标</a:t>
              </a:r>
              <a:r>
                <a:rPr sz="1000" b="1" dirty="0">
                  <a:latin typeface="Microsoft YaHei"/>
                </a:rPr>
                <a:t>—</a:t>
              </a:r>
              <a:r>
                <a:rPr sz="1000" b="1" dirty="0" err="1">
                  <a:latin typeface="Microsoft YaHei"/>
                </a:rPr>
                <a:t>防控措施”固化为可检索知识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1" name="组合 13340">
              <a:extLst>
                <a:ext uri="{FF2B5EF4-FFF2-40B4-BE49-F238E27FC236}">
                  <a16:creationId xmlns:a16="http://schemas.microsoft.com/office/drawing/2014/main" id="{05441C09-D24C-194A-9640-ECD5917E82D0}"/>
                </a:ext>
              </a:extLst>
            </p:cNvPr>
            <p:cNvGrpSpPr/>
            <p:nvPr/>
          </p:nvGrpSpPr>
          <p:grpSpPr>
            <a:xfrm>
              <a:off x="7105753" y="3210647"/>
              <a:ext cx="920997" cy="247760"/>
              <a:chOff x="7143853" y="3377863"/>
              <a:chExt cx="920997" cy="247760"/>
            </a:xfrm>
          </p:grpSpPr>
          <p:sp>
            <p:nvSpPr>
              <p:cNvPr id="13319" name="Oval 102">
                <a:extLst>
                  <a:ext uri="{FF2B5EF4-FFF2-40B4-BE49-F238E27FC236}">
                    <a16:creationId xmlns:a16="http://schemas.microsoft.com/office/drawing/2014/main" id="{DDFCF178-6C2F-503E-1186-8B60E1A60A83}"/>
                  </a:ext>
                </a:extLst>
              </p:cNvPr>
              <p:cNvSpPr/>
              <p:nvPr/>
            </p:nvSpPr>
            <p:spPr>
              <a:xfrm>
                <a:off x="7143853" y="3430087"/>
                <a:ext cx="114650" cy="114650"/>
              </a:xfrm>
              <a:prstGeom prst="ellipse">
                <a:avLst/>
              </a:prstGeom>
              <a:solidFill>
                <a:srgbClr val="F2994A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20" name="TextBox 103">
                <a:extLst>
                  <a:ext uri="{FF2B5EF4-FFF2-40B4-BE49-F238E27FC236}">
                    <a16:creationId xmlns:a16="http://schemas.microsoft.com/office/drawing/2014/main" id="{4A2FF77F-699B-067E-FF1E-649CF22C6046}"/>
                  </a:ext>
                </a:extLst>
              </p:cNvPr>
              <p:cNvSpPr txBox="1"/>
              <p:nvPr/>
            </p:nvSpPr>
            <p:spPr>
              <a:xfrm>
                <a:off x="7322996" y="3377863"/>
                <a:ext cx="741854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证据追溯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23" name="TextBox 104">
              <a:extLst>
                <a:ext uri="{FF2B5EF4-FFF2-40B4-BE49-F238E27FC236}">
                  <a16:creationId xmlns:a16="http://schemas.microsoft.com/office/drawing/2014/main" id="{21E48C81-AEC6-7615-E319-C4E665D67ADB}"/>
                </a:ext>
              </a:extLst>
            </p:cNvPr>
            <p:cNvSpPr txBox="1"/>
            <p:nvPr/>
          </p:nvSpPr>
          <p:spPr>
            <a:xfrm>
              <a:off x="7284895" y="3446791"/>
              <a:ext cx="1719755" cy="5170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每条风险记录保留资料来源、规范条文、类比案例和模型置信度，支持复核</a:t>
              </a:r>
              <a:r>
                <a:rPr sz="1000" b="1" dirty="0">
                  <a:latin typeface="Microsoft YaHei"/>
                </a:rPr>
                <a:t>。</a:t>
              </a:r>
            </a:p>
          </p:txBody>
        </p:sp>
        <p:grpSp>
          <p:nvGrpSpPr>
            <p:cNvPr id="13342" name="组合 13341">
              <a:extLst>
                <a:ext uri="{FF2B5EF4-FFF2-40B4-BE49-F238E27FC236}">
                  <a16:creationId xmlns:a16="http://schemas.microsoft.com/office/drawing/2014/main" id="{F35F945C-A8DC-2542-0319-AC1A69B928B0}"/>
                </a:ext>
              </a:extLst>
            </p:cNvPr>
            <p:cNvGrpSpPr/>
            <p:nvPr/>
          </p:nvGrpSpPr>
          <p:grpSpPr>
            <a:xfrm>
              <a:off x="7105753" y="3967077"/>
              <a:ext cx="920995" cy="247760"/>
              <a:chOff x="7143853" y="3979777"/>
              <a:chExt cx="920995" cy="247760"/>
            </a:xfrm>
          </p:grpSpPr>
          <p:sp>
            <p:nvSpPr>
              <p:cNvPr id="13324" name="Oval 105">
                <a:extLst>
                  <a:ext uri="{FF2B5EF4-FFF2-40B4-BE49-F238E27FC236}">
                    <a16:creationId xmlns:a16="http://schemas.microsoft.com/office/drawing/2014/main" id="{7049CA0A-0544-6B5D-092D-5EE6035DE603}"/>
                  </a:ext>
                </a:extLst>
              </p:cNvPr>
              <p:cNvSpPr/>
              <p:nvPr/>
            </p:nvSpPr>
            <p:spPr>
              <a:xfrm>
                <a:off x="7143853" y="4032002"/>
                <a:ext cx="114650" cy="114650"/>
              </a:xfrm>
              <a:prstGeom prst="ellipse">
                <a:avLst/>
              </a:prstGeom>
              <a:solidFill>
                <a:srgbClr val="C74C4C"/>
              </a:solidFill>
              <a:ln w="254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3325" name="TextBox 106">
                <a:extLst>
                  <a:ext uri="{FF2B5EF4-FFF2-40B4-BE49-F238E27FC236}">
                    <a16:creationId xmlns:a16="http://schemas.microsoft.com/office/drawing/2014/main" id="{9A956145-F1BE-FD7B-7272-DBFF73F81DCA}"/>
                  </a:ext>
                </a:extLst>
              </p:cNvPr>
              <p:cNvSpPr txBox="1"/>
              <p:nvPr/>
            </p:nvSpPr>
            <p:spPr>
              <a:xfrm>
                <a:off x="7322995" y="3979777"/>
                <a:ext cx="741853" cy="24776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1250" b="1" dirty="0" err="1">
                    <a:solidFill>
                      <a:srgbClr val="163B63"/>
                    </a:solidFill>
                    <a:latin typeface="Microsoft YaHei"/>
                  </a:rPr>
                  <a:t>动态入库</a:t>
                </a:r>
                <a:endParaRPr sz="1250" b="1" dirty="0">
                  <a:solidFill>
                    <a:srgbClr val="163B63"/>
                  </a:solidFill>
                  <a:latin typeface="Microsoft YaHei"/>
                </a:endParaRPr>
              </a:p>
            </p:txBody>
          </p:sp>
        </p:grpSp>
        <p:sp>
          <p:nvSpPr>
            <p:cNvPr id="13326" name="TextBox 107">
              <a:extLst>
                <a:ext uri="{FF2B5EF4-FFF2-40B4-BE49-F238E27FC236}">
                  <a16:creationId xmlns:a16="http://schemas.microsoft.com/office/drawing/2014/main" id="{A34481F2-48EB-8890-0799-8BA3E1C8E3FC}"/>
                </a:ext>
              </a:extLst>
            </p:cNvPr>
            <p:cNvSpPr txBox="1"/>
            <p:nvPr/>
          </p:nvSpPr>
          <p:spPr>
            <a:xfrm>
              <a:off x="7284896" y="4201849"/>
              <a:ext cx="1719754" cy="36317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1" dirty="0" err="1">
                  <a:latin typeface="Microsoft YaHei"/>
                </a:rPr>
                <a:t>识别结果沉淀为工序风险关联图谱</a:t>
              </a:r>
              <a:r>
                <a:rPr sz="1000" b="1" dirty="0">
                  <a:latin typeface="Microsoft YaHei"/>
                </a:rPr>
                <a:t>，</a:t>
              </a:r>
              <a:r>
                <a:rPr lang="zh-CN" altLang="en-US" sz="1000" b="1" dirty="0">
                  <a:latin typeface="Microsoft YaHei"/>
                </a:rPr>
                <a:t>动态写入</a:t>
              </a:r>
              <a:r>
                <a:rPr sz="1000" b="1" dirty="0" err="1">
                  <a:latin typeface="Microsoft YaHei"/>
                </a:rPr>
                <a:t>风险管理系统</a:t>
              </a:r>
              <a:endParaRPr sz="1000" b="1" dirty="0">
                <a:latin typeface="Microsoft YaHei"/>
              </a:endParaRPr>
            </a:p>
          </p:txBody>
        </p:sp>
        <p:sp>
          <p:nvSpPr>
            <p:cNvPr id="13344" name="TextBox 16">
              <a:extLst>
                <a:ext uri="{FF2B5EF4-FFF2-40B4-BE49-F238E27FC236}">
                  <a16:creationId xmlns:a16="http://schemas.microsoft.com/office/drawing/2014/main" id="{47ABA079-8559-513A-FAA3-48DF9CEFC703}"/>
                </a:ext>
              </a:extLst>
            </p:cNvPr>
            <p:cNvSpPr txBox="1"/>
            <p:nvPr/>
          </p:nvSpPr>
          <p:spPr>
            <a:xfrm>
              <a:off x="7502650" y="1329603"/>
              <a:ext cx="103799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系统特性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07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6BA6-8827-3659-166B-03C1DD82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D3162C4C-1646-6533-783E-74B6C0CB4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61A918F-203A-2FB3-90FA-1E063F080E29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BAD80563-E64C-6061-5015-C58DA70DF99D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96EC459B-52B8-9634-5E7D-ED232591EE72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B492271C-0105-966D-F91E-44C78ADD2788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292F12-14FB-14E5-94D9-11F25FF320E2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B357AFC-DD15-B20C-6B0D-1FD8C0398EF7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Box 30">
            <a:extLst>
              <a:ext uri="{FF2B5EF4-FFF2-40B4-BE49-F238E27FC236}">
                <a16:creationId xmlns:a16="http://schemas.microsoft.com/office/drawing/2014/main" id="{26DAFC69-033D-DC05-49C0-13268ABC72A2}"/>
              </a:ext>
            </a:extLst>
          </p:cNvPr>
          <p:cNvSpPr txBox="1"/>
          <p:nvPr/>
        </p:nvSpPr>
        <p:spPr>
          <a:xfrm>
            <a:off x="3854008" y="3986269"/>
            <a:ext cx="1435985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 dirty="0" err="1">
                <a:solidFill>
                  <a:srgbClr val="163B63"/>
                </a:solidFill>
                <a:latin typeface="Microsoft YaHei"/>
              </a:rPr>
              <a:t>近期验证重点</a:t>
            </a:r>
            <a:endParaRPr sz="1800" b="1" dirty="0">
              <a:solidFill>
                <a:srgbClr val="163B63"/>
              </a:solidFill>
              <a:latin typeface="Microsoft YaHei"/>
            </a:endParaRPr>
          </a:p>
        </p:txBody>
      </p:sp>
      <p:grpSp>
        <p:nvGrpSpPr>
          <p:cNvPr id="13410" name="组合 13409">
            <a:extLst>
              <a:ext uri="{FF2B5EF4-FFF2-40B4-BE49-F238E27FC236}">
                <a16:creationId xmlns:a16="http://schemas.microsoft.com/office/drawing/2014/main" id="{5912BB6A-F3F1-2CDD-1C52-B406D1DA8BAB}"/>
              </a:ext>
            </a:extLst>
          </p:cNvPr>
          <p:cNvGrpSpPr/>
          <p:nvPr/>
        </p:nvGrpSpPr>
        <p:grpSpPr>
          <a:xfrm>
            <a:off x="250603" y="4269116"/>
            <a:ext cx="2692471" cy="734173"/>
            <a:chOff x="250603" y="4269116"/>
            <a:chExt cx="2692471" cy="734173"/>
          </a:xfrm>
        </p:grpSpPr>
        <p:sp>
          <p:nvSpPr>
            <p:cNvPr id="25" name="Rounded Rectangle 31">
              <a:extLst>
                <a:ext uri="{FF2B5EF4-FFF2-40B4-BE49-F238E27FC236}">
                  <a16:creationId xmlns:a16="http://schemas.microsoft.com/office/drawing/2014/main" id="{FD9431B4-338F-256C-96DC-8B51A1EDCFF9}"/>
                </a:ext>
              </a:extLst>
            </p:cNvPr>
            <p:cNvSpPr/>
            <p:nvPr/>
          </p:nvSpPr>
          <p:spPr>
            <a:xfrm>
              <a:off x="250603" y="4299656"/>
              <a:ext cx="2692471" cy="70363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6" name="Rectangle 32">
              <a:extLst>
                <a:ext uri="{FF2B5EF4-FFF2-40B4-BE49-F238E27FC236}">
                  <a16:creationId xmlns:a16="http://schemas.microsoft.com/office/drawing/2014/main" id="{62CF0C10-5D11-ECCC-FF08-793D9C0AC153}"/>
                </a:ext>
              </a:extLst>
            </p:cNvPr>
            <p:cNvSpPr/>
            <p:nvPr/>
          </p:nvSpPr>
          <p:spPr>
            <a:xfrm>
              <a:off x="250603" y="4299656"/>
              <a:ext cx="2692471" cy="193858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936F0CDF-9182-5AF9-14F3-2E44D28C9FD7}"/>
                </a:ext>
              </a:extLst>
            </p:cNvPr>
            <p:cNvSpPr txBox="1"/>
            <p:nvPr/>
          </p:nvSpPr>
          <p:spPr>
            <a:xfrm>
              <a:off x="950645" y="4269116"/>
              <a:ext cx="1292386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50" b="1" dirty="0">
                  <a:solidFill>
                    <a:srgbClr val="FFFFFF"/>
                  </a:solidFill>
                  <a:latin typeface="Microsoft YaHei"/>
                </a:rPr>
                <a:t>1. </a:t>
              </a:r>
              <a:r>
                <a:rPr sz="1250" b="1" dirty="0" err="1">
                  <a:solidFill>
                    <a:srgbClr val="FFFFFF"/>
                  </a:solidFill>
                  <a:latin typeface="Microsoft YaHei"/>
                </a:rPr>
                <a:t>样例资料接入</a:t>
              </a:r>
              <a:endParaRPr sz="125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28" name="TextBox 34">
              <a:extLst>
                <a:ext uri="{FF2B5EF4-FFF2-40B4-BE49-F238E27FC236}">
                  <a16:creationId xmlns:a16="http://schemas.microsoft.com/office/drawing/2014/main" id="{8FC5CB07-5D6E-6880-23E0-CCCBDF955A13}"/>
                </a:ext>
              </a:extLst>
            </p:cNvPr>
            <p:cNvSpPr txBox="1"/>
            <p:nvPr/>
          </p:nvSpPr>
          <p:spPr>
            <a:xfrm>
              <a:off x="358302" y="4540654"/>
              <a:ext cx="2486498" cy="39395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100" b="0" dirty="0" err="1">
                  <a:solidFill>
                    <a:srgbClr val="1C2733"/>
                  </a:solidFill>
                  <a:latin typeface="Microsoft YaHei"/>
                </a:rPr>
                <a:t>选取典型站隧一体化施工</a:t>
              </a:r>
              <a:r>
                <a:rPr lang="zh-CN" altLang="en-US" sz="1100" dirty="0">
                  <a:solidFill>
                    <a:srgbClr val="1C2733"/>
                  </a:solidFill>
                  <a:latin typeface="Microsoft YaHei"/>
                </a:rPr>
                <a:t>案例</a:t>
              </a:r>
              <a:r>
                <a:rPr sz="1100" b="0" dirty="0">
                  <a:solidFill>
                    <a:srgbClr val="1C2733"/>
                  </a:solidFill>
                  <a:latin typeface="Microsoft YaHei"/>
                </a:rPr>
                <a:t>，</a:t>
              </a:r>
              <a:r>
                <a:rPr sz="1100" b="0" dirty="0" err="1">
                  <a:solidFill>
                    <a:srgbClr val="1C2733"/>
                  </a:solidFill>
                  <a:latin typeface="Microsoft YaHei"/>
                </a:rPr>
                <a:t>验证资料解析、工序抽取和机理库匹配效果</a:t>
              </a:r>
              <a:r>
                <a:rPr sz="110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</p:grpSp>
      <p:grpSp>
        <p:nvGrpSpPr>
          <p:cNvPr id="13411" name="组合 13410">
            <a:extLst>
              <a:ext uri="{FF2B5EF4-FFF2-40B4-BE49-F238E27FC236}">
                <a16:creationId xmlns:a16="http://schemas.microsoft.com/office/drawing/2014/main" id="{5A6E1367-06C8-42F7-1858-116B71C97D1A}"/>
              </a:ext>
            </a:extLst>
          </p:cNvPr>
          <p:cNvGrpSpPr/>
          <p:nvPr/>
        </p:nvGrpSpPr>
        <p:grpSpPr>
          <a:xfrm>
            <a:off x="3194371" y="4269116"/>
            <a:ext cx="2692471" cy="734173"/>
            <a:chOff x="3194371" y="4269116"/>
            <a:chExt cx="2692471" cy="734173"/>
          </a:xfrm>
        </p:grpSpPr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F85F4DAA-2908-4E6B-6A33-D8C78BA6C8ED}"/>
                </a:ext>
              </a:extLst>
            </p:cNvPr>
            <p:cNvSpPr/>
            <p:nvPr/>
          </p:nvSpPr>
          <p:spPr>
            <a:xfrm>
              <a:off x="3194371" y="4299656"/>
              <a:ext cx="2692471" cy="70363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0" name="Rectangle 36">
              <a:extLst>
                <a:ext uri="{FF2B5EF4-FFF2-40B4-BE49-F238E27FC236}">
                  <a16:creationId xmlns:a16="http://schemas.microsoft.com/office/drawing/2014/main" id="{D074B0C5-A8DE-A962-6F2B-441A8943F55F}"/>
                </a:ext>
              </a:extLst>
            </p:cNvPr>
            <p:cNvSpPr/>
            <p:nvPr/>
          </p:nvSpPr>
          <p:spPr>
            <a:xfrm>
              <a:off x="3194371" y="4299656"/>
              <a:ext cx="2692471" cy="193858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1" name="TextBox 37">
              <a:extLst>
                <a:ext uri="{FF2B5EF4-FFF2-40B4-BE49-F238E27FC236}">
                  <a16:creationId xmlns:a16="http://schemas.microsoft.com/office/drawing/2014/main" id="{14CCA5F5-BEF2-E394-CDCD-E3D80CBCBBE7}"/>
                </a:ext>
              </a:extLst>
            </p:cNvPr>
            <p:cNvSpPr txBox="1"/>
            <p:nvPr/>
          </p:nvSpPr>
          <p:spPr>
            <a:xfrm>
              <a:off x="3894413" y="4269116"/>
              <a:ext cx="1292386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50" b="1">
                  <a:solidFill>
                    <a:srgbClr val="FFFFFF"/>
                  </a:solidFill>
                  <a:latin typeface="Microsoft YaHei"/>
                </a:rPr>
                <a:t>2. 原型系统联调</a:t>
              </a:r>
            </a:p>
          </p:txBody>
        </p:sp>
        <p:sp>
          <p:nvSpPr>
            <p:cNvPr id="32" name="TextBox 38">
              <a:extLst>
                <a:ext uri="{FF2B5EF4-FFF2-40B4-BE49-F238E27FC236}">
                  <a16:creationId xmlns:a16="http://schemas.microsoft.com/office/drawing/2014/main" id="{F9FF361C-8C58-FD93-DAAC-AC6872C1F931}"/>
                </a:ext>
              </a:extLst>
            </p:cNvPr>
            <p:cNvSpPr txBox="1"/>
            <p:nvPr/>
          </p:nvSpPr>
          <p:spPr>
            <a:xfrm>
              <a:off x="3302071" y="4540655"/>
              <a:ext cx="2476429" cy="39395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100" b="0" dirty="0" err="1">
                  <a:solidFill>
                    <a:srgbClr val="1C2733"/>
                  </a:solidFill>
                  <a:latin typeface="Microsoft YaHei"/>
                </a:rPr>
                <a:t>实现检索增强、风险记录生成、图谱入库和风险管理接口的最小闭环</a:t>
              </a:r>
              <a:r>
                <a:rPr sz="110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</p:grpSp>
      <p:grpSp>
        <p:nvGrpSpPr>
          <p:cNvPr id="13412" name="组合 13411">
            <a:extLst>
              <a:ext uri="{FF2B5EF4-FFF2-40B4-BE49-F238E27FC236}">
                <a16:creationId xmlns:a16="http://schemas.microsoft.com/office/drawing/2014/main" id="{58FCF132-7C5C-ECA3-E6BA-6286785F3249}"/>
              </a:ext>
            </a:extLst>
          </p:cNvPr>
          <p:cNvGrpSpPr/>
          <p:nvPr/>
        </p:nvGrpSpPr>
        <p:grpSpPr>
          <a:xfrm>
            <a:off x="6138141" y="4269116"/>
            <a:ext cx="2692471" cy="734173"/>
            <a:chOff x="6138141" y="4269116"/>
            <a:chExt cx="2692471" cy="734173"/>
          </a:xfrm>
        </p:grpSpPr>
        <p:sp>
          <p:nvSpPr>
            <p:cNvPr id="33" name="Rounded Rectangle 39">
              <a:extLst>
                <a:ext uri="{FF2B5EF4-FFF2-40B4-BE49-F238E27FC236}">
                  <a16:creationId xmlns:a16="http://schemas.microsoft.com/office/drawing/2014/main" id="{2C6E4EDD-CE31-5A78-8045-E1ECBBC3E4D2}"/>
                </a:ext>
              </a:extLst>
            </p:cNvPr>
            <p:cNvSpPr/>
            <p:nvPr/>
          </p:nvSpPr>
          <p:spPr>
            <a:xfrm>
              <a:off x="6138141" y="4299656"/>
              <a:ext cx="2692471" cy="70363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4" name="Rectangle 40">
              <a:extLst>
                <a:ext uri="{FF2B5EF4-FFF2-40B4-BE49-F238E27FC236}">
                  <a16:creationId xmlns:a16="http://schemas.microsoft.com/office/drawing/2014/main" id="{2311B968-ED20-47EA-1FA2-4A3E6553BBB2}"/>
                </a:ext>
              </a:extLst>
            </p:cNvPr>
            <p:cNvSpPr/>
            <p:nvPr/>
          </p:nvSpPr>
          <p:spPr>
            <a:xfrm>
              <a:off x="6138141" y="4299656"/>
              <a:ext cx="2692471" cy="193858"/>
            </a:xfrm>
            <a:prstGeom prst="rect">
              <a:avLst/>
            </a:prstGeom>
            <a:solidFill>
              <a:srgbClr val="F299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5" name="TextBox 41">
              <a:extLst>
                <a:ext uri="{FF2B5EF4-FFF2-40B4-BE49-F238E27FC236}">
                  <a16:creationId xmlns:a16="http://schemas.microsoft.com/office/drawing/2014/main" id="{B943B74C-C10D-AB91-583B-A0471DAB6B91}"/>
                </a:ext>
              </a:extLst>
            </p:cNvPr>
            <p:cNvSpPr txBox="1"/>
            <p:nvPr/>
          </p:nvSpPr>
          <p:spPr>
            <a:xfrm>
              <a:off x="6665865" y="4269116"/>
              <a:ext cx="1637023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250" b="1" dirty="0">
                  <a:solidFill>
                    <a:srgbClr val="FFFFFF"/>
                  </a:solidFill>
                  <a:latin typeface="Microsoft YaHei"/>
                </a:rPr>
                <a:t>3. </a:t>
              </a:r>
              <a:r>
                <a:rPr sz="1250" b="1" dirty="0" err="1">
                  <a:solidFill>
                    <a:srgbClr val="FFFFFF"/>
                  </a:solidFill>
                  <a:latin typeface="Microsoft YaHei"/>
                </a:rPr>
                <a:t>现场适用性验证</a:t>
              </a:r>
              <a:endParaRPr sz="125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36" name="TextBox 42">
              <a:extLst>
                <a:ext uri="{FF2B5EF4-FFF2-40B4-BE49-F238E27FC236}">
                  <a16:creationId xmlns:a16="http://schemas.microsoft.com/office/drawing/2014/main" id="{D86967E1-435C-67F7-B3CA-E0854810D40A}"/>
                </a:ext>
              </a:extLst>
            </p:cNvPr>
            <p:cNvSpPr txBox="1"/>
            <p:nvPr/>
          </p:nvSpPr>
          <p:spPr>
            <a:xfrm>
              <a:off x="6245840" y="4540655"/>
              <a:ext cx="2479060" cy="39395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100" b="0" dirty="0" err="1">
                  <a:solidFill>
                    <a:srgbClr val="1C2733"/>
                  </a:solidFill>
                  <a:latin typeface="Microsoft YaHei"/>
                </a:rPr>
                <a:t>结合监测指标、规范阈值和专家复核结果，评估识别准确性与可解释性</a:t>
              </a:r>
              <a:r>
                <a:rPr sz="1100" b="0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</p:grpSp>
      <p:grpSp>
        <p:nvGrpSpPr>
          <p:cNvPr id="13382" name="组合 13381">
            <a:extLst>
              <a:ext uri="{FF2B5EF4-FFF2-40B4-BE49-F238E27FC236}">
                <a16:creationId xmlns:a16="http://schemas.microsoft.com/office/drawing/2014/main" id="{EC13CEFE-3930-B184-6B38-DD0E489A6475}"/>
              </a:ext>
            </a:extLst>
          </p:cNvPr>
          <p:cNvGrpSpPr/>
          <p:nvPr/>
        </p:nvGrpSpPr>
        <p:grpSpPr>
          <a:xfrm>
            <a:off x="236242" y="1215390"/>
            <a:ext cx="6318333" cy="2754870"/>
            <a:chOff x="594359" y="1200150"/>
            <a:chExt cx="7955281" cy="2743200"/>
          </a:xfrm>
        </p:grpSpPr>
        <p:sp>
          <p:nvSpPr>
            <p:cNvPr id="13346" name="Rectangle 12">
              <a:extLst>
                <a:ext uri="{FF2B5EF4-FFF2-40B4-BE49-F238E27FC236}">
                  <a16:creationId xmlns:a16="http://schemas.microsoft.com/office/drawing/2014/main" id="{B73B0296-AA84-3BD7-8FE8-B313DBC5BA5D}"/>
                </a:ext>
              </a:extLst>
            </p:cNvPr>
            <p:cNvSpPr/>
            <p:nvPr/>
          </p:nvSpPr>
          <p:spPr>
            <a:xfrm>
              <a:off x="594359" y="1200150"/>
              <a:ext cx="1463040" cy="457200"/>
            </a:xfrm>
            <a:prstGeom prst="rect">
              <a:avLst/>
            </a:prstGeom>
            <a:solidFill>
              <a:srgbClr val="163B63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47" name="TextBox 13">
              <a:extLst>
                <a:ext uri="{FF2B5EF4-FFF2-40B4-BE49-F238E27FC236}">
                  <a16:creationId xmlns:a16="http://schemas.microsoft.com/office/drawing/2014/main" id="{D6C3B02C-AD1B-B37D-EFAD-A6CF867155AF}"/>
                </a:ext>
              </a:extLst>
            </p:cNvPr>
            <p:cNvSpPr txBox="1"/>
            <p:nvPr/>
          </p:nvSpPr>
          <p:spPr>
            <a:xfrm>
              <a:off x="667511" y="1284759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FFFFFF"/>
                  </a:solidFill>
                  <a:latin typeface="Microsoft YaHei"/>
                </a:rPr>
                <a:t>模块</a:t>
              </a:r>
              <a:endParaRPr sz="14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13348" name="Rectangle 14">
              <a:extLst>
                <a:ext uri="{FF2B5EF4-FFF2-40B4-BE49-F238E27FC236}">
                  <a16:creationId xmlns:a16="http://schemas.microsoft.com/office/drawing/2014/main" id="{E5076C99-9F3E-2512-B7FA-178941B1BA3A}"/>
                </a:ext>
              </a:extLst>
            </p:cNvPr>
            <p:cNvSpPr/>
            <p:nvPr/>
          </p:nvSpPr>
          <p:spPr>
            <a:xfrm>
              <a:off x="2057400" y="1200150"/>
              <a:ext cx="3337560" cy="457200"/>
            </a:xfrm>
            <a:prstGeom prst="rect">
              <a:avLst/>
            </a:prstGeom>
            <a:solidFill>
              <a:srgbClr val="163B63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49" name="TextBox 15">
              <a:extLst>
                <a:ext uri="{FF2B5EF4-FFF2-40B4-BE49-F238E27FC236}">
                  <a16:creationId xmlns:a16="http://schemas.microsoft.com/office/drawing/2014/main" id="{02C515CA-3F51-A7F9-89DC-7598CB18F35B}"/>
                </a:ext>
              </a:extLst>
            </p:cNvPr>
            <p:cNvSpPr txBox="1"/>
            <p:nvPr/>
          </p:nvSpPr>
          <p:spPr>
            <a:xfrm>
              <a:off x="2130553" y="1284759"/>
              <a:ext cx="319125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FFFFFF"/>
                  </a:solidFill>
                  <a:latin typeface="Microsoft YaHei"/>
                </a:rPr>
                <a:t>阶段成果</a:t>
              </a:r>
              <a:endParaRPr sz="14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13350" name="Rectangle 16">
              <a:extLst>
                <a:ext uri="{FF2B5EF4-FFF2-40B4-BE49-F238E27FC236}">
                  <a16:creationId xmlns:a16="http://schemas.microsoft.com/office/drawing/2014/main" id="{5480BE7B-4DCF-8579-33B7-B9F8F3E90B15}"/>
                </a:ext>
              </a:extLst>
            </p:cNvPr>
            <p:cNvSpPr/>
            <p:nvPr/>
          </p:nvSpPr>
          <p:spPr>
            <a:xfrm>
              <a:off x="5394960" y="1200150"/>
              <a:ext cx="3154680" cy="457200"/>
            </a:xfrm>
            <a:prstGeom prst="rect">
              <a:avLst/>
            </a:prstGeom>
            <a:solidFill>
              <a:srgbClr val="163B63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51" name="TextBox 17">
              <a:extLst>
                <a:ext uri="{FF2B5EF4-FFF2-40B4-BE49-F238E27FC236}">
                  <a16:creationId xmlns:a16="http://schemas.microsoft.com/office/drawing/2014/main" id="{E49E21A3-FE35-CB36-4F9F-DB9C10662FB3}"/>
                </a:ext>
              </a:extLst>
            </p:cNvPr>
            <p:cNvSpPr txBox="1"/>
            <p:nvPr/>
          </p:nvSpPr>
          <p:spPr>
            <a:xfrm>
              <a:off x="5468112" y="1284759"/>
              <a:ext cx="300837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FFFFFF"/>
                  </a:solidFill>
                  <a:latin typeface="Microsoft YaHei"/>
                </a:rPr>
                <a:t>研究价值</a:t>
              </a:r>
              <a:endParaRPr sz="140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13352" name="Rectangle 18">
              <a:extLst>
                <a:ext uri="{FF2B5EF4-FFF2-40B4-BE49-F238E27FC236}">
                  <a16:creationId xmlns:a16="http://schemas.microsoft.com/office/drawing/2014/main" id="{6B45F777-A3E7-98B8-B351-88EDEA31D86A}"/>
                </a:ext>
              </a:extLst>
            </p:cNvPr>
            <p:cNvSpPr/>
            <p:nvPr/>
          </p:nvSpPr>
          <p:spPr>
            <a:xfrm>
              <a:off x="594359" y="1657350"/>
              <a:ext cx="146304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53" name="TextBox 19">
              <a:extLst>
                <a:ext uri="{FF2B5EF4-FFF2-40B4-BE49-F238E27FC236}">
                  <a16:creationId xmlns:a16="http://schemas.microsoft.com/office/drawing/2014/main" id="{17A23146-D847-23F3-B006-4399721B1DD3}"/>
                </a:ext>
              </a:extLst>
            </p:cNvPr>
            <p:cNvSpPr txBox="1"/>
            <p:nvPr/>
          </p:nvSpPr>
          <p:spPr>
            <a:xfrm>
              <a:off x="667511" y="1746919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163B63"/>
                  </a:solidFill>
                  <a:latin typeface="Microsoft YaHei"/>
                </a:rPr>
                <a:t>总体架构</a:t>
              </a:r>
              <a:endParaRPr sz="14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54" name="Rectangle 20">
              <a:extLst>
                <a:ext uri="{FF2B5EF4-FFF2-40B4-BE49-F238E27FC236}">
                  <a16:creationId xmlns:a16="http://schemas.microsoft.com/office/drawing/2014/main" id="{64B1B016-37E8-8350-4ADD-84BADDDD7CB9}"/>
                </a:ext>
              </a:extLst>
            </p:cNvPr>
            <p:cNvSpPr/>
            <p:nvPr/>
          </p:nvSpPr>
          <p:spPr>
            <a:xfrm>
              <a:off x="2057400" y="1657350"/>
              <a:ext cx="333756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55" name="TextBox 21">
              <a:extLst>
                <a:ext uri="{FF2B5EF4-FFF2-40B4-BE49-F238E27FC236}">
                  <a16:creationId xmlns:a16="http://schemas.microsoft.com/office/drawing/2014/main" id="{1E51A4FC-3550-C623-01C4-EED180F1A4DF}"/>
                </a:ext>
              </a:extLst>
            </p:cNvPr>
            <p:cNvSpPr txBox="1"/>
            <p:nvPr/>
          </p:nvSpPr>
          <p:spPr>
            <a:xfrm>
              <a:off x="2130553" y="1696350"/>
              <a:ext cx="3191256" cy="37083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形成数据接入、知识建模、检索增强、机理推理、结果入库与系统接口的分层架构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56" name="Rectangle 22">
              <a:extLst>
                <a:ext uri="{FF2B5EF4-FFF2-40B4-BE49-F238E27FC236}">
                  <a16:creationId xmlns:a16="http://schemas.microsoft.com/office/drawing/2014/main" id="{79237BDE-AC14-3388-18D9-205457FFFDB9}"/>
                </a:ext>
              </a:extLst>
            </p:cNvPr>
            <p:cNvSpPr/>
            <p:nvPr/>
          </p:nvSpPr>
          <p:spPr>
            <a:xfrm>
              <a:off x="5394960" y="1657350"/>
              <a:ext cx="315468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57" name="TextBox 23">
              <a:extLst>
                <a:ext uri="{FF2B5EF4-FFF2-40B4-BE49-F238E27FC236}">
                  <a16:creationId xmlns:a16="http://schemas.microsoft.com/office/drawing/2014/main" id="{B76DAE3D-0EFD-E6F8-4540-E716CBBA237C}"/>
                </a:ext>
              </a:extLst>
            </p:cNvPr>
            <p:cNvSpPr txBox="1"/>
            <p:nvPr/>
          </p:nvSpPr>
          <p:spPr>
            <a:xfrm>
              <a:off x="5468112" y="1777566"/>
              <a:ext cx="3008376" cy="20840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支撑站隧一体化场景下多源资料统一处理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58" name="Rectangle 24">
              <a:extLst>
                <a:ext uri="{FF2B5EF4-FFF2-40B4-BE49-F238E27FC236}">
                  <a16:creationId xmlns:a16="http://schemas.microsoft.com/office/drawing/2014/main" id="{F5A7CF22-FEAB-9866-1A72-B92F2FA6B3EF}"/>
                </a:ext>
              </a:extLst>
            </p:cNvPr>
            <p:cNvSpPr/>
            <p:nvPr/>
          </p:nvSpPr>
          <p:spPr>
            <a:xfrm>
              <a:off x="594359" y="2114550"/>
              <a:ext cx="146304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59" name="TextBox 25">
              <a:extLst>
                <a:ext uri="{FF2B5EF4-FFF2-40B4-BE49-F238E27FC236}">
                  <a16:creationId xmlns:a16="http://schemas.microsoft.com/office/drawing/2014/main" id="{261CE682-E11C-85EE-05C3-7D181407C9D4}"/>
                </a:ext>
              </a:extLst>
            </p:cNvPr>
            <p:cNvSpPr txBox="1"/>
            <p:nvPr/>
          </p:nvSpPr>
          <p:spPr>
            <a:xfrm>
              <a:off x="667511" y="2210442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163B63"/>
                  </a:solidFill>
                  <a:latin typeface="Microsoft YaHei"/>
                </a:rPr>
                <a:t>数据链条</a:t>
              </a:r>
              <a:endParaRPr sz="14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60" name="Rectangle 26">
              <a:extLst>
                <a:ext uri="{FF2B5EF4-FFF2-40B4-BE49-F238E27FC236}">
                  <a16:creationId xmlns:a16="http://schemas.microsoft.com/office/drawing/2014/main" id="{B8347219-AF96-0418-0521-C36B9FE9D12F}"/>
                </a:ext>
              </a:extLst>
            </p:cNvPr>
            <p:cNvSpPr/>
            <p:nvPr/>
          </p:nvSpPr>
          <p:spPr>
            <a:xfrm>
              <a:off x="2057400" y="2114550"/>
              <a:ext cx="333756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61" name="TextBox 27">
              <a:extLst>
                <a:ext uri="{FF2B5EF4-FFF2-40B4-BE49-F238E27FC236}">
                  <a16:creationId xmlns:a16="http://schemas.microsoft.com/office/drawing/2014/main" id="{CC5FF1C2-AA91-6809-7329-E455DF2F26D9}"/>
                </a:ext>
              </a:extLst>
            </p:cNvPr>
            <p:cNvSpPr txBox="1"/>
            <p:nvPr/>
          </p:nvSpPr>
          <p:spPr>
            <a:xfrm>
              <a:off x="2130553" y="2164471"/>
              <a:ext cx="3191256" cy="361638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明确工程资料→资料段标识→工序节点→机理条目→风险记录→关联图谱的</a:t>
              </a:r>
              <a:r>
                <a:rPr lang="zh-CN" altLang="en-US" sz="1000" b="0" dirty="0">
                  <a:solidFill>
                    <a:srgbClr val="1C2733"/>
                  </a:solidFill>
                  <a:latin typeface="Microsoft YaHei"/>
                </a:rPr>
                <a:t>数据链条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62" name="Rectangle 28">
              <a:extLst>
                <a:ext uri="{FF2B5EF4-FFF2-40B4-BE49-F238E27FC236}">
                  <a16:creationId xmlns:a16="http://schemas.microsoft.com/office/drawing/2014/main" id="{62B276F9-5D60-C884-C122-120C3DDC1FB7}"/>
                </a:ext>
              </a:extLst>
            </p:cNvPr>
            <p:cNvSpPr/>
            <p:nvPr/>
          </p:nvSpPr>
          <p:spPr>
            <a:xfrm>
              <a:off x="5394960" y="2114550"/>
              <a:ext cx="315468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63" name="TextBox 29">
              <a:extLst>
                <a:ext uri="{FF2B5EF4-FFF2-40B4-BE49-F238E27FC236}">
                  <a16:creationId xmlns:a16="http://schemas.microsoft.com/office/drawing/2014/main" id="{F7B398CE-10BE-D7FA-16BE-449AC9F39777}"/>
                </a:ext>
              </a:extLst>
            </p:cNvPr>
            <p:cNvSpPr txBox="1"/>
            <p:nvPr/>
          </p:nvSpPr>
          <p:spPr>
            <a:xfrm>
              <a:off x="5468112" y="2159873"/>
              <a:ext cx="3008376" cy="37083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降低“前一步得到什么、后一步使用什么”的解释成本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64" name="Rectangle 30">
              <a:extLst>
                <a:ext uri="{FF2B5EF4-FFF2-40B4-BE49-F238E27FC236}">
                  <a16:creationId xmlns:a16="http://schemas.microsoft.com/office/drawing/2014/main" id="{B50883BD-7327-EDF1-758B-D1344D2EC57A}"/>
                </a:ext>
              </a:extLst>
            </p:cNvPr>
            <p:cNvSpPr/>
            <p:nvPr/>
          </p:nvSpPr>
          <p:spPr>
            <a:xfrm>
              <a:off x="594359" y="2571750"/>
              <a:ext cx="146304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65" name="TextBox 31">
              <a:extLst>
                <a:ext uri="{FF2B5EF4-FFF2-40B4-BE49-F238E27FC236}">
                  <a16:creationId xmlns:a16="http://schemas.microsoft.com/office/drawing/2014/main" id="{6B2B061F-2176-C31A-6F52-C7B7C6757665}"/>
                </a:ext>
              </a:extLst>
            </p:cNvPr>
            <p:cNvSpPr txBox="1"/>
            <p:nvPr/>
          </p:nvSpPr>
          <p:spPr>
            <a:xfrm>
              <a:off x="667511" y="2667642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163B63"/>
                  </a:solidFill>
                  <a:latin typeface="Microsoft YaHei"/>
                </a:rPr>
                <a:t>知识底座</a:t>
              </a:r>
              <a:endParaRPr sz="14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66" name="Rectangle 32">
              <a:extLst>
                <a:ext uri="{FF2B5EF4-FFF2-40B4-BE49-F238E27FC236}">
                  <a16:creationId xmlns:a16="http://schemas.microsoft.com/office/drawing/2014/main" id="{B133166E-BB72-0535-A699-B64BE5A6F70E}"/>
                </a:ext>
              </a:extLst>
            </p:cNvPr>
            <p:cNvSpPr/>
            <p:nvPr/>
          </p:nvSpPr>
          <p:spPr>
            <a:xfrm>
              <a:off x="2057400" y="2571750"/>
              <a:ext cx="333756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67" name="TextBox 33">
              <a:extLst>
                <a:ext uri="{FF2B5EF4-FFF2-40B4-BE49-F238E27FC236}">
                  <a16:creationId xmlns:a16="http://schemas.microsoft.com/office/drawing/2014/main" id="{839D126B-32A5-06E0-62FC-2D3A37E1432B}"/>
                </a:ext>
              </a:extLst>
            </p:cNvPr>
            <p:cNvSpPr txBox="1"/>
            <p:nvPr/>
          </p:nvSpPr>
          <p:spPr>
            <a:xfrm>
              <a:off x="2130553" y="2538157"/>
              <a:ext cx="3191256" cy="5286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构建风险机理库、规范标准库和类比案例库，覆盖致险因素、作用路径、监测指标和控制措施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68" name="Rectangle 34">
              <a:extLst>
                <a:ext uri="{FF2B5EF4-FFF2-40B4-BE49-F238E27FC236}">
                  <a16:creationId xmlns:a16="http://schemas.microsoft.com/office/drawing/2014/main" id="{ABE75598-49DD-CDA1-DA9F-1CFF6944E6E8}"/>
                </a:ext>
              </a:extLst>
            </p:cNvPr>
            <p:cNvSpPr/>
            <p:nvPr/>
          </p:nvSpPr>
          <p:spPr>
            <a:xfrm>
              <a:off x="5394960" y="2571750"/>
              <a:ext cx="315468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69" name="TextBox 35">
              <a:extLst>
                <a:ext uri="{FF2B5EF4-FFF2-40B4-BE49-F238E27FC236}">
                  <a16:creationId xmlns:a16="http://schemas.microsoft.com/office/drawing/2014/main" id="{E6C83E7B-4ADE-237A-DF71-5ECAEFA61640}"/>
                </a:ext>
              </a:extLst>
            </p:cNvPr>
            <p:cNvSpPr txBox="1"/>
            <p:nvPr/>
          </p:nvSpPr>
          <p:spPr>
            <a:xfrm>
              <a:off x="5468112" y="2617073"/>
              <a:ext cx="3008376" cy="37083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使大模型推理受到工程机理与规范证据约束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70" name="Rectangle 36">
              <a:extLst>
                <a:ext uri="{FF2B5EF4-FFF2-40B4-BE49-F238E27FC236}">
                  <a16:creationId xmlns:a16="http://schemas.microsoft.com/office/drawing/2014/main" id="{D8B06288-2547-A857-22FE-AB29E4413651}"/>
                </a:ext>
              </a:extLst>
            </p:cNvPr>
            <p:cNvSpPr/>
            <p:nvPr/>
          </p:nvSpPr>
          <p:spPr>
            <a:xfrm>
              <a:off x="594359" y="3028950"/>
              <a:ext cx="146304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71" name="TextBox 37">
              <a:extLst>
                <a:ext uri="{FF2B5EF4-FFF2-40B4-BE49-F238E27FC236}">
                  <a16:creationId xmlns:a16="http://schemas.microsoft.com/office/drawing/2014/main" id="{314F59B4-EB62-E388-2C60-36E969A47567}"/>
                </a:ext>
              </a:extLst>
            </p:cNvPr>
            <p:cNvSpPr txBox="1"/>
            <p:nvPr/>
          </p:nvSpPr>
          <p:spPr>
            <a:xfrm>
              <a:off x="667511" y="3124842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 dirty="0" err="1">
                  <a:solidFill>
                    <a:srgbClr val="163B63"/>
                  </a:solidFill>
                  <a:latin typeface="Microsoft YaHei"/>
                </a:rPr>
                <a:t>推理校验</a:t>
              </a:r>
              <a:endParaRPr sz="14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72" name="Rectangle 38">
              <a:extLst>
                <a:ext uri="{FF2B5EF4-FFF2-40B4-BE49-F238E27FC236}">
                  <a16:creationId xmlns:a16="http://schemas.microsoft.com/office/drawing/2014/main" id="{6BD7B8C3-45D5-5769-B798-4947C0EEC833}"/>
                </a:ext>
              </a:extLst>
            </p:cNvPr>
            <p:cNvSpPr/>
            <p:nvPr/>
          </p:nvSpPr>
          <p:spPr>
            <a:xfrm>
              <a:off x="2057400" y="3028950"/>
              <a:ext cx="333756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73" name="TextBox 39">
              <a:extLst>
                <a:ext uri="{FF2B5EF4-FFF2-40B4-BE49-F238E27FC236}">
                  <a16:creationId xmlns:a16="http://schemas.microsoft.com/office/drawing/2014/main" id="{EFDE2A4E-507C-F073-B198-38F53E1AAEC6}"/>
                </a:ext>
              </a:extLst>
            </p:cNvPr>
            <p:cNvSpPr txBox="1"/>
            <p:nvPr/>
          </p:nvSpPr>
          <p:spPr>
            <a:xfrm>
              <a:off x="2130553" y="2995357"/>
              <a:ext cx="3191256" cy="5286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采用检索增强提示驱动预训练大语言模型识别风险，并通过规则一致性、仿真</a:t>
              </a:r>
              <a:r>
                <a:rPr sz="1000" b="0" dirty="0">
                  <a:solidFill>
                    <a:srgbClr val="1C2733"/>
                  </a:solidFill>
                  <a:latin typeface="Microsoft YaHei"/>
                </a:rPr>
                <a:t>/</a:t>
              </a:r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试验约束进行复核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74" name="Rectangle 40">
              <a:extLst>
                <a:ext uri="{FF2B5EF4-FFF2-40B4-BE49-F238E27FC236}">
                  <a16:creationId xmlns:a16="http://schemas.microsoft.com/office/drawing/2014/main" id="{EF019DB9-CB51-9210-89BE-CF59D997C3FA}"/>
                </a:ext>
              </a:extLst>
            </p:cNvPr>
            <p:cNvSpPr/>
            <p:nvPr/>
          </p:nvSpPr>
          <p:spPr>
            <a:xfrm>
              <a:off x="5394960" y="3028950"/>
              <a:ext cx="3154680" cy="457200"/>
            </a:xfrm>
            <a:prstGeom prst="rect">
              <a:avLst/>
            </a:prstGeom>
            <a:solidFill>
              <a:srgbClr val="F5F8FB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75" name="TextBox 41">
              <a:extLst>
                <a:ext uri="{FF2B5EF4-FFF2-40B4-BE49-F238E27FC236}">
                  <a16:creationId xmlns:a16="http://schemas.microsoft.com/office/drawing/2014/main" id="{E0551233-7D5D-374E-8983-85A5908E1AE2}"/>
                </a:ext>
              </a:extLst>
            </p:cNvPr>
            <p:cNvSpPr txBox="1"/>
            <p:nvPr/>
          </p:nvSpPr>
          <p:spPr>
            <a:xfrm>
              <a:off x="5468112" y="3155489"/>
              <a:ext cx="3008376" cy="208401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>
                  <a:solidFill>
                    <a:srgbClr val="1C2733"/>
                  </a:solidFill>
                  <a:latin typeface="Microsoft YaHei"/>
                </a:rPr>
                <a:t>提升少样本新工法条件下的识别可靠性。</a:t>
              </a:r>
            </a:p>
          </p:txBody>
        </p:sp>
        <p:sp>
          <p:nvSpPr>
            <p:cNvPr id="13376" name="Rectangle 42">
              <a:extLst>
                <a:ext uri="{FF2B5EF4-FFF2-40B4-BE49-F238E27FC236}">
                  <a16:creationId xmlns:a16="http://schemas.microsoft.com/office/drawing/2014/main" id="{07F005D4-A769-FC95-25E0-4A67CC1F9F6E}"/>
                </a:ext>
              </a:extLst>
            </p:cNvPr>
            <p:cNvSpPr/>
            <p:nvPr/>
          </p:nvSpPr>
          <p:spPr>
            <a:xfrm>
              <a:off x="594359" y="3486150"/>
              <a:ext cx="146304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77" name="TextBox 43">
              <a:extLst>
                <a:ext uri="{FF2B5EF4-FFF2-40B4-BE49-F238E27FC236}">
                  <a16:creationId xmlns:a16="http://schemas.microsoft.com/office/drawing/2014/main" id="{98DD78E4-5770-EB3F-1ED0-05804C66245D}"/>
                </a:ext>
              </a:extLst>
            </p:cNvPr>
            <p:cNvSpPr txBox="1"/>
            <p:nvPr/>
          </p:nvSpPr>
          <p:spPr>
            <a:xfrm>
              <a:off x="667511" y="3582042"/>
              <a:ext cx="1316736" cy="26969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400" b="1">
                  <a:solidFill>
                    <a:srgbClr val="163B63"/>
                  </a:solidFill>
                  <a:latin typeface="Microsoft YaHei"/>
                </a:rPr>
                <a:t>结果管理</a:t>
              </a:r>
            </a:p>
          </p:txBody>
        </p:sp>
        <p:sp>
          <p:nvSpPr>
            <p:cNvPr id="13378" name="Rectangle 44">
              <a:extLst>
                <a:ext uri="{FF2B5EF4-FFF2-40B4-BE49-F238E27FC236}">
                  <a16:creationId xmlns:a16="http://schemas.microsoft.com/office/drawing/2014/main" id="{FF41E0AD-2435-78D5-E6D1-942BB693B632}"/>
                </a:ext>
              </a:extLst>
            </p:cNvPr>
            <p:cNvSpPr/>
            <p:nvPr/>
          </p:nvSpPr>
          <p:spPr>
            <a:xfrm>
              <a:off x="2057400" y="3486150"/>
              <a:ext cx="333756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79" name="TextBox 45">
              <a:extLst>
                <a:ext uri="{FF2B5EF4-FFF2-40B4-BE49-F238E27FC236}">
                  <a16:creationId xmlns:a16="http://schemas.microsoft.com/office/drawing/2014/main" id="{58C8D32B-D035-579E-966B-F58023FDA3A5}"/>
                </a:ext>
              </a:extLst>
            </p:cNvPr>
            <p:cNvSpPr txBox="1"/>
            <p:nvPr/>
          </p:nvSpPr>
          <p:spPr>
            <a:xfrm>
              <a:off x="2130553" y="3531473"/>
              <a:ext cx="3191256" cy="37083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输出标准化风险记录和工序风险关联图谱，保留证据来源、置信度和处置建议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  <p:sp>
          <p:nvSpPr>
            <p:cNvPr id="13380" name="Rectangle 46">
              <a:extLst>
                <a:ext uri="{FF2B5EF4-FFF2-40B4-BE49-F238E27FC236}">
                  <a16:creationId xmlns:a16="http://schemas.microsoft.com/office/drawing/2014/main" id="{08FFDBB9-A242-1E99-0E08-A137642AA9BA}"/>
                </a:ext>
              </a:extLst>
            </p:cNvPr>
            <p:cNvSpPr/>
            <p:nvPr/>
          </p:nvSpPr>
          <p:spPr>
            <a:xfrm>
              <a:off x="5394960" y="3486150"/>
              <a:ext cx="3154680" cy="4572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81" name="TextBox 47">
              <a:extLst>
                <a:ext uri="{FF2B5EF4-FFF2-40B4-BE49-F238E27FC236}">
                  <a16:creationId xmlns:a16="http://schemas.microsoft.com/office/drawing/2014/main" id="{F982338D-7798-350E-25D8-4F20D6128487}"/>
                </a:ext>
              </a:extLst>
            </p:cNvPr>
            <p:cNvSpPr txBox="1"/>
            <p:nvPr/>
          </p:nvSpPr>
          <p:spPr>
            <a:xfrm>
              <a:off x="5468112" y="3531473"/>
              <a:ext cx="3008376" cy="37083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b="0" dirty="0" err="1">
                  <a:solidFill>
                    <a:srgbClr val="1C2733"/>
                  </a:solidFill>
                  <a:latin typeface="Microsoft YaHei"/>
                </a:rPr>
                <a:t>便于后续接入风险管理系统和现场闭环处置</a:t>
              </a:r>
              <a:endParaRPr sz="1000" b="0" dirty="0">
                <a:solidFill>
                  <a:srgbClr val="1C2733"/>
                </a:solidFill>
                <a:latin typeface="Microsoft YaHei"/>
              </a:endParaRPr>
            </a:p>
          </p:txBody>
        </p:sp>
      </p:grpSp>
      <p:grpSp>
        <p:nvGrpSpPr>
          <p:cNvPr id="13409" name="组合 13408">
            <a:extLst>
              <a:ext uri="{FF2B5EF4-FFF2-40B4-BE49-F238E27FC236}">
                <a16:creationId xmlns:a16="http://schemas.microsoft.com/office/drawing/2014/main" id="{10958473-0858-DB20-90CB-5831C3F0DCEB}"/>
              </a:ext>
            </a:extLst>
          </p:cNvPr>
          <p:cNvGrpSpPr/>
          <p:nvPr/>
        </p:nvGrpSpPr>
        <p:grpSpPr>
          <a:xfrm>
            <a:off x="6719715" y="1215390"/>
            <a:ext cx="2225776" cy="2754870"/>
            <a:chOff x="6719715" y="1215390"/>
            <a:chExt cx="2225776" cy="2754870"/>
          </a:xfrm>
        </p:grpSpPr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FC2058A0-BF2A-ABAB-22C2-7895811E0A50}"/>
                </a:ext>
              </a:extLst>
            </p:cNvPr>
            <p:cNvSpPr/>
            <p:nvPr/>
          </p:nvSpPr>
          <p:spPr>
            <a:xfrm>
              <a:off x="6719715" y="1215390"/>
              <a:ext cx="2225776" cy="2754870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87E51D0C-CCC1-8B86-56C6-D2E59C511FD0}"/>
                </a:ext>
              </a:extLst>
            </p:cNvPr>
            <p:cNvSpPr txBox="1"/>
            <p:nvPr/>
          </p:nvSpPr>
          <p:spPr>
            <a:xfrm>
              <a:off x="7150510" y="1301414"/>
              <a:ext cx="1364186" cy="31701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700" b="1" dirty="0" err="1">
                  <a:solidFill>
                    <a:srgbClr val="163B63"/>
                  </a:solidFill>
                  <a:latin typeface="Microsoft YaHei"/>
                </a:rPr>
                <a:t>关键技术链条</a:t>
              </a:r>
              <a:endParaRPr sz="170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88" name="Right Arrow 54">
              <a:extLst>
                <a:ext uri="{FF2B5EF4-FFF2-40B4-BE49-F238E27FC236}">
                  <a16:creationId xmlns:a16="http://schemas.microsoft.com/office/drawing/2014/main" id="{E45345B6-98E8-02EB-F1FB-818651D29FB0}"/>
                </a:ext>
              </a:extLst>
            </p:cNvPr>
            <p:cNvSpPr/>
            <p:nvPr/>
          </p:nvSpPr>
          <p:spPr>
            <a:xfrm rot="5400000">
              <a:off x="5781433" y="2674501"/>
              <a:ext cx="2286000" cy="164592"/>
            </a:xfrm>
            <a:prstGeom prst="rightArrow">
              <a:avLst/>
            </a:prstGeom>
            <a:solidFill>
              <a:srgbClr val="8798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84" name="Rounded Rectangle 50">
              <a:extLst>
                <a:ext uri="{FF2B5EF4-FFF2-40B4-BE49-F238E27FC236}">
                  <a16:creationId xmlns:a16="http://schemas.microsoft.com/office/drawing/2014/main" id="{B2ED8064-BCA4-6F64-442A-ABCF55CE4610}"/>
                </a:ext>
              </a:extLst>
            </p:cNvPr>
            <p:cNvSpPr/>
            <p:nvPr/>
          </p:nvSpPr>
          <p:spPr>
            <a:xfrm>
              <a:off x="7055688" y="1613797"/>
              <a:ext cx="1734732" cy="38404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85" name="Oval 51">
              <a:extLst>
                <a:ext uri="{FF2B5EF4-FFF2-40B4-BE49-F238E27FC236}">
                  <a16:creationId xmlns:a16="http://schemas.microsoft.com/office/drawing/2014/main" id="{89A51FF0-FCE9-4AE3-48C4-BB980369012E}"/>
                </a:ext>
              </a:extLst>
            </p:cNvPr>
            <p:cNvSpPr/>
            <p:nvPr/>
          </p:nvSpPr>
          <p:spPr>
            <a:xfrm>
              <a:off x="7128840" y="1668661"/>
              <a:ext cx="274320" cy="274320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0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13386" name="TextBox 52">
              <a:extLst>
                <a:ext uri="{FF2B5EF4-FFF2-40B4-BE49-F238E27FC236}">
                  <a16:creationId xmlns:a16="http://schemas.microsoft.com/office/drawing/2014/main" id="{D33A8FD1-9FD1-D91B-BD65-562E265D5524}"/>
                </a:ext>
              </a:extLst>
            </p:cNvPr>
            <p:cNvSpPr txBox="1"/>
            <p:nvPr/>
          </p:nvSpPr>
          <p:spPr>
            <a:xfrm>
              <a:off x="7476312" y="1639235"/>
              <a:ext cx="1051560" cy="21544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40" b="1" dirty="0" err="1">
                  <a:solidFill>
                    <a:srgbClr val="163B63"/>
                  </a:solidFill>
                  <a:latin typeface="Microsoft YaHei"/>
                </a:rPr>
                <a:t>资料结构化</a:t>
              </a:r>
              <a:endParaRPr sz="104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387" name="TextBox 53">
              <a:extLst>
                <a:ext uri="{FF2B5EF4-FFF2-40B4-BE49-F238E27FC236}">
                  <a16:creationId xmlns:a16="http://schemas.microsoft.com/office/drawing/2014/main" id="{D10886AD-AABA-334C-5877-722DCA0E2F64}"/>
                </a:ext>
              </a:extLst>
            </p:cNvPr>
            <p:cNvSpPr txBox="1"/>
            <p:nvPr/>
          </p:nvSpPr>
          <p:spPr>
            <a:xfrm>
              <a:off x="7476312" y="1800204"/>
              <a:ext cx="1265754" cy="17697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90" b="0" dirty="0" err="1">
                  <a:solidFill>
                    <a:srgbClr val="5D6A78"/>
                  </a:solidFill>
                  <a:latin typeface="Microsoft YaHei"/>
                </a:rPr>
                <a:t>工程资料接入与合规转换</a:t>
              </a:r>
              <a:endParaRPr sz="790" b="0" dirty="0">
                <a:solidFill>
                  <a:srgbClr val="5D6A78"/>
                </a:solidFill>
                <a:latin typeface="Microsoft YaHei"/>
              </a:endParaRPr>
            </a:p>
          </p:txBody>
        </p:sp>
        <p:sp>
          <p:nvSpPr>
            <p:cNvPr id="13389" name="Rounded Rectangle 55">
              <a:extLst>
                <a:ext uri="{FF2B5EF4-FFF2-40B4-BE49-F238E27FC236}">
                  <a16:creationId xmlns:a16="http://schemas.microsoft.com/office/drawing/2014/main" id="{6305571F-7D3D-5F69-CB03-017298E65283}"/>
                </a:ext>
              </a:extLst>
            </p:cNvPr>
            <p:cNvSpPr/>
            <p:nvPr/>
          </p:nvSpPr>
          <p:spPr>
            <a:xfrm>
              <a:off x="7055688" y="2089285"/>
              <a:ext cx="1734732" cy="38404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90" name="Oval 56">
              <a:extLst>
                <a:ext uri="{FF2B5EF4-FFF2-40B4-BE49-F238E27FC236}">
                  <a16:creationId xmlns:a16="http://schemas.microsoft.com/office/drawing/2014/main" id="{108E0C09-9251-EB04-84DE-E5BA30C28BF5}"/>
                </a:ext>
              </a:extLst>
            </p:cNvPr>
            <p:cNvSpPr/>
            <p:nvPr/>
          </p:nvSpPr>
          <p:spPr>
            <a:xfrm>
              <a:off x="7128840" y="2144149"/>
              <a:ext cx="274320" cy="274320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00" b="1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3391" name="TextBox 57">
              <a:extLst>
                <a:ext uri="{FF2B5EF4-FFF2-40B4-BE49-F238E27FC236}">
                  <a16:creationId xmlns:a16="http://schemas.microsoft.com/office/drawing/2014/main" id="{4A131049-FD0E-7E67-6934-F8C375A0D96E}"/>
                </a:ext>
              </a:extLst>
            </p:cNvPr>
            <p:cNvSpPr txBox="1"/>
            <p:nvPr/>
          </p:nvSpPr>
          <p:spPr>
            <a:xfrm>
              <a:off x="7476312" y="2114724"/>
              <a:ext cx="1051560" cy="21544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40" b="1">
                  <a:solidFill>
                    <a:srgbClr val="163B63"/>
                  </a:solidFill>
                  <a:latin typeface="Microsoft YaHei"/>
                </a:rPr>
                <a:t>工序/机理建模</a:t>
              </a:r>
            </a:p>
          </p:txBody>
        </p:sp>
        <p:sp>
          <p:nvSpPr>
            <p:cNvPr id="13392" name="TextBox 58">
              <a:extLst>
                <a:ext uri="{FF2B5EF4-FFF2-40B4-BE49-F238E27FC236}">
                  <a16:creationId xmlns:a16="http://schemas.microsoft.com/office/drawing/2014/main" id="{26DEE2D8-7827-B1E1-5346-418583952F3D}"/>
                </a:ext>
              </a:extLst>
            </p:cNvPr>
            <p:cNvSpPr txBox="1"/>
            <p:nvPr/>
          </p:nvSpPr>
          <p:spPr>
            <a:xfrm>
              <a:off x="7476312" y="2275692"/>
              <a:ext cx="1265754" cy="17697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90" b="0" dirty="0" err="1">
                  <a:solidFill>
                    <a:srgbClr val="5D6A78"/>
                  </a:solidFill>
                  <a:latin typeface="Microsoft YaHei"/>
                </a:rPr>
                <a:t>并列形成工序模型与机理库</a:t>
              </a:r>
              <a:endParaRPr sz="790" b="0" dirty="0">
                <a:solidFill>
                  <a:srgbClr val="5D6A78"/>
                </a:solidFill>
                <a:latin typeface="Microsoft YaHei"/>
              </a:endParaRPr>
            </a:p>
          </p:txBody>
        </p:sp>
        <p:sp>
          <p:nvSpPr>
            <p:cNvPr id="13394" name="Rounded Rectangle 60">
              <a:extLst>
                <a:ext uri="{FF2B5EF4-FFF2-40B4-BE49-F238E27FC236}">
                  <a16:creationId xmlns:a16="http://schemas.microsoft.com/office/drawing/2014/main" id="{859A6AB5-E7DD-D665-85DE-9BF5A5BE0960}"/>
                </a:ext>
              </a:extLst>
            </p:cNvPr>
            <p:cNvSpPr/>
            <p:nvPr/>
          </p:nvSpPr>
          <p:spPr>
            <a:xfrm>
              <a:off x="7055688" y="2564773"/>
              <a:ext cx="1734732" cy="38404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395" name="Oval 61">
              <a:extLst>
                <a:ext uri="{FF2B5EF4-FFF2-40B4-BE49-F238E27FC236}">
                  <a16:creationId xmlns:a16="http://schemas.microsoft.com/office/drawing/2014/main" id="{42619504-7973-17D3-617E-E253D8CF0889}"/>
                </a:ext>
              </a:extLst>
            </p:cNvPr>
            <p:cNvSpPr/>
            <p:nvPr/>
          </p:nvSpPr>
          <p:spPr>
            <a:xfrm>
              <a:off x="7128840" y="2619637"/>
              <a:ext cx="274320" cy="274320"/>
            </a:xfrm>
            <a:prstGeom prst="ellipse">
              <a:avLst/>
            </a:prstGeom>
            <a:solidFill>
              <a:srgbClr val="B36B00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00" b="1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3396" name="TextBox 62">
              <a:extLst>
                <a:ext uri="{FF2B5EF4-FFF2-40B4-BE49-F238E27FC236}">
                  <a16:creationId xmlns:a16="http://schemas.microsoft.com/office/drawing/2014/main" id="{FA94B839-FF58-89F7-76EE-9729D7D21972}"/>
                </a:ext>
              </a:extLst>
            </p:cNvPr>
            <p:cNvSpPr txBox="1"/>
            <p:nvPr/>
          </p:nvSpPr>
          <p:spPr>
            <a:xfrm>
              <a:off x="7476312" y="2590212"/>
              <a:ext cx="1051560" cy="21544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40" b="1">
                  <a:solidFill>
                    <a:srgbClr val="163B63"/>
                  </a:solidFill>
                  <a:latin typeface="Microsoft YaHei"/>
                </a:rPr>
                <a:t>检索证据组装</a:t>
              </a:r>
            </a:p>
          </p:txBody>
        </p:sp>
        <p:sp>
          <p:nvSpPr>
            <p:cNvPr id="13397" name="TextBox 63">
              <a:extLst>
                <a:ext uri="{FF2B5EF4-FFF2-40B4-BE49-F238E27FC236}">
                  <a16:creationId xmlns:a16="http://schemas.microsoft.com/office/drawing/2014/main" id="{A58AB281-F771-D924-8E67-F3150158D09F}"/>
                </a:ext>
              </a:extLst>
            </p:cNvPr>
            <p:cNvSpPr txBox="1"/>
            <p:nvPr/>
          </p:nvSpPr>
          <p:spPr>
            <a:xfrm>
              <a:off x="7476312" y="2751180"/>
              <a:ext cx="1265755" cy="17697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90" b="0" dirty="0" err="1">
                  <a:solidFill>
                    <a:srgbClr val="5D6A78"/>
                  </a:solidFill>
                  <a:latin typeface="Microsoft YaHei"/>
                </a:rPr>
                <a:t>检索机理、规范与类比证据</a:t>
              </a:r>
              <a:endParaRPr sz="790" b="0" dirty="0">
                <a:solidFill>
                  <a:srgbClr val="5D6A78"/>
                </a:solidFill>
                <a:latin typeface="Microsoft YaHei"/>
              </a:endParaRPr>
            </a:p>
          </p:txBody>
        </p:sp>
        <p:sp>
          <p:nvSpPr>
            <p:cNvPr id="13399" name="Rounded Rectangle 65">
              <a:extLst>
                <a:ext uri="{FF2B5EF4-FFF2-40B4-BE49-F238E27FC236}">
                  <a16:creationId xmlns:a16="http://schemas.microsoft.com/office/drawing/2014/main" id="{56920B37-6486-6525-F572-66F48F554687}"/>
                </a:ext>
              </a:extLst>
            </p:cNvPr>
            <p:cNvSpPr/>
            <p:nvPr/>
          </p:nvSpPr>
          <p:spPr>
            <a:xfrm>
              <a:off x="7055688" y="3040261"/>
              <a:ext cx="1734732" cy="38404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400" name="Oval 66">
              <a:extLst>
                <a:ext uri="{FF2B5EF4-FFF2-40B4-BE49-F238E27FC236}">
                  <a16:creationId xmlns:a16="http://schemas.microsoft.com/office/drawing/2014/main" id="{31F10AA9-8270-DC08-A6C3-BB3E1F2D0175}"/>
                </a:ext>
              </a:extLst>
            </p:cNvPr>
            <p:cNvSpPr/>
            <p:nvPr/>
          </p:nvSpPr>
          <p:spPr>
            <a:xfrm>
              <a:off x="7128840" y="3095125"/>
              <a:ext cx="274320" cy="274320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00" b="1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3401" name="TextBox 67">
              <a:extLst>
                <a:ext uri="{FF2B5EF4-FFF2-40B4-BE49-F238E27FC236}">
                  <a16:creationId xmlns:a16="http://schemas.microsoft.com/office/drawing/2014/main" id="{E9519145-2BA3-2424-4514-91E6A7E5AEC6}"/>
                </a:ext>
              </a:extLst>
            </p:cNvPr>
            <p:cNvSpPr txBox="1"/>
            <p:nvPr/>
          </p:nvSpPr>
          <p:spPr>
            <a:xfrm>
              <a:off x="7476312" y="3065700"/>
              <a:ext cx="1051560" cy="21544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40" b="1">
                  <a:solidFill>
                    <a:srgbClr val="163B63"/>
                  </a:solidFill>
                  <a:latin typeface="Microsoft YaHei"/>
                </a:rPr>
                <a:t>推理记录生成</a:t>
              </a:r>
            </a:p>
          </p:txBody>
        </p:sp>
        <p:sp>
          <p:nvSpPr>
            <p:cNvPr id="13402" name="TextBox 68">
              <a:extLst>
                <a:ext uri="{FF2B5EF4-FFF2-40B4-BE49-F238E27FC236}">
                  <a16:creationId xmlns:a16="http://schemas.microsoft.com/office/drawing/2014/main" id="{D5AE5A22-1B4B-7FB4-96A6-CB10E7FD81A0}"/>
                </a:ext>
              </a:extLst>
            </p:cNvPr>
            <p:cNvSpPr txBox="1"/>
            <p:nvPr/>
          </p:nvSpPr>
          <p:spPr>
            <a:xfrm>
              <a:off x="7476312" y="3226668"/>
              <a:ext cx="1265755" cy="17697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90" b="0" dirty="0" err="1">
                  <a:solidFill>
                    <a:srgbClr val="5D6A78"/>
                  </a:solidFill>
                  <a:latin typeface="Microsoft YaHei"/>
                </a:rPr>
                <a:t>LLM输出并整理风险记录</a:t>
              </a:r>
              <a:endParaRPr sz="790" b="0" dirty="0">
                <a:solidFill>
                  <a:srgbClr val="5D6A78"/>
                </a:solidFill>
                <a:latin typeface="Microsoft YaHei"/>
              </a:endParaRPr>
            </a:p>
          </p:txBody>
        </p:sp>
        <p:sp>
          <p:nvSpPr>
            <p:cNvPr id="13404" name="Rounded Rectangle 70">
              <a:extLst>
                <a:ext uri="{FF2B5EF4-FFF2-40B4-BE49-F238E27FC236}">
                  <a16:creationId xmlns:a16="http://schemas.microsoft.com/office/drawing/2014/main" id="{4A5D4242-008B-F20C-9DC0-F9857D435716}"/>
                </a:ext>
              </a:extLst>
            </p:cNvPr>
            <p:cNvSpPr/>
            <p:nvPr/>
          </p:nvSpPr>
          <p:spPr>
            <a:xfrm>
              <a:off x="7055688" y="3515749"/>
              <a:ext cx="1734732" cy="38404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7E0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405" name="Oval 71">
              <a:extLst>
                <a:ext uri="{FF2B5EF4-FFF2-40B4-BE49-F238E27FC236}">
                  <a16:creationId xmlns:a16="http://schemas.microsoft.com/office/drawing/2014/main" id="{90567D29-6443-27AC-BBB1-8AA7D848D3B6}"/>
                </a:ext>
              </a:extLst>
            </p:cNvPr>
            <p:cNvSpPr/>
            <p:nvPr/>
          </p:nvSpPr>
          <p:spPr>
            <a:xfrm>
              <a:off x="7128840" y="3570613"/>
              <a:ext cx="274320" cy="274320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0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13406" name="TextBox 72">
              <a:extLst>
                <a:ext uri="{FF2B5EF4-FFF2-40B4-BE49-F238E27FC236}">
                  <a16:creationId xmlns:a16="http://schemas.microsoft.com/office/drawing/2014/main" id="{7BFCA8AE-1580-608E-8ED4-F913C8F0190D}"/>
                </a:ext>
              </a:extLst>
            </p:cNvPr>
            <p:cNvSpPr txBox="1"/>
            <p:nvPr/>
          </p:nvSpPr>
          <p:spPr>
            <a:xfrm>
              <a:off x="7476312" y="3541188"/>
              <a:ext cx="1051560" cy="215444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40" b="1">
                  <a:solidFill>
                    <a:srgbClr val="163B63"/>
                  </a:solidFill>
                  <a:latin typeface="Microsoft YaHei"/>
                </a:rPr>
                <a:t>风险结果入库</a:t>
              </a:r>
            </a:p>
          </p:txBody>
        </p:sp>
        <p:sp>
          <p:nvSpPr>
            <p:cNvPr id="13407" name="TextBox 73">
              <a:extLst>
                <a:ext uri="{FF2B5EF4-FFF2-40B4-BE49-F238E27FC236}">
                  <a16:creationId xmlns:a16="http://schemas.microsoft.com/office/drawing/2014/main" id="{20E36BAA-324D-A1C7-46E8-D2C41727BE97}"/>
                </a:ext>
              </a:extLst>
            </p:cNvPr>
            <p:cNvSpPr txBox="1"/>
            <p:nvPr/>
          </p:nvSpPr>
          <p:spPr>
            <a:xfrm>
              <a:off x="7476311" y="3702156"/>
              <a:ext cx="1265755" cy="176972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790" b="0" dirty="0" err="1">
                  <a:solidFill>
                    <a:srgbClr val="5D6A78"/>
                  </a:solidFill>
                  <a:latin typeface="Microsoft YaHei"/>
                </a:rPr>
                <a:t>记录与图谱写入管理系统</a:t>
              </a:r>
              <a:endParaRPr sz="790" b="0" dirty="0">
                <a:solidFill>
                  <a:srgbClr val="5D6A78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93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5FDF-333A-8618-999A-8172660D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10">
            <a:extLst>
              <a:ext uri="{FF2B5EF4-FFF2-40B4-BE49-F238E27FC236}">
                <a16:creationId xmlns:a16="http://schemas.microsoft.com/office/drawing/2014/main" id="{A6D5ECB9-4BF2-2E38-BD37-7DED4E8A8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38" y="86398"/>
            <a:ext cx="374485" cy="299378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E72261B0-0BC4-26BD-4D93-44CCFFC6F3EA}"/>
              </a:ext>
            </a:extLst>
          </p:cNvPr>
          <p:cNvGrpSpPr/>
          <p:nvPr/>
        </p:nvGrpSpPr>
        <p:grpSpPr>
          <a:xfrm>
            <a:off x="25717" y="503238"/>
            <a:ext cx="7183975" cy="339725"/>
            <a:chOff x="25717" y="503238"/>
            <a:chExt cx="7183975" cy="339725"/>
          </a:xfrm>
        </p:grpSpPr>
        <p:sp>
          <p:nvSpPr>
            <p:cNvPr id="13321" name="矩形 13320">
              <a:extLst>
                <a:ext uri="{FF2B5EF4-FFF2-40B4-BE49-F238E27FC236}">
                  <a16:creationId xmlns:a16="http://schemas.microsoft.com/office/drawing/2014/main" id="{73A59879-8AA7-8542-A43B-C0535B2D2F9B}"/>
                </a:ext>
              </a:extLst>
            </p:cNvPr>
            <p:cNvSpPr/>
            <p:nvPr/>
          </p:nvSpPr>
          <p:spPr>
            <a:xfrm>
              <a:off x="25717" y="503238"/>
              <a:ext cx="174625" cy="33972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 fontAlgn="auto"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</a:t>
              </a:r>
            </a:p>
          </p:txBody>
        </p:sp>
        <p:sp>
          <p:nvSpPr>
            <p:cNvPr id="13322" name="矩形 13321">
              <a:extLst>
                <a:ext uri="{FF2B5EF4-FFF2-40B4-BE49-F238E27FC236}">
                  <a16:creationId xmlns:a16="http://schemas.microsoft.com/office/drawing/2014/main" id="{38680100-09F5-2642-3CE3-0992F915CB24}"/>
                </a:ext>
              </a:extLst>
            </p:cNvPr>
            <p:cNvSpPr/>
            <p:nvPr/>
          </p:nvSpPr>
          <p:spPr>
            <a:xfrm>
              <a:off x="284162" y="503238"/>
              <a:ext cx="6925530" cy="338455"/>
            </a:xfrm>
            <a:prstGeom prst="rect">
              <a:avLst/>
            </a:prstGeom>
            <a:solidFill>
              <a:srgbClr val="005BAC"/>
            </a:soli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 fontAlgn="auto">
                <a:buClrTx/>
                <a:buSzTx/>
                <a:buFontTx/>
              </a:pP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 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各子课题工作进展</a:t>
              </a:r>
              <a:r>
                <a:rPr lang="en-US" altLang="zh-CN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--</a:t>
              </a:r>
              <a:r>
                <a:rPr lang="zh-CN" altLang="en-US" sz="1600" b="1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子课题一（站隧一体化建造风险智能识别与评估技术）</a:t>
              </a:r>
            </a:p>
          </p:txBody>
        </p:sp>
      </p:grpSp>
      <p:sp>
        <p:nvSpPr>
          <p:cNvPr id="2" name="TextBox 50">
            <a:extLst>
              <a:ext uri="{FF2B5EF4-FFF2-40B4-BE49-F238E27FC236}">
                <a16:creationId xmlns:a16="http://schemas.microsoft.com/office/drawing/2014/main" id="{A9D4B8A7-E106-9BA8-51A5-56B50D344AD3}"/>
              </a:ext>
            </a:extLst>
          </p:cNvPr>
          <p:cNvSpPr txBox="1">
            <a:spLocks noChangeAspect="1"/>
          </p:cNvSpPr>
          <p:nvPr/>
        </p:nvSpPr>
        <p:spPr>
          <a:xfrm>
            <a:off x="36830" y="-19685"/>
            <a:ext cx="4937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项目研发进展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8410594-4B52-EBB3-BBE4-FA4E05AFCF70}"/>
              </a:ext>
            </a:extLst>
          </p:cNvPr>
          <p:cNvSpPr txBox="1"/>
          <p:nvPr/>
        </p:nvSpPr>
        <p:spPr>
          <a:xfrm>
            <a:off x="6036310" y="160020"/>
            <a:ext cx="30480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sz="1600" dirty="0">
              <a:latin typeface="+mj-ea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A5A0476-6A86-681A-B2C0-76BC3B689DA0}"/>
              </a:ext>
            </a:extLst>
          </p:cNvPr>
          <p:cNvSpPr txBox="1"/>
          <p:nvPr/>
        </p:nvSpPr>
        <p:spPr>
          <a:xfrm>
            <a:off x="-2540" y="8470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charset="0"/>
            </a:pP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（</a:t>
            </a:r>
            <a:r>
              <a:rPr lang="en-US" altLang="zh-CN" sz="1800" b="1" dirty="0">
                <a:latin typeface="微软雅黑" panose="020B0503020204020204" pitchFamily="34" charset="-122"/>
                <a:sym typeface="+mn-lt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sym typeface="+mn-lt"/>
              </a:rPr>
              <a:t>）站隧一体化建造风险智能识别与评估技术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47ADD9F-CB07-8C02-7A5C-71A2E9067F17}"/>
              </a:ext>
            </a:extLst>
          </p:cNvPr>
          <p:cNvGrpSpPr/>
          <p:nvPr/>
        </p:nvGrpSpPr>
        <p:grpSpPr>
          <a:xfrm>
            <a:off x="200342" y="1248093"/>
            <a:ext cx="4107223" cy="3501948"/>
            <a:chOff x="200342" y="1248093"/>
            <a:chExt cx="4107223" cy="3501948"/>
          </a:xfrm>
        </p:grpSpPr>
        <p:sp>
          <p:nvSpPr>
            <p:cNvPr id="3" name="Rounded Rectangle 11">
              <a:extLst>
                <a:ext uri="{FF2B5EF4-FFF2-40B4-BE49-F238E27FC236}">
                  <a16:creationId xmlns:a16="http://schemas.microsoft.com/office/drawing/2014/main" id="{D5866624-A988-4F68-E5EA-405FA0AA1B4F}"/>
                </a:ext>
              </a:extLst>
            </p:cNvPr>
            <p:cNvSpPr/>
            <p:nvPr/>
          </p:nvSpPr>
          <p:spPr>
            <a:xfrm>
              <a:off x="200342" y="1248093"/>
              <a:ext cx="4107223" cy="3501948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" name="Oval 14">
              <a:extLst>
                <a:ext uri="{FF2B5EF4-FFF2-40B4-BE49-F238E27FC236}">
                  <a16:creationId xmlns:a16="http://schemas.microsoft.com/office/drawing/2014/main" id="{8A8078DF-4782-4AED-631C-B53AC34FCE10}"/>
                </a:ext>
              </a:extLst>
            </p:cNvPr>
            <p:cNvSpPr/>
            <p:nvPr/>
          </p:nvSpPr>
          <p:spPr>
            <a:xfrm>
              <a:off x="394895" y="1742790"/>
              <a:ext cx="216170" cy="216170"/>
            </a:xfrm>
            <a:prstGeom prst="ellipse">
              <a:avLst/>
            </a:prstGeom>
            <a:solidFill>
              <a:srgbClr val="1F5E96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50" b="1">
                  <a:solidFill>
                    <a:srgbClr val="FFFFFF"/>
                  </a:solidFill>
                  <a:latin typeface="Microsoft YaHei"/>
                </a:rPr>
                <a:t>1</a:t>
              </a:r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FA45C6F3-5977-E475-79CB-765BFD835EC4}"/>
                </a:ext>
              </a:extLst>
            </p:cNvPr>
            <p:cNvSpPr txBox="1"/>
            <p:nvPr/>
          </p:nvSpPr>
          <p:spPr>
            <a:xfrm>
              <a:off x="719148" y="1726995"/>
              <a:ext cx="1395402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50" b="1" dirty="0" err="1">
                  <a:solidFill>
                    <a:srgbClr val="163B63"/>
                  </a:solidFill>
                  <a:latin typeface="Microsoft YaHei"/>
                </a:rPr>
                <a:t>工程资料接入验证</a:t>
              </a:r>
              <a:endParaRPr sz="125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0" name="TextBox 16">
              <a:extLst>
                <a:ext uri="{FF2B5EF4-FFF2-40B4-BE49-F238E27FC236}">
                  <a16:creationId xmlns:a16="http://schemas.microsoft.com/office/drawing/2014/main" id="{5243B73C-8422-1B39-92A1-0CF283BEA68A}"/>
                </a:ext>
              </a:extLst>
            </p:cNvPr>
            <p:cNvSpPr txBox="1"/>
            <p:nvPr/>
          </p:nvSpPr>
          <p:spPr>
            <a:xfrm>
              <a:off x="719148" y="1937405"/>
              <a:ext cx="3278572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选取典型站隧一体化施工资料，验证资料解析、分段登记、工序节点抽取和状态参数配置效果</a:t>
              </a:r>
              <a:r>
                <a:rPr sz="1050" b="1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11" name="Oval 17">
              <a:extLst>
                <a:ext uri="{FF2B5EF4-FFF2-40B4-BE49-F238E27FC236}">
                  <a16:creationId xmlns:a16="http://schemas.microsoft.com/office/drawing/2014/main" id="{B36EDE95-6646-1350-3162-A6689568BDDF}"/>
                </a:ext>
              </a:extLst>
            </p:cNvPr>
            <p:cNvSpPr/>
            <p:nvPr/>
          </p:nvSpPr>
          <p:spPr>
            <a:xfrm>
              <a:off x="394895" y="2304831"/>
              <a:ext cx="216170" cy="216170"/>
            </a:xfrm>
            <a:prstGeom prst="ellipse">
              <a:avLst/>
            </a:prstGeom>
            <a:solidFill>
              <a:srgbClr val="2F8F7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50" b="1" dirty="0">
                  <a:solidFill>
                    <a:srgbClr val="FFFFFF"/>
                  </a:solidFill>
                  <a:latin typeface="Microsoft YaHei"/>
                </a:rPr>
                <a:t>2</a:t>
              </a:r>
            </a:p>
          </p:txBody>
        </p: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E4F6ECE8-B950-3C54-F08A-2FB42AB2D2FA}"/>
                </a:ext>
              </a:extLst>
            </p:cNvPr>
            <p:cNvSpPr txBox="1"/>
            <p:nvPr/>
          </p:nvSpPr>
          <p:spPr>
            <a:xfrm>
              <a:off x="719148" y="2289036"/>
              <a:ext cx="1395402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50" b="1" dirty="0" err="1">
                  <a:solidFill>
                    <a:srgbClr val="163B63"/>
                  </a:solidFill>
                  <a:latin typeface="Microsoft YaHei"/>
                </a:rPr>
                <a:t>知识库持续完善</a:t>
              </a:r>
              <a:endParaRPr sz="125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003321EB-6C67-8D64-1FB2-A2B6ECB7CCE6}"/>
                </a:ext>
              </a:extLst>
            </p:cNvPr>
            <p:cNvSpPr txBox="1"/>
            <p:nvPr/>
          </p:nvSpPr>
          <p:spPr>
            <a:xfrm>
              <a:off x="719148" y="2499446"/>
              <a:ext cx="3278572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完善风险机理库、规范标准库和类比案例库，补充致险因素、作用路径、监测指标和控制措施。</a:t>
              </a:r>
            </a:p>
          </p:txBody>
        </p:sp>
        <p:sp>
          <p:nvSpPr>
            <p:cNvPr id="14" name="Oval 20">
              <a:extLst>
                <a:ext uri="{FF2B5EF4-FFF2-40B4-BE49-F238E27FC236}">
                  <a16:creationId xmlns:a16="http://schemas.microsoft.com/office/drawing/2014/main" id="{18C3E0B2-3E87-2A04-195C-D7CDBD578815}"/>
                </a:ext>
              </a:extLst>
            </p:cNvPr>
            <p:cNvSpPr/>
            <p:nvPr/>
          </p:nvSpPr>
          <p:spPr>
            <a:xfrm>
              <a:off x="394895" y="2866872"/>
              <a:ext cx="216170" cy="216170"/>
            </a:xfrm>
            <a:prstGeom prst="ellipse">
              <a:avLst/>
            </a:prstGeom>
            <a:solidFill>
              <a:srgbClr val="F2994A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50" b="1" dirty="0">
                  <a:solidFill>
                    <a:srgbClr val="FFFFFF"/>
                  </a:solidFill>
                  <a:latin typeface="Microsoft YaHei"/>
                </a:rPr>
                <a:t>3</a:t>
              </a:r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94ABD6FA-C2E4-9803-2301-6D4426513068}"/>
                </a:ext>
              </a:extLst>
            </p:cNvPr>
            <p:cNvSpPr txBox="1"/>
            <p:nvPr/>
          </p:nvSpPr>
          <p:spPr>
            <a:xfrm>
              <a:off x="719148" y="2851077"/>
              <a:ext cx="1395402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50" b="1" dirty="0" err="1">
                  <a:solidFill>
                    <a:srgbClr val="163B63"/>
                  </a:solidFill>
                  <a:latin typeface="Microsoft YaHei"/>
                </a:rPr>
                <a:t>机理映射规则细化</a:t>
              </a:r>
              <a:endParaRPr sz="125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6" name="TextBox 22">
              <a:extLst>
                <a:ext uri="{FF2B5EF4-FFF2-40B4-BE49-F238E27FC236}">
                  <a16:creationId xmlns:a16="http://schemas.microsoft.com/office/drawing/2014/main" id="{007D0064-E323-889A-5EFA-4E67726F5534}"/>
                </a:ext>
              </a:extLst>
            </p:cNvPr>
            <p:cNvSpPr txBox="1"/>
            <p:nvPr/>
          </p:nvSpPr>
          <p:spPr>
            <a:xfrm>
              <a:off x="719148" y="3061487"/>
              <a:ext cx="3278572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建立工序节点、状态参数、监测指标与风险机理条目之间的映射和触发规则。</a:t>
              </a:r>
            </a:p>
          </p:txBody>
        </p:sp>
        <p:sp>
          <p:nvSpPr>
            <p:cNvPr id="17" name="Oval 23">
              <a:extLst>
                <a:ext uri="{FF2B5EF4-FFF2-40B4-BE49-F238E27FC236}">
                  <a16:creationId xmlns:a16="http://schemas.microsoft.com/office/drawing/2014/main" id="{FF645AA2-A148-253C-4303-004485A26809}"/>
                </a:ext>
              </a:extLst>
            </p:cNvPr>
            <p:cNvSpPr/>
            <p:nvPr/>
          </p:nvSpPr>
          <p:spPr>
            <a:xfrm>
              <a:off x="394895" y="3428912"/>
              <a:ext cx="216170" cy="216170"/>
            </a:xfrm>
            <a:prstGeom prst="ellipse">
              <a:avLst/>
            </a:prstGeom>
            <a:solidFill>
              <a:srgbClr val="6E55A5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50" b="1" dirty="0">
                  <a:solidFill>
                    <a:srgbClr val="FFFFFF"/>
                  </a:solidFill>
                  <a:latin typeface="Microsoft YaHei"/>
                </a:rPr>
                <a:t>4</a:t>
              </a:r>
            </a:p>
          </p:txBody>
        </p:sp>
        <p:sp>
          <p:nvSpPr>
            <p:cNvPr id="18" name="TextBox 24">
              <a:extLst>
                <a:ext uri="{FF2B5EF4-FFF2-40B4-BE49-F238E27FC236}">
                  <a16:creationId xmlns:a16="http://schemas.microsoft.com/office/drawing/2014/main" id="{A6744E58-A457-9FB2-4B35-D47293FF9F42}"/>
                </a:ext>
              </a:extLst>
            </p:cNvPr>
            <p:cNvSpPr txBox="1"/>
            <p:nvPr/>
          </p:nvSpPr>
          <p:spPr>
            <a:xfrm>
              <a:off x="719148" y="3413117"/>
              <a:ext cx="1395402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50" b="1" dirty="0" err="1">
                  <a:solidFill>
                    <a:srgbClr val="163B63"/>
                  </a:solidFill>
                  <a:latin typeface="Microsoft YaHei"/>
                </a:rPr>
                <a:t>模型推理结果复核</a:t>
              </a:r>
              <a:endParaRPr sz="125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19" name="TextBox 25">
              <a:extLst>
                <a:ext uri="{FF2B5EF4-FFF2-40B4-BE49-F238E27FC236}">
                  <a16:creationId xmlns:a16="http://schemas.microsoft.com/office/drawing/2014/main" id="{64D26955-DC80-7597-7E25-585CA57424F0}"/>
                </a:ext>
              </a:extLst>
            </p:cNvPr>
            <p:cNvSpPr txBox="1"/>
            <p:nvPr/>
          </p:nvSpPr>
          <p:spPr>
            <a:xfrm>
              <a:off x="719148" y="3623528"/>
              <a:ext cx="3278572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开展检索增强大语言模型输出复核，结合规范证据、机理规则和专家判断修正识别结果。</a:t>
              </a:r>
            </a:p>
          </p:txBody>
        </p:sp>
        <p:sp>
          <p:nvSpPr>
            <p:cNvPr id="20" name="Oval 26">
              <a:extLst>
                <a:ext uri="{FF2B5EF4-FFF2-40B4-BE49-F238E27FC236}">
                  <a16:creationId xmlns:a16="http://schemas.microsoft.com/office/drawing/2014/main" id="{37A54DCC-986A-277F-DD4F-D604AE3A541C}"/>
                </a:ext>
              </a:extLst>
            </p:cNvPr>
            <p:cNvSpPr/>
            <p:nvPr/>
          </p:nvSpPr>
          <p:spPr>
            <a:xfrm>
              <a:off x="394895" y="3990954"/>
              <a:ext cx="216170" cy="216170"/>
            </a:xfrm>
            <a:prstGeom prst="ellipse">
              <a:avLst/>
            </a:prstGeom>
            <a:solidFill>
              <a:srgbClr val="C74C4C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50" b="1">
                  <a:solidFill>
                    <a:srgbClr val="FFFFFF"/>
                  </a:solidFill>
                  <a:latin typeface="Microsoft YaHei"/>
                </a:rPr>
                <a:t>5</a:t>
              </a:r>
            </a:p>
          </p:txBody>
        </p:sp>
        <p:sp>
          <p:nvSpPr>
            <p:cNvPr id="21" name="TextBox 27">
              <a:extLst>
                <a:ext uri="{FF2B5EF4-FFF2-40B4-BE49-F238E27FC236}">
                  <a16:creationId xmlns:a16="http://schemas.microsoft.com/office/drawing/2014/main" id="{16ECA629-9310-3D1E-9727-A3084989B7B8}"/>
                </a:ext>
              </a:extLst>
            </p:cNvPr>
            <p:cNvSpPr txBox="1"/>
            <p:nvPr/>
          </p:nvSpPr>
          <p:spPr>
            <a:xfrm>
              <a:off x="719148" y="3975159"/>
              <a:ext cx="1395402" cy="247760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250" b="1" dirty="0" err="1">
                  <a:solidFill>
                    <a:srgbClr val="163B63"/>
                  </a:solidFill>
                  <a:latin typeface="Microsoft YaHei"/>
                </a:rPr>
                <a:t>系统闭环联调</a:t>
              </a:r>
              <a:endParaRPr sz="1250" b="1" dirty="0">
                <a:solidFill>
                  <a:srgbClr val="163B63"/>
                </a:solidFill>
                <a:latin typeface="Microsoft YaHei"/>
              </a:endParaRPr>
            </a:p>
          </p:txBody>
        </p:sp>
        <p:sp>
          <p:nvSpPr>
            <p:cNvPr id="23" name="TextBox 28">
              <a:extLst>
                <a:ext uri="{FF2B5EF4-FFF2-40B4-BE49-F238E27FC236}">
                  <a16:creationId xmlns:a16="http://schemas.microsoft.com/office/drawing/2014/main" id="{B187A238-B7D7-50BE-1751-7A79FEEF29B4}"/>
                </a:ext>
              </a:extLst>
            </p:cNvPr>
            <p:cNvSpPr txBox="1"/>
            <p:nvPr/>
          </p:nvSpPr>
          <p:spPr>
            <a:xfrm>
              <a:off x="719148" y="4185569"/>
              <a:ext cx="3278572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推进标准化风险记录、工序风险关联图谱和风险管理系统接口的入库联调。</a:t>
              </a:r>
            </a:p>
          </p:txBody>
        </p: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A7677B0E-8044-499B-7F63-A0ABC2D440CD}"/>
                </a:ext>
              </a:extLst>
            </p:cNvPr>
            <p:cNvSpPr txBox="1"/>
            <p:nvPr/>
          </p:nvSpPr>
          <p:spPr>
            <a:xfrm>
              <a:off x="1306730" y="1272824"/>
              <a:ext cx="1894446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下一步研究计划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BF88140F-F593-9D60-0527-DC7EE42CBE36}"/>
              </a:ext>
            </a:extLst>
          </p:cNvPr>
          <p:cNvGrpSpPr/>
          <p:nvPr/>
        </p:nvGrpSpPr>
        <p:grpSpPr>
          <a:xfrm>
            <a:off x="4545351" y="1248093"/>
            <a:ext cx="4395449" cy="3501948"/>
            <a:chOff x="4545351" y="1248093"/>
            <a:chExt cx="4395449" cy="3501948"/>
          </a:xfrm>
        </p:grpSpPr>
        <p:sp>
          <p:nvSpPr>
            <p:cNvPr id="24" name="Rounded Rectangle 29">
              <a:extLst>
                <a:ext uri="{FF2B5EF4-FFF2-40B4-BE49-F238E27FC236}">
                  <a16:creationId xmlns:a16="http://schemas.microsoft.com/office/drawing/2014/main" id="{41FAB384-82FF-339B-2DB5-39A277148715}"/>
                </a:ext>
              </a:extLst>
            </p:cNvPr>
            <p:cNvSpPr/>
            <p:nvPr/>
          </p:nvSpPr>
          <p:spPr>
            <a:xfrm>
              <a:off x="4545351" y="1248093"/>
              <a:ext cx="4395449" cy="350194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Rounded Rectangle 32">
              <a:extLst>
                <a:ext uri="{FF2B5EF4-FFF2-40B4-BE49-F238E27FC236}">
                  <a16:creationId xmlns:a16="http://schemas.microsoft.com/office/drawing/2014/main" id="{B2031C9B-A1F8-8EFA-9893-B550A1ADB7FF}"/>
                </a:ext>
              </a:extLst>
            </p:cNvPr>
            <p:cNvSpPr/>
            <p:nvPr/>
          </p:nvSpPr>
          <p:spPr>
            <a:xfrm>
              <a:off x="4689464" y="1774106"/>
              <a:ext cx="4071194" cy="417928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F1DDC813-2FD3-F2B3-2FCD-51A2509C581D}"/>
                </a:ext>
              </a:extLst>
            </p:cNvPr>
            <p:cNvSpPr/>
            <p:nvPr/>
          </p:nvSpPr>
          <p:spPr>
            <a:xfrm>
              <a:off x="4689464" y="1774106"/>
              <a:ext cx="866786" cy="417928"/>
            </a:xfrm>
            <a:prstGeom prst="rect">
              <a:avLst/>
            </a:prstGeom>
            <a:solidFill>
              <a:srgbClr val="1F5E9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9" name="TextBox 34">
              <a:extLst>
                <a:ext uri="{FF2B5EF4-FFF2-40B4-BE49-F238E27FC236}">
                  <a16:creationId xmlns:a16="http://schemas.microsoft.com/office/drawing/2014/main" id="{C909B26A-10AB-081E-38A9-A9F29ADCB22A}"/>
                </a:ext>
              </a:extLst>
            </p:cNvPr>
            <p:cNvSpPr txBox="1"/>
            <p:nvPr/>
          </p:nvSpPr>
          <p:spPr>
            <a:xfrm>
              <a:off x="4747110" y="1872270"/>
              <a:ext cx="766323" cy="2215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80" b="1" dirty="0" err="1">
                  <a:solidFill>
                    <a:srgbClr val="FFFFFF"/>
                  </a:solidFill>
                  <a:latin typeface="Microsoft YaHei"/>
                </a:rPr>
                <a:t>资料结构化</a:t>
              </a:r>
              <a:endParaRPr sz="108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30" name="TextBox 35">
              <a:extLst>
                <a:ext uri="{FF2B5EF4-FFF2-40B4-BE49-F238E27FC236}">
                  <a16:creationId xmlns:a16="http://schemas.microsoft.com/office/drawing/2014/main" id="{CFC80737-3959-7744-067A-277144A1E124}"/>
                </a:ext>
              </a:extLst>
            </p:cNvPr>
            <p:cNvSpPr txBox="1"/>
            <p:nvPr/>
          </p:nvSpPr>
          <p:spPr>
            <a:xfrm>
              <a:off x="5623858" y="1779377"/>
              <a:ext cx="302637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dirty="0" err="1">
                  <a:solidFill>
                    <a:srgbClr val="1C2733"/>
                  </a:solidFill>
                  <a:latin typeface="Microsoft YaHei"/>
                </a:rPr>
                <a:t>多源工程资料格式、粒度和表达方式不一致，结构化质量和工序抽取稳定性需要验证</a:t>
              </a:r>
              <a:r>
                <a:rPr sz="1050" b="1" dirty="0">
                  <a:solidFill>
                    <a:srgbClr val="1C2733"/>
                  </a:solidFill>
                  <a:latin typeface="Microsoft YaHei"/>
                </a:rPr>
                <a:t>。</a:t>
              </a:r>
            </a:p>
          </p:txBody>
        </p:sp>
        <p:sp>
          <p:nvSpPr>
            <p:cNvPr id="31" name="Rounded Rectangle 36">
              <a:extLst>
                <a:ext uri="{FF2B5EF4-FFF2-40B4-BE49-F238E27FC236}">
                  <a16:creationId xmlns:a16="http://schemas.microsoft.com/office/drawing/2014/main" id="{F478CB15-3201-8454-558F-625C79302B61}"/>
                </a:ext>
              </a:extLst>
            </p:cNvPr>
            <p:cNvSpPr/>
            <p:nvPr/>
          </p:nvSpPr>
          <p:spPr>
            <a:xfrm>
              <a:off x="4689464" y="2300118"/>
              <a:ext cx="4071194" cy="417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Rectangle 37">
              <a:extLst>
                <a:ext uri="{FF2B5EF4-FFF2-40B4-BE49-F238E27FC236}">
                  <a16:creationId xmlns:a16="http://schemas.microsoft.com/office/drawing/2014/main" id="{79C2E3CD-9AAB-44A2-F874-7B6BCDAE4BBC}"/>
                </a:ext>
              </a:extLst>
            </p:cNvPr>
            <p:cNvSpPr/>
            <p:nvPr/>
          </p:nvSpPr>
          <p:spPr>
            <a:xfrm>
              <a:off x="4689464" y="2300118"/>
              <a:ext cx="866786" cy="417928"/>
            </a:xfrm>
            <a:prstGeom prst="rect">
              <a:avLst/>
            </a:prstGeom>
            <a:solidFill>
              <a:srgbClr val="2F8F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3" name="TextBox 38">
              <a:extLst>
                <a:ext uri="{FF2B5EF4-FFF2-40B4-BE49-F238E27FC236}">
                  <a16:creationId xmlns:a16="http://schemas.microsoft.com/office/drawing/2014/main" id="{03E1B45B-714D-01A1-EE2F-69B325199686}"/>
                </a:ext>
              </a:extLst>
            </p:cNvPr>
            <p:cNvSpPr txBox="1"/>
            <p:nvPr/>
          </p:nvSpPr>
          <p:spPr>
            <a:xfrm>
              <a:off x="4747110" y="2398283"/>
              <a:ext cx="766323" cy="2215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80" b="1" dirty="0" err="1">
                  <a:solidFill>
                    <a:srgbClr val="FFFFFF"/>
                  </a:solidFill>
                  <a:latin typeface="Microsoft YaHei"/>
                </a:rPr>
                <a:t>对象映射</a:t>
              </a:r>
              <a:endParaRPr sz="108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34" name="TextBox 39">
              <a:extLst>
                <a:ext uri="{FF2B5EF4-FFF2-40B4-BE49-F238E27FC236}">
                  <a16:creationId xmlns:a16="http://schemas.microsoft.com/office/drawing/2014/main" id="{FA3E1889-B2B7-4140-8F68-1409747EEDAD}"/>
                </a:ext>
              </a:extLst>
            </p:cNvPr>
            <p:cNvSpPr txBox="1"/>
            <p:nvPr/>
          </p:nvSpPr>
          <p:spPr>
            <a:xfrm>
              <a:off x="5623858" y="2305389"/>
              <a:ext cx="302637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工序节点、状态参数、监测指标与风险机理之间的对应关系需要进一步细化。</a:t>
              </a:r>
            </a:p>
          </p:txBody>
        </p:sp>
        <p:sp>
          <p:nvSpPr>
            <p:cNvPr id="35" name="Rounded Rectangle 40">
              <a:extLst>
                <a:ext uri="{FF2B5EF4-FFF2-40B4-BE49-F238E27FC236}">
                  <a16:creationId xmlns:a16="http://schemas.microsoft.com/office/drawing/2014/main" id="{D288F45C-87FD-C323-7605-84991BBE7069}"/>
                </a:ext>
              </a:extLst>
            </p:cNvPr>
            <p:cNvSpPr/>
            <p:nvPr/>
          </p:nvSpPr>
          <p:spPr>
            <a:xfrm>
              <a:off x="4689464" y="2826131"/>
              <a:ext cx="4071194" cy="417928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D63003FB-681D-971B-62B7-47CD6DA9EF7E}"/>
                </a:ext>
              </a:extLst>
            </p:cNvPr>
            <p:cNvSpPr/>
            <p:nvPr/>
          </p:nvSpPr>
          <p:spPr>
            <a:xfrm>
              <a:off x="4689464" y="2826131"/>
              <a:ext cx="866786" cy="417928"/>
            </a:xfrm>
            <a:prstGeom prst="rect">
              <a:avLst/>
            </a:prstGeom>
            <a:solidFill>
              <a:srgbClr val="F299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7" name="TextBox 42">
              <a:extLst>
                <a:ext uri="{FF2B5EF4-FFF2-40B4-BE49-F238E27FC236}">
                  <a16:creationId xmlns:a16="http://schemas.microsoft.com/office/drawing/2014/main" id="{62FCD086-C180-38C6-25B2-AE2F2F25F58B}"/>
                </a:ext>
              </a:extLst>
            </p:cNvPr>
            <p:cNvSpPr txBox="1"/>
            <p:nvPr/>
          </p:nvSpPr>
          <p:spPr>
            <a:xfrm>
              <a:off x="4747110" y="2924295"/>
              <a:ext cx="766323" cy="2215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80" b="1" dirty="0" err="1">
                  <a:solidFill>
                    <a:srgbClr val="FFFFFF"/>
                  </a:solidFill>
                  <a:latin typeface="Microsoft YaHei"/>
                </a:rPr>
                <a:t>模型可信度</a:t>
              </a:r>
              <a:endParaRPr sz="108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38" name="TextBox 43">
              <a:extLst>
                <a:ext uri="{FF2B5EF4-FFF2-40B4-BE49-F238E27FC236}">
                  <a16:creationId xmlns:a16="http://schemas.microsoft.com/office/drawing/2014/main" id="{2FC3313F-E839-22A4-C12A-B9A3BA0D49C9}"/>
                </a:ext>
              </a:extLst>
            </p:cNvPr>
            <p:cNvSpPr txBox="1"/>
            <p:nvPr/>
          </p:nvSpPr>
          <p:spPr>
            <a:xfrm>
              <a:off x="5623858" y="2831402"/>
              <a:ext cx="302637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大语言模型输出存在不确定性，需要通过规范证据、机理规则和仿真/试验约束增强可信度。</a:t>
              </a:r>
            </a:p>
          </p:txBody>
        </p:sp>
        <p:sp>
          <p:nvSpPr>
            <p:cNvPr id="39" name="Rounded Rectangle 44">
              <a:extLst>
                <a:ext uri="{FF2B5EF4-FFF2-40B4-BE49-F238E27FC236}">
                  <a16:creationId xmlns:a16="http://schemas.microsoft.com/office/drawing/2014/main" id="{CD941C87-3CCF-5C67-799E-FFB2CFA45986}"/>
                </a:ext>
              </a:extLst>
            </p:cNvPr>
            <p:cNvSpPr/>
            <p:nvPr/>
          </p:nvSpPr>
          <p:spPr>
            <a:xfrm>
              <a:off x="4689464" y="3352144"/>
              <a:ext cx="4071194" cy="41792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0" name="Rectangle 45">
              <a:extLst>
                <a:ext uri="{FF2B5EF4-FFF2-40B4-BE49-F238E27FC236}">
                  <a16:creationId xmlns:a16="http://schemas.microsoft.com/office/drawing/2014/main" id="{5102EF5E-6828-DE5E-3C2A-DB8B5978E8CD}"/>
                </a:ext>
              </a:extLst>
            </p:cNvPr>
            <p:cNvSpPr/>
            <p:nvPr/>
          </p:nvSpPr>
          <p:spPr>
            <a:xfrm>
              <a:off x="4689464" y="3352144"/>
              <a:ext cx="866786" cy="417928"/>
            </a:xfrm>
            <a:prstGeom prst="rect">
              <a:avLst/>
            </a:prstGeom>
            <a:solidFill>
              <a:srgbClr val="6E55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1" name="TextBox 46">
              <a:extLst>
                <a:ext uri="{FF2B5EF4-FFF2-40B4-BE49-F238E27FC236}">
                  <a16:creationId xmlns:a16="http://schemas.microsoft.com/office/drawing/2014/main" id="{9081151C-2208-8D15-736F-FC31E8DC4D9A}"/>
                </a:ext>
              </a:extLst>
            </p:cNvPr>
            <p:cNvSpPr txBox="1"/>
            <p:nvPr/>
          </p:nvSpPr>
          <p:spPr>
            <a:xfrm>
              <a:off x="4747110" y="3450308"/>
              <a:ext cx="766323" cy="2215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80" b="1" dirty="0" err="1">
                  <a:solidFill>
                    <a:srgbClr val="FFFFFF"/>
                  </a:solidFill>
                  <a:latin typeface="Microsoft YaHei"/>
                </a:rPr>
                <a:t>图谱入库</a:t>
              </a:r>
              <a:endParaRPr sz="108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42" name="TextBox 47">
              <a:extLst>
                <a:ext uri="{FF2B5EF4-FFF2-40B4-BE49-F238E27FC236}">
                  <a16:creationId xmlns:a16="http://schemas.microsoft.com/office/drawing/2014/main" id="{E3EA44CB-1077-1CDC-4EFC-2F80393ABF0A}"/>
                </a:ext>
              </a:extLst>
            </p:cNvPr>
            <p:cNvSpPr txBox="1"/>
            <p:nvPr/>
          </p:nvSpPr>
          <p:spPr>
            <a:xfrm>
              <a:off x="5623858" y="3357415"/>
              <a:ext cx="302637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标准化风险记录如何稳定转化为工序风险关联图谱，需要进一步定义入库和合并规则。</a:t>
              </a:r>
            </a:p>
          </p:txBody>
        </p:sp>
        <p:sp>
          <p:nvSpPr>
            <p:cNvPr id="43" name="Rounded Rectangle 48">
              <a:extLst>
                <a:ext uri="{FF2B5EF4-FFF2-40B4-BE49-F238E27FC236}">
                  <a16:creationId xmlns:a16="http://schemas.microsoft.com/office/drawing/2014/main" id="{9BAF5C8A-ABC7-C32A-1D82-48193ABCF752}"/>
                </a:ext>
              </a:extLst>
            </p:cNvPr>
            <p:cNvSpPr/>
            <p:nvPr/>
          </p:nvSpPr>
          <p:spPr>
            <a:xfrm>
              <a:off x="4689464" y="3878157"/>
              <a:ext cx="4071194" cy="417928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C7D3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4" name="Rectangle 49">
              <a:extLst>
                <a:ext uri="{FF2B5EF4-FFF2-40B4-BE49-F238E27FC236}">
                  <a16:creationId xmlns:a16="http://schemas.microsoft.com/office/drawing/2014/main" id="{47B5EBC9-4269-AE4D-6ABB-A41E6E9565E9}"/>
                </a:ext>
              </a:extLst>
            </p:cNvPr>
            <p:cNvSpPr/>
            <p:nvPr/>
          </p:nvSpPr>
          <p:spPr>
            <a:xfrm>
              <a:off x="4689464" y="3878157"/>
              <a:ext cx="866786" cy="417928"/>
            </a:xfrm>
            <a:prstGeom prst="rect">
              <a:avLst/>
            </a:prstGeom>
            <a:solidFill>
              <a:srgbClr val="C74C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45" name="TextBox 50">
              <a:extLst>
                <a:ext uri="{FF2B5EF4-FFF2-40B4-BE49-F238E27FC236}">
                  <a16:creationId xmlns:a16="http://schemas.microsoft.com/office/drawing/2014/main" id="{F2F0B88E-2870-18DE-EA34-CF1135807323}"/>
                </a:ext>
              </a:extLst>
            </p:cNvPr>
            <p:cNvSpPr txBox="1"/>
            <p:nvPr/>
          </p:nvSpPr>
          <p:spPr>
            <a:xfrm>
              <a:off x="4747110" y="3976321"/>
              <a:ext cx="766323" cy="2215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1080" b="1" dirty="0" err="1">
                  <a:solidFill>
                    <a:srgbClr val="FFFFFF"/>
                  </a:solidFill>
                  <a:latin typeface="Microsoft YaHei"/>
                </a:rPr>
                <a:t>评价体系</a:t>
              </a:r>
              <a:endParaRPr sz="1080" b="1" dirty="0">
                <a:solidFill>
                  <a:srgbClr val="FFFFFF"/>
                </a:solidFill>
                <a:latin typeface="Microsoft YaHei"/>
              </a:endParaRPr>
            </a:p>
          </p:txBody>
        </p:sp>
        <p:sp>
          <p:nvSpPr>
            <p:cNvPr id="46" name="TextBox 51">
              <a:extLst>
                <a:ext uri="{FF2B5EF4-FFF2-40B4-BE49-F238E27FC236}">
                  <a16:creationId xmlns:a16="http://schemas.microsoft.com/office/drawing/2014/main" id="{50FA039D-772F-BB60-67FB-60EA84AF20E4}"/>
                </a:ext>
              </a:extLst>
            </p:cNvPr>
            <p:cNvSpPr txBox="1"/>
            <p:nvPr/>
          </p:nvSpPr>
          <p:spPr>
            <a:xfrm>
              <a:off x="5623858" y="3883428"/>
              <a:ext cx="3026375" cy="378565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>
                  <a:solidFill>
                    <a:srgbClr val="1C2733"/>
                  </a:solidFill>
                  <a:latin typeface="Microsoft YaHei"/>
                </a:rPr>
                <a:t>系统识别结果需要结合专家复核和现场数据，建立准确性、可解释性和可追溯性评价指标。</a:t>
              </a:r>
            </a:p>
          </p:txBody>
        </p:sp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E390ABDB-9BD7-F282-0A2A-6FA2A175AC39}"/>
                </a:ext>
              </a:extLst>
            </p:cNvPr>
            <p:cNvSpPr txBox="1"/>
            <p:nvPr/>
          </p:nvSpPr>
          <p:spPr>
            <a:xfrm>
              <a:off x="5823034" y="1272824"/>
              <a:ext cx="2272421" cy="3323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rgbClr val="163B63"/>
                  </a:solidFill>
                  <a:latin typeface="Microsoft YaHei"/>
                </a:rPr>
                <a:t>需要解决的关键问题</a:t>
              </a:r>
              <a:endParaRPr b="1" dirty="0">
                <a:solidFill>
                  <a:srgbClr val="163B63"/>
                </a:solidFill>
                <a:latin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657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>
            <p:custDataLst>
              <p:tags r:id="rId2"/>
            </p:custDataLst>
          </p:nvPr>
        </p:nvSpPr>
        <p:spPr>
          <a:xfrm>
            <a:off x="1313128" y="933390"/>
            <a:ext cx="656912" cy="1392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一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552700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0" y="0"/>
            <a:ext cx="9143988" cy="2552700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488632" y="516136"/>
            <a:ext cx="4213054" cy="3693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</a:rPr>
              <a:t>中国铁建股份有限公司科技研发计划项目重点课题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基于变径盾构的轨道交通隧站一体化建造技术研究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5621" y="560012"/>
            <a:ext cx="0" cy="28142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1927225" y="1270000"/>
            <a:ext cx="6591935" cy="991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500" dirty="0">
                <a:effectLst/>
                <a:sym typeface="+mn-ea"/>
              </a:rPr>
              <a:t>四、下一步工作计划</a:t>
            </a:r>
            <a:endParaRPr lang="zh-CN" altLang="en-US" sz="4500" dirty="0">
              <a:effectLst/>
            </a:endParaRPr>
          </a:p>
        </p:txBody>
      </p:sp>
      <p:cxnSp>
        <p:nvCxnSpPr>
          <p:cNvPr id="64" name="直接连接符 63"/>
          <p:cNvCxnSpPr/>
          <p:nvPr>
            <p:custDataLst>
              <p:tags r:id="rId3"/>
            </p:custDataLst>
          </p:nvPr>
        </p:nvCxnSpPr>
        <p:spPr>
          <a:xfrm>
            <a:off x="1717659" y="1373859"/>
            <a:ext cx="0" cy="86039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316516"/>
            <a:ext cx="9144000" cy="2943358"/>
          </a:xfrm>
          <a:prstGeom prst="rect">
            <a:avLst/>
          </a:prstGeom>
          <a:gradFill flip="none" rotWithShape="1">
            <a:gsLst>
              <a:gs pos="0">
                <a:srgbClr val="0155A3">
                  <a:shade val="30000"/>
                  <a:satMod val="115000"/>
                  <a:alpha val="85000"/>
                </a:srgbClr>
              </a:gs>
              <a:gs pos="50000">
                <a:srgbClr val="0155A3">
                  <a:shade val="67500"/>
                  <a:satMod val="115000"/>
                  <a:alpha val="85000"/>
                </a:srgbClr>
              </a:gs>
              <a:gs pos="100000">
                <a:srgbClr val="0155A3">
                  <a:shade val="100000"/>
                  <a:satMod val="115000"/>
                  <a:alpha val="9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899422" y="2478200"/>
            <a:ext cx="760015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517713" y="1724656"/>
            <a:ext cx="419810" cy="863543"/>
            <a:chOff x="514831" y="2674043"/>
            <a:chExt cx="821179" cy="2226587"/>
          </a:xfrm>
        </p:grpSpPr>
        <p:sp>
          <p:nvSpPr>
            <p:cNvPr id="23" name="L 形 22"/>
            <p:cNvSpPr/>
            <p:nvPr/>
          </p:nvSpPr>
          <p:spPr>
            <a:xfrm>
              <a:off x="514831" y="2674044"/>
              <a:ext cx="821178" cy="2226586"/>
            </a:xfrm>
            <a:prstGeom prst="corner">
              <a:avLst>
                <a:gd name="adj1" fmla="val 11158"/>
                <a:gd name="adj2" fmla="val 11797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514832" y="2674043"/>
              <a:ext cx="821178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5" name="标题 3"/>
          <p:cNvSpPr txBox="1"/>
          <p:nvPr>
            <p:custDataLst>
              <p:tags r:id="rId1"/>
            </p:custDataLst>
          </p:nvPr>
        </p:nvSpPr>
        <p:spPr>
          <a:xfrm>
            <a:off x="839651" y="1864085"/>
            <a:ext cx="7127681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750"/>
              </a:lnSpc>
            </a:pPr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变径盾构站隧一体化建造风险评估及安全控制技术研究</a:t>
            </a:r>
          </a:p>
        </p:txBody>
      </p:sp>
      <p:sp>
        <p:nvSpPr>
          <p:cNvPr id="29" name="文本框 8"/>
          <p:cNvSpPr txBox="1"/>
          <p:nvPr/>
        </p:nvSpPr>
        <p:spPr>
          <a:xfrm>
            <a:off x="839652" y="1819378"/>
            <a:ext cx="8512519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中国铁建股份有限公司地下空间利用领域科研计划项目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合同编号：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2024-W08</a:t>
            </a:r>
            <a:endParaRPr lang="zh-CN" altLang="en-US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标题 3"/>
          <p:cNvSpPr txBox="1"/>
          <p:nvPr>
            <p:custDataLst>
              <p:tags r:id="rId2"/>
            </p:custDataLst>
          </p:nvPr>
        </p:nvSpPr>
        <p:spPr>
          <a:xfrm>
            <a:off x="3591774" y="2699816"/>
            <a:ext cx="1421876" cy="73818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4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141586" y="3721763"/>
            <a:ext cx="4549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Arial" panose="020B0604020202020204"/>
              </a:rPr>
              <a:t>中铁建华南建设有限公司</a:t>
            </a:r>
          </a:p>
          <a:p>
            <a:pPr algn="just"/>
            <a:r>
              <a:rPr lang="en-US" altLang="zh-CN" sz="1200" dirty="0">
                <a:solidFill>
                  <a:schemeClr val="bg1"/>
                </a:solidFill>
                <a:latin typeface="Arial" panose="020B0604020202020204"/>
              </a:rPr>
              <a:t>China Railway Construction South China Construction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/>
              </a:rPr>
              <a:t>Co.,Ltd</a:t>
            </a:r>
            <a:endParaRPr lang="en-US" altLang="zh-CN" sz="1200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17" name="Picture 2" descr="D:\PPT~综合PPT-新\全国五百强\7+多\11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6642" y="3721763"/>
            <a:ext cx="464333" cy="37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85,&quot;left&quot;:114.15,&quot;top&quot;:229.8,&quot;width&quot;:700.841653543307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03545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3213_1*a*1"/>
  <p:tag name="KSO_WM_TEMPLATE_CATEGORY" val="custom"/>
  <p:tag name="KSO_WM_TEMPLATE_INDEX" val="20193213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3_Office 主题​​">
  <a:themeElements>
    <a:clrScheme name="3_Office 主题​​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​​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BAC"/>
        </a:solidFill>
        <a:ln>
          <a:noFill/>
          <a:prstDash val="sysDot"/>
        </a:ln>
      </a:spPr>
      <a:bodyPr wrap="square" rtlCol="0" anchor="ctr">
        <a:spAutoFit/>
      </a:bodyPr>
      <a:lstStyle>
        <a:defPPr algn="ctr">
          <a:lnSpc>
            <a:spcPct val="150000"/>
          </a:lnSpc>
          <a:buFont typeface="Wingdings" panose="05000000000000000000" charset="0"/>
          <a:defRPr sz="1400" dirty="0">
            <a:latin typeface="+mj-ea"/>
            <a:ea typeface="+mj-ea"/>
            <a:sym typeface="+mn-ea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 marL="285750" indent="-285750">
          <a:lnSpc>
            <a:spcPct val="150000"/>
          </a:lnSpc>
          <a:buFont typeface="Wingdings" panose="05000000000000000000" charset="0"/>
          <a:buChar char=""/>
          <a:defRPr lang="zh-CN" altLang="en-US" sz="1600" dirty="0" smtClean="0">
            <a:solidFill>
              <a:schemeClr val="tx1"/>
            </a:solidFill>
            <a:latin typeface="+mj-ea"/>
          </a:defRPr>
        </a:defPPr>
      </a:lstStyle>
    </a:txDef>
  </a:objectDefaults>
  <a:extraClrSchemeLst>
    <a:extraClrScheme>
      <a:clrScheme name="3_Office 主题​​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小LOGO">
  <a:themeElements>
    <a:clrScheme name="aaaaaaa深红色">
      <a:dk1>
        <a:srgbClr val="C4261D"/>
      </a:dk1>
      <a:lt1>
        <a:srgbClr val="FF9900"/>
      </a:lt1>
      <a:dk2>
        <a:srgbClr val="4D4D4D"/>
      </a:dk2>
      <a:lt2>
        <a:srgbClr val="C2C1C1"/>
      </a:lt2>
      <a:accent1>
        <a:srgbClr val="FFFFFF"/>
      </a:accent1>
      <a:accent2>
        <a:srgbClr val="333333"/>
      </a:accent2>
      <a:accent3>
        <a:srgbClr val="C4261D"/>
      </a:accent3>
      <a:accent4>
        <a:srgbClr val="FF9900"/>
      </a:accent4>
      <a:accent5>
        <a:srgbClr val="4D4D4D"/>
      </a:accent5>
      <a:accent6>
        <a:srgbClr val="999999"/>
      </a:accent6>
      <a:hlink>
        <a:srgbClr val="080808"/>
      </a:hlink>
      <a:folHlink>
        <a:srgbClr val="DEDEDD"/>
      </a:folHlink>
    </a:clrScheme>
    <a:fontScheme name="默认设计模板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96"/>
      </a:accent1>
      <a:accent2>
        <a:srgbClr val="0066BA"/>
      </a:accent2>
      <a:accent3>
        <a:srgbClr val="40658E"/>
      </a:accent3>
      <a:accent4>
        <a:srgbClr val="003361"/>
      </a:accent4>
      <a:accent5>
        <a:srgbClr val="064C78"/>
      </a:accent5>
      <a:accent6>
        <a:srgbClr val="0B68A6"/>
      </a:accent6>
      <a:hlink>
        <a:srgbClr val="004A96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主题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96"/>
      </a:accent1>
      <a:accent2>
        <a:srgbClr val="0066BA"/>
      </a:accent2>
      <a:accent3>
        <a:srgbClr val="40658E"/>
      </a:accent3>
      <a:accent4>
        <a:srgbClr val="003361"/>
      </a:accent4>
      <a:accent5>
        <a:srgbClr val="064C78"/>
      </a:accent5>
      <a:accent6>
        <a:srgbClr val="0B68A6"/>
      </a:accent6>
      <a:hlink>
        <a:srgbClr val="004A96"/>
      </a:hlink>
      <a:folHlink>
        <a:srgbClr val="BFBFB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0155A3">
                <a:shade val="30000"/>
                <a:satMod val="115000"/>
                <a:alpha val="85000"/>
              </a:srgbClr>
            </a:gs>
            <a:gs pos="50000">
              <a:srgbClr val="0155A3">
                <a:shade val="67500"/>
                <a:satMod val="115000"/>
                <a:alpha val="85000"/>
              </a:srgbClr>
            </a:gs>
            <a:gs pos="100000">
              <a:srgbClr val="0155A3">
                <a:shade val="100000"/>
                <a:satMod val="115000"/>
                <a:alpha val="95000"/>
              </a:srgb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A000120141119A64KPBG</Template>
  <TotalTime>220</TotalTime>
  <Words>1334</Words>
  <Application>Microsoft Office PowerPoint</Application>
  <PresentationFormat>全屏显示(16:9)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Microsoft YaHei</vt:lpstr>
      <vt:lpstr>Microsoft YaHei</vt:lpstr>
      <vt:lpstr>Arial</vt:lpstr>
      <vt:lpstr>Calibri</vt:lpstr>
      <vt:lpstr>Times New Roman</vt:lpstr>
      <vt:lpstr>Wingdings</vt:lpstr>
      <vt:lpstr>3_Office 主题​​</vt:lpstr>
      <vt:lpstr>小LOGO</vt:lpstr>
      <vt:lpstr>9_自定义设计方案</vt:lpstr>
      <vt:lpstr>1_自定义设计方案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杨铁军</dc:creator>
  <cp:lastModifiedBy>Joshua Reed</cp:lastModifiedBy>
  <cp:revision>2928</cp:revision>
  <cp:lastPrinted>2024-07-15T01:10:00Z</cp:lastPrinted>
  <dcterms:created xsi:type="dcterms:W3CDTF">2011-06-23T14:30:00Z</dcterms:created>
  <dcterms:modified xsi:type="dcterms:W3CDTF">2026-05-27T17:04:29Z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2052-11.8.2.8808</vt:lpwstr>
  </property>
  <property fmtid="{D5CDD505-2E9C-101B-9397-08002B2CF9AE}" pid="3" name="KSORubyTemplateID">
    <vt:lpwstr>2</vt:lpwstr>
  </property>
  <property fmtid="{D5CDD505-2E9C-101B-9397-08002B2CF9AE}" pid="4" name="ICV">
    <vt:lpwstr>B57C82E17DBD460784770D7E815E997D_13</vt:lpwstr>
  </property>
</Properties>
</file>